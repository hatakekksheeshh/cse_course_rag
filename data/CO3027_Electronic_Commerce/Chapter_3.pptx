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6.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7.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44"/>
  </p:notesMasterIdLst>
  <p:handoutMasterIdLst>
    <p:handoutMasterId r:id="rId45"/>
  </p:handoutMasterIdLst>
  <p:sldIdLst>
    <p:sldId id="350" r:id="rId5"/>
    <p:sldId id="351" r:id="rId6"/>
    <p:sldId id="361" r:id="rId7"/>
    <p:sldId id="359" r:id="rId8"/>
    <p:sldId id="363" r:id="rId9"/>
    <p:sldId id="364" r:id="rId10"/>
    <p:sldId id="365" r:id="rId11"/>
    <p:sldId id="366" r:id="rId12"/>
    <p:sldId id="367" r:id="rId13"/>
    <p:sldId id="368" r:id="rId14"/>
    <p:sldId id="370" r:id="rId15"/>
    <p:sldId id="371" r:id="rId16"/>
    <p:sldId id="372" r:id="rId17"/>
    <p:sldId id="373" r:id="rId18"/>
    <p:sldId id="374" r:id="rId19"/>
    <p:sldId id="375" r:id="rId20"/>
    <p:sldId id="376" r:id="rId21"/>
    <p:sldId id="261" r:id="rId22"/>
    <p:sldId id="264" r:id="rId23"/>
    <p:sldId id="262" r:id="rId24"/>
    <p:sldId id="263" r:id="rId25"/>
    <p:sldId id="265" r:id="rId26"/>
    <p:sldId id="266" r:id="rId27"/>
    <p:sldId id="267" r:id="rId28"/>
    <p:sldId id="268" r:id="rId29"/>
    <p:sldId id="269" r:id="rId30"/>
    <p:sldId id="270" r:id="rId31"/>
    <p:sldId id="271" r:id="rId32"/>
    <p:sldId id="272" r:id="rId33"/>
    <p:sldId id="273" r:id="rId34"/>
    <p:sldId id="277" r:id="rId35"/>
    <p:sldId id="278" r:id="rId36"/>
    <p:sldId id="279" r:id="rId37"/>
    <p:sldId id="274" r:id="rId38"/>
    <p:sldId id="281" r:id="rId39"/>
    <p:sldId id="282" r:id="rId40"/>
    <p:sldId id="283" r:id="rId41"/>
    <p:sldId id="284" r:id="rId42"/>
    <p:sldId id="28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49123" autoAdjust="0"/>
  </p:normalViewPr>
  <p:slideViewPr>
    <p:cSldViewPr snapToGrid="0">
      <p:cViewPr>
        <p:scale>
          <a:sx n="50" d="100"/>
          <a:sy n="50" d="100"/>
        </p:scale>
        <p:origin x="1212" y="4"/>
      </p:cViewPr>
      <p:guideLst/>
    </p:cSldViewPr>
  </p:slid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BD9FEC-1C9F-4D81-A0BC-CCF94BC8D925}"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284DC640-31D7-41D0-846C-E526E4F3B7C5}">
      <dgm:prSet/>
      <dgm:spPr/>
      <dgm:t>
        <a:bodyPr/>
        <a:lstStyle/>
        <a:p>
          <a:r>
            <a:rPr lang="en-US"/>
            <a:t>Determining price</a:t>
          </a:r>
          <a:endParaRPr lang="en-US" dirty="0"/>
        </a:p>
      </dgm:t>
    </dgm:pt>
    <dgm:pt modelId="{3CA7D045-DBBF-4D5D-B842-883D4C236A20}" type="parTrans" cxnId="{BFC6A1E3-1EBC-4708-A820-E0E6B11BEBCB}">
      <dgm:prSet/>
      <dgm:spPr/>
      <dgm:t>
        <a:bodyPr/>
        <a:lstStyle/>
        <a:p>
          <a:endParaRPr lang="en-US"/>
        </a:p>
      </dgm:t>
    </dgm:pt>
    <dgm:pt modelId="{C8B5028C-0FF1-415F-A2FC-BAB0207ACC21}" type="sibTrans" cxnId="{BFC6A1E3-1EBC-4708-A820-E0E6B11BEBCB}">
      <dgm:prSet/>
      <dgm:spPr/>
      <dgm:t>
        <a:bodyPr/>
        <a:lstStyle/>
        <a:p>
          <a:endParaRPr lang="en-US"/>
        </a:p>
      </dgm:t>
    </dgm:pt>
    <dgm:pt modelId="{5DEF8588-6015-49E7-9C1D-6E7DFF0B1695}">
      <dgm:prSet/>
      <dgm:spPr/>
      <dgm:t>
        <a:bodyPr/>
        <a:lstStyle/>
        <a:p>
          <a:r>
            <a:rPr lang="en-US"/>
            <a:t>Dynamic pricing</a:t>
          </a:r>
          <a:endParaRPr lang="en-US" dirty="0"/>
        </a:p>
      </dgm:t>
    </dgm:pt>
    <dgm:pt modelId="{FAEE2CE6-D0C6-4F5C-986D-ED3DD9286C84}" type="parTrans" cxnId="{60BC5249-4A79-4866-A2FB-E4883FC567A8}">
      <dgm:prSet/>
      <dgm:spPr/>
      <dgm:t>
        <a:bodyPr/>
        <a:lstStyle/>
        <a:p>
          <a:endParaRPr lang="en-US"/>
        </a:p>
      </dgm:t>
    </dgm:pt>
    <dgm:pt modelId="{FF23831C-8A3D-4539-9C35-9D8D3D12EA6F}" type="sibTrans" cxnId="{60BC5249-4A79-4866-A2FB-E4883FC567A8}">
      <dgm:prSet/>
      <dgm:spPr/>
      <dgm:t>
        <a:bodyPr/>
        <a:lstStyle/>
        <a:p>
          <a:endParaRPr lang="en-US"/>
        </a:p>
      </dgm:t>
    </dgm:pt>
    <dgm:pt modelId="{8AE4B3A8-0A3E-4254-8AE9-CA4FB3EB8AAB}">
      <dgm:prSet/>
      <dgm:spPr/>
      <dgm:t>
        <a:bodyPr/>
        <a:lstStyle/>
        <a:p>
          <a:r>
            <a:rPr lang="en-US"/>
            <a:t>Auctions</a:t>
          </a:r>
          <a:endParaRPr lang="en-US" dirty="0"/>
        </a:p>
      </dgm:t>
    </dgm:pt>
    <dgm:pt modelId="{FE886394-E158-4632-BB1A-3D88D5B6964B}" type="parTrans" cxnId="{6283414E-03F8-4FAF-B5DB-2A3F65A798F8}">
      <dgm:prSet/>
      <dgm:spPr/>
      <dgm:t>
        <a:bodyPr/>
        <a:lstStyle/>
        <a:p>
          <a:endParaRPr lang="en-US"/>
        </a:p>
      </dgm:t>
    </dgm:pt>
    <dgm:pt modelId="{6A5C22C2-94D1-4F69-B2DD-04DF2050BAD3}" type="sibTrans" cxnId="{6283414E-03F8-4FAF-B5DB-2A3F65A798F8}">
      <dgm:prSet/>
      <dgm:spPr/>
      <dgm:t>
        <a:bodyPr/>
        <a:lstStyle/>
        <a:p>
          <a:endParaRPr lang="en-US"/>
        </a:p>
      </dgm:t>
    </dgm:pt>
    <dgm:pt modelId="{CF86FD60-36E8-42B5-BC8D-249B0EC3C056}">
      <dgm:prSet/>
      <dgm:spPr/>
      <dgm:t>
        <a:bodyPr/>
        <a:lstStyle/>
        <a:p>
          <a:r>
            <a:rPr lang="en-US"/>
            <a:t>Revenue models</a:t>
          </a:r>
          <a:endParaRPr lang="en-US" dirty="0"/>
        </a:p>
      </dgm:t>
    </dgm:pt>
    <dgm:pt modelId="{EF822102-155B-4CCD-B3AB-2F242D0CF859}" type="parTrans" cxnId="{5254645D-4A5A-4DB3-88D8-74A7326FD893}">
      <dgm:prSet/>
      <dgm:spPr/>
      <dgm:t>
        <a:bodyPr/>
        <a:lstStyle/>
        <a:p>
          <a:endParaRPr lang="en-US"/>
        </a:p>
      </dgm:t>
    </dgm:pt>
    <dgm:pt modelId="{687B1B1E-4F06-4C6F-9A54-D24CC050A608}" type="sibTrans" cxnId="{5254645D-4A5A-4DB3-88D8-74A7326FD893}">
      <dgm:prSet/>
      <dgm:spPr/>
      <dgm:t>
        <a:bodyPr/>
        <a:lstStyle/>
        <a:p>
          <a:endParaRPr lang="en-US"/>
        </a:p>
      </dgm:t>
    </dgm:pt>
    <dgm:pt modelId="{48767675-8DA9-4D0C-9F04-C45A1F529DFF}">
      <dgm:prSet phldrT="[Text]"/>
      <dgm:spPr/>
      <dgm:t>
        <a:bodyPr/>
        <a:lstStyle/>
        <a:p>
          <a:r>
            <a:rPr lang="en-US" dirty="0"/>
            <a:t>Price and Factors affecting pricing</a:t>
          </a:r>
        </a:p>
      </dgm:t>
    </dgm:pt>
    <dgm:pt modelId="{4D12D526-894F-44A4-9EA3-AE32A74D98FC}" type="parTrans" cxnId="{0D51CF94-C8E4-45EB-9BB4-943D356037F6}">
      <dgm:prSet/>
      <dgm:spPr/>
    </dgm:pt>
    <dgm:pt modelId="{0FEB38F0-CDB2-452D-A61D-353600DB9F43}" type="sibTrans" cxnId="{0D51CF94-C8E4-45EB-9BB4-943D356037F6}">
      <dgm:prSet/>
      <dgm:spPr/>
    </dgm:pt>
    <dgm:pt modelId="{4ABA27A0-3720-440B-891C-858510E87676}" type="pres">
      <dgm:prSet presAssocID="{BBBD9FEC-1C9F-4D81-A0BC-CCF94BC8D925}" presName="Name0" presStyleCnt="0">
        <dgm:presLayoutVars>
          <dgm:chMax val="7"/>
          <dgm:chPref val="7"/>
          <dgm:dir/>
        </dgm:presLayoutVars>
      </dgm:prSet>
      <dgm:spPr/>
    </dgm:pt>
    <dgm:pt modelId="{AACE886B-CA06-4AAA-8AC1-6093F7CA5FD6}" type="pres">
      <dgm:prSet presAssocID="{BBBD9FEC-1C9F-4D81-A0BC-CCF94BC8D925}" presName="Name1" presStyleCnt="0"/>
      <dgm:spPr/>
    </dgm:pt>
    <dgm:pt modelId="{926BDE25-3978-42BB-99E3-FA54F165FF09}" type="pres">
      <dgm:prSet presAssocID="{BBBD9FEC-1C9F-4D81-A0BC-CCF94BC8D925}" presName="cycle" presStyleCnt="0"/>
      <dgm:spPr/>
    </dgm:pt>
    <dgm:pt modelId="{87E7A39F-BA7E-40DD-825D-9AEDB6065012}" type="pres">
      <dgm:prSet presAssocID="{BBBD9FEC-1C9F-4D81-A0BC-CCF94BC8D925}" presName="srcNode" presStyleLbl="node1" presStyleIdx="0" presStyleCnt="5"/>
      <dgm:spPr/>
    </dgm:pt>
    <dgm:pt modelId="{639B74CF-6C25-42E3-A37A-0271F62161E0}" type="pres">
      <dgm:prSet presAssocID="{BBBD9FEC-1C9F-4D81-A0BC-CCF94BC8D925}" presName="conn" presStyleLbl="parChTrans1D2" presStyleIdx="0" presStyleCnt="1"/>
      <dgm:spPr/>
    </dgm:pt>
    <dgm:pt modelId="{FB63C225-6D46-47C7-956B-68A6DF7B8A2D}" type="pres">
      <dgm:prSet presAssocID="{BBBD9FEC-1C9F-4D81-A0BC-CCF94BC8D925}" presName="extraNode" presStyleLbl="node1" presStyleIdx="0" presStyleCnt="5"/>
      <dgm:spPr/>
    </dgm:pt>
    <dgm:pt modelId="{464211DF-9E52-4ECF-AA0E-0E99BEC8DC7E}" type="pres">
      <dgm:prSet presAssocID="{BBBD9FEC-1C9F-4D81-A0BC-CCF94BC8D925}" presName="dstNode" presStyleLbl="node1" presStyleIdx="0" presStyleCnt="5"/>
      <dgm:spPr/>
    </dgm:pt>
    <dgm:pt modelId="{55C51C80-022A-4DC3-BF56-2276BD04F630}" type="pres">
      <dgm:prSet presAssocID="{48767675-8DA9-4D0C-9F04-C45A1F529DFF}" presName="text_1" presStyleLbl="node1" presStyleIdx="0" presStyleCnt="5">
        <dgm:presLayoutVars>
          <dgm:bulletEnabled val="1"/>
        </dgm:presLayoutVars>
      </dgm:prSet>
      <dgm:spPr/>
    </dgm:pt>
    <dgm:pt modelId="{E34E86F9-FCC5-4282-BA64-A7E4877D8E4F}" type="pres">
      <dgm:prSet presAssocID="{48767675-8DA9-4D0C-9F04-C45A1F529DFF}" presName="accent_1" presStyleCnt="0"/>
      <dgm:spPr/>
    </dgm:pt>
    <dgm:pt modelId="{628555B9-FC16-4EEB-AAC7-4B578C077F99}" type="pres">
      <dgm:prSet presAssocID="{48767675-8DA9-4D0C-9F04-C45A1F529DFF}" presName="accentRepeatNode" presStyleLbl="solidFgAcc1" presStyleIdx="0" presStyleCnt="5"/>
      <dgm:spPr/>
    </dgm:pt>
    <dgm:pt modelId="{73198804-E894-49AD-BCBE-D94C262E325B}" type="pres">
      <dgm:prSet presAssocID="{284DC640-31D7-41D0-846C-E526E4F3B7C5}" presName="text_2" presStyleLbl="node1" presStyleIdx="1" presStyleCnt="5">
        <dgm:presLayoutVars>
          <dgm:bulletEnabled val="1"/>
        </dgm:presLayoutVars>
      </dgm:prSet>
      <dgm:spPr/>
    </dgm:pt>
    <dgm:pt modelId="{DF1FCF36-C58D-4B2D-AF92-DC163E80B31F}" type="pres">
      <dgm:prSet presAssocID="{284DC640-31D7-41D0-846C-E526E4F3B7C5}" presName="accent_2" presStyleCnt="0"/>
      <dgm:spPr/>
    </dgm:pt>
    <dgm:pt modelId="{740CB270-0ADB-4FC4-91D1-80C3DB8AC336}" type="pres">
      <dgm:prSet presAssocID="{284DC640-31D7-41D0-846C-E526E4F3B7C5}" presName="accentRepeatNode" presStyleLbl="solidFgAcc1" presStyleIdx="1" presStyleCnt="5"/>
      <dgm:spPr/>
    </dgm:pt>
    <dgm:pt modelId="{AF79755A-27F9-4E59-84BD-5A264B2FC41C}" type="pres">
      <dgm:prSet presAssocID="{5DEF8588-6015-49E7-9C1D-6E7DFF0B1695}" presName="text_3" presStyleLbl="node1" presStyleIdx="2" presStyleCnt="5">
        <dgm:presLayoutVars>
          <dgm:bulletEnabled val="1"/>
        </dgm:presLayoutVars>
      </dgm:prSet>
      <dgm:spPr/>
    </dgm:pt>
    <dgm:pt modelId="{A9E0F605-89DF-4B8F-B3DD-716C940B8AB6}" type="pres">
      <dgm:prSet presAssocID="{5DEF8588-6015-49E7-9C1D-6E7DFF0B1695}" presName="accent_3" presStyleCnt="0"/>
      <dgm:spPr/>
    </dgm:pt>
    <dgm:pt modelId="{44AB9F78-8851-42C3-A371-1949F047F49E}" type="pres">
      <dgm:prSet presAssocID="{5DEF8588-6015-49E7-9C1D-6E7DFF0B1695}" presName="accentRepeatNode" presStyleLbl="solidFgAcc1" presStyleIdx="2" presStyleCnt="5"/>
      <dgm:spPr/>
    </dgm:pt>
    <dgm:pt modelId="{4DE62537-B01B-4BD1-9E60-42D3C75446E8}" type="pres">
      <dgm:prSet presAssocID="{8AE4B3A8-0A3E-4254-8AE9-CA4FB3EB8AAB}" presName="text_4" presStyleLbl="node1" presStyleIdx="3" presStyleCnt="5">
        <dgm:presLayoutVars>
          <dgm:bulletEnabled val="1"/>
        </dgm:presLayoutVars>
      </dgm:prSet>
      <dgm:spPr/>
    </dgm:pt>
    <dgm:pt modelId="{B39D8745-47E6-433C-B407-00241EDD9693}" type="pres">
      <dgm:prSet presAssocID="{8AE4B3A8-0A3E-4254-8AE9-CA4FB3EB8AAB}" presName="accent_4" presStyleCnt="0"/>
      <dgm:spPr/>
    </dgm:pt>
    <dgm:pt modelId="{8D0AD54E-3C13-4171-9AB4-EDC1EABB25C0}" type="pres">
      <dgm:prSet presAssocID="{8AE4B3A8-0A3E-4254-8AE9-CA4FB3EB8AAB}" presName="accentRepeatNode" presStyleLbl="solidFgAcc1" presStyleIdx="3" presStyleCnt="5"/>
      <dgm:spPr/>
    </dgm:pt>
    <dgm:pt modelId="{05D0066C-69ED-449E-863A-53EAFE71FA99}" type="pres">
      <dgm:prSet presAssocID="{CF86FD60-36E8-42B5-BC8D-249B0EC3C056}" presName="text_5" presStyleLbl="node1" presStyleIdx="4" presStyleCnt="5">
        <dgm:presLayoutVars>
          <dgm:bulletEnabled val="1"/>
        </dgm:presLayoutVars>
      </dgm:prSet>
      <dgm:spPr/>
    </dgm:pt>
    <dgm:pt modelId="{09F6F4FD-879B-4CF7-815B-9DF4FE5C75B4}" type="pres">
      <dgm:prSet presAssocID="{CF86FD60-36E8-42B5-BC8D-249B0EC3C056}" presName="accent_5" presStyleCnt="0"/>
      <dgm:spPr/>
    </dgm:pt>
    <dgm:pt modelId="{A6CAD574-2902-4965-AA4D-D156C23ABC93}" type="pres">
      <dgm:prSet presAssocID="{CF86FD60-36E8-42B5-BC8D-249B0EC3C056}" presName="accentRepeatNode" presStyleLbl="solidFgAcc1" presStyleIdx="4" presStyleCnt="5"/>
      <dgm:spPr/>
    </dgm:pt>
  </dgm:ptLst>
  <dgm:cxnLst>
    <dgm:cxn modelId="{5254645D-4A5A-4DB3-88D8-74A7326FD893}" srcId="{BBBD9FEC-1C9F-4D81-A0BC-CCF94BC8D925}" destId="{CF86FD60-36E8-42B5-BC8D-249B0EC3C056}" srcOrd="4" destOrd="0" parTransId="{EF822102-155B-4CCD-B3AB-2F242D0CF859}" sibTransId="{687B1B1E-4F06-4C6F-9A54-D24CC050A608}"/>
    <dgm:cxn modelId="{C9AA0C49-34CA-4C16-A2AC-883358A27AB3}" type="presOf" srcId="{48767675-8DA9-4D0C-9F04-C45A1F529DFF}" destId="{55C51C80-022A-4DC3-BF56-2276BD04F630}" srcOrd="0" destOrd="0" presId="urn:microsoft.com/office/officeart/2008/layout/VerticalCurvedList"/>
    <dgm:cxn modelId="{5B096649-6A15-4E6D-8889-105D6BE74890}" type="presOf" srcId="{5DEF8588-6015-49E7-9C1D-6E7DFF0B1695}" destId="{AF79755A-27F9-4E59-84BD-5A264B2FC41C}" srcOrd="0" destOrd="0" presId="urn:microsoft.com/office/officeart/2008/layout/VerticalCurvedList"/>
    <dgm:cxn modelId="{60BC5249-4A79-4866-A2FB-E4883FC567A8}" srcId="{BBBD9FEC-1C9F-4D81-A0BC-CCF94BC8D925}" destId="{5DEF8588-6015-49E7-9C1D-6E7DFF0B1695}" srcOrd="2" destOrd="0" parTransId="{FAEE2CE6-D0C6-4F5C-986D-ED3DD9286C84}" sibTransId="{FF23831C-8A3D-4539-9C35-9D8D3D12EA6F}"/>
    <dgm:cxn modelId="{EDACD569-98EF-4403-A2D4-8DBDA1F9CC39}" type="presOf" srcId="{BBBD9FEC-1C9F-4D81-A0BC-CCF94BC8D925}" destId="{4ABA27A0-3720-440B-891C-858510E87676}" srcOrd="0" destOrd="0" presId="urn:microsoft.com/office/officeart/2008/layout/VerticalCurvedList"/>
    <dgm:cxn modelId="{6283414E-03F8-4FAF-B5DB-2A3F65A798F8}" srcId="{BBBD9FEC-1C9F-4D81-A0BC-CCF94BC8D925}" destId="{8AE4B3A8-0A3E-4254-8AE9-CA4FB3EB8AAB}" srcOrd="3" destOrd="0" parTransId="{FE886394-E158-4632-BB1A-3D88D5B6964B}" sibTransId="{6A5C22C2-94D1-4F69-B2DD-04DF2050BAD3}"/>
    <dgm:cxn modelId="{BE7F1486-28BA-44CA-A5C8-AE24E84F24D4}" type="presOf" srcId="{CF86FD60-36E8-42B5-BC8D-249B0EC3C056}" destId="{05D0066C-69ED-449E-863A-53EAFE71FA99}" srcOrd="0" destOrd="0" presId="urn:microsoft.com/office/officeart/2008/layout/VerticalCurvedList"/>
    <dgm:cxn modelId="{0D51CF94-C8E4-45EB-9BB4-943D356037F6}" srcId="{BBBD9FEC-1C9F-4D81-A0BC-CCF94BC8D925}" destId="{48767675-8DA9-4D0C-9F04-C45A1F529DFF}" srcOrd="0" destOrd="0" parTransId="{4D12D526-894F-44A4-9EA3-AE32A74D98FC}" sibTransId="{0FEB38F0-CDB2-452D-A61D-353600DB9F43}"/>
    <dgm:cxn modelId="{C79E949A-2D6A-41D5-982F-7600B3567B8A}" type="presOf" srcId="{0FEB38F0-CDB2-452D-A61D-353600DB9F43}" destId="{639B74CF-6C25-42E3-A37A-0271F62161E0}" srcOrd="0" destOrd="0" presId="urn:microsoft.com/office/officeart/2008/layout/VerticalCurvedList"/>
    <dgm:cxn modelId="{BFC6A1E3-1EBC-4708-A820-E0E6B11BEBCB}" srcId="{BBBD9FEC-1C9F-4D81-A0BC-CCF94BC8D925}" destId="{284DC640-31D7-41D0-846C-E526E4F3B7C5}" srcOrd="1" destOrd="0" parTransId="{3CA7D045-DBBF-4D5D-B842-883D4C236A20}" sibTransId="{C8B5028C-0FF1-415F-A2FC-BAB0207ACC21}"/>
    <dgm:cxn modelId="{8C5B68E4-544A-4ECE-8217-5400CFB93FAA}" type="presOf" srcId="{284DC640-31D7-41D0-846C-E526E4F3B7C5}" destId="{73198804-E894-49AD-BCBE-D94C262E325B}" srcOrd="0" destOrd="0" presId="urn:microsoft.com/office/officeart/2008/layout/VerticalCurvedList"/>
    <dgm:cxn modelId="{FFE70BFC-88E2-49C0-A6BC-6F2FBAB5A915}" type="presOf" srcId="{8AE4B3A8-0A3E-4254-8AE9-CA4FB3EB8AAB}" destId="{4DE62537-B01B-4BD1-9E60-42D3C75446E8}" srcOrd="0" destOrd="0" presId="urn:microsoft.com/office/officeart/2008/layout/VerticalCurvedList"/>
    <dgm:cxn modelId="{D871F45B-C5A5-432A-8F64-C3C2105061B8}" type="presParOf" srcId="{4ABA27A0-3720-440B-891C-858510E87676}" destId="{AACE886B-CA06-4AAA-8AC1-6093F7CA5FD6}" srcOrd="0" destOrd="0" presId="urn:microsoft.com/office/officeart/2008/layout/VerticalCurvedList"/>
    <dgm:cxn modelId="{2D23B00A-B2B5-4C99-96A0-FE9EDABFEFFF}" type="presParOf" srcId="{AACE886B-CA06-4AAA-8AC1-6093F7CA5FD6}" destId="{926BDE25-3978-42BB-99E3-FA54F165FF09}" srcOrd="0" destOrd="0" presId="urn:microsoft.com/office/officeart/2008/layout/VerticalCurvedList"/>
    <dgm:cxn modelId="{015FF733-4362-4E59-9C48-4652B92AE748}" type="presParOf" srcId="{926BDE25-3978-42BB-99E3-FA54F165FF09}" destId="{87E7A39F-BA7E-40DD-825D-9AEDB6065012}" srcOrd="0" destOrd="0" presId="urn:microsoft.com/office/officeart/2008/layout/VerticalCurvedList"/>
    <dgm:cxn modelId="{17797CBB-2C8D-4696-B5BA-8FFE563FA4FD}" type="presParOf" srcId="{926BDE25-3978-42BB-99E3-FA54F165FF09}" destId="{639B74CF-6C25-42E3-A37A-0271F62161E0}" srcOrd="1" destOrd="0" presId="urn:microsoft.com/office/officeart/2008/layout/VerticalCurvedList"/>
    <dgm:cxn modelId="{49437D61-ED16-423F-9955-E160358ECB7F}" type="presParOf" srcId="{926BDE25-3978-42BB-99E3-FA54F165FF09}" destId="{FB63C225-6D46-47C7-956B-68A6DF7B8A2D}" srcOrd="2" destOrd="0" presId="urn:microsoft.com/office/officeart/2008/layout/VerticalCurvedList"/>
    <dgm:cxn modelId="{E6F3B551-C860-42E3-9928-A4AC4C4DA1CC}" type="presParOf" srcId="{926BDE25-3978-42BB-99E3-FA54F165FF09}" destId="{464211DF-9E52-4ECF-AA0E-0E99BEC8DC7E}" srcOrd="3" destOrd="0" presId="urn:microsoft.com/office/officeart/2008/layout/VerticalCurvedList"/>
    <dgm:cxn modelId="{C4C63B55-DAD4-41BC-843D-9C38CE34F14C}" type="presParOf" srcId="{AACE886B-CA06-4AAA-8AC1-6093F7CA5FD6}" destId="{55C51C80-022A-4DC3-BF56-2276BD04F630}" srcOrd="1" destOrd="0" presId="urn:microsoft.com/office/officeart/2008/layout/VerticalCurvedList"/>
    <dgm:cxn modelId="{22CA85F5-B646-441E-9FB5-4B2334288936}" type="presParOf" srcId="{AACE886B-CA06-4AAA-8AC1-6093F7CA5FD6}" destId="{E34E86F9-FCC5-4282-BA64-A7E4877D8E4F}" srcOrd="2" destOrd="0" presId="urn:microsoft.com/office/officeart/2008/layout/VerticalCurvedList"/>
    <dgm:cxn modelId="{36392BA0-0DE2-4BD2-A82E-676E2430E041}" type="presParOf" srcId="{E34E86F9-FCC5-4282-BA64-A7E4877D8E4F}" destId="{628555B9-FC16-4EEB-AAC7-4B578C077F99}" srcOrd="0" destOrd="0" presId="urn:microsoft.com/office/officeart/2008/layout/VerticalCurvedList"/>
    <dgm:cxn modelId="{36590DC5-2061-4F8E-AD2C-E405A2013ADD}" type="presParOf" srcId="{AACE886B-CA06-4AAA-8AC1-6093F7CA5FD6}" destId="{73198804-E894-49AD-BCBE-D94C262E325B}" srcOrd="3" destOrd="0" presId="urn:microsoft.com/office/officeart/2008/layout/VerticalCurvedList"/>
    <dgm:cxn modelId="{15F3BE60-96BF-49DB-AC86-8098ADF17715}" type="presParOf" srcId="{AACE886B-CA06-4AAA-8AC1-6093F7CA5FD6}" destId="{DF1FCF36-C58D-4B2D-AF92-DC163E80B31F}" srcOrd="4" destOrd="0" presId="urn:microsoft.com/office/officeart/2008/layout/VerticalCurvedList"/>
    <dgm:cxn modelId="{DCC2908F-06CC-48FD-A398-ED772827F60D}" type="presParOf" srcId="{DF1FCF36-C58D-4B2D-AF92-DC163E80B31F}" destId="{740CB270-0ADB-4FC4-91D1-80C3DB8AC336}" srcOrd="0" destOrd="0" presId="urn:microsoft.com/office/officeart/2008/layout/VerticalCurvedList"/>
    <dgm:cxn modelId="{C4138C5E-5106-4E28-9AF9-8E3CECB6FB1A}" type="presParOf" srcId="{AACE886B-CA06-4AAA-8AC1-6093F7CA5FD6}" destId="{AF79755A-27F9-4E59-84BD-5A264B2FC41C}" srcOrd="5" destOrd="0" presId="urn:microsoft.com/office/officeart/2008/layout/VerticalCurvedList"/>
    <dgm:cxn modelId="{001E062F-BD05-431B-9AB0-5D14E3DD78EE}" type="presParOf" srcId="{AACE886B-CA06-4AAA-8AC1-6093F7CA5FD6}" destId="{A9E0F605-89DF-4B8F-B3DD-716C940B8AB6}" srcOrd="6" destOrd="0" presId="urn:microsoft.com/office/officeart/2008/layout/VerticalCurvedList"/>
    <dgm:cxn modelId="{9AD419B6-3E73-436E-BAAD-B62281B6FBFA}" type="presParOf" srcId="{A9E0F605-89DF-4B8F-B3DD-716C940B8AB6}" destId="{44AB9F78-8851-42C3-A371-1949F047F49E}" srcOrd="0" destOrd="0" presId="urn:microsoft.com/office/officeart/2008/layout/VerticalCurvedList"/>
    <dgm:cxn modelId="{7B3CD873-000E-4DBC-A650-77FBA0327378}" type="presParOf" srcId="{AACE886B-CA06-4AAA-8AC1-6093F7CA5FD6}" destId="{4DE62537-B01B-4BD1-9E60-42D3C75446E8}" srcOrd="7" destOrd="0" presId="urn:microsoft.com/office/officeart/2008/layout/VerticalCurvedList"/>
    <dgm:cxn modelId="{3F5B182A-DAD6-4D2F-A542-02FE986178F4}" type="presParOf" srcId="{AACE886B-CA06-4AAA-8AC1-6093F7CA5FD6}" destId="{B39D8745-47E6-433C-B407-00241EDD9693}" srcOrd="8" destOrd="0" presId="urn:microsoft.com/office/officeart/2008/layout/VerticalCurvedList"/>
    <dgm:cxn modelId="{2BA5A489-758C-47F7-AC0F-64ABBF933A2D}" type="presParOf" srcId="{B39D8745-47E6-433C-B407-00241EDD9693}" destId="{8D0AD54E-3C13-4171-9AB4-EDC1EABB25C0}" srcOrd="0" destOrd="0" presId="urn:microsoft.com/office/officeart/2008/layout/VerticalCurvedList"/>
    <dgm:cxn modelId="{6F24BBB2-7E56-43E2-8A67-8D3B48B221CD}" type="presParOf" srcId="{AACE886B-CA06-4AAA-8AC1-6093F7CA5FD6}" destId="{05D0066C-69ED-449E-863A-53EAFE71FA99}" srcOrd="9" destOrd="0" presId="urn:microsoft.com/office/officeart/2008/layout/VerticalCurvedList"/>
    <dgm:cxn modelId="{301674B3-5968-480F-A092-F73D19F311AA}" type="presParOf" srcId="{AACE886B-CA06-4AAA-8AC1-6093F7CA5FD6}" destId="{09F6F4FD-879B-4CF7-815B-9DF4FE5C75B4}" srcOrd="10" destOrd="0" presId="urn:microsoft.com/office/officeart/2008/layout/VerticalCurvedList"/>
    <dgm:cxn modelId="{6B067145-E756-4D1C-92BA-0C9ECDA60B7D}" type="presParOf" srcId="{09F6F4FD-879B-4CF7-815B-9DF4FE5C75B4}" destId="{A6CAD574-2902-4965-AA4D-D156C23ABC93}"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270D23D7-AC57-4A0C-B5D0-4CEA7E7357CE}">
      <dgm:prSet custT="1"/>
      <dgm:spPr/>
      <dgm:t>
        <a:bodyPr/>
        <a:lstStyle/>
        <a:p>
          <a:r>
            <a:rPr lang="en-US" sz="3600" b="1" i="0" dirty="0">
              <a:solidFill>
                <a:schemeClr val="tx2">
                  <a:lumMod val="50000"/>
                </a:schemeClr>
              </a:solidFill>
            </a:rPr>
            <a:t>INTERNAL FACTORS</a:t>
          </a:r>
          <a:endParaRPr lang="en-US" sz="3600" b="1" dirty="0">
            <a:solidFill>
              <a:schemeClr val="tx2">
                <a:lumMod val="50000"/>
              </a:schemeClr>
            </a:solidFill>
          </a:endParaRPr>
        </a:p>
      </dgm:t>
    </dgm:pt>
    <dgm:pt modelId="{B754A496-EDF6-42BC-B3C6-80E53B8C77DB}" type="parTrans" cxnId="{9E95DA15-E9E5-4E45-859E-CE88870D409F}">
      <dgm:prSet/>
      <dgm:spPr/>
      <dgm:t>
        <a:bodyPr/>
        <a:lstStyle/>
        <a:p>
          <a:endParaRPr lang="en-US"/>
        </a:p>
      </dgm:t>
    </dgm:pt>
    <dgm:pt modelId="{0FD2836D-A121-462E-A986-BF1AF6024C55}" type="sibTrans" cxnId="{9E95DA15-E9E5-4E45-859E-CE88870D409F}">
      <dgm:prSet/>
      <dgm:spPr/>
      <dgm:t>
        <a:bodyPr/>
        <a:lstStyle/>
        <a:p>
          <a:endParaRPr lang="en-US"/>
        </a:p>
      </dgm:t>
    </dgm:pt>
    <dgm:pt modelId="{E70E1E94-36AA-46D9-8659-342609631C11}">
      <dgm:prSet/>
      <dgm:spPr/>
      <dgm:t>
        <a:bodyPr/>
        <a:lstStyle/>
        <a:p>
          <a:pPr algn="l"/>
          <a:r>
            <a:rPr lang="en-US" b="0" i="0" dirty="0">
              <a:solidFill>
                <a:schemeClr val="bg1"/>
              </a:solidFill>
            </a:rPr>
            <a:t>Cost</a:t>
          </a:r>
          <a:endParaRPr lang="en-US" dirty="0">
            <a:solidFill>
              <a:schemeClr val="bg1"/>
            </a:solidFill>
          </a:endParaRPr>
        </a:p>
      </dgm:t>
    </dgm:pt>
    <dgm:pt modelId="{32C4FEDF-4C60-4EE5-AA5A-3EA957407CA6}" type="parTrans" cxnId="{BF554153-29CC-4CCD-82C0-817154B79340}">
      <dgm:prSet/>
      <dgm:spPr/>
      <dgm:t>
        <a:bodyPr/>
        <a:lstStyle/>
        <a:p>
          <a:endParaRPr lang="en-US"/>
        </a:p>
      </dgm:t>
    </dgm:pt>
    <dgm:pt modelId="{34E69CAD-9FDA-42BA-BEDA-8C7BEB1D6F87}" type="sibTrans" cxnId="{BF554153-29CC-4CCD-82C0-817154B79340}">
      <dgm:prSet/>
      <dgm:spPr/>
      <dgm:t>
        <a:bodyPr/>
        <a:lstStyle/>
        <a:p>
          <a:endParaRPr lang="en-US"/>
        </a:p>
      </dgm:t>
    </dgm:pt>
    <dgm:pt modelId="{7D631123-35FD-4DAA-B379-2A5A68E199C4}">
      <dgm:prSet/>
      <dgm:spPr/>
      <dgm:t>
        <a:bodyPr/>
        <a:lstStyle/>
        <a:p>
          <a:pPr algn="l"/>
          <a:r>
            <a:rPr lang="en-US" b="0" i="0" dirty="0">
              <a:solidFill>
                <a:schemeClr val="bg1"/>
              </a:solidFill>
            </a:rPr>
            <a:t>Company objectives</a:t>
          </a:r>
          <a:endParaRPr lang="en-US" dirty="0">
            <a:solidFill>
              <a:schemeClr val="bg1"/>
            </a:solidFill>
          </a:endParaRPr>
        </a:p>
      </dgm:t>
    </dgm:pt>
    <dgm:pt modelId="{219A2380-6670-4CAE-8775-0BCB45523BE1}" type="parTrans" cxnId="{109AE602-4A53-4218-B0FE-64A799977703}">
      <dgm:prSet/>
      <dgm:spPr/>
      <dgm:t>
        <a:bodyPr/>
        <a:lstStyle/>
        <a:p>
          <a:endParaRPr lang="en-US"/>
        </a:p>
      </dgm:t>
    </dgm:pt>
    <dgm:pt modelId="{A5B44D8E-C06B-4AD6-BBC8-457B5F93CD3D}" type="sibTrans" cxnId="{109AE602-4A53-4218-B0FE-64A799977703}">
      <dgm:prSet/>
      <dgm:spPr/>
      <dgm:t>
        <a:bodyPr/>
        <a:lstStyle/>
        <a:p>
          <a:endParaRPr lang="en-US"/>
        </a:p>
      </dgm:t>
    </dgm:pt>
    <dgm:pt modelId="{EE9EFFE7-B5ED-4C27-A92F-90C5AD3D0AA5}">
      <dgm:prSet/>
      <dgm:spPr/>
      <dgm:t>
        <a:bodyPr/>
        <a:lstStyle/>
        <a:p>
          <a:pPr algn="l"/>
          <a:r>
            <a:rPr lang="en-US" b="0" i="0" dirty="0" err="1">
              <a:solidFill>
                <a:schemeClr val="bg1"/>
              </a:solidFill>
            </a:rPr>
            <a:t>Organisational</a:t>
          </a:r>
          <a:r>
            <a:rPr lang="en-US" b="0" i="0" dirty="0">
              <a:solidFill>
                <a:schemeClr val="bg1"/>
              </a:solidFill>
            </a:rPr>
            <a:t> factors</a:t>
          </a:r>
          <a:endParaRPr lang="en-US" dirty="0">
            <a:solidFill>
              <a:schemeClr val="bg1"/>
            </a:solidFill>
          </a:endParaRPr>
        </a:p>
      </dgm:t>
    </dgm:pt>
    <dgm:pt modelId="{408083E7-07FE-4D6F-A471-BCC478C25396}" type="parTrans" cxnId="{5AB52A91-8056-4685-8933-7F17B38C1B34}">
      <dgm:prSet/>
      <dgm:spPr/>
      <dgm:t>
        <a:bodyPr/>
        <a:lstStyle/>
        <a:p>
          <a:endParaRPr lang="en-US"/>
        </a:p>
      </dgm:t>
    </dgm:pt>
    <dgm:pt modelId="{C34C71F9-2EAF-4532-9F5B-98EECF23E78C}" type="sibTrans" cxnId="{5AB52A91-8056-4685-8933-7F17B38C1B34}">
      <dgm:prSet/>
      <dgm:spPr/>
      <dgm:t>
        <a:bodyPr/>
        <a:lstStyle/>
        <a:p>
          <a:endParaRPr lang="en-US"/>
        </a:p>
      </dgm:t>
    </dgm:pt>
    <dgm:pt modelId="{8ECFD1C0-9422-423D-B23D-2F01C47FAC2E}">
      <dgm:prSet/>
      <dgm:spPr/>
      <dgm:t>
        <a:bodyPr/>
        <a:lstStyle/>
        <a:p>
          <a:pPr algn="l"/>
          <a:r>
            <a:rPr lang="en-US" b="0" i="0" dirty="0">
              <a:solidFill>
                <a:schemeClr val="bg1"/>
              </a:solidFill>
            </a:rPr>
            <a:t>Marketing mix</a:t>
          </a:r>
          <a:endParaRPr lang="en-US" dirty="0">
            <a:solidFill>
              <a:schemeClr val="bg1"/>
            </a:solidFill>
          </a:endParaRPr>
        </a:p>
      </dgm:t>
    </dgm:pt>
    <dgm:pt modelId="{22FD9F5B-EE93-4C14-8B56-153DC70007F3}" type="parTrans" cxnId="{146D5A6C-E23B-4911-9D74-C494851C7AC9}">
      <dgm:prSet/>
      <dgm:spPr/>
      <dgm:t>
        <a:bodyPr/>
        <a:lstStyle/>
        <a:p>
          <a:endParaRPr lang="en-US"/>
        </a:p>
      </dgm:t>
    </dgm:pt>
    <dgm:pt modelId="{1443807E-89DC-4427-B63D-1299E5A53697}" type="sibTrans" cxnId="{146D5A6C-E23B-4911-9D74-C494851C7AC9}">
      <dgm:prSet/>
      <dgm:spPr/>
      <dgm:t>
        <a:bodyPr/>
        <a:lstStyle/>
        <a:p>
          <a:endParaRPr lang="en-US"/>
        </a:p>
      </dgm:t>
    </dgm:pt>
    <dgm:pt modelId="{DE381EFC-3DF7-4BFC-BF0A-A3A6F94338AC}">
      <dgm:prSet/>
      <dgm:spPr/>
      <dgm:t>
        <a:bodyPr/>
        <a:lstStyle/>
        <a:p>
          <a:pPr algn="l"/>
          <a:r>
            <a:rPr lang="en-US" b="0" i="0" dirty="0">
              <a:solidFill>
                <a:schemeClr val="bg1"/>
              </a:solidFill>
            </a:rPr>
            <a:t>Product differentiation</a:t>
          </a:r>
          <a:endParaRPr lang="en-US" dirty="0">
            <a:solidFill>
              <a:schemeClr val="bg1"/>
            </a:solidFill>
          </a:endParaRPr>
        </a:p>
      </dgm:t>
    </dgm:pt>
    <dgm:pt modelId="{8DD572BE-CFD5-4C3C-9B50-BD79D914D535}" type="parTrans" cxnId="{21043F33-B1BC-4B83-909F-75EA9242B592}">
      <dgm:prSet/>
      <dgm:spPr/>
      <dgm:t>
        <a:bodyPr/>
        <a:lstStyle/>
        <a:p>
          <a:endParaRPr lang="en-US"/>
        </a:p>
      </dgm:t>
    </dgm:pt>
    <dgm:pt modelId="{AD89B1AE-8CD9-47CD-97A4-99D2840ED5B0}" type="sibTrans" cxnId="{21043F33-B1BC-4B83-909F-75EA9242B592}">
      <dgm:prSet/>
      <dgm:spPr/>
      <dgm:t>
        <a:bodyPr/>
        <a:lstStyle/>
        <a:p>
          <a:endParaRPr lang="en-US"/>
        </a:p>
      </dgm:t>
    </dgm:pt>
    <dgm:pt modelId="{D858CF4E-7626-45E1-85A8-71AFA6C2C72D}">
      <dgm:prSet phldrT="[Text]"/>
      <dgm:spPr/>
      <dgm:t>
        <a:bodyPr/>
        <a:lstStyle/>
        <a:p>
          <a:pPr algn="l"/>
          <a:r>
            <a:rPr lang="en-US" b="0" i="0" dirty="0">
              <a:solidFill>
                <a:schemeClr val="bg1"/>
              </a:solidFill>
            </a:rPr>
            <a:t>Competition</a:t>
          </a:r>
          <a:endParaRPr lang="en-US" dirty="0">
            <a:solidFill>
              <a:schemeClr val="bg1"/>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0" i="0" dirty="0">
              <a:solidFill>
                <a:schemeClr val="bg1"/>
              </a:solidFill>
            </a:rPr>
            <a:t>Suppliers</a:t>
          </a:r>
          <a:endParaRPr lang="en-US" dirty="0">
            <a:solidFill>
              <a:schemeClr val="bg1"/>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0" i="0" dirty="0">
              <a:solidFill>
                <a:schemeClr val="bg1"/>
              </a:solidFill>
            </a:rPr>
            <a:t>Demand</a:t>
          </a:r>
          <a:endParaRPr lang="en-US" dirty="0">
            <a:solidFill>
              <a:schemeClr val="bg1"/>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0" i="0" dirty="0">
              <a:solidFill>
                <a:schemeClr val="bg1"/>
              </a:solidFill>
            </a:rPr>
            <a:t>Economic conditions</a:t>
          </a:r>
          <a:endParaRPr lang="en-US" dirty="0">
            <a:solidFill>
              <a:schemeClr val="bg1"/>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0" i="0" dirty="0">
              <a:solidFill>
                <a:schemeClr val="bg1"/>
              </a:solidFill>
            </a:rPr>
            <a:t>Consumers</a:t>
          </a:r>
          <a:endParaRPr lang="en-US" dirty="0">
            <a:solidFill>
              <a:schemeClr val="bg1"/>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0" i="0" dirty="0">
              <a:solidFill>
                <a:schemeClr val="bg1"/>
              </a:solidFill>
            </a:rPr>
            <a:t>Government</a:t>
          </a:r>
          <a:endParaRPr lang="en-US" dirty="0">
            <a:solidFill>
              <a:schemeClr val="bg1"/>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23E72680-99D6-462A-8EB7-3B49EFE3C79D}" type="pres">
      <dgm:prSet presAssocID="{270D23D7-AC57-4A0C-B5D0-4CEA7E7357CE}" presName="compNode" presStyleCnt="0"/>
      <dgm:spPr/>
    </dgm:pt>
    <dgm:pt modelId="{90498A2E-752E-4EE2-8507-559B11BE8CF2}" type="pres">
      <dgm:prSet presAssocID="{270D23D7-AC57-4A0C-B5D0-4CEA7E7357CE}" presName="aNode" presStyleLbl="bgShp" presStyleIdx="0" presStyleCnt="2"/>
      <dgm:spPr/>
    </dgm:pt>
    <dgm:pt modelId="{7CE75D4D-5D94-41AD-809E-4FFEC6C180B0}" type="pres">
      <dgm:prSet presAssocID="{270D23D7-AC57-4A0C-B5D0-4CEA7E7357CE}" presName="textNode" presStyleLbl="bgShp" presStyleIdx="0" presStyleCnt="2"/>
      <dgm:spPr/>
    </dgm:pt>
    <dgm:pt modelId="{6AE28314-AFD4-48CF-A180-2C084115B18D}" type="pres">
      <dgm:prSet presAssocID="{270D23D7-AC57-4A0C-B5D0-4CEA7E7357CE}" presName="compChildNode" presStyleCnt="0"/>
      <dgm:spPr/>
    </dgm:pt>
    <dgm:pt modelId="{A2D353CF-C9D8-4E1A-9831-08864D5DD059}" type="pres">
      <dgm:prSet presAssocID="{270D23D7-AC57-4A0C-B5D0-4CEA7E7357CE}" presName="theInnerList" presStyleCnt="0"/>
      <dgm:spPr/>
    </dgm:pt>
    <dgm:pt modelId="{EEB5EDF3-AC6A-404C-948C-770BC7D6ECA3}" type="pres">
      <dgm:prSet presAssocID="{E70E1E94-36AA-46D9-8659-342609631C11}" presName="childNode" presStyleLbl="node1" presStyleIdx="0" presStyleCnt="11">
        <dgm:presLayoutVars>
          <dgm:bulletEnabled val="1"/>
        </dgm:presLayoutVars>
      </dgm:prSet>
      <dgm:spPr/>
    </dgm:pt>
    <dgm:pt modelId="{B30A01D6-3002-472B-B413-4B7EDA6D36FD}" type="pres">
      <dgm:prSet presAssocID="{E70E1E94-36AA-46D9-8659-342609631C11}" presName="aSpace2" presStyleCnt="0"/>
      <dgm:spPr/>
    </dgm:pt>
    <dgm:pt modelId="{302A0843-6FA4-4A1D-88E6-AEDF7F765846}" type="pres">
      <dgm:prSet presAssocID="{7D631123-35FD-4DAA-B379-2A5A68E199C4}" presName="childNode" presStyleLbl="node1" presStyleIdx="1" presStyleCnt="11" custLinFactNeighborY="14375">
        <dgm:presLayoutVars>
          <dgm:bulletEnabled val="1"/>
        </dgm:presLayoutVars>
      </dgm:prSet>
      <dgm:spPr/>
    </dgm:pt>
    <dgm:pt modelId="{09B14135-66BA-4AC9-B43F-5A9E9D30753B}" type="pres">
      <dgm:prSet presAssocID="{7D631123-35FD-4DAA-B379-2A5A68E199C4}" presName="aSpace2" presStyleCnt="0"/>
      <dgm:spPr/>
    </dgm:pt>
    <dgm:pt modelId="{391B290B-E829-45B8-9189-033E0A12CC04}" type="pres">
      <dgm:prSet presAssocID="{EE9EFFE7-B5ED-4C27-A92F-90C5AD3D0AA5}" presName="childNode" presStyleLbl="node1" presStyleIdx="2" presStyleCnt="11">
        <dgm:presLayoutVars>
          <dgm:bulletEnabled val="1"/>
        </dgm:presLayoutVars>
      </dgm:prSet>
      <dgm:spPr/>
    </dgm:pt>
    <dgm:pt modelId="{C459809F-7736-4BDB-B15E-DF0C3C23DDE0}" type="pres">
      <dgm:prSet presAssocID="{EE9EFFE7-B5ED-4C27-A92F-90C5AD3D0AA5}" presName="aSpace2" presStyleCnt="0"/>
      <dgm:spPr/>
    </dgm:pt>
    <dgm:pt modelId="{C9654758-079A-413D-A93A-FEC3AC199DC5}" type="pres">
      <dgm:prSet presAssocID="{8ECFD1C0-9422-423D-B23D-2F01C47FAC2E}" presName="childNode" presStyleLbl="node1" presStyleIdx="3" presStyleCnt="11">
        <dgm:presLayoutVars>
          <dgm:bulletEnabled val="1"/>
        </dgm:presLayoutVars>
      </dgm:prSet>
      <dgm:spPr/>
    </dgm:pt>
    <dgm:pt modelId="{79E483A3-92C3-4CC1-8AC8-D1788C6A60E0}" type="pres">
      <dgm:prSet presAssocID="{8ECFD1C0-9422-423D-B23D-2F01C47FAC2E}" presName="aSpace2" presStyleCnt="0"/>
      <dgm:spPr/>
    </dgm:pt>
    <dgm:pt modelId="{518E6B64-E58F-4A8B-8B69-31AEEC6B56EF}" type="pres">
      <dgm:prSet presAssocID="{DE381EFC-3DF7-4BFC-BF0A-A3A6F94338AC}" presName="childNode" presStyleLbl="node1" presStyleIdx="4" presStyleCnt="11">
        <dgm:presLayoutVars>
          <dgm:bulletEnabled val="1"/>
        </dgm:presLayoutVars>
      </dgm:prSet>
      <dgm:spPr/>
    </dgm:pt>
    <dgm:pt modelId="{3B76817A-B8CD-41B2-B3D5-4442C5DBEF51}" type="pres">
      <dgm:prSet presAssocID="{270D23D7-AC57-4A0C-B5D0-4CEA7E7357CE}" presName="aSpace" presStyleCnt="0"/>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1" presStyleCnt="2"/>
      <dgm:spPr/>
    </dgm:pt>
    <dgm:pt modelId="{2424D66B-86AB-4E8C-A50A-7CB1D7CE3503}" type="pres">
      <dgm:prSet presAssocID="{F0EA1258-50AD-4C93-8F66-F8FCCAEC6E59}" presName="textNode" presStyleLbl="bgShp" presStyleIdx="1" presStyleCnt="2"/>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5" presStyleCnt="11">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6" presStyleCnt="11">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7" presStyleCnt="11">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8" presStyleCnt="11">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9" presStyleCnt="11">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10" presStyleCnt="11">
        <dgm:presLayoutVars>
          <dgm:bulletEnabled val="1"/>
        </dgm:presLayoutVars>
      </dgm:prSet>
      <dgm:spPr/>
    </dgm:pt>
  </dgm:ptLst>
  <dgm:cxnLst>
    <dgm:cxn modelId="{109AE602-4A53-4218-B0FE-64A799977703}" srcId="{270D23D7-AC57-4A0C-B5D0-4CEA7E7357CE}" destId="{7D631123-35FD-4DAA-B379-2A5A68E199C4}" srcOrd="1" destOrd="0" parTransId="{219A2380-6670-4CAE-8775-0BCB45523BE1}" sibTransId="{A5B44D8E-C06B-4AD6-BBC8-457B5F93CD3D}"/>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9E95DA15-E9E5-4E45-859E-CE88870D409F}" srcId="{E0E7F01B-FE9B-43BC-B32C-1F5FE3ADF48C}" destId="{270D23D7-AC57-4A0C-B5D0-4CEA7E7357CE}" srcOrd="0" destOrd="0" parTransId="{B754A496-EDF6-42BC-B3C6-80E53B8C77DB}" sibTransId="{0FD2836D-A121-462E-A986-BF1AF6024C55}"/>
    <dgm:cxn modelId="{3C134B2A-6B53-48FE-BBEC-874B0381D2FA}" type="presOf" srcId="{DE381EFC-3DF7-4BFC-BF0A-A3A6F94338AC}" destId="{518E6B64-E58F-4A8B-8B69-31AEEC6B56EF}"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21043F33-B1BC-4B83-909F-75EA9242B592}" srcId="{270D23D7-AC57-4A0C-B5D0-4CEA7E7357CE}" destId="{DE381EFC-3DF7-4BFC-BF0A-A3A6F94338AC}" srcOrd="4" destOrd="0" parTransId="{8DD572BE-CFD5-4C3C-9B50-BD79D914D535}" sibTransId="{AD89B1AE-8CD9-47CD-97A4-99D2840ED5B0}"/>
    <dgm:cxn modelId="{A6034C33-7641-4191-87F3-4F29F97BA99F}" srcId="{E0E7F01B-FE9B-43BC-B32C-1F5FE3ADF48C}" destId="{F0EA1258-50AD-4C93-8F66-F8FCCAEC6E59}" srcOrd="1" destOrd="0" parTransId="{59D3705D-07C9-4A95-973F-976D1D7DE8A5}" sibTransId="{927491F0-4241-469C-9D61-200D9DC42C28}"/>
    <dgm:cxn modelId="{F0D5C33B-8E5E-4BBD-B190-11AC3DB5795B}" type="presOf" srcId="{270D23D7-AC57-4A0C-B5D0-4CEA7E7357CE}" destId="{90498A2E-752E-4EE2-8507-559B11BE8CF2}" srcOrd="0" destOrd="0" presId="urn:microsoft.com/office/officeart/2005/8/layout/lProcess2"/>
    <dgm:cxn modelId="{F9330C5C-2751-4D4A-B390-07FAB4AA39E9}" srcId="{F0EA1258-50AD-4C93-8F66-F8FCCAEC6E59}" destId="{2294FE2B-2EE4-4A88-8ABE-17986A09C605}" srcOrd="5" destOrd="0" parTransId="{302FBDA0-A4D1-456F-AF68-784B53237F92}" sibTransId="{FD8CF578-EAA1-4F75-A52F-A7E25E006406}"/>
    <dgm:cxn modelId="{C4FF0641-1ADD-4E02-A0F2-B062E1454947}" type="presOf" srcId="{7D631123-35FD-4DAA-B379-2A5A68E199C4}" destId="{302A0843-6FA4-4A1D-88E6-AEDF7F765846}" srcOrd="0" destOrd="0" presId="urn:microsoft.com/office/officeart/2005/8/layout/lProcess2"/>
    <dgm:cxn modelId="{A222AB45-F9B9-4553-AEC5-B36F9AA5E975}" type="presOf" srcId="{8ECFD1C0-9422-423D-B23D-2F01C47FAC2E}" destId="{C9654758-079A-413D-A93A-FEC3AC199DC5}" srcOrd="0" destOrd="0" presId="urn:microsoft.com/office/officeart/2005/8/layout/lProcess2"/>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146D5A6C-E23B-4911-9D74-C494851C7AC9}" srcId="{270D23D7-AC57-4A0C-B5D0-4CEA7E7357CE}" destId="{8ECFD1C0-9422-423D-B23D-2F01C47FAC2E}" srcOrd="3" destOrd="0" parTransId="{22FD9F5B-EE93-4C14-8B56-153DC70007F3}" sibTransId="{1443807E-89DC-4427-B63D-1299E5A53697}"/>
    <dgm:cxn modelId="{BF554153-29CC-4CCD-82C0-817154B79340}" srcId="{270D23D7-AC57-4A0C-B5D0-4CEA7E7357CE}" destId="{E70E1E94-36AA-46D9-8659-342609631C11}" srcOrd="0" destOrd="0" parTransId="{32C4FEDF-4C60-4EE5-AA5A-3EA957407CA6}" sibTransId="{34E69CAD-9FDA-42BA-BEDA-8C7BEB1D6F87}"/>
    <dgm:cxn modelId="{84B7AA8D-9BC7-4D57-8DDD-595F6E757144}" type="presOf" srcId="{57D64951-2CF4-4E81-8E4F-E8ED27F46C5D}" destId="{DE61BABE-ADE5-4885-89F7-25FACA60EDB2}" srcOrd="0" destOrd="0" presId="urn:microsoft.com/office/officeart/2005/8/layout/lProcess2"/>
    <dgm:cxn modelId="{5AB52A91-8056-4685-8933-7F17B38C1B34}" srcId="{270D23D7-AC57-4A0C-B5D0-4CEA7E7357CE}" destId="{EE9EFFE7-B5ED-4C27-A92F-90C5AD3D0AA5}" srcOrd="2" destOrd="0" parTransId="{408083E7-07FE-4D6F-A471-BCC478C25396}" sibTransId="{C34C71F9-2EAF-4532-9F5B-98EECF23E78C}"/>
    <dgm:cxn modelId="{7849DFAC-4C56-449D-B605-FED742416342}" type="presOf" srcId="{EE9EFFE7-B5ED-4C27-A92F-90C5AD3D0AA5}" destId="{391B290B-E829-45B8-9189-033E0A12CC04}"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6B3C98D6-420E-40B2-AE8A-FF5DDBC47AC1}" type="presOf" srcId="{270D23D7-AC57-4A0C-B5D0-4CEA7E7357CE}" destId="{7CE75D4D-5D94-41AD-809E-4FFEC6C180B0}" srcOrd="1" destOrd="0" presId="urn:microsoft.com/office/officeart/2005/8/layout/lProcess2"/>
    <dgm:cxn modelId="{1C4B5AEC-0547-4ED3-BAE6-B5ADA1BFFC4A}" type="presOf" srcId="{E70E1E94-36AA-46D9-8659-342609631C11}" destId="{EEB5EDF3-AC6A-404C-948C-770BC7D6ECA3}"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F38B8000-A333-4B96-8CA0-8FB72252EE74}" type="presParOf" srcId="{7CF0A71B-AB2A-4906-ABA4-E2A8C902FFFA}" destId="{23E72680-99D6-462A-8EB7-3B49EFE3C79D}" srcOrd="0" destOrd="0" presId="urn:microsoft.com/office/officeart/2005/8/layout/lProcess2"/>
    <dgm:cxn modelId="{2861147E-E09B-4816-B7C7-382BCE5C9B0C}" type="presParOf" srcId="{23E72680-99D6-462A-8EB7-3B49EFE3C79D}" destId="{90498A2E-752E-4EE2-8507-559B11BE8CF2}" srcOrd="0" destOrd="0" presId="urn:microsoft.com/office/officeart/2005/8/layout/lProcess2"/>
    <dgm:cxn modelId="{E0FE9453-7BD0-435E-BDB5-9EEE89E8F630}" type="presParOf" srcId="{23E72680-99D6-462A-8EB7-3B49EFE3C79D}" destId="{7CE75D4D-5D94-41AD-809E-4FFEC6C180B0}" srcOrd="1" destOrd="0" presId="urn:microsoft.com/office/officeart/2005/8/layout/lProcess2"/>
    <dgm:cxn modelId="{C740434E-C407-4787-86C8-7E20BE49CF93}" type="presParOf" srcId="{23E72680-99D6-462A-8EB7-3B49EFE3C79D}" destId="{6AE28314-AFD4-48CF-A180-2C084115B18D}" srcOrd="2" destOrd="0" presId="urn:microsoft.com/office/officeart/2005/8/layout/lProcess2"/>
    <dgm:cxn modelId="{96D4C2E2-EE4B-4673-AC7B-5AC138441B15}" type="presParOf" srcId="{6AE28314-AFD4-48CF-A180-2C084115B18D}" destId="{A2D353CF-C9D8-4E1A-9831-08864D5DD059}" srcOrd="0" destOrd="0" presId="urn:microsoft.com/office/officeart/2005/8/layout/lProcess2"/>
    <dgm:cxn modelId="{B6D8935B-62DD-400A-B034-2697BDE2C098}" type="presParOf" srcId="{A2D353CF-C9D8-4E1A-9831-08864D5DD059}" destId="{EEB5EDF3-AC6A-404C-948C-770BC7D6ECA3}" srcOrd="0" destOrd="0" presId="urn:microsoft.com/office/officeart/2005/8/layout/lProcess2"/>
    <dgm:cxn modelId="{A3A821C4-4E0F-449B-8FC3-7AE4A8D7861E}" type="presParOf" srcId="{A2D353CF-C9D8-4E1A-9831-08864D5DD059}" destId="{B30A01D6-3002-472B-B413-4B7EDA6D36FD}" srcOrd="1" destOrd="0" presId="urn:microsoft.com/office/officeart/2005/8/layout/lProcess2"/>
    <dgm:cxn modelId="{9BE764D2-D26C-4D1C-90DF-09E9EA29EBC5}" type="presParOf" srcId="{A2D353CF-C9D8-4E1A-9831-08864D5DD059}" destId="{302A0843-6FA4-4A1D-88E6-AEDF7F765846}" srcOrd="2" destOrd="0" presId="urn:microsoft.com/office/officeart/2005/8/layout/lProcess2"/>
    <dgm:cxn modelId="{8B63C60E-A681-4003-86D5-56ED8E0C4C23}" type="presParOf" srcId="{A2D353CF-C9D8-4E1A-9831-08864D5DD059}" destId="{09B14135-66BA-4AC9-B43F-5A9E9D30753B}" srcOrd="3" destOrd="0" presId="urn:microsoft.com/office/officeart/2005/8/layout/lProcess2"/>
    <dgm:cxn modelId="{9B63C46C-D895-4EC0-9912-DAAFBA053779}" type="presParOf" srcId="{A2D353CF-C9D8-4E1A-9831-08864D5DD059}" destId="{391B290B-E829-45B8-9189-033E0A12CC04}" srcOrd="4" destOrd="0" presId="urn:microsoft.com/office/officeart/2005/8/layout/lProcess2"/>
    <dgm:cxn modelId="{A552FF85-9DB0-4302-9D63-7810E5A6E759}" type="presParOf" srcId="{A2D353CF-C9D8-4E1A-9831-08864D5DD059}" destId="{C459809F-7736-4BDB-B15E-DF0C3C23DDE0}" srcOrd="5" destOrd="0" presId="urn:microsoft.com/office/officeart/2005/8/layout/lProcess2"/>
    <dgm:cxn modelId="{762EAE8F-52D1-45CF-BE6F-3155B024D5BD}" type="presParOf" srcId="{A2D353CF-C9D8-4E1A-9831-08864D5DD059}" destId="{C9654758-079A-413D-A93A-FEC3AC199DC5}" srcOrd="6" destOrd="0" presId="urn:microsoft.com/office/officeart/2005/8/layout/lProcess2"/>
    <dgm:cxn modelId="{FAE56538-59A9-4B8C-84BC-0FFBA1F6D228}" type="presParOf" srcId="{A2D353CF-C9D8-4E1A-9831-08864D5DD059}" destId="{79E483A3-92C3-4CC1-8AC8-D1788C6A60E0}" srcOrd="7" destOrd="0" presId="urn:microsoft.com/office/officeart/2005/8/layout/lProcess2"/>
    <dgm:cxn modelId="{F06B5D84-7499-487D-8399-89F80BEAC86F}" type="presParOf" srcId="{A2D353CF-C9D8-4E1A-9831-08864D5DD059}" destId="{518E6B64-E58F-4A8B-8B69-31AEEC6B56EF}" srcOrd="8" destOrd="0" presId="urn:microsoft.com/office/officeart/2005/8/layout/lProcess2"/>
    <dgm:cxn modelId="{77CB75FC-5E88-4C35-A5DA-D1DC0F27DD25}" type="presParOf" srcId="{7CF0A71B-AB2A-4906-ABA4-E2A8C902FFFA}" destId="{3B76817A-B8CD-41B2-B3D5-4442C5DBEF51}" srcOrd="1" destOrd="0" presId="urn:microsoft.com/office/officeart/2005/8/layout/lProcess2"/>
    <dgm:cxn modelId="{D6F7EE48-F2CD-4A25-AA88-87ED017A016D}" type="presParOf" srcId="{7CF0A71B-AB2A-4906-ABA4-E2A8C902FFFA}" destId="{6FE5DDF0-B6EE-4BE6-868D-1B47A2597AE3}" srcOrd="2"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270D23D7-AC57-4A0C-B5D0-4CEA7E7357CE}">
      <dgm:prSet custT="1"/>
      <dgm:spPr/>
      <dgm:t>
        <a:bodyPr/>
        <a:lstStyle/>
        <a:p>
          <a:r>
            <a:rPr lang="en-US" sz="3600" b="1" i="0" dirty="0">
              <a:solidFill>
                <a:schemeClr val="tx2">
                  <a:lumMod val="50000"/>
                </a:schemeClr>
              </a:solidFill>
            </a:rPr>
            <a:t>INTERNAL FACTORS</a:t>
          </a:r>
          <a:endParaRPr lang="en-US" sz="3600" b="1" dirty="0">
            <a:solidFill>
              <a:schemeClr val="tx2">
                <a:lumMod val="50000"/>
              </a:schemeClr>
            </a:solidFill>
          </a:endParaRPr>
        </a:p>
      </dgm:t>
    </dgm:pt>
    <dgm:pt modelId="{B754A496-EDF6-42BC-B3C6-80E53B8C77DB}" type="parTrans" cxnId="{9E95DA15-E9E5-4E45-859E-CE88870D409F}">
      <dgm:prSet/>
      <dgm:spPr/>
      <dgm:t>
        <a:bodyPr/>
        <a:lstStyle/>
        <a:p>
          <a:endParaRPr lang="en-US"/>
        </a:p>
      </dgm:t>
    </dgm:pt>
    <dgm:pt modelId="{0FD2836D-A121-462E-A986-BF1AF6024C55}" type="sibTrans" cxnId="{9E95DA15-E9E5-4E45-859E-CE88870D409F}">
      <dgm:prSet/>
      <dgm:spPr/>
      <dgm:t>
        <a:bodyPr/>
        <a:lstStyle/>
        <a:p>
          <a:endParaRPr lang="en-US"/>
        </a:p>
      </dgm:t>
    </dgm:pt>
    <dgm:pt modelId="{E70E1E94-36AA-46D9-8659-342609631C11}">
      <dgm:prSet/>
      <dgm:spPr/>
      <dgm:t>
        <a:bodyPr/>
        <a:lstStyle/>
        <a:p>
          <a:pPr algn="l"/>
          <a:r>
            <a:rPr lang="en-US" b="1" i="0" dirty="0">
              <a:solidFill>
                <a:srgbClr val="C00000"/>
              </a:solidFill>
            </a:rPr>
            <a:t>Cost</a:t>
          </a:r>
          <a:endParaRPr lang="en-US" b="1" dirty="0">
            <a:solidFill>
              <a:srgbClr val="C00000"/>
            </a:solidFill>
          </a:endParaRPr>
        </a:p>
      </dgm:t>
    </dgm:pt>
    <dgm:pt modelId="{32C4FEDF-4C60-4EE5-AA5A-3EA957407CA6}" type="parTrans" cxnId="{BF554153-29CC-4CCD-82C0-817154B79340}">
      <dgm:prSet/>
      <dgm:spPr/>
      <dgm:t>
        <a:bodyPr/>
        <a:lstStyle/>
        <a:p>
          <a:endParaRPr lang="en-US"/>
        </a:p>
      </dgm:t>
    </dgm:pt>
    <dgm:pt modelId="{34E69CAD-9FDA-42BA-BEDA-8C7BEB1D6F87}" type="sibTrans" cxnId="{BF554153-29CC-4CCD-82C0-817154B79340}">
      <dgm:prSet/>
      <dgm:spPr/>
      <dgm:t>
        <a:bodyPr/>
        <a:lstStyle/>
        <a:p>
          <a:endParaRPr lang="en-US"/>
        </a:p>
      </dgm:t>
    </dgm:pt>
    <dgm:pt modelId="{7D631123-35FD-4DAA-B379-2A5A68E199C4}">
      <dgm:prSet/>
      <dgm:spPr/>
      <dgm:t>
        <a:bodyPr/>
        <a:lstStyle/>
        <a:p>
          <a:pPr algn="l"/>
          <a:r>
            <a:rPr lang="en-US" b="0" i="0" dirty="0">
              <a:solidFill>
                <a:schemeClr val="bg1"/>
              </a:solidFill>
            </a:rPr>
            <a:t>Company objectives</a:t>
          </a:r>
          <a:endParaRPr lang="en-US" dirty="0">
            <a:solidFill>
              <a:schemeClr val="bg1"/>
            </a:solidFill>
          </a:endParaRPr>
        </a:p>
      </dgm:t>
    </dgm:pt>
    <dgm:pt modelId="{219A2380-6670-4CAE-8775-0BCB45523BE1}" type="parTrans" cxnId="{109AE602-4A53-4218-B0FE-64A799977703}">
      <dgm:prSet/>
      <dgm:spPr/>
      <dgm:t>
        <a:bodyPr/>
        <a:lstStyle/>
        <a:p>
          <a:endParaRPr lang="en-US"/>
        </a:p>
      </dgm:t>
    </dgm:pt>
    <dgm:pt modelId="{A5B44D8E-C06B-4AD6-BBC8-457B5F93CD3D}" type="sibTrans" cxnId="{109AE602-4A53-4218-B0FE-64A799977703}">
      <dgm:prSet/>
      <dgm:spPr/>
      <dgm:t>
        <a:bodyPr/>
        <a:lstStyle/>
        <a:p>
          <a:endParaRPr lang="en-US"/>
        </a:p>
      </dgm:t>
    </dgm:pt>
    <dgm:pt modelId="{EE9EFFE7-B5ED-4C27-A92F-90C5AD3D0AA5}">
      <dgm:prSet/>
      <dgm:spPr/>
      <dgm:t>
        <a:bodyPr/>
        <a:lstStyle/>
        <a:p>
          <a:pPr algn="l"/>
          <a:r>
            <a:rPr lang="en-US" b="0" i="0" dirty="0" err="1">
              <a:solidFill>
                <a:schemeClr val="bg1"/>
              </a:solidFill>
            </a:rPr>
            <a:t>Organisational</a:t>
          </a:r>
          <a:r>
            <a:rPr lang="en-US" b="0" i="0" dirty="0">
              <a:solidFill>
                <a:schemeClr val="bg1"/>
              </a:solidFill>
            </a:rPr>
            <a:t> factors</a:t>
          </a:r>
          <a:endParaRPr lang="en-US" dirty="0">
            <a:solidFill>
              <a:schemeClr val="bg1"/>
            </a:solidFill>
          </a:endParaRPr>
        </a:p>
      </dgm:t>
    </dgm:pt>
    <dgm:pt modelId="{408083E7-07FE-4D6F-A471-BCC478C25396}" type="parTrans" cxnId="{5AB52A91-8056-4685-8933-7F17B38C1B34}">
      <dgm:prSet/>
      <dgm:spPr/>
      <dgm:t>
        <a:bodyPr/>
        <a:lstStyle/>
        <a:p>
          <a:endParaRPr lang="en-US"/>
        </a:p>
      </dgm:t>
    </dgm:pt>
    <dgm:pt modelId="{C34C71F9-2EAF-4532-9F5B-98EECF23E78C}" type="sibTrans" cxnId="{5AB52A91-8056-4685-8933-7F17B38C1B34}">
      <dgm:prSet/>
      <dgm:spPr/>
      <dgm:t>
        <a:bodyPr/>
        <a:lstStyle/>
        <a:p>
          <a:endParaRPr lang="en-US"/>
        </a:p>
      </dgm:t>
    </dgm:pt>
    <dgm:pt modelId="{8ECFD1C0-9422-423D-B23D-2F01C47FAC2E}">
      <dgm:prSet/>
      <dgm:spPr/>
      <dgm:t>
        <a:bodyPr/>
        <a:lstStyle/>
        <a:p>
          <a:pPr algn="l"/>
          <a:r>
            <a:rPr lang="en-US" b="0" i="0" dirty="0">
              <a:solidFill>
                <a:schemeClr val="bg1"/>
              </a:solidFill>
            </a:rPr>
            <a:t>Marketing mix</a:t>
          </a:r>
          <a:endParaRPr lang="en-US" dirty="0">
            <a:solidFill>
              <a:schemeClr val="bg1"/>
            </a:solidFill>
          </a:endParaRPr>
        </a:p>
      </dgm:t>
    </dgm:pt>
    <dgm:pt modelId="{22FD9F5B-EE93-4C14-8B56-153DC70007F3}" type="parTrans" cxnId="{146D5A6C-E23B-4911-9D74-C494851C7AC9}">
      <dgm:prSet/>
      <dgm:spPr/>
      <dgm:t>
        <a:bodyPr/>
        <a:lstStyle/>
        <a:p>
          <a:endParaRPr lang="en-US"/>
        </a:p>
      </dgm:t>
    </dgm:pt>
    <dgm:pt modelId="{1443807E-89DC-4427-B63D-1299E5A53697}" type="sibTrans" cxnId="{146D5A6C-E23B-4911-9D74-C494851C7AC9}">
      <dgm:prSet/>
      <dgm:spPr/>
      <dgm:t>
        <a:bodyPr/>
        <a:lstStyle/>
        <a:p>
          <a:endParaRPr lang="en-US"/>
        </a:p>
      </dgm:t>
    </dgm:pt>
    <dgm:pt modelId="{DE381EFC-3DF7-4BFC-BF0A-A3A6F94338AC}">
      <dgm:prSet/>
      <dgm:spPr/>
      <dgm:t>
        <a:bodyPr/>
        <a:lstStyle/>
        <a:p>
          <a:pPr algn="l"/>
          <a:r>
            <a:rPr lang="en-US" b="0" i="0" dirty="0">
              <a:solidFill>
                <a:schemeClr val="bg1"/>
              </a:solidFill>
            </a:rPr>
            <a:t>Product differentiation</a:t>
          </a:r>
          <a:endParaRPr lang="en-US" dirty="0">
            <a:solidFill>
              <a:schemeClr val="bg1"/>
            </a:solidFill>
          </a:endParaRPr>
        </a:p>
      </dgm:t>
    </dgm:pt>
    <dgm:pt modelId="{8DD572BE-CFD5-4C3C-9B50-BD79D914D535}" type="parTrans" cxnId="{21043F33-B1BC-4B83-909F-75EA9242B592}">
      <dgm:prSet/>
      <dgm:spPr/>
      <dgm:t>
        <a:bodyPr/>
        <a:lstStyle/>
        <a:p>
          <a:endParaRPr lang="en-US"/>
        </a:p>
      </dgm:t>
    </dgm:pt>
    <dgm:pt modelId="{AD89B1AE-8CD9-47CD-97A4-99D2840ED5B0}" type="sibTrans" cxnId="{21043F33-B1BC-4B83-909F-75EA9242B592}">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23E72680-99D6-462A-8EB7-3B49EFE3C79D}" type="pres">
      <dgm:prSet presAssocID="{270D23D7-AC57-4A0C-B5D0-4CEA7E7357CE}" presName="compNode" presStyleCnt="0"/>
      <dgm:spPr/>
    </dgm:pt>
    <dgm:pt modelId="{90498A2E-752E-4EE2-8507-559B11BE8CF2}" type="pres">
      <dgm:prSet presAssocID="{270D23D7-AC57-4A0C-B5D0-4CEA7E7357CE}" presName="aNode" presStyleLbl="bgShp" presStyleIdx="0" presStyleCnt="1"/>
      <dgm:spPr/>
    </dgm:pt>
    <dgm:pt modelId="{7CE75D4D-5D94-41AD-809E-4FFEC6C180B0}" type="pres">
      <dgm:prSet presAssocID="{270D23D7-AC57-4A0C-B5D0-4CEA7E7357CE}" presName="textNode" presStyleLbl="bgShp" presStyleIdx="0" presStyleCnt="1"/>
      <dgm:spPr/>
    </dgm:pt>
    <dgm:pt modelId="{6AE28314-AFD4-48CF-A180-2C084115B18D}" type="pres">
      <dgm:prSet presAssocID="{270D23D7-AC57-4A0C-B5D0-4CEA7E7357CE}" presName="compChildNode" presStyleCnt="0"/>
      <dgm:spPr/>
    </dgm:pt>
    <dgm:pt modelId="{A2D353CF-C9D8-4E1A-9831-08864D5DD059}" type="pres">
      <dgm:prSet presAssocID="{270D23D7-AC57-4A0C-B5D0-4CEA7E7357CE}" presName="theInnerList" presStyleCnt="0"/>
      <dgm:spPr/>
    </dgm:pt>
    <dgm:pt modelId="{EEB5EDF3-AC6A-404C-948C-770BC7D6ECA3}" type="pres">
      <dgm:prSet presAssocID="{E70E1E94-36AA-46D9-8659-342609631C11}" presName="childNode" presStyleLbl="node1" presStyleIdx="0" presStyleCnt="5">
        <dgm:presLayoutVars>
          <dgm:bulletEnabled val="1"/>
        </dgm:presLayoutVars>
      </dgm:prSet>
      <dgm:spPr/>
    </dgm:pt>
    <dgm:pt modelId="{B30A01D6-3002-472B-B413-4B7EDA6D36FD}" type="pres">
      <dgm:prSet presAssocID="{E70E1E94-36AA-46D9-8659-342609631C11}" presName="aSpace2" presStyleCnt="0"/>
      <dgm:spPr/>
    </dgm:pt>
    <dgm:pt modelId="{302A0843-6FA4-4A1D-88E6-AEDF7F765846}" type="pres">
      <dgm:prSet presAssocID="{7D631123-35FD-4DAA-B379-2A5A68E199C4}" presName="childNode" presStyleLbl="node1" presStyleIdx="1" presStyleCnt="5">
        <dgm:presLayoutVars>
          <dgm:bulletEnabled val="1"/>
        </dgm:presLayoutVars>
      </dgm:prSet>
      <dgm:spPr/>
    </dgm:pt>
    <dgm:pt modelId="{09B14135-66BA-4AC9-B43F-5A9E9D30753B}" type="pres">
      <dgm:prSet presAssocID="{7D631123-35FD-4DAA-B379-2A5A68E199C4}" presName="aSpace2" presStyleCnt="0"/>
      <dgm:spPr/>
    </dgm:pt>
    <dgm:pt modelId="{391B290B-E829-45B8-9189-033E0A12CC04}" type="pres">
      <dgm:prSet presAssocID="{EE9EFFE7-B5ED-4C27-A92F-90C5AD3D0AA5}" presName="childNode" presStyleLbl="node1" presStyleIdx="2" presStyleCnt="5">
        <dgm:presLayoutVars>
          <dgm:bulletEnabled val="1"/>
        </dgm:presLayoutVars>
      </dgm:prSet>
      <dgm:spPr/>
    </dgm:pt>
    <dgm:pt modelId="{C459809F-7736-4BDB-B15E-DF0C3C23DDE0}" type="pres">
      <dgm:prSet presAssocID="{EE9EFFE7-B5ED-4C27-A92F-90C5AD3D0AA5}" presName="aSpace2" presStyleCnt="0"/>
      <dgm:spPr/>
    </dgm:pt>
    <dgm:pt modelId="{C9654758-079A-413D-A93A-FEC3AC199DC5}" type="pres">
      <dgm:prSet presAssocID="{8ECFD1C0-9422-423D-B23D-2F01C47FAC2E}" presName="childNode" presStyleLbl="node1" presStyleIdx="3" presStyleCnt="5">
        <dgm:presLayoutVars>
          <dgm:bulletEnabled val="1"/>
        </dgm:presLayoutVars>
      </dgm:prSet>
      <dgm:spPr/>
    </dgm:pt>
    <dgm:pt modelId="{79E483A3-92C3-4CC1-8AC8-D1788C6A60E0}" type="pres">
      <dgm:prSet presAssocID="{8ECFD1C0-9422-423D-B23D-2F01C47FAC2E}" presName="aSpace2" presStyleCnt="0"/>
      <dgm:spPr/>
    </dgm:pt>
    <dgm:pt modelId="{518E6B64-E58F-4A8B-8B69-31AEEC6B56EF}" type="pres">
      <dgm:prSet presAssocID="{DE381EFC-3DF7-4BFC-BF0A-A3A6F94338AC}" presName="childNode" presStyleLbl="node1" presStyleIdx="4" presStyleCnt="5">
        <dgm:presLayoutVars>
          <dgm:bulletEnabled val="1"/>
        </dgm:presLayoutVars>
      </dgm:prSet>
      <dgm:spPr/>
    </dgm:pt>
  </dgm:ptLst>
  <dgm:cxnLst>
    <dgm:cxn modelId="{109AE602-4A53-4218-B0FE-64A799977703}" srcId="{270D23D7-AC57-4A0C-B5D0-4CEA7E7357CE}" destId="{7D631123-35FD-4DAA-B379-2A5A68E199C4}" srcOrd="1" destOrd="0" parTransId="{219A2380-6670-4CAE-8775-0BCB45523BE1}" sibTransId="{A5B44D8E-C06B-4AD6-BBC8-457B5F93CD3D}"/>
    <dgm:cxn modelId="{9E95DA15-E9E5-4E45-859E-CE88870D409F}" srcId="{E0E7F01B-FE9B-43BC-B32C-1F5FE3ADF48C}" destId="{270D23D7-AC57-4A0C-B5D0-4CEA7E7357CE}" srcOrd="0" destOrd="0" parTransId="{B754A496-EDF6-42BC-B3C6-80E53B8C77DB}" sibTransId="{0FD2836D-A121-462E-A986-BF1AF6024C55}"/>
    <dgm:cxn modelId="{3C134B2A-6B53-48FE-BBEC-874B0381D2FA}" type="presOf" srcId="{DE381EFC-3DF7-4BFC-BF0A-A3A6F94338AC}" destId="{518E6B64-E58F-4A8B-8B69-31AEEC6B56EF}" srcOrd="0" destOrd="0" presId="urn:microsoft.com/office/officeart/2005/8/layout/lProcess2"/>
    <dgm:cxn modelId="{21043F33-B1BC-4B83-909F-75EA9242B592}" srcId="{270D23D7-AC57-4A0C-B5D0-4CEA7E7357CE}" destId="{DE381EFC-3DF7-4BFC-BF0A-A3A6F94338AC}" srcOrd="4" destOrd="0" parTransId="{8DD572BE-CFD5-4C3C-9B50-BD79D914D535}" sibTransId="{AD89B1AE-8CD9-47CD-97A4-99D2840ED5B0}"/>
    <dgm:cxn modelId="{F0D5C33B-8E5E-4BBD-B190-11AC3DB5795B}" type="presOf" srcId="{270D23D7-AC57-4A0C-B5D0-4CEA7E7357CE}" destId="{90498A2E-752E-4EE2-8507-559B11BE8CF2}" srcOrd="0" destOrd="0" presId="urn:microsoft.com/office/officeart/2005/8/layout/lProcess2"/>
    <dgm:cxn modelId="{C4FF0641-1ADD-4E02-A0F2-B062E1454947}" type="presOf" srcId="{7D631123-35FD-4DAA-B379-2A5A68E199C4}" destId="{302A0843-6FA4-4A1D-88E6-AEDF7F765846}" srcOrd="0" destOrd="0" presId="urn:microsoft.com/office/officeart/2005/8/layout/lProcess2"/>
    <dgm:cxn modelId="{A222AB45-F9B9-4553-AEC5-B36F9AA5E975}" type="presOf" srcId="{8ECFD1C0-9422-423D-B23D-2F01C47FAC2E}" destId="{C9654758-079A-413D-A93A-FEC3AC199DC5}" srcOrd="0" destOrd="0" presId="urn:microsoft.com/office/officeart/2005/8/layout/lProcess2"/>
    <dgm:cxn modelId="{146D5A6C-E23B-4911-9D74-C494851C7AC9}" srcId="{270D23D7-AC57-4A0C-B5D0-4CEA7E7357CE}" destId="{8ECFD1C0-9422-423D-B23D-2F01C47FAC2E}" srcOrd="3" destOrd="0" parTransId="{22FD9F5B-EE93-4C14-8B56-153DC70007F3}" sibTransId="{1443807E-89DC-4427-B63D-1299E5A53697}"/>
    <dgm:cxn modelId="{BF554153-29CC-4CCD-82C0-817154B79340}" srcId="{270D23D7-AC57-4A0C-B5D0-4CEA7E7357CE}" destId="{E70E1E94-36AA-46D9-8659-342609631C11}" srcOrd="0" destOrd="0" parTransId="{32C4FEDF-4C60-4EE5-AA5A-3EA957407CA6}" sibTransId="{34E69CAD-9FDA-42BA-BEDA-8C7BEB1D6F87}"/>
    <dgm:cxn modelId="{5AB52A91-8056-4685-8933-7F17B38C1B34}" srcId="{270D23D7-AC57-4A0C-B5D0-4CEA7E7357CE}" destId="{EE9EFFE7-B5ED-4C27-A92F-90C5AD3D0AA5}" srcOrd="2" destOrd="0" parTransId="{408083E7-07FE-4D6F-A471-BCC478C25396}" sibTransId="{C34C71F9-2EAF-4532-9F5B-98EECF23E78C}"/>
    <dgm:cxn modelId="{7849DFAC-4C56-449D-B605-FED742416342}" type="presOf" srcId="{EE9EFFE7-B5ED-4C27-A92F-90C5AD3D0AA5}" destId="{391B290B-E829-45B8-9189-033E0A12CC04}"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6B3C98D6-420E-40B2-AE8A-FF5DDBC47AC1}" type="presOf" srcId="{270D23D7-AC57-4A0C-B5D0-4CEA7E7357CE}" destId="{7CE75D4D-5D94-41AD-809E-4FFEC6C180B0}" srcOrd="1" destOrd="0" presId="urn:microsoft.com/office/officeart/2005/8/layout/lProcess2"/>
    <dgm:cxn modelId="{1C4B5AEC-0547-4ED3-BAE6-B5ADA1BFFC4A}" type="presOf" srcId="{E70E1E94-36AA-46D9-8659-342609631C11}" destId="{EEB5EDF3-AC6A-404C-948C-770BC7D6ECA3}" srcOrd="0" destOrd="0" presId="urn:microsoft.com/office/officeart/2005/8/layout/lProcess2"/>
    <dgm:cxn modelId="{F38B8000-A333-4B96-8CA0-8FB72252EE74}" type="presParOf" srcId="{7CF0A71B-AB2A-4906-ABA4-E2A8C902FFFA}" destId="{23E72680-99D6-462A-8EB7-3B49EFE3C79D}" srcOrd="0" destOrd="0" presId="urn:microsoft.com/office/officeart/2005/8/layout/lProcess2"/>
    <dgm:cxn modelId="{2861147E-E09B-4816-B7C7-382BCE5C9B0C}" type="presParOf" srcId="{23E72680-99D6-462A-8EB7-3B49EFE3C79D}" destId="{90498A2E-752E-4EE2-8507-559B11BE8CF2}" srcOrd="0" destOrd="0" presId="urn:microsoft.com/office/officeart/2005/8/layout/lProcess2"/>
    <dgm:cxn modelId="{E0FE9453-7BD0-435E-BDB5-9EEE89E8F630}" type="presParOf" srcId="{23E72680-99D6-462A-8EB7-3B49EFE3C79D}" destId="{7CE75D4D-5D94-41AD-809E-4FFEC6C180B0}" srcOrd="1" destOrd="0" presId="urn:microsoft.com/office/officeart/2005/8/layout/lProcess2"/>
    <dgm:cxn modelId="{C740434E-C407-4787-86C8-7E20BE49CF93}" type="presParOf" srcId="{23E72680-99D6-462A-8EB7-3B49EFE3C79D}" destId="{6AE28314-AFD4-48CF-A180-2C084115B18D}" srcOrd="2" destOrd="0" presId="urn:microsoft.com/office/officeart/2005/8/layout/lProcess2"/>
    <dgm:cxn modelId="{96D4C2E2-EE4B-4673-AC7B-5AC138441B15}" type="presParOf" srcId="{6AE28314-AFD4-48CF-A180-2C084115B18D}" destId="{A2D353CF-C9D8-4E1A-9831-08864D5DD059}" srcOrd="0" destOrd="0" presId="urn:microsoft.com/office/officeart/2005/8/layout/lProcess2"/>
    <dgm:cxn modelId="{B6D8935B-62DD-400A-B034-2697BDE2C098}" type="presParOf" srcId="{A2D353CF-C9D8-4E1A-9831-08864D5DD059}" destId="{EEB5EDF3-AC6A-404C-948C-770BC7D6ECA3}" srcOrd="0" destOrd="0" presId="urn:microsoft.com/office/officeart/2005/8/layout/lProcess2"/>
    <dgm:cxn modelId="{A3A821C4-4E0F-449B-8FC3-7AE4A8D7861E}" type="presParOf" srcId="{A2D353CF-C9D8-4E1A-9831-08864D5DD059}" destId="{B30A01D6-3002-472B-B413-4B7EDA6D36FD}" srcOrd="1" destOrd="0" presId="urn:microsoft.com/office/officeart/2005/8/layout/lProcess2"/>
    <dgm:cxn modelId="{9BE764D2-D26C-4D1C-90DF-09E9EA29EBC5}" type="presParOf" srcId="{A2D353CF-C9D8-4E1A-9831-08864D5DD059}" destId="{302A0843-6FA4-4A1D-88E6-AEDF7F765846}" srcOrd="2" destOrd="0" presId="urn:microsoft.com/office/officeart/2005/8/layout/lProcess2"/>
    <dgm:cxn modelId="{8B63C60E-A681-4003-86D5-56ED8E0C4C23}" type="presParOf" srcId="{A2D353CF-C9D8-4E1A-9831-08864D5DD059}" destId="{09B14135-66BA-4AC9-B43F-5A9E9D30753B}" srcOrd="3" destOrd="0" presId="urn:microsoft.com/office/officeart/2005/8/layout/lProcess2"/>
    <dgm:cxn modelId="{9B63C46C-D895-4EC0-9912-DAAFBA053779}" type="presParOf" srcId="{A2D353CF-C9D8-4E1A-9831-08864D5DD059}" destId="{391B290B-E829-45B8-9189-033E0A12CC04}" srcOrd="4" destOrd="0" presId="urn:microsoft.com/office/officeart/2005/8/layout/lProcess2"/>
    <dgm:cxn modelId="{A552FF85-9DB0-4302-9D63-7810E5A6E759}" type="presParOf" srcId="{A2D353CF-C9D8-4E1A-9831-08864D5DD059}" destId="{C459809F-7736-4BDB-B15E-DF0C3C23DDE0}" srcOrd="5" destOrd="0" presId="urn:microsoft.com/office/officeart/2005/8/layout/lProcess2"/>
    <dgm:cxn modelId="{762EAE8F-52D1-45CF-BE6F-3155B024D5BD}" type="presParOf" srcId="{A2D353CF-C9D8-4E1A-9831-08864D5DD059}" destId="{C9654758-079A-413D-A93A-FEC3AC199DC5}" srcOrd="6" destOrd="0" presId="urn:microsoft.com/office/officeart/2005/8/layout/lProcess2"/>
    <dgm:cxn modelId="{FAE56538-59A9-4B8C-84BC-0FFBA1F6D228}" type="presParOf" srcId="{A2D353CF-C9D8-4E1A-9831-08864D5DD059}" destId="{79E483A3-92C3-4CC1-8AC8-D1788C6A60E0}" srcOrd="7" destOrd="0" presId="urn:microsoft.com/office/officeart/2005/8/layout/lProcess2"/>
    <dgm:cxn modelId="{F06B5D84-7499-487D-8399-89F80BEAC86F}" type="presParOf" srcId="{A2D353CF-C9D8-4E1A-9831-08864D5DD059}" destId="{518E6B64-E58F-4A8B-8B69-31AEEC6B56EF}"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270D23D7-AC57-4A0C-B5D0-4CEA7E7357CE}">
      <dgm:prSet custT="1"/>
      <dgm:spPr/>
      <dgm:t>
        <a:bodyPr/>
        <a:lstStyle/>
        <a:p>
          <a:r>
            <a:rPr lang="en-US" sz="3600" b="1" i="0" dirty="0">
              <a:solidFill>
                <a:schemeClr val="tx2">
                  <a:lumMod val="50000"/>
                </a:schemeClr>
              </a:solidFill>
            </a:rPr>
            <a:t>INTERNAL FACTORS</a:t>
          </a:r>
          <a:endParaRPr lang="en-US" sz="3600" b="1" dirty="0">
            <a:solidFill>
              <a:schemeClr val="tx2">
                <a:lumMod val="50000"/>
              </a:schemeClr>
            </a:solidFill>
          </a:endParaRPr>
        </a:p>
      </dgm:t>
    </dgm:pt>
    <dgm:pt modelId="{B754A496-EDF6-42BC-B3C6-80E53B8C77DB}" type="parTrans" cxnId="{9E95DA15-E9E5-4E45-859E-CE88870D409F}">
      <dgm:prSet/>
      <dgm:spPr/>
      <dgm:t>
        <a:bodyPr/>
        <a:lstStyle/>
        <a:p>
          <a:endParaRPr lang="en-US"/>
        </a:p>
      </dgm:t>
    </dgm:pt>
    <dgm:pt modelId="{0FD2836D-A121-462E-A986-BF1AF6024C55}" type="sibTrans" cxnId="{9E95DA15-E9E5-4E45-859E-CE88870D409F}">
      <dgm:prSet/>
      <dgm:spPr/>
      <dgm:t>
        <a:bodyPr/>
        <a:lstStyle/>
        <a:p>
          <a:endParaRPr lang="en-US"/>
        </a:p>
      </dgm:t>
    </dgm:pt>
    <dgm:pt modelId="{E70E1E94-36AA-46D9-8659-342609631C11}">
      <dgm:prSet custT="1"/>
      <dgm:spPr/>
      <dgm:t>
        <a:bodyPr/>
        <a:lstStyle/>
        <a:p>
          <a:pPr algn="l"/>
          <a:r>
            <a:rPr lang="en-US" sz="2600" b="0" i="0" kern="1200" dirty="0">
              <a:solidFill>
                <a:srgbClr val="000000"/>
              </a:solidFill>
              <a:latin typeface="Franklin Gothic Book"/>
              <a:ea typeface="+mn-ea"/>
              <a:cs typeface="+mn-cs"/>
            </a:rPr>
            <a:t>Cost</a:t>
          </a:r>
        </a:p>
      </dgm:t>
    </dgm:pt>
    <dgm:pt modelId="{32C4FEDF-4C60-4EE5-AA5A-3EA957407CA6}" type="parTrans" cxnId="{BF554153-29CC-4CCD-82C0-817154B79340}">
      <dgm:prSet/>
      <dgm:spPr/>
      <dgm:t>
        <a:bodyPr/>
        <a:lstStyle/>
        <a:p>
          <a:endParaRPr lang="en-US"/>
        </a:p>
      </dgm:t>
    </dgm:pt>
    <dgm:pt modelId="{34E69CAD-9FDA-42BA-BEDA-8C7BEB1D6F87}" type="sibTrans" cxnId="{BF554153-29CC-4CCD-82C0-817154B79340}">
      <dgm:prSet/>
      <dgm:spPr/>
      <dgm:t>
        <a:bodyPr/>
        <a:lstStyle/>
        <a:p>
          <a:endParaRPr lang="en-US"/>
        </a:p>
      </dgm:t>
    </dgm:pt>
    <dgm:pt modelId="{7D631123-35FD-4DAA-B379-2A5A68E199C4}">
      <dgm:prSet/>
      <dgm:spPr/>
      <dgm:t>
        <a:bodyPr/>
        <a:lstStyle/>
        <a:p>
          <a:pPr algn="l"/>
          <a:r>
            <a:rPr lang="en-US" b="1" i="0" dirty="0">
              <a:solidFill>
                <a:srgbClr val="C00000"/>
              </a:solidFill>
            </a:rPr>
            <a:t>Company objectives</a:t>
          </a:r>
          <a:endParaRPr lang="en-US" b="1" dirty="0">
            <a:solidFill>
              <a:srgbClr val="C00000"/>
            </a:solidFill>
          </a:endParaRPr>
        </a:p>
      </dgm:t>
    </dgm:pt>
    <dgm:pt modelId="{219A2380-6670-4CAE-8775-0BCB45523BE1}" type="parTrans" cxnId="{109AE602-4A53-4218-B0FE-64A799977703}">
      <dgm:prSet/>
      <dgm:spPr/>
      <dgm:t>
        <a:bodyPr/>
        <a:lstStyle/>
        <a:p>
          <a:endParaRPr lang="en-US"/>
        </a:p>
      </dgm:t>
    </dgm:pt>
    <dgm:pt modelId="{A5B44D8E-C06B-4AD6-BBC8-457B5F93CD3D}" type="sibTrans" cxnId="{109AE602-4A53-4218-B0FE-64A799977703}">
      <dgm:prSet/>
      <dgm:spPr/>
      <dgm:t>
        <a:bodyPr/>
        <a:lstStyle/>
        <a:p>
          <a:endParaRPr lang="en-US"/>
        </a:p>
      </dgm:t>
    </dgm:pt>
    <dgm:pt modelId="{EE9EFFE7-B5ED-4C27-A92F-90C5AD3D0AA5}">
      <dgm:prSet/>
      <dgm:spPr/>
      <dgm:t>
        <a:bodyPr/>
        <a:lstStyle/>
        <a:p>
          <a:pPr algn="l"/>
          <a:r>
            <a:rPr lang="en-US" b="0" i="0" dirty="0" err="1">
              <a:solidFill>
                <a:schemeClr val="bg1"/>
              </a:solidFill>
            </a:rPr>
            <a:t>Organisational</a:t>
          </a:r>
          <a:r>
            <a:rPr lang="en-US" b="0" i="0" dirty="0">
              <a:solidFill>
                <a:schemeClr val="bg1"/>
              </a:solidFill>
            </a:rPr>
            <a:t> factors</a:t>
          </a:r>
          <a:endParaRPr lang="en-US" dirty="0">
            <a:solidFill>
              <a:schemeClr val="bg1"/>
            </a:solidFill>
          </a:endParaRPr>
        </a:p>
      </dgm:t>
    </dgm:pt>
    <dgm:pt modelId="{408083E7-07FE-4D6F-A471-BCC478C25396}" type="parTrans" cxnId="{5AB52A91-8056-4685-8933-7F17B38C1B34}">
      <dgm:prSet/>
      <dgm:spPr/>
      <dgm:t>
        <a:bodyPr/>
        <a:lstStyle/>
        <a:p>
          <a:endParaRPr lang="en-US"/>
        </a:p>
      </dgm:t>
    </dgm:pt>
    <dgm:pt modelId="{C34C71F9-2EAF-4532-9F5B-98EECF23E78C}" type="sibTrans" cxnId="{5AB52A91-8056-4685-8933-7F17B38C1B34}">
      <dgm:prSet/>
      <dgm:spPr/>
      <dgm:t>
        <a:bodyPr/>
        <a:lstStyle/>
        <a:p>
          <a:endParaRPr lang="en-US"/>
        </a:p>
      </dgm:t>
    </dgm:pt>
    <dgm:pt modelId="{8ECFD1C0-9422-423D-B23D-2F01C47FAC2E}">
      <dgm:prSet/>
      <dgm:spPr/>
      <dgm:t>
        <a:bodyPr/>
        <a:lstStyle/>
        <a:p>
          <a:pPr algn="l"/>
          <a:r>
            <a:rPr lang="en-US" b="0" i="0" dirty="0">
              <a:solidFill>
                <a:schemeClr val="bg1"/>
              </a:solidFill>
            </a:rPr>
            <a:t>Marketing mix</a:t>
          </a:r>
          <a:endParaRPr lang="en-US" dirty="0">
            <a:solidFill>
              <a:schemeClr val="bg1"/>
            </a:solidFill>
          </a:endParaRPr>
        </a:p>
      </dgm:t>
    </dgm:pt>
    <dgm:pt modelId="{22FD9F5B-EE93-4C14-8B56-153DC70007F3}" type="parTrans" cxnId="{146D5A6C-E23B-4911-9D74-C494851C7AC9}">
      <dgm:prSet/>
      <dgm:spPr/>
      <dgm:t>
        <a:bodyPr/>
        <a:lstStyle/>
        <a:p>
          <a:endParaRPr lang="en-US"/>
        </a:p>
      </dgm:t>
    </dgm:pt>
    <dgm:pt modelId="{1443807E-89DC-4427-B63D-1299E5A53697}" type="sibTrans" cxnId="{146D5A6C-E23B-4911-9D74-C494851C7AC9}">
      <dgm:prSet/>
      <dgm:spPr/>
      <dgm:t>
        <a:bodyPr/>
        <a:lstStyle/>
        <a:p>
          <a:endParaRPr lang="en-US"/>
        </a:p>
      </dgm:t>
    </dgm:pt>
    <dgm:pt modelId="{DE381EFC-3DF7-4BFC-BF0A-A3A6F94338AC}">
      <dgm:prSet/>
      <dgm:spPr/>
      <dgm:t>
        <a:bodyPr/>
        <a:lstStyle/>
        <a:p>
          <a:pPr algn="l"/>
          <a:r>
            <a:rPr lang="en-US" b="0" i="0" dirty="0">
              <a:solidFill>
                <a:schemeClr val="bg1"/>
              </a:solidFill>
            </a:rPr>
            <a:t>Product differentiation</a:t>
          </a:r>
          <a:endParaRPr lang="en-US" dirty="0">
            <a:solidFill>
              <a:schemeClr val="bg1"/>
            </a:solidFill>
          </a:endParaRPr>
        </a:p>
      </dgm:t>
    </dgm:pt>
    <dgm:pt modelId="{8DD572BE-CFD5-4C3C-9B50-BD79D914D535}" type="parTrans" cxnId="{21043F33-B1BC-4B83-909F-75EA9242B592}">
      <dgm:prSet/>
      <dgm:spPr/>
      <dgm:t>
        <a:bodyPr/>
        <a:lstStyle/>
        <a:p>
          <a:endParaRPr lang="en-US"/>
        </a:p>
      </dgm:t>
    </dgm:pt>
    <dgm:pt modelId="{AD89B1AE-8CD9-47CD-97A4-99D2840ED5B0}" type="sibTrans" cxnId="{21043F33-B1BC-4B83-909F-75EA9242B592}">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23E72680-99D6-462A-8EB7-3B49EFE3C79D}" type="pres">
      <dgm:prSet presAssocID="{270D23D7-AC57-4A0C-B5D0-4CEA7E7357CE}" presName="compNode" presStyleCnt="0"/>
      <dgm:spPr/>
    </dgm:pt>
    <dgm:pt modelId="{90498A2E-752E-4EE2-8507-559B11BE8CF2}" type="pres">
      <dgm:prSet presAssocID="{270D23D7-AC57-4A0C-B5D0-4CEA7E7357CE}" presName="aNode" presStyleLbl="bgShp" presStyleIdx="0" presStyleCnt="1"/>
      <dgm:spPr/>
    </dgm:pt>
    <dgm:pt modelId="{7CE75D4D-5D94-41AD-809E-4FFEC6C180B0}" type="pres">
      <dgm:prSet presAssocID="{270D23D7-AC57-4A0C-B5D0-4CEA7E7357CE}" presName="textNode" presStyleLbl="bgShp" presStyleIdx="0" presStyleCnt="1"/>
      <dgm:spPr/>
    </dgm:pt>
    <dgm:pt modelId="{6AE28314-AFD4-48CF-A180-2C084115B18D}" type="pres">
      <dgm:prSet presAssocID="{270D23D7-AC57-4A0C-B5D0-4CEA7E7357CE}" presName="compChildNode" presStyleCnt="0"/>
      <dgm:spPr/>
    </dgm:pt>
    <dgm:pt modelId="{A2D353CF-C9D8-4E1A-9831-08864D5DD059}" type="pres">
      <dgm:prSet presAssocID="{270D23D7-AC57-4A0C-B5D0-4CEA7E7357CE}" presName="theInnerList" presStyleCnt="0"/>
      <dgm:spPr/>
    </dgm:pt>
    <dgm:pt modelId="{EEB5EDF3-AC6A-404C-948C-770BC7D6ECA3}" type="pres">
      <dgm:prSet presAssocID="{E70E1E94-36AA-46D9-8659-342609631C11}" presName="childNode" presStyleLbl="node1" presStyleIdx="0" presStyleCnt="5">
        <dgm:presLayoutVars>
          <dgm:bulletEnabled val="1"/>
        </dgm:presLayoutVars>
      </dgm:prSet>
      <dgm:spPr/>
    </dgm:pt>
    <dgm:pt modelId="{B30A01D6-3002-472B-B413-4B7EDA6D36FD}" type="pres">
      <dgm:prSet presAssocID="{E70E1E94-36AA-46D9-8659-342609631C11}" presName="aSpace2" presStyleCnt="0"/>
      <dgm:spPr/>
    </dgm:pt>
    <dgm:pt modelId="{302A0843-6FA4-4A1D-88E6-AEDF7F765846}" type="pres">
      <dgm:prSet presAssocID="{7D631123-35FD-4DAA-B379-2A5A68E199C4}" presName="childNode" presStyleLbl="node1" presStyleIdx="1" presStyleCnt="5">
        <dgm:presLayoutVars>
          <dgm:bulletEnabled val="1"/>
        </dgm:presLayoutVars>
      </dgm:prSet>
      <dgm:spPr/>
    </dgm:pt>
    <dgm:pt modelId="{09B14135-66BA-4AC9-B43F-5A9E9D30753B}" type="pres">
      <dgm:prSet presAssocID="{7D631123-35FD-4DAA-B379-2A5A68E199C4}" presName="aSpace2" presStyleCnt="0"/>
      <dgm:spPr/>
    </dgm:pt>
    <dgm:pt modelId="{391B290B-E829-45B8-9189-033E0A12CC04}" type="pres">
      <dgm:prSet presAssocID="{EE9EFFE7-B5ED-4C27-A92F-90C5AD3D0AA5}" presName="childNode" presStyleLbl="node1" presStyleIdx="2" presStyleCnt="5">
        <dgm:presLayoutVars>
          <dgm:bulletEnabled val="1"/>
        </dgm:presLayoutVars>
      </dgm:prSet>
      <dgm:spPr/>
    </dgm:pt>
    <dgm:pt modelId="{C459809F-7736-4BDB-B15E-DF0C3C23DDE0}" type="pres">
      <dgm:prSet presAssocID="{EE9EFFE7-B5ED-4C27-A92F-90C5AD3D0AA5}" presName="aSpace2" presStyleCnt="0"/>
      <dgm:spPr/>
    </dgm:pt>
    <dgm:pt modelId="{C9654758-079A-413D-A93A-FEC3AC199DC5}" type="pres">
      <dgm:prSet presAssocID="{8ECFD1C0-9422-423D-B23D-2F01C47FAC2E}" presName="childNode" presStyleLbl="node1" presStyleIdx="3" presStyleCnt="5">
        <dgm:presLayoutVars>
          <dgm:bulletEnabled val="1"/>
        </dgm:presLayoutVars>
      </dgm:prSet>
      <dgm:spPr/>
    </dgm:pt>
    <dgm:pt modelId="{79E483A3-92C3-4CC1-8AC8-D1788C6A60E0}" type="pres">
      <dgm:prSet presAssocID="{8ECFD1C0-9422-423D-B23D-2F01C47FAC2E}" presName="aSpace2" presStyleCnt="0"/>
      <dgm:spPr/>
    </dgm:pt>
    <dgm:pt modelId="{518E6B64-E58F-4A8B-8B69-31AEEC6B56EF}" type="pres">
      <dgm:prSet presAssocID="{DE381EFC-3DF7-4BFC-BF0A-A3A6F94338AC}" presName="childNode" presStyleLbl="node1" presStyleIdx="4" presStyleCnt="5">
        <dgm:presLayoutVars>
          <dgm:bulletEnabled val="1"/>
        </dgm:presLayoutVars>
      </dgm:prSet>
      <dgm:spPr/>
    </dgm:pt>
  </dgm:ptLst>
  <dgm:cxnLst>
    <dgm:cxn modelId="{109AE602-4A53-4218-B0FE-64A799977703}" srcId="{270D23D7-AC57-4A0C-B5D0-4CEA7E7357CE}" destId="{7D631123-35FD-4DAA-B379-2A5A68E199C4}" srcOrd="1" destOrd="0" parTransId="{219A2380-6670-4CAE-8775-0BCB45523BE1}" sibTransId="{A5B44D8E-C06B-4AD6-BBC8-457B5F93CD3D}"/>
    <dgm:cxn modelId="{9E95DA15-E9E5-4E45-859E-CE88870D409F}" srcId="{E0E7F01B-FE9B-43BC-B32C-1F5FE3ADF48C}" destId="{270D23D7-AC57-4A0C-B5D0-4CEA7E7357CE}" srcOrd="0" destOrd="0" parTransId="{B754A496-EDF6-42BC-B3C6-80E53B8C77DB}" sibTransId="{0FD2836D-A121-462E-A986-BF1AF6024C55}"/>
    <dgm:cxn modelId="{3C134B2A-6B53-48FE-BBEC-874B0381D2FA}" type="presOf" srcId="{DE381EFC-3DF7-4BFC-BF0A-A3A6F94338AC}" destId="{518E6B64-E58F-4A8B-8B69-31AEEC6B56EF}" srcOrd="0" destOrd="0" presId="urn:microsoft.com/office/officeart/2005/8/layout/lProcess2"/>
    <dgm:cxn modelId="{21043F33-B1BC-4B83-909F-75EA9242B592}" srcId="{270D23D7-AC57-4A0C-B5D0-4CEA7E7357CE}" destId="{DE381EFC-3DF7-4BFC-BF0A-A3A6F94338AC}" srcOrd="4" destOrd="0" parTransId="{8DD572BE-CFD5-4C3C-9B50-BD79D914D535}" sibTransId="{AD89B1AE-8CD9-47CD-97A4-99D2840ED5B0}"/>
    <dgm:cxn modelId="{F0D5C33B-8E5E-4BBD-B190-11AC3DB5795B}" type="presOf" srcId="{270D23D7-AC57-4A0C-B5D0-4CEA7E7357CE}" destId="{90498A2E-752E-4EE2-8507-559B11BE8CF2}" srcOrd="0" destOrd="0" presId="urn:microsoft.com/office/officeart/2005/8/layout/lProcess2"/>
    <dgm:cxn modelId="{C4FF0641-1ADD-4E02-A0F2-B062E1454947}" type="presOf" srcId="{7D631123-35FD-4DAA-B379-2A5A68E199C4}" destId="{302A0843-6FA4-4A1D-88E6-AEDF7F765846}" srcOrd="0" destOrd="0" presId="urn:microsoft.com/office/officeart/2005/8/layout/lProcess2"/>
    <dgm:cxn modelId="{A222AB45-F9B9-4553-AEC5-B36F9AA5E975}" type="presOf" srcId="{8ECFD1C0-9422-423D-B23D-2F01C47FAC2E}" destId="{C9654758-079A-413D-A93A-FEC3AC199DC5}" srcOrd="0" destOrd="0" presId="urn:microsoft.com/office/officeart/2005/8/layout/lProcess2"/>
    <dgm:cxn modelId="{146D5A6C-E23B-4911-9D74-C494851C7AC9}" srcId="{270D23D7-AC57-4A0C-B5D0-4CEA7E7357CE}" destId="{8ECFD1C0-9422-423D-B23D-2F01C47FAC2E}" srcOrd="3" destOrd="0" parTransId="{22FD9F5B-EE93-4C14-8B56-153DC70007F3}" sibTransId="{1443807E-89DC-4427-B63D-1299E5A53697}"/>
    <dgm:cxn modelId="{BF554153-29CC-4CCD-82C0-817154B79340}" srcId="{270D23D7-AC57-4A0C-B5D0-4CEA7E7357CE}" destId="{E70E1E94-36AA-46D9-8659-342609631C11}" srcOrd="0" destOrd="0" parTransId="{32C4FEDF-4C60-4EE5-AA5A-3EA957407CA6}" sibTransId="{34E69CAD-9FDA-42BA-BEDA-8C7BEB1D6F87}"/>
    <dgm:cxn modelId="{5AB52A91-8056-4685-8933-7F17B38C1B34}" srcId="{270D23D7-AC57-4A0C-B5D0-4CEA7E7357CE}" destId="{EE9EFFE7-B5ED-4C27-A92F-90C5AD3D0AA5}" srcOrd="2" destOrd="0" parTransId="{408083E7-07FE-4D6F-A471-BCC478C25396}" sibTransId="{C34C71F9-2EAF-4532-9F5B-98EECF23E78C}"/>
    <dgm:cxn modelId="{7849DFAC-4C56-449D-B605-FED742416342}" type="presOf" srcId="{EE9EFFE7-B5ED-4C27-A92F-90C5AD3D0AA5}" destId="{391B290B-E829-45B8-9189-033E0A12CC04}"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6B3C98D6-420E-40B2-AE8A-FF5DDBC47AC1}" type="presOf" srcId="{270D23D7-AC57-4A0C-B5D0-4CEA7E7357CE}" destId="{7CE75D4D-5D94-41AD-809E-4FFEC6C180B0}" srcOrd="1" destOrd="0" presId="urn:microsoft.com/office/officeart/2005/8/layout/lProcess2"/>
    <dgm:cxn modelId="{1C4B5AEC-0547-4ED3-BAE6-B5ADA1BFFC4A}" type="presOf" srcId="{E70E1E94-36AA-46D9-8659-342609631C11}" destId="{EEB5EDF3-AC6A-404C-948C-770BC7D6ECA3}" srcOrd="0" destOrd="0" presId="urn:microsoft.com/office/officeart/2005/8/layout/lProcess2"/>
    <dgm:cxn modelId="{F38B8000-A333-4B96-8CA0-8FB72252EE74}" type="presParOf" srcId="{7CF0A71B-AB2A-4906-ABA4-E2A8C902FFFA}" destId="{23E72680-99D6-462A-8EB7-3B49EFE3C79D}" srcOrd="0" destOrd="0" presId="urn:microsoft.com/office/officeart/2005/8/layout/lProcess2"/>
    <dgm:cxn modelId="{2861147E-E09B-4816-B7C7-382BCE5C9B0C}" type="presParOf" srcId="{23E72680-99D6-462A-8EB7-3B49EFE3C79D}" destId="{90498A2E-752E-4EE2-8507-559B11BE8CF2}" srcOrd="0" destOrd="0" presId="urn:microsoft.com/office/officeart/2005/8/layout/lProcess2"/>
    <dgm:cxn modelId="{E0FE9453-7BD0-435E-BDB5-9EEE89E8F630}" type="presParOf" srcId="{23E72680-99D6-462A-8EB7-3B49EFE3C79D}" destId="{7CE75D4D-5D94-41AD-809E-4FFEC6C180B0}" srcOrd="1" destOrd="0" presId="urn:microsoft.com/office/officeart/2005/8/layout/lProcess2"/>
    <dgm:cxn modelId="{C740434E-C407-4787-86C8-7E20BE49CF93}" type="presParOf" srcId="{23E72680-99D6-462A-8EB7-3B49EFE3C79D}" destId="{6AE28314-AFD4-48CF-A180-2C084115B18D}" srcOrd="2" destOrd="0" presId="urn:microsoft.com/office/officeart/2005/8/layout/lProcess2"/>
    <dgm:cxn modelId="{96D4C2E2-EE4B-4673-AC7B-5AC138441B15}" type="presParOf" srcId="{6AE28314-AFD4-48CF-A180-2C084115B18D}" destId="{A2D353CF-C9D8-4E1A-9831-08864D5DD059}" srcOrd="0" destOrd="0" presId="urn:microsoft.com/office/officeart/2005/8/layout/lProcess2"/>
    <dgm:cxn modelId="{B6D8935B-62DD-400A-B034-2697BDE2C098}" type="presParOf" srcId="{A2D353CF-C9D8-4E1A-9831-08864D5DD059}" destId="{EEB5EDF3-AC6A-404C-948C-770BC7D6ECA3}" srcOrd="0" destOrd="0" presId="urn:microsoft.com/office/officeart/2005/8/layout/lProcess2"/>
    <dgm:cxn modelId="{A3A821C4-4E0F-449B-8FC3-7AE4A8D7861E}" type="presParOf" srcId="{A2D353CF-C9D8-4E1A-9831-08864D5DD059}" destId="{B30A01D6-3002-472B-B413-4B7EDA6D36FD}" srcOrd="1" destOrd="0" presId="urn:microsoft.com/office/officeart/2005/8/layout/lProcess2"/>
    <dgm:cxn modelId="{9BE764D2-D26C-4D1C-90DF-09E9EA29EBC5}" type="presParOf" srcId="{A2D353CF-C9D8-4E1A-9831-08864D5DD059}" destId="{302A0843-6FA4-4A1D-88E6-AEDF7F765846}" srcOrd="2" destOrd="0" presId="urn:microsoft.com/office/officeart/2005/8/layout/lProcess2"/>
    <dgm:cxn modelId="{8B63C60E-A681-4003-86D5-56ED8E0C4C23}" type="presParOf" srcId="{A2D353CF-C9D8-4E1A-9831-08864D5DD059}" destId="{09B14135-66BA-4AC9-B43F-5A9E9D30753B}" srcOrd="3" destOrd="0" presId="urn:microsoft.com/office/officeart/2005/8/layout/lProcess2"/>
    <dgm:cxn modelId="{9B63C46C-D895-4EC0-9912-DAAFBA053779}" type="presParOf" srcId="{A2D353CF-C9D8-4E1A-9831-08864D5DD059}" destId="{391B290B-E829-45B8-9189-033E0A12CC04}" srcOrd="4" destOrd="0" presId="urn:microsoft.com/office/officeart/2005/8/layout/lProcess2"/>
    <dgm:cxn modelId="{A552FF85-9DB0-4302-9D63-7810E5A6E759}" type="presParOf" srcId="{A2D353CF-C9D8-4E1A-9831-08864D5DD059}" destId="{C459809F-7736-4BDB-B15E-DF0C3C23DDE0}" srcOrd="5" destOrd="0" presId="urn:microsoft.com/office/officeart/2005/8/layout/lProcess2"/>
    <dgm:cxn modelId="{762EAE8F-52D1-45CF-BE6F-3155B024D5BD}" type="presParOf" srcId="{A2D353CF-C9D8-4E1A-9831-08864D5DD059}" destId="{C9654758-079A-413D-A93A-FEC3AC199DC5}" srcOrd="6" destOrd="0" presId="urn:microsoft.com/office/officeart/2005/8/layout/lProcess2"/>
    <dgm:cxn modelId="{FAE56538-59A9-4B8C-84BC-0FFBA1F6D228}" type="presParOf" srcId="{A2D353CF-C9D8-4E1A-9831-08864D5DD059}" destId="{79E483A3-92C3-4CC1-8AC8-D1788C6A60E0}" srcOrd="7" destOrd="0" presId="urn:microsoft.com/office/officeart/2005/8/layout/lProcess2"/>
    <dgm:cxn modelId="{F06B5D84-7499-487D-8399-89F80BEAC86F}" type="presParOf" srcId="{A2D353CF-C9D8-4E1A-9831-08864D5DD059}" destId="{518E6B64-E58F-4A8B-8B69-31AEEC6B56EF}"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270D23D7-AC57-4A0C-B5D0-4CEA7E7357CE}">
      <dgm:prSet custT="1"/>
      <dgm:spPr/>
      <dgm:t>
        <a:bodyPr/>
        <a:lstStyle/>
        <a:p>
          <a:r>
            <a:rPr lang="en-US" sz="3600" b="1" i="0" dirty="0">
              <a:solidFill>
                <a:schemeClr val="tx2">
                  <a:lumMod val="50000"/>
                </a:schemeClr>
              </a:solidFill>
            </a:rPr>
            <a:t>INTERNAL FACTORS</a:t>
          </a:r>
          <a:endParaRPr lang="en-US" sz="3600" b="1" dirty="0">
            <a:solidFill>
              <a:schemeClr val="tx2">
                <a:lumMod val="50000"/>
              </a:schemeClr>
            </a:solidFill>
          </a:endParaRPr>
        </a:p>
      </dgm:t>
    </dgm:pt>
    <dgm:pt modelId="{B754A496-EDF6-42BC-B3C6-80E53B8C77DB}" type="parTrans" cxnId="{9E95DA15-E9E5-4E45-859E-CE88870D409F}">
      <dgm:prSet/>
      <dgm:spPr/>
      <dgm:t>
        <a:bodyPr/>
        <a:lstStyle/>
        <a:p>
          <a:endParaRPr lang="en-US"/>
        </a:p>
      </dgm:t>
    </dgm:pt>
    <dgm:pt modelId="{0FD2836D-A121-462E-A986-BF1AF6024C55}" type="sibTrans" cxnId="{9E95DA15-E9E5-4E45-859E-CE88870D409F}">
      <dgm:prSet/>
      <dgm:spPr/>
      <dgm:t>
        <a:bodyPr/>
        <a:lstStyle/>
        <a:p>
          <a:endParaRPr lang="en-US"/>
        </a:p>
      </dgm:t>
    </dgm:pt>
    <dgm:pt modelId="{E70E1E94-36AA-46D9-8659-342609631C11}">
      <dgm:prSet custT="1"/>
      <dgm:spPr/>
      <dgm:t>
        <a:bodyPr/>
        <a:lstStyle/>
        <a:p>
          <a:pPr algn="l"/>
          <a:r>
            <a:rPr lang="en-US" sz="2600" b="0" i="0" kern="1200" dirty="0">
              <a:solidFill>
                <a:srgbClr val="000000"/>
              </a:solidFill>
              <a:latin typeface="Franklin Gothic Book"/>
              <a:ea typeface="+mn-ea"/>
              <a:cs typeface="+mn-cs"/>
            </a:rPr>
            <a:t>Cost</a:t>
          </a:r>
        </a:p>
      </dgm:t>
    </dgm:pt>
    <dgm:pt modelId="{32C4FEDF-4C60-4EE5-AA5A-3EA957407CA6}" type="parTrans" cxnId="{BF554153-29CC-4CCD-82C0-817154B79340}">
      <dgm:prSet/>
      <dgm:spPr/>
      <dgm:t>
        <a:bodyPr/>
        <a:lstStyle/>
        <a:p>
          <a:endParaRPr lang="en-US"/>
        </a:p>
      </dgm:t>
    </dgm:pt>
    <dgm:pt modelId="{34E69CAD-9FDA-42BA-BEDA-8C7BEB1D6F87}" type="sibTrans" cxnId="{BF554153-29CC-4CCD-82C0-817154B79340}">
      <dgm:prSet/>
      <dgm:spPr/>
      <dgm:t>
        <a:bodyPr/>
        <a:lstStyle/>
        <a:p>
          <a:endParaRPr lang="en-US"/>
        </a:p>
      </dgm:t>
    </dgm:pt>
    <dgm:pt modelId="{7D631123-35FD-4DAA-B379-2A5A68E199C4}">
      <dgm:prSet custT="1"/>
      <dgm:spPr/>
      <dgm:t>
        <a:bodyPr/>
        <a:lstStyle/>
        <a:p>
          <a:pPr algn="l"/>
          <a:r>
            <a:rPr lang="en-US" sz="2600" b="0" i="0" kern="1200" dirty="0">
              <a:solidFill>
                <a:srgbClr val="000000"/>
              </a:solidFill>
              <a:latin typeface="Franklin Gothic Book"/>
              <a:ea typeface="+mn-ea"/>
              <a:cs typeface="+mn-cs"/>
            </a:rPr>
            <a:t>Company</a:t>
          </a:r>
          <a:r>
            <a:rPr lang="en-US" sz="2600" b="1" i="0" kern="1200" dirty="0">
              <a:solidFill>
                <a:srgbClr val="C00000"/>
              </a:solidFill>
            </a:rPr>
            <a:t> </a:t>
          </a:r>
          <a:r>
            <a:rPr lang="en-US" sz="2600" b="0" i="0" kern="1200" dirty="0">
              <a:solidFill>
                <a:srgbClr val="000000"/>
              </a:solidFill>
              <a:latin typeface="Franklin Gothic Book"/>
              <a:ea typeface="+mn-ea"/>
              <a:cs typeface="+mn-cs"/>
            </a:rPr>
            <a:t>objectives</a:t>
          </a:r>
        </a:p>
      </dgm:t>
    </dgm:pt>
    <dgm:pt modelId="{219A2380-6670-4CAE-8775-0BCB45523BE1}" type="parTrans" cxnId="{109AE602-4A53-4218-B0FE-64A799977703}">
      <dgm:prSet/>
      <dgm:spPr/>
      <dgm:t>
        <a:bodyPr/>
        <a:lstStyle/>
        <a:p>
          <a:endParaRPr lang="en-US"/>
        </a:p>
      </dgm:t>
    </dgm:pt>
    <dgm:pt modelId="{A5B44D8E-C06B-4AD6-BBC8-457B5F93CD3D}" type="sibTrans" cxnId="{109AE602-4A53-4218-B0FE-64A799977703}">
      <dgm:prSet/>
      <dgm:spPr/>
      <dgm:t>
        <a:bodyPr/>
        <a:lstStyle/>
        <a:p>
          <a:endParaRPr lang="en-US"/>
        </a:p>
      </dgm:t>
    </dgm:pt>
    <dgm:pt modelId="{EE9EFFE7-B5ED-4C27-A92F-90C5AD3D0AA5}">
      <dgm:prSet/>
      <dgm:spPr/>
      <dgm:t>
        <a:bodyPr/>
        <a:lstStyle/>
        <a:p>
          <a:pPr algn="l"/>
          <a:r>
            <a:rPr lang="en-US" b="1" i="0" dirty="0" err="1">
              <a:solidFill>
                <a:srgbClr val="C00000"/>
              </a:solidFill>
            </a:rPr>
            <a:t>Organisational</a:t>
          </a:r>
          <a:r>
            <a:rPr lang="en-US" b="1" i="0" dirty="0">
              <a:solidFill>
                <a:srgbClr val="C00000"/>
              </a:solidFill>
            </a:rPr>
            <a:t> factors</a:t>
          </a:r>
          <a:endParaRPr lang="en-US" b="1" dirty="0">
            <a:solidFill>
              <a:srgbClr val="C00000"/>
            </a:solidFill>
          </a:endParaRPr>
        </a:p>
      </dgm:t>
    </dgm:pt>
    <dgm:pt modelId="{408083E7-07FE-4D6F-A471-BCC478C25396}" type="parTrans" cxnId="{5AB52A91-8056-4685-8933-7F17B38C1B34}">
      <dgm:prSet/>
      <dgm:spPr/>
      <dgm:t>
        <a:bodyPr/>
        <a:lstStyle/>
        <a:p>
          <a:endParaRPr lang="en-US"/>
        </a:p>
      </dgm:t>
    </dgm:pt>
    <dgm:pt modelId="{C34C71F9-2EAF-4532-9F5B-98EECF23E78C}" type="sibTrans" cxnId="{5AB52A91-8056-4685-8933-7F17B38C1B34}">
      <dgm:prSet/>
      <dgm:spPr/>
      <dgm:t>
        <a:bodyPr/>
        <a:lstStyle/>
        <a:p>
          <a:endParaRPr lang="en-US"/>
        </a:p>
      </dgm:t>
    </dgm:pt>
    <dgm:pt modelId="{8ECFD1C0-9422-423D-B23D-2F01C47FAC2E}">
      <dgm:prSet/>
      <dgm:spPr/>
      <dgm:t>
        <a:bodyPr/>
        <a:lstStyle/>
        <a:p>
          <a:pPr algn="l"/>
          <a:r>
            <a:rPr lang="en-US" b="0" i="0" dirty="0">
              <a:solidFill>
                <a:schemeClr val="bg1"/>
              </a:solidFill>
            </a:rPr>
            <a:t>Marketing mix</a:t>
          </a:r>
          <a:endParaRPr lang="en-US" dirty="0">
            <a:solidFill>
              <a:schemeClr val="bg1"/>
            </a:solidFill>
          </a:endParaRPr>
        </a:p>
      </dgm:t>
    </dgm:pt>
    <dgm:pt modelId="{22FD9F5B-EE93-4C14-8B56-153DC70007F3}" type="parTrans" cxnId="{146D5A6C-E23B-4911-9D74-C494851C7AC9}">
      <dgm:prSet/>
      <dgm:spPr/>
      <dgm:t>
        <a:bodyPr/>
        <a:lstStyle/>
        <a:p>
          <a:endParaRPr lang="en-US"/>
        </a:p>
      </dgm:t>
    </dgm:pt>
    <dgm:pt modelId="{1443807E-89DC-4427-B63D-1299E5A53697}" type="sibTrans" cxnId="{146D5A6C-E23B-4911-9D74-C494851C7AC9}">
      <dgm:prSet/>
      <dgm:spPr/>
      <dgm:t>
        <a:bodyPr/>
        <a:lstStyle/>
        <a:p>
          <a:endParaRPr lang="en-US"/>
        </a:p>
      </dgm:t>
    </dgm:pt>
    <dgm:pt modelId="{DE381EFC-3DF7-4BFC-BF0A-A3A6F94338AC}">
      <dgm:prSet/>
      <dgm:spPr/>
      <dgm:t>
        <a:bodyPr/>
        <a:lstStyle/>
        <a:p>
          <a:pPr algn="l"/>
          <a:r>
            <a:rPr lang="en-US" b="0" i="0" dirty="0">
              <a:solidFill>
                <a:schemeClr val="bg1"/>
              </a:solidFill>
            </a:rPr>
            <a:t>Product differentiation</a:t>
          </a:r>
          <a:endParaRPr lang="en-US" dirty="0">
            <a:solidFill>
              <a:schemeClr val="bg1"/>
            </a:solidFill>
          </a:endParaRPr>
        </a:p>
      </dgm:t>
    </dgm:pt>
    <dgm:pt modelId="{8DD572BE-CFD5-4C3C-9B50-BD79D914D535}" type="parTrans" cxnId="{21043F33-B1BC-4B83-909F-75EA9242B592}">
      <dgm:prSet/>
      <dgm:spPr/>
      <dgm:t>
        <a:bodyPr/>
        <a:lstStyle/>
        <a:p>
          <a:endParaRPr lang="en-US"/>
        </a:p>
      </dgm:t>
    </dgm:pt>
    <dgm:pt modelId="{AD89B1AE-8CD9-47CD-97A4-99D2840ED5B0}" type="sibTrans" cxnId="{21043F33-B1BC-4B83-909F-75EA9242B592}">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23E72680-99D6-462A-8EB7-3B49EFE3C79D}" type="pres">
      <dgm:prSet presAssocID="{270D23D7-AC57-4A0C-B5D0-4CEA7E7357CE}" presName="compNode" presStyleCnt="0"/>
      <dgm:spPr/>
    </dgm:pt>
    <dgm:pt modelId="{90498A2E-752E-4EE2-8507-559B11BE8CF2}" type="pres">
      <dgm:prSet presAssocID="{270D23D7-AC57-4A0C-B5D0-4CEA7E7357CE}" presName="aNode" presStyleLbl="bgShp" presStyleIdx="0" presStyleCnt="1"/>
      <dgm:spPr/>
    </dgm:pt>
    <dgm:pt modelId="{7CE75D4D-5D94-41AD-809E-4FFEC6C180B0}" type="pres">
      <dgm:prSet presAssocID="{270D23D7-AC57-4A0C-B5D0-4CEA7E7357CE}" presName="textNode" presStyleLbl="bgShp" presStyleIdx="0" presStyleCnt="1"/>
      <dgm:spPr/>
    </dgm:pt>
    <dgm:pt modelId="{6AE28314-AFD4-48CF-A180-2C084115B18D}" type="pres">
      <dgm:prSet presAssocID="{270D23D7-AC57-4A0C-B5D0-4CEA7E7357CE}" presName="compChildNode" presStyleCnt="0"/>
      <dgm:spPr/>
    </dgm:pt>
    <dgm:pt modelId="{A2D353CF-C9D8-4E1A-9831-08864D5DD059}" type="pres">
      <dgm:prSet presAssocID="{270D23D7-AC57-4A0C-B5D0-4CEA7E7357CE}" presName="theInnerList" presStyleCnt="0"/>
      <dgm:spPr/>
    </dgm:pt>
    <dgm:pt modelId="{EEB5EDF3-AC6A-404C-948C-770BC7D6ECA3}" type="pres">
      <dgm:prSet presAssocID="{E70E1E94-36AA-46D9-8659-342609631C11}" presName="childNode" presStyleLbl="node1" presStyleIdx="0" presStyleCnt="5">
        <dgm:presLayoutVars>
          <dgm:bulletEnabled val="1"/>
        </dgm:presLayoutVars>
      </dgm:prSet>
      <dgm:spPr/>
    </dgm:pt>
    <dgm:pt modelId="{B30A01D6-3002-472B-B413-4B7EDA6D36FD}" type="pres">
      <dgm:prSet presAssocID="{E70E1E94-36AA-46D9-8659-342609631C11}" presName="aSpace2" presStyleCnt="0"/>
      <dgm:spPr/>
    </dgm:pt>
    <dgm:pt modelId="{302A0843-6FA4-4A1D-88E6-AEDF7F765846}" type="pres">
      <dgm:prSet presAssocID="{7D631123-35FD-4DAA-B379-2A5A68E199C4}" presName="childNode" presStyleLbl="node1" presStyleIdx="1" presStyleCnt="5">
        <dgm:presLayoutVars>
          <dgm:bulletEnabled val="1"/>
        </dgm:presLayoutVars>
      </dgm:prSet>
      <dgm:spPr/>
    </dgm:pt>
    <dgm:pt modelId="{09B14135-66BA-4AC9-B43F-5A9E9D30753B}" type="pres">
      <dgm:prSet presAssocID="{7D631123-35FD-4DAA-B379-2A5A68E199C4}" presName="aSpace2" presStyleCnt="0"/>
      <dgm:spPr/>
    </dgm:pt>
    <dgm:pt modelId="{391B290B-E829-45B8-9189-033E0A12CC04}" type="pres">
      <dgm:prSet presAssocID="{EE9EFFE7-B5ED-4C27-A92F-90C5AD3D0AA5}" presName="childNode" presStyleLbl="node1" presStyleIdx="2" presStyleCnt="5">
        <dgm:presLayoutVars>
          <dgm:bulletEnabled val="1"/>
        </dgm:presLayoutVars>
      </dgm:prSet>
      <dgm:spPr/>
    </dgm:pt>
    <dgm:pt modelId="{C459809F-7736-4BDB-B15E-DF0C3C23DDE0}" type="pres">
      <dgm:prSet presAssocID="{EE9EFFE7-B5ED-4C27-A92F-90C5AD3D0AA5}" presName="aSpace2" presStyleCnt="0"/>
      <dgm:spPr/>
    </dgm:pt>
    <dgm:pt modelId="{C9654758-079A-413D-A93A-FEC3AC199DC5}" type="pres">
      <dgm:prSet presAssocID="{8ECFD1C0-9422-423D-B23D-2F01C47FAC2E}" presName="childNode" presStyleLbl="node1" presStyleIdx="3" presStyleCnt="5">
        <dgm:presLayoutVars>
          <dgm:bulletEnabled val="1"/>
        </dgm:presLayoutVars>
      </dgm:prSet>
      <dgm:spPr/>
    </dgm:pt>
    <dgm:pt modelId="{79E483A3-92C3-4CC1-8AC8-D1788C6A60E0}" type="pres">
      <dgm:prSet presAssocID="{8ECFD1C0-9422-423D-B23D-2F01C47FAC2E}" presName="aSpace2" presStyleCnt="0"/>
      <dgm:spPr/>
    </dgm:pt>
    <dgm:pt modelId="{518E6B64-E58F-4A8B-8B69-31AEEC6B56EF}" type="pres">
      <dgm:prSet presAssocID="{DE381EFC-3DF7-4BFC-BF0A-A3A6F94338AC}" presName="childNode" presStyleLbl="node1" presStyleIdx="4" presStyleCnt="5">
        <dgm:presLayoutVars>
          <dgm:bulletEnabled val="1"/>
        </dgm:presLayoutVars>
      </dgm:prSet>
      <dgm:spPr/>
    </dgm:pt>
  </dgm:ptLst>
  <dgm:cxnLst>
    <dgm:cxn modelId="{109AE602-4A53-4218-B0FE-64A799977703}" srcId="{270D23D7-AC57-4A0C-B5D0-4CEA7E7357CE}" destId="{7D631123-35FD-4DAA-B379-2A5A68E199C4}" srcOrd="1" destOrd="0" parTransId="{219A2380-6670-4CAE-8775-0BCB45523BE1}" sibTransId="{A5B44D8E-C06B-4AD6-BBC8-457B5F93CD3D}"/>
    <dgm:cxn modelId="{9E95DA15-E9E5-4E45-859E-CE88870D409F}" srcId="{E0E7F01B-FE9B-43BC-B32C-1F5FE3ADF48C}" destId="{270D23D7-AC57-4A0C-B5D0-4CEA7E7357CE}" srcOrd="0" destOrd="0" parTransId="{B754A496-EDF6-42BC-B3C6-80E53B8C77DB}" sibTransId="{0FD2836D-A121-462E-A986-BF1AF6024C55}"/>
    <dgm:cxn modelId="{3C134B2A-6B53-48FE-BBEC-874B0381D2FA}" type="presOf" srcId="{DE381EFC-3DF7-4BFC-BF0A-A3A6F94338AC}" destId="{518E6B64-E58F-4A8B-8B69-31AEEC6B56EF}" srcOrd="0" destOrd="0" presId="urn:microsoft.com/office/officeart/2005/8/layout/lProcess2"/>
    <dgm:cxn modelId="{21043F33-B1BC-4B83-909F-75EA9242B592}" srcId="{270D23D7-AC57-4A0C-B5D0-4CEA7E7357CE}" destId="{DE381EFC-3DF7-4BFC-BF0A-A3A6F94338AC}" srcOrd="4" destOrd="0" parTransId="{8DD572BE-CFD5-4C3C-9B50-BD79D914D535}" sibTransId="{AD89B1AE-8CD9-47CD-97A4-99D2840ED5B0}"/>
    <dgm:cxn modelId="{F0D5C33B-8E5E-4BBD-B190-11AC3DB5795B}" type="presOf" srcId="{270D23D7-AC57-4A0C-B5D0-4CEA7E7357CE}" destId="{90498A2E-752E-4EE2-8507-559B11BE8CF2}" srcOrd="0" destOrd="0" presId="urn:microsoft.com/office/officeart/2005/8/layout/lProcess2"/>
    <dgm:cxn modelId="{C4FF0641-1ADD-4E02-A0F2-B062E1454947}" type="presOf" srcId="{7D631123-35FD-4DAA-B379-2A5A68E199C4}" destId="{302A0843-6FA4-4A1D-88E6-AEDF7F765846}" srcOrd="0" destOrd="0" presId="urn:microsoft.com/office/officeart/2005/8/layout/lProcess2"/>
    <dgm:cxn modelId="{A222AB45-F9B9-4553-AEC5-B36F9AA5E975}" type="presOf" srcId="{8ECFD1C0-9422-423D-B23D-2F01C47FAC2E}" destId="{C9654758-079A-413D-A93A-FEC3AC199DC5}" srcOrd="0" destOrd="0" presId="urn:microsoft.com/office/officeart/2005/8/layout/lProcess2"/>
    <dgm:cxn modelId="{146D5A6C-E23B-4911-9D74-C494851C7AC9}" srcId="{270D23D7-AC57-4A0C-B5D0-4CEA7E7357CE}" destId="{8ECFD1C0-9422-423D-B23D-2F01C47FAC2E}" srcOrd="3" destOrd="0" parTransId="{22FD9F5B-EE93-4C14-8B56-153DC70007F3}" sibTransId="{1443807E-89DC-4427-B63D-1299E5A53697}"/>
    <dgm:cxn modelId="{BF554153-29CC-4CCD-82C0-817154B79340}" srcId="{270D23D7-AC57-4A0C-B5D0-4CEA7E7357CE}" destId="{E70E1E94-36AA-46D9-8659-342609631C11}" srcOrd="0" destOrd="0" parTransId="{32C4FEDF-4C60-4EE5-AA5A-3EA957407CA6}" sibTransId="{34E69CAD-9FDA-42BA-BEDA-8C7BEB1D6F87}"/>
    <dgm:cxn modelId="{5AB52A91-8056-4685-8933-7F17B38C1B34}" srcId="{270D23D7-AC57-4A0C-B5D0-4CEA7E7357CE}" destId="{EE9EFFE7-B5ED-4C27-A92F-90C5AD3D0AA5}" srcOrd="2" destOrd="0" parTransId="{408083E7-07FE-4D6F-A471-BCC478C25396}" sibTransId="{C34C71F9-2EAF-4532-9F5B-98EECF23E78C}"/>
    <dgm:cxn modelId="{7849DFAC-4C56-449D-B605-FED742416342}" type="presOf" srcId="{EE9EFFE7-B5ED-4C27-A92F-90C5AD3D0AA5}" destId="{391B290B-E829-45B8-9189-033E0A12CC04}"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6B3C98D6-420E-40B2-AE8A-FF5DDBC47AC1}" type="presOf" srcId="{270D23D7-AC57-4A0C-B5D0-4CEA7E7357CE}" destId="{7CE75D4D-5D94-41AD-809E-4FFEC6C180B0}" srcOrd="1" destOrd="0" presId="urn:microsoft.com/office/officeart/2005/8/layout/lProcess2"/>
    <dgm:cxn modelId="{1C4B5AEC-0547-4ED3-BAE6-B5ADA1BFFC4A}" type="presOf" srcId="{E70E1E94-36AA-46D9-8659-342609631C11}" destId="{EEB5EDF3-AC6A-404C-948C-770BC7D6ECA3}" srcOrd="0" destOrd="0" presId="urn:microsoft.com/office/officeart/2005/8/layout/lProcess2"/>
    <dgm:cxn modelId="{F38B8000-A333-4B96-8CA0-8FB72252EE74}" type="presParOf" srcId="{7CF0A71B-AB2A-4906-ABA4-E2A8C902FFFA}" destId="{23E72680-99D6-462A-8EB7-3B49EFE3C79D}" srcOrd="0" destOrd="0" presId="urn:microsoft.com/office/officeart/2005/8/layout/lProcess2"/>
    <dgm:cxn modelId="{2861147E-E09B-4816-B7C7-382BCE5C9B0C}" type="presParOf" srcId="{23E72680-99D6-462A-8EB7-3B49EFE3C79D}" destId="{90498A2E-752E-4EE2-8507-559B11BE8CF2}" srcOrd="0" destOrd="0" presId="urn:microsoft.com/office/officeart/2005/8/layout/lProcess2"/>
    <dgm:cxn modelId="{E0FE9453-7BD0-435E-BDB5-9EEE89E8F630}" type="presParOf" srcId="{23E72680-99D6-462A-8EB7-3B49EFE3C79D}" destId="{7CE75D4D-5D94-41AD-809E-4FFEC6C180B0}" srcOrd="1" destOrd="0" presId="urn:microsoft.com/office/officeart/2005/8/layout/lProcess2"/>
    <dgm:cxn modelId="{C740434E-C407-4787-86C8-7E20BE49CF93}" type="presParOf" srcId="{23E72680-99D6-462A-8EB7-3B49EFE3C79D}" destId="{6AE28314-AFD4-48CF-A180-2C084115B18D}" srcOrd="2" destOrd="0" presId="urn:microsoft.com/office/officeart/2005/8/layout/lProcess2"/>
    <dgm:cxn modelId="{96D4C2E2-EE4B-4673-AC7B-5AC138441B15}" type="presParOf" srcId="{6AE28314-AFD4-48CF-A180-2C084115B18D}" destId="{A2D353CF-C9D8-4E1A-9831-08864D5DD059}" srcOrd="0" destOrd="0" presId="urn:microsoft.com/office/officeart/2005/8/layout/lProcess2"/>
    <dgm:cxn modelId="{B6D8935B-62DD-400A-B034-2697BDE2C098}" type="presParOf" srcId="{A2D353CF-C9D8-4E1A-9831-08864D5DD059}" destId="{EEB5EDF3-AC6A-404C-948C-770BC7D6ECA3}" srcOrd="0" destOrd="0" presId="urn:microsoft.com/office/officeart/2005/8/layout/lProcess2"/>
    <dgm:cxn modelId="{A3A821C4-4E0F-449B-8FC3-7AE4A8D7861E}" type="presParOf" srcId="{A2D353CF-C9D8-4E1A-9831-08864D5DD059}" destId="{B30A01D6-3002-472B-B413-4B7EDA6D36FD}" srcOrd="1" destOrd="0" presId="urn:microsoft.com/office/officeart/2005/8/layout/lProcess2"/>
    <dgm:cxn modelId="{9BE764D2-D26C-4D1C-90DF-09E9EA29EBC5}" type="presParOf" srcId="{A2D353CF-C9D8-4E1A-9831-08864D5DD059}" destId="{302A0843-6FA4-4A1D-88E6-AEDF7F765846}" srcOrd="2" destOrd="0" presId="urn:microsoft.com/office/officeart/2005/8/layout/lProcess2"/>
    <dgm:cxn modelId="{8B63C60E-A681-4003-86D5-56ED8E0C4C23}" type="presParOf" srcId="{A2D353CF-C9D8-4E1A-9831-08864D5DD059}" destId="{09B14135-66BA-4AC9-B43F-5A9E9D30753B}" srcOrd="3" destOrd="0" presId="urn:microsoft.com/office/officeart/2005/8/layout/lProcess2"/>
    <dgm:cxn modelId="{9B63C46C-D895-4EC0-9912-DAAFBA053779}" type="presParOf" srcId="{A2D353CF-C9D8-4E1A-9831-08864D5DD059}" destId="{391B290B-E829-45B8-9189-033E0A12CC04}" srcOrd="4" destOrd="0" presId="urn:microsoft.com/office/officeart/2005/8/layout/lProcess2"/>
    <dgm:cxn modelId="{A552FF85-9DB0-4302-9D63-7810E5A6E759}" type="presParOf" srcId="{A2D353CF-C9D8-4E1A-9831-08864D5DD059}" destId="{C459809F-7736-4BDB-B15E-DF0C3C23DDE0}" srcOrd="5" destOrd="0" presId="urn:microsoft.com/office/officeart/2005/8/layout/lProcess2"/>
    <dgm:cxn modelId="{762EAE8F-52D1-45CF-BE6F-3155B024D5BD}" type="presParOf" srcId="{A2D353CF-C9D8-4E1A-9831-08864D5DD059}" destId="{C9654758-079A-413D-A93A-FEC3AC199DC5}" srcOrd="6" destOrd="0" presId="urn:microsoft.com/office/officeart/2005/8/layout/lProcess2"/>
    <dgm:cxn modelId="{FAE56538-59A9-4B8C-84BC-0FFBA1F6D228}" type="presParOf" srcId="{A2D353CF-C9D8-4E1A-9831-08864D5DD059}" destId="{79E483A3-92C3-4CC1-8AC8-D1788C6A60E0}" srcOrd="7" destOrd="0" presId="urn:microsoft.com/office/officeart/2005/8/layout/lProcess2"/>
    <dgm:cxn modelId="{F06B5D84-7499-487D-8399-89F80BEAC86F}" type="presParOf" srcId="{A2D353CF-C9D8-4E1A-9831-08864D5DD059}" destId="{518E6B64-E58F-4A8B-8B69-31AEEC6B56EF}"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270D23D7-AC57-4A0C-B5D0-4CEA7E7357CE}">
      <dgm:prSet custT="1"/>
      <dgm:spPr/>
      <dgm:t>
        <a:bodyPr/>
        <a:lstStyle/>
        <a:p>
          <a:r>
            <a:rPr lang="en-US" sz="3600" b="1" i="0" dirty="0">
              <a:solidFill>
                <a:schemeClr val="tx2">
                  <a:lumMod val="50000"/>
                </a:schemeClr>
              </a:solidFill>
            </a:rPr>
            <a:t>INTERNAL FACTORS</a:t>
          </a:r>
          <a:endParaRPr lang="en-US" sz="3600" b="1" dirty="0">
            <a:solidFill>
              <a:schemeClr val="tx2">
                <a:lumMod val="50000"/>
              </a:schemeClr>
            </a:solidFill>
          </a:endParaRPr>
        </a:p>
      </dgm:t>
    </dgm:pt>
    <dgm:pt modelId="{B754A496-EDF6-42BC-B3C6-80E53B8C77DB}" type="parTrans" cxnId="{9E95DA15-E9E5-4E45-859E-CE88870D409F}">
      <dgm:prSet/>
      <dgm:spPr/>
      <dgm:t>
        <a:bodyPr/>
        <a:lstStyle/>
        <a:p>
          <a:endParaRPr lang="en-US"/>
        </a:p>
      </dgm:t>
    </dgm:pt>
    <dgm:pt modelId="{0FD2836D-A121-462E-A986-BF1AF6024C55}" type="sibTrans" cxnId="{9E95DA15-E9E5-4E45-859E-CE88870D409F}">
      <dgm:prSet/>
      <dgm:spPr/>
      <dgm:t>
        <a:bodyPr/>
        <a:lstStyle/>
        <a:p>
          <a:endParaRPr lang="en-US"/>
        </a:p>
      </dgm:t>
    </dgm:pt>
    <dgm:pt modelId="{E70E1E94-36AA-46D9-8659-342609631C11}">
      <dgm:prSet custT="1"/>
      <dgm:spPr/>
      <dgm:t>
        <a:bodyPr/>
        <a:lstStyle/>
        <a:p>
          <a:pPr algn="l"/>
          <a:r>
            <a:rPr lang="en-US" sz="2600" b="0" i="0" kern="1200" dirty="0">
              <a:solidFill>
                <a:srgbClr val="000000"/>
              </a:solidFill>
              <a:latin typeface="Franklin Gothic Book"/>
              <a:ea typeface="+mn-ea"/>
              <a:cs typeface="+mn-cs"/>
            </a:rPr>
            <a:t>Cost</a:t>
          </a:r>
        </a:p>
      </dgm:t>
    </dgm:pt>
    <dgm:pt modelId="{32C4FEDF-4C60-4EE5-AA5A-3EA957407CA6}" type="parTrans" cxnId="{BF554153-29CC-4CCD-82C0-817154B79340}">
      <dgm:prSet/>
      <dgm:spPr/>
      <dgm:t>
        <a:bodyPr/>
        <a:lstStyle/>
        <a:p>
          <a:endParaRPr lang="en-US"/>
        </a:p>
      </dgm:t>
    </dgm:pt>
    <dgm:pt modelId="{34E69CAD-9FDA-42BA-BEDA-8C7BEB1D6F87}" type="sibTrans" cxnId="{BF554153-29CC-4CCD-82C0-817154B79340}">
      <dgm:prSet/>
      <dgm:spPr/>
      <dgm:t>
        <a:bodyPr/>
        <a:lstStyle/>
        <a:p>
          <a:endParaRPr lang="en-US"/>
        </a:p>
      </dgm:t>
    </dgm:pt>
    <dgm:pt modelId="{7D631123-35FD-4DAA-B379-2A5A68E199C4}">
      <dgm:prSet custT="1"/>
      <dgm:spPr/>
      <dgm:t>
        <a:bodyPr/>
        <a:lstStyle/>
        <a:p>
          <a:pPr algn="l"/>
          <a:r>
            <a:rPr lang="en-US" sz="2600" b="0" i="0" kern="1200" dirty="0">
              <a:solidFill>
                <a:srgbClr val="000000"/>
              </a:solidFill>
              <a:latin typeface="Franklin Gothic Book"/>
              <a:ea typeface="+mn-ea"/>
              <a:cs typeface="+mn-cs"/>
            </a:rPr>
            <a:t>Company</a:t>
          </a:r>
          <a:r>
            <a:rPr lang="en-US" sz="2600" b="1" i="0" kern="1200" dirty="0">
              <a:solidFill>
                <a:srgbClr val="C00000"/>
              </a:solidFill>
            </a:rPr>
            <a:t> </a:t>
          </a:r>
          <a:r>
            <a:rPr lang="en-US" sz="2600" b="0" i="0" kern="1200" dirty="0">
              <a:solidFill>
                <a:srgbClr val="000000"/>
              </a:solidFill>
              <a:latin typeface="Franklin Gothic Book"/>
              <a:ea typeface="+mn-ea"/>
              <a:cs typeface="+mn-cs"/>
            </a:rPr>
            <a:t>objectives</a:t>
          </a:r>
        </a:p>
      </dgm:t>
    </dgm:pt>
    <dgm:pt modelId="{219A2380-6670-4CAE-8775-0BCB45523BE1}" type="parTrans" cxnId="{109AE602-4A53-4218-B0FE-64A799977703}">
      <dgm:prSet/>
      <dgm:spPr/>
      <dgm:t>
        <a:bodyPr/>
        <a:lstStyle/>
        <a:p>
          <a:endParaRPr lang="en-US"/>
        </a:p>
      </dgm:t>
    </dgm:pt>
    <dgm:pt modelId="{A5B44D8E-C06B-4AD6-BBC8-457B5F93CD3D}" type="sibTrans" cxnId="{109AE602-4A53-4218-B0FE-64A799977703}">
      <dgm:prSet/>
      <dgm:spPr/>
      <dgm:t>
        <a:bodyPr/>
        <a:lstStyle/>
        <a:p>
          <a:endParaRPr lang="en-US"/>
        </a:p>
      </dgm:t>
    </dgm:pt>
    <dgm:pt modelId="{EE9EFFE7-B5ED-4C27-A92F-90C5AD3D0AA5}">
      <dgm:prSet/>
      <dgm:spPr/>
      <dgm:t>
        <a:bodyPr/>
        <a:lstStyle/>
        <a:p>
          <a:pPr algn="l"/>
          <a:r>
            <a:rPr lang="en-US" b="0" i="0" dirty="0" err="1">
              <a:solidFill>
                <a:schemeClr val="bg1"/>
              </a:solidFill>
            </a:rPr>
            <a:t>Organisational</a:t>
          </a:r>
          <a:r>
            <a:rPr lang="en-US" b="0" i="0" dirty="0">
              <a:solidFill>
                <a:schemeClr val="bg1"/>
              </a:solidFill>
            </a:rPr>
            <a:t> factors</a:t>
          </a:r>
          <a:endParaRPr lang="en-US" b="0" dirty="0">
            <a:solidFill>
              <a:schemeClr val="bg1"/>
            </a:solidFill>
          </a:endParaRPr>
        </a:p>
      </dgm:t>
    </dgm:pt>
    <dgm:pt modelId="{408083E7-07FE-4D6F-A471-BCC478C25396}" type="parTrans" cxnId="{5AB52A91-8056-4685-8933-7F17B38C1B34}">
      <dgm:prSet/>
      <dgm:spPr/>
      <dgm:t>
        <a:bodyPr/>
        <a:lstStyle/>
        <a:p>
          <a:endParaRPr lang="en-US"/>
        </a:p>
      </dgm:t>
    </dgm:pt>
    <dgm:pt modelId="{C34C71F9-2EAF-4532-9F5B-98EECF23E78C}" type="sibTrans" cxnId="{5AB52A91-8056-4685-8933-7F17B38C1B34}">
      <dgm:prSet/>
      <dgm:spPr/>
      <dgm:t>
        <a:bodyPr/>
        <a:lstStyle/>
        <a:p>
          <a:endParaRPr lang="en-US"/>
        </a:p>
      </dgm:t>
    </dgm:pt>
    <dgm:pt modelId="{8ECFD1C0-9422-423D-B23D-2F01C47FAC2E}">
      <dgm:prSet/>
      <dgm:spPr/>
      <dgm:t>
        <a:bodyPr/>
        <a:lstStyle/>
        <a:p>
          <a:pPr algn="l"/>
          <a:r>
            <a:rPr lang="en-US" b="1" i="0" dirty="0">
              <a:solidFill>
                <a:srgbClr val="C00000"/>
              </a:solidFill>
            </a:rPr>
            <a:t>Marketing</a:t>
          </a:r>
          <a:r>
            <a:rPr lang="en-US" b="0" i="0" dirty="0">
              <a:solidFill>
                <a:schemeClr val="bg1"/>
              </a:solidFill>
            </a:rPr>
            <a:t> </a:t>
          </a:r>
          <a:r>
            <a:rPr lang="en-US" b="1" i="0" dirty="0">
              <a:solidFill>
                <a:srgbClr val="C00000"/>
              </a:solidFill>
            </a:rPr>
            <a:t>mix</a:t>
          </a:r>
          <a:endParaRPr lang="en-US" b="1" dirty="0">
            <a:solidFill>
              <a:srgbClr val="C00000"/>
            </a:solidFill>
          </a:endParaRPr>
        </a:p>
      </dgm:t>
    </dgm:pt>
    <dgm:pt modelId="{22FD9F5B-EE93-4C14-8B56-153DC70007F3}" type="parTrans" cxnId="{146D5A6C-E23B-4911-9D74-C494851C7AC9}">
      <dgm:prSet/>
      <dgm:spPr/>
      <dgm:t>
        <a:bodyPr/>
        <a:lstStyle/>
        <a:p>
          <a:endParaRPr lang="en-US"/>
        </a:p>
      </dgm:t>
    </dgm:pt>
    <dgm:pt modelId="{1443807E-89DC-4427-B63D-1299E5A53697}" type="sibTrans" cxnId="{146D5A6C-E23B-4911-9D74-C494851C7AC9}">
      <dgm:prSet/>
      <dgm:spPr/>
      <dgm:t>
        <a:bodyPr/>
        <a:lstStyle/>
        <a:p>
          <a:endParaRPr lang="en-US"/>
        </a:p>
      </dgm:t>
    </dgm:pt>
    <dgm:pt modelId="{DE381EFC-3DF7-4BFC-BF0A-A3A6F94338AC}">
      <dgm:prSet/>
      <dgm:spPr/>
      <dgm:t>
        <a:bodyPr/>
        <a:lstStyle/>
        <a:p>
          <a:pPr algn="l"/>
          <a:r>
            <a:rPr lang="en-US" b="0" i="0" dirty="0">
              <a:solidFill>
                <a:schemeClr val="bg1"/>
              </a:solidFill>
            </a:rPr>
            <a:t>Product differentiation</a:t>
          </a:r>
          <a:endParaRPr lang="en-US" dirty="0">
            <a:solidFill>
              <a:schemeClr val="bg1"/>
            </a:solidFill>
          </a:endParaRPr>
        </a:p>
      </dgm:t>
    </dgm:pt>
    <dgm:pt modelId="{8DD572BE-CFD5-4C3C-9B50-BD79D914D535}" type="parTrans" cxnId="{21043F33-B1BC-4B83-909F-75EA9242B592}">
      <dgm:prSet/>
      <dgm:spPr/>
      <dgm:t>
        <a:bodyPr/>
        <a:lstStyle/>
        <a:p>
          <a:endParaRPr lang="en-US"/>
        </a:p>
      </dgm:t>
    </dgm:pt>
    <dgm:pt modelId="{AD89B1AE-8CD9-47CD-97A4-99D2840ED5B0}" type="sibTrans" cxnId="{21043F33-B1BC-4B83-909F-75EA9242B592}">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23E72680-99D6-462A-8EB7-3B49EFE3C79D}" type="pres">
      <dgm:prSet presAssocID="{270D23D7-AC57-4A0C-B5D0-4CEA7E7357CE}" presName="compNode" presStyleCnt="0"/>
      <dgm:spPr/>
    </dgm:pt>
    <dgm:pt modelId="{90498A2E-752E-4EE2-8507-559B11BE8CF2}" type="pres">
      <dgm:prSet presAssocID="{270D23D7-AC57-4A0C-B5D0-4CEA7E7357CE}" presName="aNode" presStyleLbl="bgShp" presStyleIdx="0" presStyleCnt="1"/>
      <dgm:spPr/>
    </dgm:pt>
    <dgm:pt modelId="{7CE75D4D-5D94-41AD-809E-4FFEC6C180B0}" type="pres">
      <dgm:prSet presAssocID="{270D23D7-AC57-4A0C-B5D0-4CEA7E7357CE}" presName="textNode" presStyleLbl="bgShp" presStyleIdx="0" presStyleCnt="1"/>
      <dgm:spPr/>
    </dgm:pt>
    <dgm:pt modelId="{6AE28314-AFD4-48CF-A180-2C084115B18D}" type="pres">
      <dgm:prSet presAssocID="{270D23D7-AC57-4A0C-B5D0-4CEA7E7357CE}" presName="compChildNode" presStyleCnt="0"/>
      <dgm:spPr/>
    </dgm:pt>
    <dgm:pt modelId="{A2D353CF-C9D8-4E1A-9831-08864D5DD059}" type="pres">
      <dgm:prSet presAssocID="{270D23D7-AC57-4A0C-B5D0-4CEA7E7357CE}" presName="theInnerList" presStyleCnt="0"/>
      <dgm:spPr/>
    </dgm:pt>
    <dgm:pt modelId="{EEB5EDF3-AC6A-404C-948C-770BC7D6ECA3}" type="pres">
      <dgm:prSet presAssocID="{E70E1E94-36AA-46D9-8659-342609631C11}" presName="childNode" presStyleLbl="node1" presStyleIdx="0" presStyleCnt="5">
        <dgm:presLayoutVars>
          <dgm:bulletEnabled val="1"/>
        </dgm:presLayoutVars>
      </dgm:prSet>
      <dgm:spPr/>
    </dgm:pt>
    <dgm:pt modelId="{B30A01D6-3002-472B-B413-4B7EDA6D36FD}" type="pres">
      <dgm:prSet presAssocID="{E70E1E94-36AA-46D9-8659-342609631C11}" presName="aSpace2" presStyleCnt="0"/>
      <dgm:spPr/>
    </dgm:pt>
    <dgm:pt modelId="{302A0843-6FA4-4A1D-88E6-AEDF7F765846}" type="pres">
      <dgm:prSet presAssocID="{7D631123-35FD-4DAA-B379-2A5A68E199C4}" presName="childNode" presStyleLbl="node1" presStyleIdx="1" presStyleCnt="5">
        <dgm:presLayoutVars>
          <dgm:bulletEnabled val="1"/>
        </dgm:presLayoutVars>
      </dgm:prSet>
      <dgm:spPr/>
    </dgm:pt>
    <dgm:pt modelId="{09B14135-66BA-4AC9-B43F-5A9E9D30753B}" type="pres">
      <dgm:prSet presAssocID="{7D631123-35FD-4DAA-B379-2A5A68E199C4}" presName="aSpace2" presStyleCnt="0"/>
      <dgm:spPr/>
    </dgm:pt>
    <dgm:pt modelId="{391B290B-E829-45B8-9189-033E0A12CC04}" type="pres">
      <dgm:prSet presAssocID="{EE9EFFE7-B5ED-4C27-A92F-90C5AD3D0AA5}" presName="childNode" presStyleLbl="node1" presStyleIdx="2" presStyleCnt="5">
        <dgm:presLayoutVars>
          <dgm:bulletEnabled val="1"/>
        </dgm:presLayoutVars>
      </dgm:prSet>
      <dgm:spPr/>
    </dgm:pt>
    <dgm:pt modelId="{C459809F-7736-4BDB-B15E-DF0C3C23DDE0}" type="pres">
      <dgm:prSet presAssocID="{EE9EFFE7-B5ED-4C27-A92F-90C5AD3D0AA5}" presName="aSpace2" presStyleCnt="0"/>
      <dgm:spPr/>
    </dgm:pt>
    <dgm:pt modelId="{C9654758-079A-413D-A93A-FEC3AC199DC5}" type="pres">
      <dgm:prSet presAssocID="{8ECFD1C0-9422-423D-B23D-2F01C47FAC2E}" presName="childNode" presStyleLbl="node1" presStyleIdx="3" presStyleCnt="5">
        <dgm:presLayoutVars>
          <dgm:bulletEnabled val="1"/>
        </dgm:presLayoutVars>
      </dgm:prSet>
      <dgm:spPr/>
    </dgm:pt>
    <dgm:pt modelId="{79E483A3-92C3-4CC1-8AC8-D1788C6A60E0}" type="pres">
      <dgm:prSet presAssocID="{8ECFD1C0-9422-423D-B23D-2F01C47FAC2E}" presName="aSpace2" presStyleCnt="0"/>
      <dgm:spPr/>
    </dgm:pt>
    <dgm:pt modelId="{518E6B64-E58F-4A8B-8B69-31AEEC6B56EF}" type="pres">
      <dgm:prSet presAssocID="{DE381EFC-3DF7-4BFC-BF0A-A3A6F94338AC}" presName="childNode" presStyleLbl="node1" presStyleIdx="4" presStyleCnt="5">
        <dgm:presLayoutVars>
          <dgm:bulletEnabled val="1"/>
        </dgm:presLayoutVars>
      </dgm:prSet>
      <dgm:spPr/>
    </dgm:pt>
  </dgm:ptLst>
  <dgm:cxnLst>
    <dgm:cxn modelId="{109AE602-4A53-4218-B0FE-64A799977703}" srcId="{270D23D7-AC57-4A0C-B5D0-4CEA7E7357CE}" destId="{7D631123-35FD-4DAA-B379-2A5A68E199C4}" srcOrd="1" destOrd="0" parTransId="{219A2380-6670-4CAE-8775-0BCB45523BE1}" sibTransId="{A5B44D8E-C06B-4AD6-BBC8-457B5F93CD3D}"/>
    <dgm:cxn modelId="{9E95DA15-E9E5-4E45-859E-CE88870D409F}" srcId="{E0E7F01B-FE9B-43BC-B32C-1F5FE3ADF48C}" destId="{270D23D7-AC57-4A0C-B5D0-4CEA7E7357CE}" srcOrd="0" destOrd="0" parTransId="{B754A496-EDF6-42BC-B3C6-80E53B8C77DB}" sibTransId="{0FD2836D-A121-462E-A986-BF1AF6024C55}"/>
    <dgm:cxn modelId="{3C134B2A-6B53-48FE-BBEC-874B0381D2FA}" type="presOf" srcId="{DE381EFC-3DF7-4BFC-BF0A-A3A6F94338AC}" destId="{518E6B64-E58F-4A8B-8B69-31AEEC6B56EF}" srcOrd="0" destOrd="0" presId="urn:microsoft.com/office/officeart/2005/8/layout/lProcess2"/>
    <dgm:cxn modelId="{21043F33-B1BC-4B83-909F-75EA9242B592}" srcId="{270D23D7-AC57-4A0C-B5D0-4CEA7E7357CE}" destId="{DE381EFC-3DF7-4BFC-BF0A-A3A6F94338AC}" srcOrd="4" destOrd="0" parTransId="{8DD572BE-CFD5-4C3C-9B50-BD79D914D535}" sibTransId="{AD89B1AE-8CD9-47CD-97A4-99D2840ED5B0}"/>
    <dgm:cxn modelId="{F0D5C33B-8E5E-4BBD-B190-11AC3DB5795B}" type="presOf" srcId="{270D23D7-AC57-4A0C-B5D0-4CEA7E7357CE}" destId="{90498A2E-752E-4EE2-8507-559B11BE8CF2}" srcOrd="0" destOrd="0" presId="urn:microsoft.com/office/officeart/2005/8/layout/lProcess2"/>
    <dgm:cxn modelId="{C4FF0641-1ADD-4E02-A0F2-B062E1454947}" type="presOf" srcId="{7D631123-35FD-4DAA-B379-2A5A68E199C4}" destId="{302A0843-6FA4-4A1D-88E6-AEDF7F765846}" srcOrd="0" destOrd="0" presId="urn:microsoft.com/office/officeart/2005/8/layout/lProcess2"/>
    <dgm:cxn modelId="{A222AB45-F9B9-4553-AEC5-B36F9AA5E975}" type="presOf" srcId="{8ECFD1C0-9422-423D-B23D-2F01C47FAC2E}" destId="{C9654758-079A-413D-A93A-FEC3AC199DC5}" srcOrd="0" destOrd="0" presId="urn:microsoft.com/office/officeart/2005/8/layout/lProcess2"/>
    <dgm:cxn modelId="{146D5A6C-E23B-4911-9D74-C494851C7AC9}" srcId="{270D23D7-AC57-4A0C-B5D0-4CEA7E7357CE}" destId="{8ECFD1C0-9422-423D-B23D-2F01C47FAC2E}" srcOrd="3" destOrd="0" parTransId="{22FD9F5B-EE93-4C14-8B56-153DC70007F3}" sibTransId="{1443807E-89DC-4427-B63D-1299E5A53697}"/>
    <dgm:cxn modelId="{BF554153-29CC-4CCD-82C0-817154B79340}" srcId="{270D23D7-AC57-4A0C-B5D0-4CEA7E7357CE}" destId="{E70E1E94-36AA-46D9-8659-342609631C11}" srcOrd="0" destOrd="0" parTransId="{32C4FEDF-4C60-4EE5-AA5A-3EA957407CA6}" sibTransId="{34E69CAD-9FDA-42BA-BEDA-8C7BEB1D6F87}"/>
    <dgm:cxn modelId="{5AB52A91-8056-4685-8933-7F17B38C1B34}" srcId="{270D23D7-AC57-4A0C-B5D0-4CEA7E7357CE}" destId="{EE9EFFE7-B5ED-4C27-A92F-90C5AD3D0AA5}" srcOrd="2" destOrd="0" parTransId="{408083E7-07FE-4D6F-A471-BCC478C25396}" sibTransId="{C34C71F9-2EAF-4532-9F5B-98EECF23E78C}"/>
    <dgm:cxn modelId="{7849DFAC-4C56-449D-B605-FED742416342}" type="presOf" srcId="{EE9EFFE7-B5ED-4C27-A92F-90C5AD3D0AA5}" destId="{391B290B-E829-45B8-9189-033E0A12CC04}"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6B3C98D6-420E-40B2-AE8A-FF5DDBC47AC1}" type="presOf" srcId="{270D23D7-AC57-4A0C-B5D0-4CEA7E7357CE}" destId="{7CE75D4D-5D94-41AD-809E-4FFEC6C180B0}" srcOrd="1" destOrd="0" presId="urn:microsoft.com/office/officeart/2005/8/layout/lProcess2"/>
    <dgm:cxn modelId="{1C4B5AEC-0547-4ED3-BAE6-B5ADA1BFFC4A}" type="presOf" srcId="{E70E1E94-36AA-46D9-8659-342609631C11}" destId="{EEB5EDF3-AC6A-404C-948C-770BC7D6ECA3}" srcOrd="0" destOrd="0" presId="urn:microsoft.com/office/officeart/2005/8/layout/lProcess2"/>
    <dgm:cxn modelId="{F38B8000-A333-4B96-8CA0-8FB72252EE74}" type="presParOf" srcId="{7CF0A71B-AB2A-4906-ABA4-E2A8C902FFFA}" destId="{23E72680-99D6-462A-8EB7-3B49EFE3C79D}" srcOrd="0" destOrd="0" presId="urn:microsoft.com/office/officeart/2005/8/layout/lProcess2"/>
    <dgm:cxn modelId="{2861147E-E09B-4816-B7C7-382BCE5C9B0C}" type="presParOf" srcId="{23E72680-99D6-462A-8EB7-3B49EFE3C79D}" destId="{90498A2E-752E-4EE2-8507-559B11BE8CF2}" srcOrd="0" destOrd="0" presId="urn:microsoft.com/office/officeart/2005/8/layout/lProcess2"/>
    <dgm:cxn modelId="{E0FE9453-7BD0-435E-BDB5-9EEE89E8F630}" type="presParOf" srcId="{23E72680-99D6-462A-8EB7-3B49EFE3C79D}" destId="{7CE75D4D-5D94-41AD-809E-4FFEC6C180B0}" srcOrd="1" destOrd="0" presId="urn:microsoft.com/office/officeart/2005/8/layout/lProcess2"/>
    <dgm:cxn modelId="{C740434E-C407-4787-86C8-7E20BE49CF93}" type="presParOf" srcId="{23E72680-99D6-462A-8EB7-3B49EFE3C79D}" destId="{6AE28314-AFD4-48CF-A180-2C084115B18D}" srcOrd="2" destOrd="0" presId="urn:microsoft.com/office/officeart/2005/8/layout/lProcess2"/>
    <dgm:cxn modelId="{96D4C2E2-EE4B-4673-AC7B-5AC138441B15}" type="presParOf" srcId="{6AE28314-AFD4-48CF-A180-2C084115B18D}" destId="{A2D353CF-C9D8-4E1A-9831-08864D5DD059}" srcOrd="0" destOrd="0" presId="urn:microsoft.com/office/officeart/2005/8/layout/lProcess2"/>
    <dgm:cxn modelId="{B6D8935B-62DD-400A-B034-2697BDE2C098}" type="presParOf" srcId="{A2D353CF-C9D8-4E1A-9831-08864D5DD059}" destId="{EEB5EDF3-AC6A-404C-948C-770BC7D6ECA3}" srcOrd="0" destOrd="0" presId="urn:microsoft.com/office/officeart/2005/8/layout/lProcess2"/>
    <dgm:cxn modelId="{A3A821C4-4E0F-449B-8FC3-7AE4A8D7861E}" type="presParOf" srcId="{A2D353CF-C9D8-4E1A-9831-08864D5DD059}" destId="{B30A01D6-3002-472B-B413-4B7EDA6D36FD}" srcOrd="1" destOrd="0" presId="urn:microsoft.com/office/officeart/2005/8/layout/lProcess2"/>
    <dgm:cxn modelId="{9BE764D2-D26C-4D1C-90DF-09E9EA29EBC5}" type="presParOf" srcId="{A2D353CF-C9D8-4E1A-9831-08864D5DD059}" destId="{302A0843-6FA4-4A1D-88E6-AEDF7F765846}" srcOrd="2" destOrd="0" presId="urn:microsoft.com/office/officeart/2005/8/layout/lProcess2"/>
    <dgm:cxn modelId="{8B63C60E-A681-4003-86D5-56ED8E0C4C23}" type="presParOf" srcId="{A2D353CF-C9D8-4E1A-9831-08864D5DD059}" destId="{09B14135-66BA-4AC9-B43F-5A9E9D30753B}" srcOrd="3" destOrd="0" presId="urn:microsoft.com/office/officeart/2005/8/layout/lProcess2"/>
    <dgm:cxn modelId="{9B63C46C-D895-4EC0-9912-DAAFBA053779}" type="presParOf" srcId="{A2D353CF-C9D8-4E1A-9831-08864D5DD059}" destId="{391B290B-E829-45B8-9189-033E0A12CC04}" srcOrd="4" destOrd="0" presId="urn:microsoft.com/office/officeart/2005/8/layout/lProcess2"/>
    <dgm:cxn modelId="{A552FF85-9DB0-4302-9D63-7810E5A6E759}" type="presParOf" srcId="{A2D353CF-C9D8-4E1A-9831-08864D5DD059}" destId="{C459809F-7736-4BDB-B15E-DF0C3C23DDE0}" srcOrd="5" destOrd="0" presId="urn:microsoft.com/office/officeart/2005/8/layout/lProcess2"/>
    <dgm:cxn modelId="{762EAE8F-52D1-45CF-BE6F-3155B024D5BD}" type="presParOf" srcId="{A2D353CF-C9D8-4E1A-9831-08864D5DD059}" destId="{C9654758-079A-413D-A93A-FEC3AC199DC5}" srcOrd="6" destOrd="0" presId="urn:microsoft.com/office/officeart/2005/8/layout/lProcess2"/>
    <dgm:cxn modelId="{FAE56538-59A9-4B8C-84BC-0FFBA1F6D228}" type="presParOf" srcId="{A2D353CF-C9D8-4E1A-9831-08864D5DD059}" destId="{79E483A3-92C3-4CC1-8AC8-D1788C6A60E0}" srcOrd="7" destOrd="0" presId="urn:microsoft.com/office/officeart/2005/8/layout/lProcess2"/>
    <dgm:cxn modelId="{F06B5D84-7499-487D-8399-89F80BEAC86F}" type="presParOf" srcId="{A2D353CF-C9D8-4E1A-9831-08864D5DD059}" destId="{518E6B64-E58F-4A8B-8B69-31AEEC6B56EF}"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270D23D7-AC57-4A0C-B5D0-4CEA7E7357CE}">
      <dgm:prSet custT="1"/>
      <dgm:spPr/>
      <dgm:t>
        <a:bodyPr/>
        <a:lstStyle/>
        <a:p>
          <a:r>
            <a:rPr lang="en-US" sz="3600" b="1" i="0" dirty="0">
              <a:solidFill>
                <a:schemeClr val="tx2">
                  <a:lumMod val="50000"/>
                </a:schemeClr>
              </a:solidFill>
            </a:rPr>
            <a:t>INTERNAL FACTORS</a:t>
          </a:r>
          <a:endParaRPr lang="en-US" sz="3600" b="1" dirty="0">
            <a:solidFill>
              <a:schemeClr val="tx2">
                <a:lumMod val="50000"/>
              </a:schemeClr>
            </a:solidFill>
          </a:endParaRPr>
        </a:p>
      </dgm:t>
    </dgm:pt>
    <dgm:pt modelId="{B754A496-EDF6-42BC-B3C6-80E53B8C77DB}" type="parTrans" cxnId="{9E95DA15-E9E5-4E45-859E-CE88870D409F}">
      <dgm:prSet/>
      <dgm:spPr/>
      <dgm:t>
        <a:bodyPr/>
        <a:lstStyle/>
        <a:p>
          <a:endParaRPr lang="en-US"/>
        </a:p>
      </dgm:t>
    </dgm:pt>
    <dgm:pt modelId="{0FD2836D-A121-462E-A986-BF1AF6024C55}" type="sibTrans" cxnId="{9E95DA15-E9E5-4E45-859E-CE88870D409F}">
      <dgm:prSet/>
      <dgm:spPr/>
      <dgm:t>
        <a:bodyPr/>
        <a:lstStyle/>
        <a:p>
          <a:endParaRPr lang="en-US"/>
        </a:p>
      </dgm:t>
    </dgm:pt>
    <dgm:pt modelId="{E70E1E94-36AA-46D9-8659-342609631C11}">
      <dgm:prSet custT="1"/>
      <dgm:spPr/>
      <dgm:t>
        <a:bodyPr/>
        <a:lstStyle/>
        <a:p>
          <a:pPr algn="l"/>
          <a:r>
            <a:rPr lang="en-US" sz="2600" b="0" i="0" kern="1200" dirty="0">
              <a:solidFill>
                <a:srgbClr val="000000"/>
              </a:solidFill>
              <a:latin typeface="Franklin Gothic Book"/>
              <a:ea typeface="+mn-ea"/>
              <a:cs typeface="+mn-cs"/>
            </a:rPr>
            <a:t>Cost</a:t>
          </a:r>
        </a:p>
      </dgm:t>
    </dgm:pt>
    <dgm:pt modelId="{32C4FEDF-4C60-4EE5-AA5A-3EA957407CA6}" type="parTrans" cxnId="{BF554153-29CC-4CCD-82C0-817154B79340}">
      <dgm:prSet/>
      <dgm:spPr/>
      <dgm:t>
        <a:bodyPr/>
        <a:lstStyle/>
        <a:p>
          <a:endParaRPr lang="en-US"/>
        </a:p>
      </dgm:t>
    </dgm:pt>
    <dgm:pt modelId="{34E69CAD-9FDA-42BA-BEDA-8C7BEB1D6F87}" type="sibTrans" cxnId="{BF554153-29CC-4CCD-82C0-817154B79340}">
      <dgm:prSet/>
      <dgm:spPr/>
      <dgm:t>
        <a:bodyPr/>
        <a:lstStyle/>
        <a:p>
          <a:endParaRPr lang="en-US"/>
        </a:p>
      </dgm:t>
    </dgm:pt>
    <dgm:pt modelId="{7D631123-35FD-4DAA-B379-2A5A68E199C4}">
      <dgm:prSet custT="1"/>
      <dgm:spPr/>
      <dgm:t>
        <a:bodyPr/>
        <a:lstStyle/>
        <a:p>
          <a:pPr algn="l"/>
          <a:r>
            <a:rPr lang="en-US" sz="2600" b="0" i="0" kern="1200" dirty="0">
              <a:solidFill>
                <a:srgbClr val="000000"/>
              </a:solidFill>
              <a:latin typeface="Franklin Gothic Book"/>
              <a:ea typeface="+mn-ea"/>
              <a:cs typeface="+mn-cs"/>
            </a:rPr>
            <a:t>Company</a:t>
          </a:r>
          <a:r>
            <a:rPr lang="en-US" sz="2600" b="1" i="0" kern="1200" dirty="0">
              <a:solidFill>
                <a:srgbClr val="C00000"/>
              </a:solidFill>
            </a:rPr>
            <a:t> </a:t>
          </a:r>
          <a:r>
            <a:rPr lang="en-US" sz="2600" b="0" i="0" kern="1200" dirty="0">
              <a:solidFill>
                <a:srgbClr val="000000"/>
              </a:solidFill>
              <a:latin typeface="Franklin Gothic Book"/>
              <a:ea typeface="+mn-ea"/>
              <a:cs typeface="+mn-cs"/>
            </a:rPr>
            <a:t>objectives</a:t>
          </a:r>
        </a:p>
      </dgm:t>
    </dgm:pt>
    <dgm:pt modelId="{219A2380-6670-4CAE-8775-0BCB45523BE1}" type="parTrans" cxnId="{109AE602-4A53-4218-B0FE-64A799977703}">
      <dgm:prSet/>
      <dgm:spPr/>
      <dgm:t>
        <a:bodyPr/>
        <a:lstStyle/>
        <a:p>
          <a:endParaRPr lang="en-US"/>
        </a:p>
      </dgm:t>
    </dgm:pt>
    <dgm:pt modelId="{A5B44D8E-C06B-4AD6-BBC8-457B5F93CD3D}" type="sibTrans" cxnId="{109AE602-4A53-4218-B0FE-64A799977703}">
      <dgm:prSet/>
      <dgm:spPr/>
      <dgm:t>
        <a:bodyPr/>
        <a:lstStyle/>
        <a:p>
          <a:endParaRPr lang="en-US"/>
        </a:p>
      </dgm:t>
    </dgm:pt>
    <dgm:pt modelId="{EE9EFFE7-B5ED-4C27-A92F-90C5AD3D0AA5}">
      <dgm:prSet/>
      <dgm:spPr/>
      <dgm:t>
        <a:bodyPr/>
        <a:lstStyle/>
        <a:p>
          <a:pPr algn="l"/>
          <a:r>
            <a:rPr lang="en-US" b="0" i="0" dirty="0" err="1">
              <a:solidFill>
                <a:schemeClr val="bg1"/>
              </a:solidFill>
            </a:rPr>
            <a:t>Organisational</a:t>
          </a:r>
          <a:r>
            <a:rPr lang="en-US" b="0" i="0" dirty="0">
              <a:solidFill>
                <a:schemeClr val="bg1"/>
              </a:solidFill>
            </a:rPr>
            <a:t> factors</a:t>
          </a:r>
          <a:endParaRPr lang="en-US" b="0" dirty="0">
            <a:solidFill>
              <a:schemeClr val="bg1"/>
            </a:solidFill>
          </a:endParaRPr>
        </a:p>
      </dgm:t>
    </dgm:pt>
    <dgm:pt modelId="{408083E7-07FE-4D6F-A471-BCC478C25396}" type="parTrans" cxnId="{5AB52A91-8056-4685-8933-7F17B38C1B34}">
      <dgm:prSet/>
      <dgm:spPr/>
      <dgm:t>
        <a:bodyPr/>
        <a:lstStyle/>
        <a:p>
          <a:endParaRPr lang="en-US"/>
        </a:p>
      </dgm:t>
    </dgm:pt>
    <dgm:pt modelId="{C34C71F9-2EAF-4532-9F5B-98EECF23E78C}" type="sibTrans" cxnId="{5AB52A91-8056-4685-8933-7F17B38C1B34}">
      <dgm:prSet/>
      <dgm:spPr/>
      <dgm:t>
        <a:bodyPr/>
        <a:lstStyle/>
        <a:p>
          <a:endParaRPr lang="en-US"/>
        </a:p>
      </dgm:t>
    </dgm:pt>
    <dgm:pt modelId="{8ECFD1C0-9422-423D-B23D-2F01C47FAC2E}">
      <dgm:prSet/>
      <dgm:spPr/>
      <dgm:t>
        <a:bodyPr/>
        <a:lstStyle/>
        <a:p>
          <a:pPr algn="l"/>
          <a:r>
            <a:rPr lang="en-US" b="0" i="0" dirty="0">
              <a:solidFill>
                <a:schemeClr val="bg1"/>
              </a:solidFill>
            </a:rPr>
            <a:t>Marketing mix</a:t>
          </a:r>
          <a:endParaRPr lang="en-US" b="0" dirty="0">
            <a:solidFill>
              <a:schemeClr val="bg1"/>
            </a:solidFill>
          </a:endParaRPr>
        </a:p>
      </dgm:t>
    </dgm:pt>
    <dgm:pt modelId="{22FD9F5B-EE93-4C14-8B56-153DC70007F3}" type="parTrans" cxnId="{146D5A6C-E23B-4911-9D74-C494851C7AC9}">
      <dgm:prSet/>
      <dgm:spPr/>
      <dgm:t>
        <a:bodyPr/>
        <a:lstStyle/>
        <a:p>
          <a:endParaRPr lang="en-US"/>
        </a:p>
      </dgm:t>
    </dgm:pt>
    <dgm:pt modelId="{1443807E-89DC-4427-B63D-1299E5A53697}" type="sibTrans" cxnId="{146D5A6C-E23B-4911-9D74-C494851C7AC9}">
      <dgm:prSet/>
      <dgm:spPr/>
      <dgm:t>
        <a:bodyPr/>
        <a:lstStyle/>
        <a:p>
          <a:endParaRPr lang="en-US"/>
        </a:p>
      </dgm:t>
    </dgm:pt>
    <dgm:pt modelId="{DE381EFC-3DF7-4BFC-BF0A-A3A6F94338AC}">
      <dgm:prSet custT="1"/>
      <dgm:spPr/>
      <dgm:t>
        <a:bodyPr/>
        <a:lstStyle/>
        <a:p>
          <a:pPr algn="l"/>
          <a:r>
            <a:rPr lang="en-US" sz="2600" b="1" i="0" kern="1200" dirty="0">
              <a:solidFill>
                <a:srgbClr val="C00000"/>
              </a:solidFill>
              <a:latin typeface="Franklin Gothic Book"/>
              <a:ea typeface="+mn-ea"/>
              <a:cs typeface="+mn-cs"/>
            </a:rPr>
            <a:t>Product</a:t>
          </a:r>
          <a:r>
            <a:rPr lang="en-US" sz="2600" b="1" i="0" kern="1200" dirty="0">
              <a:solidFill>
                <a:srgbClr val="C00000"/>
              </a:solidFill>
            </a:rPr>
            <a:t> </a:t>
          </a:r>
          <a:r>
            <a:rPr lang="en-US" sz="2600" b="1" i="0" kern="1200" dirty="0">
              <a:solidFill>
                <a:srgbClr val="C00000"/>
              </a:solidFill>
              <a:latin typeface="Franklin Gothic Book"/>
              <a:ea typeface="+mn-ea"/>
              <a:cs typeface="+mn-cs"/>
            </a:rPr>
            <a:t>differentiation</a:t>
          </a:r>
        </a:p>
      </dgm:t>
    </dgm:pt>
    <dgm:pt modelId="{8DD572BE-CFD5-4C3C-9B50-BD79D914D535}" type="parTrans" cxnId="{21043F33-B1BC-4B83-909F-75EA9242B592}">
      <dgm:prSet/>
      <dgm:spPr/>
      <dgm:t>
        <a:bodyPr/>
        <a:lstStyle/>
        <a:p>
          <a:endParaRPr lang="en-US"/>
        </a:p>
      </dgm:t>
    </dgm:pt>
    <dgm:pt modelId="{AD89B1AE-8CD9-47CD-97A4-99D2840ED5B0}" type="sibTrans" cxnId="{21043F33-B1BC-4B83-909F-75EA9242B592}">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23E72680-99D6-462A-8EB7-3B49EFE3C79D}" type="pres">
      <dgm:prSet presAssocID="{270D23D7-AC57-4A0C-B5D0-4CEA7E7357CE}" presName="compNode" presStyleCnt="0"/>
      <dgm:spPr/>
    </dgm:pt>
    <dgm:pt modelId="{90498A2E-752E-4EE2-8507-559B11BE8CF2}" type="pres">
      <dgm:prSet presAssocID="{270D23D7-AC57-4A0C-B5D0-4CEA7E7357CE}" presName="aNode" presStyleLbl="bgShp" presStyleIdx="0" presStyleCnt="1"/>
      <dgm:spPr/>
    </dgm:pt>
    <dgm:pt modelId="{7CE75D4D-5D94-41AD-809E-4FFEC6C180B0}" type="pres">
      <dgm:prSet presAssocID="{270D23D7-AC57-4A0C-B5D0-4CEA7E7357CE}" presName="textNode" presStyleLbl="bgShp" presStyleIdx="0" presStyleCnt="1"/>
      <dgm:spPr/>
    </dgm:pt>
    <dgm:pt modelId="{6AE28314-AFD4-48CF-A180-2C084115B18D}" type="pres">
      <dgm:prSet presAssocID="{270D23D7-AC57-4A0C-B5D0-4CEA7E7357CE}" presName="compChildNode" presStyleCnt="0"/>
      <dgm:spPr/>
    </dgm:pt>
    <dgm:pt modelId="{A2D353CF-C9D8-4E1A-9831-08864D5DD059}" type="pres">
      <dgm:prSet presAssocID="{270D23D7-AC57-4A0C-B5D0-4CEA7E7357CE}" presName="theInnerList" presStyleCnt="0"/>
      <dgm:spPr/>
    </dgm:pt>
    <dgm:pt modelId="{EEB5EDF3-AC6A-404C-948C-770BC7D6ECA3}" type="pres">
      <dgm:prSet presAssocID="{E70E1E94-36AA-46D9-8659-342609631C11}" presName="childNode" presStyleLbl="node1" presStyleIdx="0" presStyleCnt="5">
        <dgm:presLayoutVars>
          <dgm:bulletEnabled val="1"/>
        </dgm:presLayoutVars>
      </dgm:prSet>
      <dgm:spPr/>
    </dgm:pt>
    <dgm:pt modelId="{B30A01D6-3002-472B-B413-4B7EDA6D36FD}" type="pres">
      <dgm:prSet presAssocID="{E70E1E94-36AA-46D9-8659-342609631C11}" presName="aSpace2" presStyleCnt="0"/>
      <dgm:spPr/>
    </dgm:pt>
    <dgm:pt modelId="{302A0843-6FA4-4A1D-88E6-AEDF7F765846}" type="pres">
      <dgm:prSet presAssocID="{7D631123-35FD-4DAA-B379-2A5A68E199C4}" presName="childNode" presStyleLbl="node1" presStyleIdx="1" presStyleCnt="5">
        <dgm:presLayoutVars>
          <dgm:bulletEnabled val="1"/>
        </dgm:presLayoutVars>
      </dgm:prSet>
      <dgm:spPr/>
    </dgm:pt>
    <dgm:pt modelId="{09B14135-66BA-4AC9-B43F-5A9E9D30753B}" type="pres">
      <dgm:prSet presAssocID="{7D631123-35FD-4DAA-B379-2A5A68E199C4}" presName="aSpace2" presStyleCnt="0"/>
      <dgm:spPr/>
    </dgm:pt>
    <dgm:pt modelId="{391B290B-E829-45B8-9189-033E0A12CC04}" type="pres">
      <dgm:prSet presAssocID="{EE9EFFE7-B5ED-4C27-A92F-90C5AD3D0AA5}" presName="childNode" presStyleLbl="node1" presStyleIdx="2" presStyleCnt="5">
        <dgm:presLayoutVars>
          <dgm:bulletEnabled val="1"/>
        </dgm:presLayoutVars>
      </dgm:prSet>
      <dgm:spPr/>
    </dgm:pt>
    <dgm:pt modelId="{C459809F-7736-4BDB-B15E-DF0C3C23DDE0}" type="pres">
      <dgm:prSet presAssocID="{EE9EFFE7-B5ED-4C27-A92F-90C5AD3D0AA5}" presName="aSpace2" presStyleCnt="0"/>
      <dgm:spPr/>
    </dgm:pt>
    <dgm:pt modelId="{C9654758-079A-413D-A93A-FEC3AC199DC5}" type="pres">
      <dgm:prSet presAssocID="{8ECFD1C0-9422-423D-B23D-2F01C47FAC2E}" presName="childNode" presStyleLbl="node1" presStyleIdx="3" presStyleCnt="5">
        <dgm:presLayoutVars>
          <dgm:bulletEnabled val="1"/>
        </dgm:presLayoutVars>
      </dgm:prSet>
      <dgm:spPr/>
    </dgm:pt>
    <dgm:pt modelId="{79E483A3-92C3-4CC1-8AC8-D1788C6A60E0}" type="pres">
      <dgm:prSet presAssocID="{8ECFD1C0-9422-423D-B23D-2F01C47FAC2E}" presName="aSpace2" presStyleCnt="0"/>
      <dgm:spPr/>
    </dgm:pt>
    <dgm:pt modelId="{518E6B64-E58F-4A8B-8B69-31AEEC6B56EF}" type="pres">
      <dgm:prSet presAssocID="{DE381EFC-3DF7-4BFC-BF0A-A3A6F94338AC}" presName="childNode" presStyleLbl="node1" presStyleIdx="4" presStyleCnt="5">
        <dgm:presLayoutVars>
          <dgm:bulletEnabled val="1"/>
        </dgm:presLayoutVars>
      </dgm:prSet>
      <dgm:spPr/>
    </dgm:pt>
  </dgm:ptLst>
  <dgm:cxnLst>
    <dgm:cxn modelId="{109AE602-4A53-4218-B0FE-64A799977703}" srcId="{270D23D7-AC57-4A0C-B5D0-4CEA7E7357CE}" destId="{7D631123-35FD-4DAA-B379-2A5A68E199C4}" srcOrd="1" destOrd="0" parTransId="{219A2380-6670-4CAE-8775-0BCB45523BE1}" sibTransId="{A5B44D8E-C06B-4AD6-BBC8-457B5F93CD3D}"/>
    <dgm:cxn modelId="{9E95DA15-E9E5-4E45-859E-CE88870D409F}" srcId="{E0E7F01B-FE9B-43BC-B32C-1F5FE3ADF48C}" destId="{270D23D7-AC57-4A0C-B5D0-4CEA7E7357CE}" srcOrd="0" destOrd="0" parTransId="{B754A496-EDF6-42BC-B3C6-80E53B8C77DB}" sibTransId="{0FD2836D-A121-462E-A986-BF1AF6024C55}"/>
    <dgm:cxn modelId="{3C134B2A-6B53-48FE-BBEC-874B0381D2FA}" type="presOf" srcId="{DE381EFC-3DF7-4BFC-BF0A-A3A6F94338AC}" destId="{518E6B64-E58F-4A8B-8B69-31AEEC6B56EF}" srcOrd="0" destOrd="0" presId="urn:microsoft.com/office/officeart/2005/8/layout/lProcess2"/>
    <dgm:cxn modelId="{21043F33-B1BC-4B83-909F-75EA9242B592}" srcId="{270D23D7-AC57-4A0C-B5D0-4CEA7E7357CE}" destId="{DE381EFC-3DF7-4BFC-BF0A-A3A6F94338AC}" srcOrd="4" destOrd="0" parTransId="{8DD572BE-CFD5-4C3C-9B50-BD79D914D535}" sibTransId="{AD89B1AE-8CD9-47CD-97A4-99D2840ED5B0}"/>
    <dgm:cxn modelId="{F0D5C33B-8E5E-4BBD-B190-11AC3DB5795B}" type="presOf" srcId="{270D23D7-AC57-4A0C-B5D0-4CEA7E7357CE}" destId="{90498A2E-752E-4EE2-8507-559B11BE8CF2}" srcOrd="0" destOrd="0" presId="urn:microsoft.com/office/officeart/2005/8/layout/lProcess2"/>
    <dgm:cxn modelId="{C4FF0641-1ADD-4E02-A0F2-B062E1454947}" type="presOf" srcId="{7D631123-35FD-4DAA-B379-2A5A68E199C4}" destId="{302A0843-6FA4-4A1D-88E6-AEDF7F765846}" srcOrd="0" destOrd="0" presId="urn:microsoft.com/office/officeart/2005/8/layout/lProcess2"/>
    <dgm:cxn modelId="{A222AB45-F9B9-4553-AEC5-B36F9AA5E975}" type="presOf" srcId="{8ECFD1C0-9422-423D-B23D-2F01C47FAC2E}" destId="{C9654758-079A-413D-A93A-FEC3AC199DC5}" srcOrd="0" destOrd="0" presId="urn:microsoft.com/office/officeart/2005/8/layout/lProcess2"/>
    <dgm:cxn modelId="{146D5A6C-E23B-4911-9D74-C494851C7AC9}" srcId="{270D23D7-AC57-4A0C-B5D0-4CEA7E7357CE}" destId="{8ECFD1C0-9422-423D-B23D-2F01C47FAC2E}" srcOrd="3" destOrd="0" parTransId="{22FD9F5B-EE93-4C14-8B56-153DC70007F3}" sibTransId="{1443807E-89DC-4427-B63D-1299E5A53697}"/>
    <dgm:cxn modelId="{BF554153-29CC-4CCD-82C0-817154B79340}" srcId="{270D23D7-AC57-4A0C-B5D0-4CEA7E7357CE}" destId="{E70E1E94-36AA-46D9-8659-342609631C11}" srcOrd="0" destOrd="0" parTransId="{32C4FEDF-4C60-4EE5-AA5A-3EA957407CA6}" sibTransId="{34E69CAD-9FDA-42BA-BEDA-8C7BEB1D6F87}"/>
    <dgm:cxn modelId="{5AB52A91-8056-4685-8933-7F17B38C1B34}" srcId="{270D23D7-AC57-4A0C-B5D0-4CEA7E7357CE}" destId="{EE9EFFE7-B5ED-4C27-A92F-90C5AD3D0AA5}" srcOrd="2" destOrd="0" parTransId="{408083E7-07FE-4D6F-A471-BCC478C25396}" sibTransId="{C34C71F9-2EAF-4532-9F5B-98EECF23E78C}"/>
    <dgm:cxn modelId="{7849DFAC-4C56-449D-B605-FED742416342}" type="presOf" srcId="{EE9EFFE7-B5ED-4C27-A92F-90C5AD3D0AA5}" destId="{391B290B-E829-45B8-9189-033E0A12CC04}"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6B3C98D6-420E-40B2-AE8A-FF5DDBC47AC1}" type="presOf" srcId="{270D23D7-AC57-4A0C-B5D0-4CEA7E7357CE}" destId="{7CE75D4D-5D94-41AD-809E-4FFEC6C180B0}" srcOrd="1" destOrd="0" presId="urn:microsoft.com/office/officeart/2005/8/layout/lProcess2"/>
    <dgm:cxn modelId="{1C4B5AEC-0547-4ED3-BAE6-B5ADA1BFFC4A}" type="presOf" srcId="{E70E1E94-36AA-46D9-8659-342609631C11}" destId="{EEB5EDF3-AC6A-404C-948C-770BC7D6ECA3}" srcOrd="0" destOrd="0" presId="urn:microsoft.com/office/officeart/2005/8/layout/lProcess2"/>
    <dgm:cxn modelId="{F38B8000-A333-4B96-8CA0-8FB72252EE74}" type="presParOf" srcId="{7CF0A71B-AB2A-4906-ABA4-E2A8C902FFFA}" destId="{23E72680-99D6-462A-8EB7-3B49EFE3C79D}" srcOrd="0" destOrd="0" presId="urn:microsoft.com/office/officeart/2005/8/layout/lProcess2"/>
    <dgm:cxn modelId="{2861147E-E09B-4816-B7C7-382BCE5C9B0C}" type="presParOf" srcId="{23E72680-99D6-462A-8EB7-3B49EFE3C79D}" destId="{90498A2E-752E-4EE2-8507-559B11BE8CF2}" srcOrd="0" destOrd="0" presId="urn:microsoft.com/office/officeart/2005/8/layout/lProcess2"/>
    <dgm:cxn modelId="{E0FE9453-7BD0-435E-BDB5-9EEE89E8F630}" type="presParOf" srcId="{23E72680-99D6-462A-8EB7-3B49EFE3C79D}" destId="{7CE75D4D-5D94-41AD-809E-4FFEC6C180B0}" srcOrd="1" destOrd="0" presId="urn:microsoft.com/office/officeart/2005/8/layout/lProcess2"/>
    <dgm:cxn modelId="{C740434E-C407-4787-86C8-7E20BE49CF93}" type="presParOf" srcId="{23E72680-99D6-462A-8EB7-3B49EFE3C79D}" destId="{6AE28314-AFD4-48CF-A180-2C084115B18D}" srcOrd="2" destOrd="0" presId="urn:microsoft.com/office/officeart/2005/8/layout/lProcess2"/>
    <dgm:cxn modelId="{96D4C2E2-EE4B-4673-AC7B-5AC138441B15}" type="presParOf" srcId="{6AE28314-AFD4-48CF-A180-2C084115B18D}" destId="{A2D353CF-C9D8-4E1A-9831-08864D5DD059}" srcOrd="0" destOrd="0" presId="urn:microsoft.com/office/officeart/2005/8/layout/lProcess2"/>
    <dgm:cxn modelId="{B6D8935B-62DD-400A-B034-2697BDE2C098}" type="presParOf" srcId="{A2D353CF-C9D8-4E1A-9831-08864D5DD059}" destId="{EEB5EDF3-AC6A-404C-948C-770BC7D6ECA3}" srcOrd="0" destOrd="0" presId="urn:microsoft.com/office/officeart/2005/8/layout/lProcess2"/>
    <dgm:cxn modelId="{A3A821C4-4E0F-449B-8FC3-7AE4A8D7861E}" type="presParOf" srcId="{A2D353CF-C9D8-4E1A-9831-08864D5DD059}" destId="{B30A01D6-3002-472B-B413-4B7EDA6D36FD}" srcOrd="1" destOrd="0" presId="urn:microsoft.com/office/officeart/2005/8/layout/lProcess2"/>
    <dgm:cxn modelId="{9BE764D2-D26C-4D1C-90DF-09E9EA29EBC5}" type="presParOf" srcId="{A2D353CF-C9D8-4E1A-9831-08864D5DD059}" destId="{302A0843-6FA4-4A1D-88E6-AEDF7F765846}" srcOrd="2" destOrd="0" presId="urn:microsoft.com/office/officeart/2005/8/layout/lProcess2"/>
    <dgm:cxn modelId="{8B63C60E-A681-4003-86D5-56ED8E0C4C23}" type="presParOf" srcId="{A2D353CF-C9D8-4E1A-9831-08864D5DD059}" destId="{09B14135-66BA-4AC9-B43F-5A9E9D30753B}" srcOrd="3" destOrd="0" presId="urn:microsoft.com/office/officeart/2005/8/layout/lProcess2"/>
    <dgm:cxn modelId="{9B63C46C-D895-4EC0-9912-DAAFBA053779}" type="presParOf" srcId="{A2D353CF-C9D8-4E1A-9831-08864D5DD059}" destId="{391B290B-E829-45B8-9189-033E0A12CC04}" srcOrd="4" destOrd="0" presId="urn:microsoft.com/office/officeart/2005/8/layout/lProcess2"/>
    <dgm:cxn modelId="{A552FF85-9DB0-4302-9D63-7810E5A6E759}" type="presParOf" srcId="{A2D353CF-C9D8-4E1A-9831-08864D5DD059}" destId="{C459809F-7736-4BDB-B15E-DF0C3C23DDE0}" srcOrd="5" destOrd="0" presId="urn:microsoft.com/office/officeart/2005/8/layout/lProcess2"/>
    <dgm:cxn modelId="{762EAE8F-52D1-45CF-BE6F-3155B024D5BD}" type="presParOf" srcId="{A2D353CF-C9D8-4E1A-9831-08864D5DD059}" destId="{C9654758-079A-413D-A93A-FEC3AC199DC5}" srcOrd="6" destOrd="0" presId="urn:microsoft.com/office/officeart/2005/8/layout/lProcess2"/>
    <dgm:cxn modelId="{FAE56538-59A9-4B8C-84BC-0FFBA1F6D228}" type="presParOf" srcId="{A2D353CF-C9D8-4E1A-9831-08864D5DD059}" destId="{79E483A3-92C3-4CC1-8AC8-D1788C6A60E0}" srcOrd="7" destOrd="0" presId="urn:microsoft.com/office/officeart/2005/8/layout/lProcess2"/>
    <dgm:cxn modelId="{F06B5D84-7499-487D-8399-89F80BEAC86F}" type="presParOf" srcId="{A2D353CF-C9D8-4E1A-9831-08864D5DD059}" destId="{518E6B64-E58F-4A8B-8B69-31AEEC6B56EF}"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D858CF4E-7626-45E1-85A8-71AFA6C2C72D}">
      <dgm:prSet phldrT="[Text]"/>
      <dgm:spPr/>
      <dgm:t>
        <a:bodyPr/>
        <a:lstStyle/>
        <a:p>
          <a:pPr algn="l"/>
          <a:r>
            <a:rPr lang="en-US" b="0" i="0" dirty="0">
              <a:solidFill>
                <a:schemeClr val="bg1"/>
              </a:solidFill>
            </a:rPr>
            <a:t>Competition</a:t>
          </a:r>
          <a:endParaRPr lang="en-US" dirty="0">
            <a:solidFill>
              <a:schemeClr val="bg1"/>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0" i="0" dirty="0">
              <a:solidFill>
                <a:schemeClr val="bg1"/>
              </a:solidFill>
            </a:rPr>
            <a:t>Suppliers</a:t>
          </a:r>
          <a:endParaRPr lang="en-US" dirty="0">
            <a:solidFill>
              <a:schemeClr val="bg1"/>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1" i="0" dirty="0">
              <a:solidFill>
                <a:srgbClr val="C00000"/>
              </a:solidFill>
            </a:rPr>
            <a:t>Demand</a:t>
          </a:r>
          <a:endParaRPr lang="en-US" b="1" dirty="0">
            <a:solidFill>
              <a:srgbClr val="C00000"/>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0" i="0" dirty="0">
              <a:solidFill>
                <a:schemeClr val="bg1"/>
              </a:solidFill>
            </a:rPr>
            <a:t>Economic conditions</a:t>
          </a:r>
          <a:endParaRPr lang="en-US" dirty="0">
            <a:solidFill>
              <a:schemeClr val="bg1"/>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0" i="0" dirty="0">
              <a:solidFill>
                <a:schemeClr val="bg1"/>
              </a:solidFill>
            </a:rPr>
            <a:t>Consumers</a:t>
          </a:r>
          <a:endParaRPr lang="en-US" dirty="0">
            <a:solidFill>
              <a:schemeClr val="bg1"/>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0" i="0" dirty="0">
              <a:solidFill>
                <a:schemeClr val="bg1"/>
              </a:solidFill>
            </a:rPr>
            <a:t>Government</a:t>
          </a:r>
          <a:endParaRPr lang="en-US" dirty="0">
            <a:solidFill>
              <a:schemeClr val="bg1"/>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0" presStyleCnt="1" custLinFactNeighborX="11849" custLinFactNeighborY="0"/>
      <dgm:spPr/>
    </dgm:pt>
    <dgm:pt modelId="{2424D66B-86AB-4E8C-A50A-7CB1D7CE3503}" type="pres">
      <dgm:prSet presAssocID="{F0EA1258-50AD-4C93-8F66-F8FCCAEC6E59}" presName="textNode" presStyleLbl="bgShp" presStyleIdx="0" presStyleCnt="1"/>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0" presStyleCnt="6">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1" presStyleCnt="6">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2" presStyleCnt="6">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3" presStyleCnt="6">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4" presStyleCnt="6">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5" presStyleCnt="6">
        <dgm:presLayoutVars>
          <dgm:bulletEnabled val="1"/>
        </dgm:presLayoutVars>
      </dgm:prSet>
      <dgm:spPr/>
    </dgm:pt>
  </dgm:ptLst>
  <dgm:cxnLst>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A6034C33-7641-4191-87F3-4F29F97BA99F}" srcId="{E0E7F01B-FE9B-43BC-B32C-1F5FE3ADF48C}" destId="{F0EA1258-50AD-4C93-8F66-F8FCCAEC6E59}" srcOrd="0" destOrd="0" parTransId="{59D3705D-07C9-4A95-973F-976D1D7DE8A5}" sibTransId="{927491F0-4241-469C-9D61-200D9DC42C28}"/>
    <dgm:cxn modelId="{F9330C5C-2751-4D4A-B390-07FAB4AA39E9}" srcId="{F0EA1258-50AD-4C93-8F66-F8FCCAEC6E59}" destId="{2294FE2B-2EE4-4A88-8ABE-17986A09C605}" srcOrd="5" destOrd="0" parTransId="{302FBDA0-A4D1-456F-AF68-784B53237F92}" sibTransId="{FD8CF578-EAA1-4F75-A52F-A7E25E006406}"/>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84B7AA8D-9BC7-4D57-8DDD-595F6E757144}" type="presOf" srcId="{57D64951-2CF4-4E81-8E4F-E8ED27F46C5D}" destId="{DE61BABE-ADE5-4885-89F7-25FACA60EDB2}"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D6F7EE48-F2CD-4A25-AA88-87ED017A016D}" type="presParOf" srcId="{7CF0A71B-AB2A-4906-ABA4-E2A8C902FFFA}" destId="{6FE5DDF0-B6EE-4BE6-868D-1B47A2597AE3}" srcOrd="0"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D858CF4E-7626-45E1-85A8-71AFA6C2C72D}">
      <dgm:prSet phldrT="[Text]"/>
      <dgm:spPr/>
      <dgm:t>
        <a:bodyPr/>
        <a:lstStyle/>
        <a:p>
          <a:pPr algn="l"/>
          <a:r>
            <a:rPr lang="en-US" b="1" i="0" dirty="0">
              <a:solidFill>
                <a:srgbClr val="C00000"/>
              </a:solidFill>
            </a:rPr>
            <a:t>Competition</a:t>
          </a:r>
          <a:endParaRPr lang="en-US" b="1" dirty="0">
            <a:solidFill>
              <a:srgbClr val="C00000"/>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0" i="0" dirty="0">
              <a:solidFill>
                <a:schemeClr val="bg1"/>
              </a:solidFill>
            </a:rPr>
            <a:t>Suppliers</a:t>
          </a:r>
          <a:endParaRPr lang="en-US" dirty="0">
            <a:solidFill>
              <a:schemeClr val="bg1"/>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0" i="0" dirty="0">
              <a:solidFill>
                <a:schemeClr val="bg1"/>
              </a:solidFill>
            </a:rPr>
            <a:t>Demand</a:t>
          </a:r>
          <a:endParaRPr lang="en-US" dirty="0">
            <a:solidFill>
              <a:schemeClr val="bg1"/>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0" i="0" dirty="0">
              <a:solidFill>
                <a:schemeClr val="bg1"/>
              </a:solidFill>
            </a:rPr>
            <a:t>Economic conditions</a:t>
          </a:r>
          <a:endParaRPr lang="en-US" dirty="0">
            <a:solidFill>
              <a:schemeClr val="bg1"/>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0" i="0" dirty="0">
              <a:solidFill>
                <a:schemeClr val="bg1"/>
              </a:solidFill>
            </a:rPr>
            <a:t>Consumers</a:t>
          </a:r>
          <a:endParaRPr lang="en-US" dirty="0">
            <a:solidFill>
              <a:schemeClr val="bg1"/>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0" i="0" dirty="0">
              <a:solidFill>
                <a:schemeClr val="bg1"/>
              </a:solidFill>
            </a:rPr>
            <a:t>Government</a:t>
          </a:r>
          <a:endParaRPr lang="en-US" dirty="0">
            <a:solidFill>
              <a:schemeClr val="bg1"/>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0" presStyleCnt="1" custLinFactNeighborX="11849" custLinFactNeighborY="0"/>
      <dgm:spPr/>
    </dgm:pt>
    <dgm:pt modelId="{2424D66B-86AB-4E8C-A50A-7CB1D7CE3503}" type="pres">
      <dgm:prSet presAssocID="{F0EA1258-50AD-4C93-8F66-F8FCCAEC6E59}" presName="textNode" presStyleLbl="bgShp" presStyleIdx="0" presStyleCnt="1"/>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0" presStyleCnt="6">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1" presStyleCnt="6">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2" presStyleCnt="6">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3" presStyleCnt="6">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4" presStyleCnt="6">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5" presStyleCnt="6">
        <dgm:presLayoutVars>
          <dgm:bulletEnabled val="1"/>
        </dgm:presLayoutVars>
      </dgm:prSet>
      <dgm:spPr/>
    </dgm:pt>
  </dgm:ptLst>
  <dgm:cxnLst>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A6034C33-7641-4191-87F3-4F29F97BA99F}" srcId="{E0E7F01B-FE9B-43BC-B32C-1F5FE3ADF48C}" destId="{F0EA1258-50AD-4C93-8F66-F8FCCAEC6E59}" srcOrd="0" destOrd="0" parTransId="{59D3705D-07C9-4A95-973F-976D1D7DE8A5}" sibTransId="{927491F0-4241-469C-9D61-200D9DC42C28}"/>
    <dgm:cxn modelId="{F9330C5C-2751-4D4A-B390-07FAB4AA39E9}" srcId="{F0EA1258-50AD-4C93-8F66-F8FCCAEC6E59}" destId="{2294FE2B-2EE4-4A88-8ABE-17986A09C605}" srcOrd="5" destOrd="0" parTransId="{302FBDA0-A4D1-456F-AF68-784B53237F92}" sibTransId="{FD8CF578-EAA1-4F75-A52F-A7E25E006406}"/>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84B7AA8D-9BC7-4D57-8DDD-595F6E757144}" type="presOf" srcId="{57D64951-2CF4-4E81-8E4F-E8ED27F46C5D}" destId="{DE61BABE-ADE5-4885-89F7-25FACA60EDB2}"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D6F7EE48-F2CD-4A25-AA88-87ED017A016D}" type="presParOf" srcId="{7CF0A71B-AB2A-4906-ABA4-E2A8C902FFFA}" destId="{6FE5DDF0-B6EE-4BE6-868D-1B47A2597AE3}" srcOrd="0"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D858CF4E-7626-45E1-85A8-71AFA6C2C72D}">
      <dgm:prSet phldrT="[Text]"/>
      <dgm:spPr/>
      <dgm:t>
        <a:bodyPr/>
        <a:lstStyle/>
        <a:p>
          <a:pPr algn="l"/>
          <a:r>
            <a:rPr lang="en-US" b="0" i="0" dirty="0">
              <a:solidFill>
                <a:schemeClr val="bg1"/>
              </a:solidFill>
            </a:rPr>
            <a:t>Competition</a:t>
          </a:r>
          <a:endParaRPr lang="en-US" b="0" dirty="0">
            <a:solidFill>
              <a:schemeClr val="bg1"/>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1" i="0" dirty="0">
              <a:solidFill>
                <a:srgbClr val="C00000"/>
              </a:solidFill>
            </a:rPr>
            <a:t>Suppliers</a:t>
          </a:r>
          <a:endParaRPr lang="en-US" b="1" dirty="0">
            <a:solidFill>
              <a:srgbClr val="C00000"/>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0" i="0" dirty="0">
              <a:solidFill>
                <a:schemeClr val="bg1"/>
              </a:solidFill>
            </a:rPr>
            <a:t>Demand</a:t>
          </a:r>
          <a:endParaRPr lang="en-US" dirty="0">
            <a:solidFill>
              <a:schemeClr val="bg1"/>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0" i="0" dirty="0">
              <a:solidFill>
                <a:schemeClr val="bg1"/>
              </a:solidFill>
            </a:rPr>
            <a:t>Economic conditions</a:t>
          </a:r>
          <a:endParaRPr lang="en-US" dirty="0">
            <a:solidFill>
              <a:schemeClr val="bg1"/>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0" i="0" dirty="0">
              <a:solidFill>
                <a:schemeClr val="bg1"/>
              </a:solidFill>
            </a:rPr>
            <a:t>Consumers</a:t>
          </a:r>
          <a:endParaRPr lang="en-US" dirty="0">
            <a:solidFill>
              <a:schemeClr val="bg1"/>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0" i="0" dirty="0">
              <a:solidFill>
                <a:schemeClr val="bg1"/>
              </a:solidFill>
            </a:rPr>
            <a:t>Government</a:t>
          </a:r>
          <a:endParaRPr lang="en-US" dirty="0">
            <a:solidFill>
              <a:schemeClr val="bg1"/>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0" presStyleCnt="1" custLinFactNeighborX="11849" custLinFactNeighborY="0"/>
      <dgm:spPr/>
    </dgm:pt>
    <dgm:pt modelId="{2424D66B-86AB-4E8C-A50A-7CB1D7CE3503}" type="pres">
      <dgm:prSet presAssocID="{F0EA1258-50AD-4C93-8F66-F8FCCAEC6E59}" presName="textNode" presStyleLbl="bgShp" presStyleIdx="0" presStyleCnt="1"/>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0" presStyleCnt="6">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1" presStyleCnt="6">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2" presStyleCnt="6">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3" presStyleCnt="6">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4" presStyleCnt="6">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5" presStyleCnt="6">
        <dgm:presLayoutVars>
          <dgm:bulletEnabled val="1"/>
        </dgm:presLayoutVars>
      </dgm:prSet>
      <dgm:spPr/>
    </dgm:pt>
  </dgm:ptLst>
  <dgm:cxnLst>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A6034C33-7641-4191-87F3-4F29F97BA99F}" srcId="{E0E7F01B-FE9B-43BC-B32C-1F5FE3ADF48C}" destId="{F0EA1258-50AD-4C93-8F66-F8FCCAEC6E59}" srcOrd="0" destOrd="0" parTransId="{59D3705D-07C9-4A95-973F-976D1D7DE8A5}" sibTransId="{927491F0-4241-469C-9D61-200D9DC42C28}"/>
    <dgm:cxn modelId="{F9330C5C-2751-4D4A-B390-07FAB4AA39E9}" srcId="{F0EA1258-50AD-4C93-8F66-F8FCCAEC6E59}" destId="{2294FE2B-2EE4-4A88-8ABE-17986A09C605}" srcOrd="5" destOrd="0" parTransId="{302FBDA0-A4D1-456F-AF68-784B53237F92}" sibTransId="{FD8CF578-EAA1-4F75-A52F-A7E25E006406}"/>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84B7AA8D-9BC7-4D57-8DDD-595F6E757144}" type="presOf" srcId="{57D64951-2CF4-4E81-8E4F-E8ED27F46C5D}" destId="{DE61BABE-ADE5-4885-89F7-25FACA60EDB2}"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D6F7EE48-F2CD-4A25-AA88-87ED017A016D}" type="presParOf" srcId="{7CF0A71B-AB2A-4906-ABA4-E2A8C902FFFA}" destId="{6FE5DDF0-B6EE-4BE6-868D-1B47A2597AE3}" srcOrd="0"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D858CF4E-7626-45E1-85A8-71AFA6C2C72D}">
      <dgm:prSet phldrT="[Text]"/>
      <dgm:spPr/>
      <dgm:t>
        <a:bodyPr/>
        <a:lstStyle/>
        <a:p>
          <a:pPr algn="l"/>
          <a:r>
            <a:rPr lang="en-US" b="0" i="0" dirty="0">
              <a:solidFill>
                <a:schemeClr val="bg1"/>
              </a:solidFill>
            </a:rPr>
            <a:t>Competition</a:t>
          </a:r>
          <a:endParaRPr lang="en-US" b="0" dirty="0">
            <a:solidFill>
              <a:schemeClr val="bg1"/>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0" i="0" dirty="0">
              <a:solidFill>
                <a:schemeClr val="bg1"/>
              </a:solidFill>
            </a:rPr>
            <a:t>Suppliers</a:t>
          </a:r>
          <a:endParaRPr lang="en-US" b="0" dirty="0">
            <a:solidFill>
              <a:schemeClr val="bg1"/>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0" i="0" dirty="0">
              <a:solidFill>
                <a:schemeClr val="bg1"/>
              </a:solidFill>
            </a:rPr>
            <a:t>Demand</a:t>
          </a:r>
          <a:endParaRPr lang="en-US" dirty="0">
            <a:solidFill>
              <a:schemeClr val="bg1"/>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1" i="0" dirty="0">
              <a:solidFill>
                <a:srgbClr val="C00000"/>
              </a:solidFill>
            </a:rPr>
            <a:t>Economic conditions</a:t>
          </a:r>
          <a:endParaRPr lang="en-US" b="1" dirty="0">
            <a:solidFill>
              <a:srgbClr val="C00000"/>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0" i="0" dirty="0">
              <a:solidFill>
                <a:schemeClr val="bg1"/>
              </a:solidFill>
            </a:rPr>
            <a:t>Consumers</a:t>
          </a:r>
          <a:endParaRPr lang="en-US" dirty="0">
            <a:solidFill>
              <a:schemeClr val="bg1"/>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0" i="0" dirty="0">
              <a:solidFill>
                <a:schemeClr val="bg1"/>
              </a:solidFill>
            </a:rPr>
            <a:t>Government</a:t>
          </a:r>
          <a:endParaRPr lang="en-US" dirty="0">
            <a:solidFill>
              <a:schemeClr val="bg1"/>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0" presStyleCnt="1" custLinFactNeighborX="11849" custLinFactNeighborY="0"/>
      <dgm:spPr/>
    </dgm:pt>
    <dgm:pt modelId="{2424D66B-86AB-4E8C-A50A-7CB1D7CE3503}" type="pres">
      <dgm:prSet presAssocID="{F0EA1258-50AD-4C93-8F66-F8FCCAEC6E59}" presName="textNode" presStyleLbl="bgShp" presStyleIdx="0" presStyleCnt="1"/>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0" presStyleCnt="6">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1" presStyleCnt="6">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2" presStyleCnt="6">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3" presStyleCnt="6">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4" presStyleCnt="6">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5" presStyleCnt="6">
        <dgm:presLayoutVars>
          <dgm:bulletEnabled val="1"/>
        </dgm:presLayoutVars>
      </dgm:prSet>
      <dgm:spPr/>
    </dgm:pt>
  </dgm:ptLst>
  <dgm:cxnLst>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A6034C33-7641-4191-87F3-4F29F97BA99F}" srcId="{E0E7F01B-FE9B-43BC-B32C-1F5FE3ADF48C}" destId="{F0EA1258-50AD-4C93-8F66-F8FCCAEC6E59}" srcOrd="0" destOrd="0" parTransId="{59D3705D-07C9-4A95-973F-976D1D7DE8A5}" sibTransId="{927491F0-4241-469C-9D61-200D9DC42C28}"/>
    <dgm:cxn modelId="{F9330C5C-2751-4D4A-B390-07FAB4AA39E9}" srcId="{F0EA1258-50AD-4C93-8F66-F8FCCAEC6E59}" destId="{2294FE2B-2EE4-4A88-8ABE-17986A09C605}" srcOrd="5" destOrd="0" parTransId="{302FBDA0-A4D1-456F-AF68-784B53237F92}" sibTransId="{FD8CF578-EAA1-4F75-A52F-A7E25E006406}"/>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84B7AA8D-9BC7-4D57-8DDD-595F6E757144}" type="presOf" srcId="{57D64951-2CF4-4E81-8E4F-E8ED27F46C5D}" destId="{DE61BABE-ADE5-4885-89F7-25FACA60EDB2}"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D6F7EE48-F2CD-4A25-AA88-87ED017A016D}" type="presParOf" srcId="{7CF0A71B-AB2A-4906-ABA4-E2A8C902FFFA}" destId="{6FE5DDF0-B6EE-4BE6-868D-1B47A2597AE3}" srcOrd="0"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D858CF4E-7626-45E1-85A8-71AFA6C2C72D}">
      <dgm:prSet phldrT="[Text]"/>
      <dgm:spPr/>
      <dgm:t>
        <a:bodyPr/>
        <a:lstStyle/>
        <a:p>
          <a:pPr algn="l"/>
          <a:r>
            <a:rPr lang="en-US" b="0" i="0" dirty="0">
              <a:solidFill>
                <a:schemeClr val="bg1"/>
              </a:solidFill>
            </a:rPr>
            <a:t>Competition</a:t>
          </a:r>
          <a:endParaRPr lang="en-US" b="0" dirty="0">
            <a:solidFill>
              <a:schemeClr val="bg1"/>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0" i="0" dirty="0">
              <a:solidFill>
                <a:schemeClr val="bg1"/>
              </a:solidFill>
            </a:rPr>
            <a:t>Suppliers</a:t>
          </a:r>
          <a:endParaRPr lang="en-US" b="0" dirty="0">
            <a:solidFill>
              <a:schemeClr val="bg1"/>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0" i="0" dirty="0">
              <a:solidFill>
                <a:schemeClr val="bg1"/>
              </a:solidFill>
            </a:rPr>
            <a:t>Demand</a:t>
          </a:r>
          <a:endParaRPr lang="en-US" dirty="0">
            <a:solidFill>
              <a:schemeClr val="bg1"/>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1" i="0" dirty="0">
              <a:solidFill>
                <a:srgbClr val="C00000"/>
              </a:solidFill>
            </a:rPr>
            <a:t>Economic conditions</a:t>
          </a:r>
          <a:endParaRPr lang="en-US" b="1" dirty="0">
            <a:solidFill>
              <a:srgbClr val="C00000"/>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0" i="0" dirty="0">
              <a:solidFill>
                <a:schemeClr val="bg1"/>
              </a:solidFill>
            </a:rPr>
            <a:t>Consumers</a:t>
          </a:r>
          <a:endParaRPr lang="en-US" dirty="0">
            <a:solidFill>
              <a:schemeClr val="bg1"/>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0" i="0" dirty="0">
              <a:solidFill>
                <a:schemeClr val="bg1"/>
              </a:solidFill>
            </a:rPr>
            <a:t>Government</a:t>
          </a:r>
          <a:endParaRPr lang="en-US" dirty="0">
            <a:solidFill>
              <a:schemeClr val="bg1"/>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0" presStyleCnt="1" custLinFactNeighborX="11849" custLinFactNeighborY="0"/>
      <dgm:spPr/>
    </dgm:pt>
    <dgm:pt modelId="{2424D66B-86AB-4E8C-A50A-7CB1D7CE3503}" type="pres">
      <dgm:prSet presAssocID="{F0EA1258-50AD-4C93-8F66-F8FCCAEC6E59}" presName="textNode" presStyleLbl="bgShp" presStyleIdx="0" presStyleCnt="1"/>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0" presStyleCnt="6">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1" presStyleCnt="6">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2" presStyleCnt="6">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3" presStyleCnt="6">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4" presStyleCnt="6">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5" presStyleCnt="6">
        <dgm:presLayoutVars>
          <dgm:bulletEnabled val="1"/>
        </dgm:presLayoutVars>
      </dgm:prSet>
      <dgm:spPr/>
    </dgm:pt>
  </dgm:ptLst>
  <dgm:cxnLst>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A6034C33-7641-4191-87F3-4F29F97BA99F}" srcId="{E0E7F01B-FE9B-43BC-B32C-1F5FE3ADF48C}" destId="{F0EA1258-50AD-4C93-8F66-F8FCCAEC6E59}" srcOrd="0" destOrd="0" parTransId="{59D3705D-07C9-4A95-973F-976D1D7DE8A5}" sibTransId="{927491F0-4241-469C-9D61-200D9DC42C28}"/>
    <dgm:cxn modelId="{F9330C5C-2751-4D4A-B390-07FAB4AA39E9}" srcId="{F0EA1258-50AD-4C93-8F66-F8FCCAEC6E59}" destId="{2294FE2B-2EE4-4A88-8ABE-17986A09C605}" srcOrd="5" destOrd="0" parTransId="{302FBDA0-A4D1-456F-AF68-784B53237F92}" sibTransId="{FD8CF578-EAA1-4F75-A52F-A7E25E006406}"/>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84B7AA8D-9BC7-4D57-8DDD-595F6E757144}" type="presOf" srcId="{57D64951-2CF4-4E81-8E4F-E8ED27F46C5D}" destId="{DE61BABE-ADE5-4885-89F7-25FACA60EDB2}"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D6F7EE48-F2CD-4A25-AA88-87ED017A016D}" type="presParOf" srcId="{7CF0A71B-AB2A-4906-ABA4-E2A8C902FFFA}" destId="{6FE5DDF0-B6EE-4BE6-868D-1B47A2597AE3}" srcOrd="0"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D858CF4E-7626-45E1-85A8-71AFA6C2C72D}">
      <dgm:prSet phldrT="[Text]"/>
      <dgm:spPr/>
      <dgm:t>
        <a:bodyPr/>
        <a:lstStyle/>
        <a:p>
          <a:pPr algn="l"/>
          <a:r>
            <a:rPr lang="en-US" b="0" i="0" dirty="0">
              <a:solidFill>
                <a:schemeClr val="bg1"/>
              </a:solidFill>
            </a:rPr>
            <a:t>Competition</a:t>
          </a:r>
          <a:endParaRPr lang="en-US" b="0" dirty="0">
            <a:solidFill>
              <a:schemeClr val="bg1"/>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0" i="0" dirty="0">
              <a:solidFill>
                <a:schemeClr val="bg1"/>
              </a:solidFill>
            </a:rPr>
            <a:t>Suppliers</a:t>
          </a:r>
          <a:endParaRPr lang="en-US" b="0" dirty="0">
            <a:solidFill>
              <a:schemeClr val="bg1"/>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0" i="0" dirty="0">
              <a:solidFill>
                <a:schemeClr val="bg1"/>
              </a:solidFill>
            </a:rPr>
            <a:t>Demand</a:t>
          </a:r>
          <a:endParaRPr lang="en-US" dirty="0">
            <a:solidFill>
              <a:schemeClr val="bg1"/>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0" i="0" dirty="0">
              <a:solidFill>
                <a:schemeClr val="bg1"/>
              </a:solidFill>
            </a:rPr>
            <a:t>Economic conditions</a:t>
          </a:r>
          <a:endParaRPr lang="en-US" b="0" dirty="0">
            <a:solidFill>
              <a:schemeClr val="bg1"/>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1" i="0" dirty="0">
              <a:solidFill>
                <a:srgbClr val="C00000"/>
              </a:solidFill>
            </a:rPr>
            <a:t>Consumers</a:t>
          </a:r>
          <a:endParaRPr lang="en-US" b="1" dirty="0">
            <a:solidFill>
              <a:srgbClr val="C00000"/>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0" i="0" dirty="0">
              <a:solidFill>
                <a:schemeClr val="bg1"/>
              </a:solidFill>
            </a:rPr>
            <a:t>Government</a:t>
          </a:r>
          <a:endParaRPr lang="en-US" dirty="0">
            <a:solidFill>
              <a:schemeClr val="bg1"/>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0" presStyleCnt="1" custLinFactNeighborX="11849" custLinFactNeighborY="0"/>
      <dgm:spPr/>
    </dgm:pt>
    <dgm:pt modelId="{2424D66B-86AB-4E8C-A50A-7CB1D7CE3503}" type="pres">
      <dgm:prSet presAssocID="{F0EA1258-50AD-4C93-8F66-F8FCCAEC6E59}" presName="textNode" presStyleLbl="bgShp" presStyleIdx="0" presStyleCnt="1"/>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0" presStyleCnt="6">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1" presStyleCnt="6">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2" presStyleCnt="6">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3" presStyleCnt="6">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4" presStyleCnt="6">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5" presStyleCnt="6">
        <dgm:presLayoutVars>
          <dgm:bulletEnabled val="1"/>
        </dgm:presLayoutVars>
      </dgm:prSet>
      <dgm:spPr/>
    </dgm:pt>
  </dgm:ptLst>
  <dgm:cxnLst>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A6034C33-7641-4191-87F3-4F29F97BA99F}" srcId="{E0E7F01B-FE9B-43BC-B32C-1F5FE3ADF48C}" destId="{F0EA1258-50AD-4C93-8F66-F8FCCAEC6E59}" srcOrd="0" destOrd="0" parTransId="{59D3705D-07C9-4A95-973F-976D1D7DE8A5}" sibTransId="{927491F0-4241-469C-9D61-200D9DC42C28}"/>
    <dgm:cxn modelId="{F9330C5C-2751-4D4A-B390-07FAB4AA39E9}" srcId="{F0EA1258-50AD-4C93-8F66-F8FCCAEC6E59}" destId="{2294FE2B-2EE4-4A88-8ABE-17986A09C605}" srcOrd="5" destOrd="0" parTransId="{302FBDA0-A4D1-456F-AF68-784B53237F92}" sibTransId="{FD8CF578-EAA1-4F75-A52F-A7E25E006406}"/>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84B7AA8D-9BC7-4D57-8DDD-595F6E757144}" type="presOf" srcId="{57D64951-2CF4-4E81-8E4F-E8ED27F46C5D}" destId="{DE61BABE-ADE5-4885-89F7-25FACA60EDB2}"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D6F7EE48-F2CD-4A25-AA88-87ED017A016D}" type="presParOf" srcId="{7CF0A71B-AB2A-4906-ABA4-E2A8C902FFFA}" destId="{6FE5DDF0-B6EE-4BE6-868D-1B47A2597AE3}" srcOrd="0"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0E7F01B-FE9B-43BC-B32C-1F5FE3ADF48C}" type="doc">
      <dgm:prSet loTypeId="urn:microsoft.com/office/officeart/2005/8/layout/lProcess2" loCatId="list" qsTypeId="urn:microsoft.com/office/officeart/2005/8/quickstyle/simple2" qsCatId="simple" csTypeId="urn:microsoft.com/office/officeart/2005/8/colors/colorful2" csCatId="colorful" phldr="1"/>
      <dgm:spPr/>
      <dgm:t>
        <a:bodyPr/>
        <a:lstStyle/>
        <a:p>
          <a:endParaRPr lang="en-US"/>
        </a:p>
      </dgm:t>
    </dgm:pt>
    <dgm:pt modelId="{F0EA1258-50AD-4C93-8F66-F8FCCAEC6E59}">
      <dgm:prSet phldrT="[Text]" custT="1"/>
      <dgm:spPr/>
      <dgm:t>
        <a:bodyPr/>
        <a:lstStyle/>
        <a:p>
          <a:r>
            <a:rPr lang="en-US" sz="3600" b="1" i="0" dirty="0">
              <a:solidFill>
                <a:schemeClr val="accent3">
                  <a:lumMod val="50000"/>
                </a:schemeClr>
              </a:solidFill>
            </a:rPr>
            <a:t>EXTERNAL FACTORS</a:t>
          </a:r>
          <a:endParaRPr lang="en-US" sz="3600" b="1" dirty="0">
            <a:solidFill>
              <a:schemeClr val="accent3">
                <a:lumMod val="50000"/>
              </a:schemeClr>
            </a:solidFill>
          </a:endParaRPr>
        </a:p>
      </dgm:t>
    </dgm:pt>
    <dgm:pt modelId="{59D3705D-07C9-4A95-973F-976D1D7DE8A5}" type="parTrans" cxnId="{A6034C33-7641-4191-87F3-4F29F97BA99F}">
      <dgm:prSet/>
      <dgm:spPr/>
      <dgm:t>
        <a:bodyPr/>
        <a:lstStyle/>
        <a:p>
          <a:endParaRPr lang="en-US"/>
        </a:p>
      </dgm:t>
    </dgm:pt>
    <dgm:pt modelId="{927491F0-4241-469C-9D61-200D9DC42C28}" type="sibTrans" cxnId="{A6034C33-7641-4191-87F3-4F29F97BA99F}">
      <dgm:prSet/>
      <dgm:spPr/>
      <dgm:t>
        <a:bodyPr/>
        <a:lstStyle/>
        <a:p>
          <a:endParaRPr lang="en-US"/>
        </a:p>
      </dgm:t>
    </dgm:pt>
    <dgm:pt modelId="{D858CF4E-7626-45E1-85A8-71AFA6C2C72D}">
      <dgm:prSet phldrT="[Text]"/>
      <dgm:spPr/>
      <dgm:t>
        <a:bodyPr/>
        <a:lstStyle/>
        <a:p>
          <a:pPr algn="l"/>
          <a:r>
            <a:rPr lang="en-US" b="0" i="0" dirty="0">
              <a:solidFill>
                <a:schemeClr val="bg1"/>
              </a:solidFill>
            </a:rPr>
            <a:t>Competition</a:t>
          </a:r>
          <a:endParaRPr lang="en-US" b="0" dirty="0">
            <a:solidFill>
              <a:schemeClr val="bg1"/>
            </a:solidFill>
          </a:endParaRPr>
        </a:p>
      </dgm:t>
    </dgm:pt>
    <dgm:pt modelId="{4B1772BE-0808-4E1B-842E-18DE98E652E7}" type="parTrans" cxnId="{9E188D67-979A-474B-A6CA-A2D1E4F55DB3}">
      <dgm:prSet/>
      <dgm:spPr/>
      <dgm:t>
        <a:bodyPr/>
        <a:lstStyle/>
        <a:p>
          <a:endParaRPr lang="en-US"/>
        </a:p>
      </dgm:t>
    </dgm:pt>
    <dgm:pt modelId="{A7035D96-3C72-4917-B9FC-5687C94D1098}" type="sibTrans" cxnId="{9E188D67-979A-474B-A6CA-A2D1E4F55DB3}">
      <dgm:prSet/>
      <dgm:spPr/>
      <dgm:t>
        <a:bodyPr/>
        <a:lstStyle/>
        <a:p>
          <a:endParaRPr lang="en-US"/>
        </a:p>
      </dgm:t>
    </dgm:pt>
    <dgm:pt modelId="{4F743741-7C9F-4A9A-9B2C-6E65A5C36EE0}">
      <dgm:prSet phldrT="[Text]"/>
      <dgm:spPr/>
      <dgm:t>
        <a:bodyPr/>
        <a:lstStyle/>
        <a:p>
          <a:pPr algn="l"/>
          <a:r>
            <a:rPr lang="en-US" b="0" i="0" dirty="0">
              <a:solidFill>
                <a:schemeClr val="bg1"/>
              </a:solidFill>
            </a:rPr>
            <a:t>Suppliers</a:t>
          </a:r>
          <a:endParaRPr lang="en-US" b="0" dirty="0">
            <a:solidFill>
              <a:schemeClr val="bg1"/>
            </a:solidFill>
          </a:endParaRPr>
        </a:p>
      </dgm:t>
    </dgm:pt>
    <dgm:pt modelId="{05DBDF10-B5C3-4EA2-AF16-F09493572CEC}" type="parTrans" cxnId="{16BD67FA-86E9-4BB1-9F56-1A41BAE46E36}">
      <dgm:prSet/>
      <dgm:spPr/>
      <dgm:t>
        <a:bodyPr/>
        <a:lstStyle/>
        <a:p>
          <a:endParaRPr lang="en-US"/>
        </a:p>
      </dgm:t>
    </dgm:pt>
    <dgm:pt modelId="{60A29FCD-FB6C-4587-9CE4-02CAB01B5A97}" type="sibTrans" cxnId="{16BD67FA-86E9-4BB1-9F56-1A41BAE46E36}">
      <dgm:prSet/>
      <dgm:spPr/>
      <dgm:t>
        <a:bodyPr/>
        <a:lstStyle/>
        <a:p>
          <a:endParaRPr lang="en-US"/>
        </a:p>
      </dgm:t>
    </dgm:pt>
    <dgm:pt modelId="{141F7929-2DA1-4037-9C0A-2390CD6C61E5}">
      <dgm:prSet phldrT="[Text]"/>
      <dgm:spPr/>
      <dgm:t>
        <a:bodyPr/>
        <a:lstStyle/>
        <a:p>
          <a:pPr algn="l"/>
          <a:r>
            <a:rPr lang="en-US" b="0" i="0" dirty="0">
              <a:solidFill>
                <a:schemeClr val="bg1"/>
              </a:solidFill>
            </a:rPr>
            <a:t>Demand</a:t>
          </a:r>
          <a:endParaRPr lang="en-US" dirty="0">
            <a:solidFill>
              <a:schemeClr val="bg1"/>
            </a:solidFill>
          </a:endParaRPr>
        </a:p>
      </dgm:t>
    </dgm:pt>
    <dgm:pt modelId="{48613EB1-4E43-4CC7-9CBA-B8F5AC60528F}" type="parTrans" cxnId="{B0EFD5FE-22B8-4333-A6FA-E8D5E90A42B7}">
      <dgm:prSet/>
      <dgm:spPr/>
      <dgm:t>
        <a:bodyPr/>
        <a:lstStyle/>
        <a:p>
          <a:endParaRPr lang="en-US"/>
        </a:p>
      </dgm:t>
    </dgm:pt>
    <dgm:pt modelId="{7A59FF46-75D6-406E-B5F8-EF22DDA3038E}" type="sibTrans" cxnId="{B0EFD5FE-22B8-4333-A6FA-E8D5E90A42B7}">
      <dgm:prSet/>
      <dgm:spPr/>
      <dgm:t>
        <a:bodyPr/>
        <a:lstStyle/>
        <a:p>
          <a:endParaRPr lang="en-US"/>
        </a:p>
      </dgm:t>
    </dgm:pt>
    <dgm:pt modelId="{57D64951-2CF4-4E81-8E4F-E8ED27F46C5D}">
      <dgm:prSet phldrT="[Text]"/>
      <dgm:spPr/>
      <dgm:t>
        <a:bodyPr/>
        <a:lstStyle/>
        <a:p>
          <a:pPr algn="l"/>
          <a:r>
            <a:rPr lang="en-US" b="0" i="0" dirty="0">
              <a:solidFill>
                <a:schemeClr val="bg1"/>
              </a:solidFill>
            </a:rPr>
            <a:t>Economic conditions</a:t>
          </a:r>
          <a:endParaRPr lang="en-US" b="0" dirty="0">
            <a:solidFill>
              <a:schemeClr val="bg1"/>
            </a:solidFill>
          </a:endParaRPr>
        </a:p>
      </dgm:t>
    </dgm:pt>
    <dgm:pt modelId="{7C9FA3AB-72E2-4745-87BA-FAF3EE91FDED}" type="parTrans" cxnId="{9A84E3FB-CB54-461D-9043-88D9C4FD10B4}">
      <dgm:prSet/>
      <dgm:spPr/>
      <dgm:t>
        <a:bodyPr/>
        <a:lstStyle/>
        <a:p>
          <a:endParaRPr lang="en-US"/>
        </a:p>
      </dgm:t>
    </dgm:pt>
    <dgm:pt modelId="{30157E6F-4E34-4809-A086-06BCD46B6444}" type="sibTrans" cxnId="{9A84E3FB-CB54-461D-9043-88D9C4FD10B4}">
      <dgm:prSet/>
      <dgm:spPr/>
      <dgm:t>
        <a:bodyPr/>
        <a:lstStyle/>
        <a:p>
          <a:endParaRPr lang="en-US"/>
        </a:p>
      </dgm:t>
    </dgm:pt>
    <dgm:pt modelId="{066783C2-3EE9-4BE2-83B8-81F78995A87E}">
      <dgm:prSet phldrT="[Text]"/>
      <dgm:spPr/>
      <dgm:t>
        <a:bodyPr/>
        <a:lstStyle/>
        <a:p>
          <a:pPr algn="l"/>
          <a:r>
            <a:rPr lang="en-US" b="0" i="0" dirty="0">
              <a:solidFill>
                <a:schemeClr val="bg1"/>
              </a:solidFill>
            </a:rPr>
            <a:t>Consumers</a:t>
          </a:r>
          <a:endParaRPr lang="en-US" b="0" dirty="0">
            <a:solidFill>
              <a:schemeClr val="bg1"/>
            </a:solidFill>
          </a:endParaRPr>
        </a:p>
      </dgm:t>
    </dgm:pt>
    <dgm:pt modelId="{9EA52E0E-B241-4037-988D-1C366CBFEE9F}" type="parTrans" cxnId="{4BDD106A-66AE-4F7B-B15B-8AD4EF6626A5}">
      <dgm:prSet/>
      <dgm:spPr/>
      <dgm:t>
        <a:bodyPr/>
        <a:lstStyle/>
        <a:p>
          <a:endParaRPr lang="en-US"/>
        </a:p>
      </dgm:t>
    </dgm:pt>
    <dgm:pt modelId="{42D14122-EABB-4D1B-A69D-4F4C35959AF6}" type="sibTrans" cxnId="{4BDD106A-66AE-4F7B-B15B-8AD4EF6626A5}">
      <dgm:prSet/>
      <dgm:spPr/>
      <dgm:t>
        <a:bodyPr/>
        <a:lstStyle/>
        <a:p>
          <a:endParaRPr lang="en-US"/>
        </a:p>
      </dgm:t>
    </dgm:pt>
    <dgm:pt modelId="{2294FE2B-2EE4-4A88-8ABE-17986A09C605}">
      <dgm:prSet phldrT="[Text]"/>
      <dgm:spPr/>
      <dgm:t>
        <a:bodyPr/>
        <a:lstStyle/>
        <a:p>
          <a:pPr algn="l"/>
          <a:r>
            <a:rPr lang="en-US" b="1" i="0" dirty="0">
              <a:solidFill>
                <a:srgbClr val="C00000"/>
              </a:solidFill>
            </a:rPr>
            <a:t>Government</a:t>
          </a:r>
          <a:endParaRPr lang="en-US" b="1" dirty="0">
            <a:solidFill>
              <a:srgbClr val="C00000"/>
            </a:solidFill>
          </a:endParaRPr>
        </a:p>
      </dgm:t>
    </dgm:pt>
    <dgm:pt modelId="{302FBDA0-A4D1-456F-AF68-784B53237F92}" type="parTrans" cxnId="{F9330C5C-2751-4D4A-B390-07FAB4AA39E9}">
      <dgm:prSet/>
      <dgm:spPr/>
      <dgm:t>
        <a:bodyPr/>
        <a:lstStyle/>
        <a:p>
          <a:endParaRPr lang="en-US"/>
        </a:p>
      </dgm:t>
    </dgm:pt>
    <dgm:pt modelId="{FD8CF578-EAA1-4F75-A52F-A7E25E006406}" type="sibTrans" cxnId="{F9330C5C-2751-4D4A-B390-07FAB4AA39E9}">
      <dgm:prSet/>
      <dgm:spPr/>
      <dgm:t>
        <a:bodyPr/>
        <a:lstStyle/>
        <a:p>
          <a:endParaRPr lang="en-US"/>
        </a:p>
      </dgm:t>
    </dgm:pt>
    <dgm:pt modelId="{7CF0A71B-AB2A-4906-ABA4-E2A8C902FFFA}" type="pres">
      <dgm:prSet presAssocID="{E0E7F01B-FE9B-43BC-B32C-1F5FE3ADF48C}" presName="theList" presStyleCnt="0">
        <dgm:presLayoutVars>
          <dgm:dir/>
          <dgm:animLvl val="lvl"/>
          <dgm:resizeHandles val="exact"/>
        </dgm:presLayoutVars>
      </dgm:prSet>
      <dgm:spPr/>
    </dgm:pt>
    <dgm:pt modelId="{6FE5DDF0-B6EE-4BE6-868D-1B47A2597AE3}" type="pres">
      <dgm:prSet presAssocID="{F0EA1258-50AD-4C93-8F66-F8FCCAEC6E59}" presName="compNode" presStyleCnt="0"/>
      <dgm:spPr/>
    </dgm:pt>
    <dgm:pt modelId="{4D1A656B-A05C-4F44-8FF1-4E26D83D2740}" type="pres">
      <dgm:prSet presAssocID="{F0EA1258-50AD-4C93-8F66-F8FCCAEC6E59}" presName="aNode" presStyleLbl="bgShp" presStyleIdx="0" presStyleCnt="1" custLinFactNeighborX="11849" custLinFactNeighborY="0"/>
      <dgm:spPr/>
    </dgm:pt>
    <dgm:pt modelId="{2424D66B-86AB-4E8C-A50A-7CB1D7CE3503}" type="pres">
      <dgm:prSet presAssocID="{F0EA1258-50AD-4C93-8F66-F8FCCAEC6E59}" presName="textNode" presStyleLbl="bgShp" presStyleIdx="0" presStyleCnt="1"/>
      <dgm:spPr/>
    </dgm:pt>
    <dgm:pt modelId="{E851D3E6-31AC-4F86-8159-7A52352EBEF7}" type="pres">
      <dgm:prSet presAssocID="{F0EA1258-50AD-4C93-8F66-F8FCCAEC6E59}" presName="compChildNode" presStyleCnt="0"/>
      <dgm:spPr/>
    </dgm:pt>
    <dgm:pt modelId="{89123F18-34BD-4700-B40D-FBE70AA968EE}" type="pres">
      <dgm:prSet presAssocID="{F0EA1258-50AD-4C93-8F66-F8FCCAEC6E59}" presName="theInnerList" presStyleCnt="0"/>
      <dgm:spPr/>
    </dgm:pt>
    <dgm:pt modelId="{9221D3F4-DEB0-4092-ACE9-4B96E52D90DE}" type="pres">
      <dgm:prSet presAssocID="{141F7929-2DA1-4037-9C0A-2390CD6C61E5}" presName="childNode" presStyleLbl="node1" presStyleIdx="0" presStyleCnt="6">
        <dgm:presLayoutVars>
          <dgm:bulletEnabled val="1"/>
        </dgm:presLayoutVars>
      </dgm:prSet>
      <dgm:spPr/>
    </dgm:pt>
    <dgm:pt modelId="{0ED0121E-46D7-403A-AE54-9781201EBE70}" type="pres">
      <dgm:prSet presAssocID="{141F7929-2DA1-4037-9C0A-2390CD6C61E5}" presName="aSpace2" presStyleCnt="0"/>
      <dgm:spPr/>
    </dgm:pt>
    <dgm:pt modelId="{96DD649F-B07C-4DFD-9BC9-920A10363FBD}" type="pres">
      <dgm:prSet presAssocID="{D858CF4E-7626-45E1-85A8-71AFA6C2C72D}" presName="childNode" presStyleLbl="node1" presStyleIdx="1" presStyleCnt="6">
        <dgm:presLayoutVars>
          <dgm:bulletEnabled val="1"/>
        </dgm:presLayoutVars>
      </dgm:prSet>
      <dgm:spPr/>
    </dgm:pt>
    <dgm:pt modelId="{F6402DD9-268D-4FDD-9C9F-6CED10F4D357}" type="pres">
      <dgm:prSet presAssocID="{D858CF4E-7626-45E1-85A8-71AFA6C2C72D}" presName="aSpace2" presStyleCnt="0"/>
      <dgm:spPr/>
    </dgm:pt>
    <dgm:pt modelId="{D714470B-1E1D-4914-8A22-48C1F2C0BCD9}" type="pres">
      <dgm:prSet presAssocID="{4F743741-7C9F-4A9A-9B2C-6E65A5C36EE0}" presName="childNode" presStyleLbl="node1" presStyleIdx="2" presStyleCnt="6">
        <dgm:presLayoutVars>
          <dgm:bulletEnabled val="1"/>
        </dgm:presLayoutVars>
      </dgm:prSet>
      <dgm:spPr/>
    </dgm:pt>
    <dgm:pt modelId="{F2395C5C-9A92-4461-9BC2-537AA8971B52}" type="pres">
      <dgm:prSet presAssocID="{4F743741-7C9F-4A9A-9B2C-6E65A5C36EE0}" presName="aSpace2" presStyleCnt="0"/>
      <dgm:spPr/>
    </dgm:pt>
    <dgm:pt modelId="{DE61BABE-ADE5-4885-89F7-25FACA60EDB2}" type="pres">
      <dgm:prSet presAssocID="{57D64951-2CF4-4E81-8E4F-E8ED27F46C5D}" presName="childNode" presStyleLbl="node1" presStyleIdx="3" presStyleCnt="6">
        <dgm:presLayoutVars>
          <dgm:bulletEnabled val="1"/>
        </dgm:presLayoutVars>
      </dgm:prSet>
      <dgm:spPr/>
    </dgm:pt>
    <dgm:pt modelId="{D2FF9683-F9B6-4809-8D67-BCE3AA7DDE50}" type="pres">
      <dgm:prSet presAssocID="{57D64951-2CF4-4E81-8E4F-E8ED27F46C5D}" presName="aSpace2" presStyleCnt="0"/>
      <dgm:spPr/>
    </dgm:pt>
    <dgm:pt modelId="{8A9DBCD0-F49A-465C-8DD2-99606190AE9A}" type="pres">
      <dgm:prSet presAssocID="{066783C2-3EE9-4BE2-83B8-81F78995A87E}" presName="childNode" presStyleLbl="node1" presStyleIdx="4" presStyleCnt="6">
        <dgm:presLayoutVars>
          <dgm:bulletEnabled val="1"/>
        </dgm:presLayoutVars>
      </dgm:prSet>
      <dgm:spPr/>
    </dgm:pt>
    <dgm:pt modelId="{95248533-9FD3-409A-9DA0-661FF9769B0A}" type="pres">
      <dgm:prSet presAssocID="{066783C2-3EE9-4BE2-83B8-81F78995A87E}" presName="aSpace2" presStyleCnt="0"/>
      <dgm:spPr/>
    </dgm:pt>
    <dgm:pt modelId="{BA841D14-48F1-45FB-B3B3-C29B78A625E3}" type="pres">
      <dgm:prSet presAssocID="{2294FE2B-2EE4-4A88-8ABE-17986A09C605}" presName="childNode" presStyleLbl="node1" presStyleIdx="5" presStyleCnt="6">
        <dgm:presLayoutVars>
          <dgm:bulletEnabled val="1"/>
        </dgm:presLayoutVars>
      </dgm:prSet>
      <dgm:spPr/>
    </dgm:pt>
  </dgm:ptLst>
  <dgm:cxnLst>
    <dgm:cxn modelId="{0CC8F70B-D1D3-4611-A379-E5DEAC47B274}" type="presOf" srcId="{D858CF4E-7626-45E1-85A8-71AFA6C2C72D}" destId="{96DD649F-B07C-4DFD-9BC9-920A10363FBD}" srcOrd="0" destOrd="0" presId="urn:microsoft.com/office/officeart/2005/8/layout/lProcess2"/>
    <dgm:cxn modelId="{6548020C-DAC9-45CA-BD93-CA73A4E19619}" type="presOf" srcId="{4F743741-7C9F-4A9A-9B2C-6E65A5C36EE0}" destId="{D714470B-1E1D-4914-8A22-48C1F2C0BCD9}" srcOrd="0" destOrd="0" presId="urn:microsoft.com/office/officeart/2005/8/layout/lProcess2"/>
    <dgm:cxn modelId="{C249AF2E-57F3-416B-AA4C-08CDD889B01B}" type="presOf" srcId="{F0EA1258-50AD-4C93-8F66-F8FCCAEC6E59}" destId="{2424D66B-86AB-4E8C-A50A-7CB1D7CE3503}" srcOrd="1" destOrd="0" presId="urn:microsoft.com/office/officeart/2005/8/layout/lProcess2"/>
    <dgm:cxn modelId="{A6034C33-7641-4191-87F3-4F29F97BA99F}" srcId="{E0E7F01B-FE9B-43BC-B32C-1F5FE3ADF48C}" destId="{F0EA1258-50AD-4C93-8F66-F8FCCAEC6E59}" srcOrd="0" destOrd="0" parTransId="{59D3705D-07C9-4A95-973F-976D1D7DE8A5}" sibTransId="{927491F0-4241-469C-9D61-200D9DC42C28}"/>
    <dgm:cxn modelId="{F9330C5C-2751-4D4A-B390-07FAB4AA39E9}" srcId="{F0EA1258-50AD-4C93-8F66-F8FCCAEC6E59}" destId="{2294FE2B-2EE4-4A88-8ABE-17986A09C605}" srcOrd="5" destOrd="0" parTransId="{302FBDA0-A4D1-456F-AF68-784B53237F92}" sibTransId="{FD8CF578-EAA1-4F75-A52F-A7E25E006406}"/>
    <dgm:cxn modelId="{9E188D67-979A-474B-A6CA-A2D1E4F55DB3}" srcId="{F0EA1258-50AD-4C93-8F66-F8FCCAEC6E59}" destId="{D858CF4E-7626-45E1-85A8-71AFA6C2C72D}" srcOrd="1" destOrd="0" parTransId="{4B1772BE-0808-4E1B-842E-18DE98E652E7}" sibTransId="{A7035D96-3C72-4917-B9FC-5687C94D1098}"/>
    <dgm:cxn modelId="{8C4DC849-CD4A-425B-9BF0-95D91D005938}" type="presOf" srcId="{F0EA1258-50AD-4C93-8F66-F8FCCAEC6E59}" destId="{4D1A656B-A05C-4F44-8FF1-4E26D83D2740}" srcOrd="0" destOrd="0" presId="urn:microsoft.com/office/officeart/2005/8/layout/lProcess2"/>
    <dgm:cxn modelId="{4BDD106A-66AE-4F7B-B15B-8AD4EF6626A5}" srcId="{F0EA1258-50AD-4C93-8F66-F8FCCAEC6E59}" destId="{066783C2-3EE9-4BE2-83B8-81F78995A87E}" srcOrd="4" destOrd="0" parTransId="{9EA52E0E-B241-4037-988D-1C366CBFEE9F}" sibTransId="{42D14122-EABB-4D1B-A69D-4F4C35959AF6}"/>
    <dgm:cxn modelId="{84B7AA8D-9BC7-4D57-8DDD-595F6E757144}" type="presOf" srcId="{57D64951-2CF4-4E81-8E4F-E8ED27F46C5D}" destId="{DE61BABE-ADE5-4885-89F7-25FACA60EDB2}" srcOrd="0" destOrd="0" presId="urn:microsoft.com/office/officeart/2005/8/layout/lProcess2"/>
    <dgm:cxn modelId="{D72A65AE-21E9-4CBB-83C2-AB826B0E9E46}" type="presOf" srcId="{E0E7F01B-FE9B-43BC-B32C-1F5FE3ADF48C}" destId="{7CF0A71B-AB2A-4906-ABA4-E2A8C902FFFA}" srcOrd="0" destOrd="0" presId="urn:microsoft.com/office/officeart/2005/8/layout/lProcess2"/>
    <dgm:cxn modelId="{A649BFBA-4F8F-416D-866E-65DBBA5B898C}" type="presOf" srcId="{066783C2-3EE9-4BE2-83B8-81F78995A87E}" destId="{8A9DBCD0-F49A-465C-8DD2-99606190AE9A}" srcOrd="0" destOrd="0" presId="urn:microsoft.com/office/officeart/2005/8/layout/lProcess2"/>
    <dgm:cxn modelId="{9E54B2C4-D86D-4683-96CA-E6626C70719B}" type="presOf" srcId="{141F7929-2DA1-4037-9C0A-2390CD6C61E5}" destId="{9221D3F4-DEB0-4092-ACE9-4B96E52D90DE}" srcOrd="0" destOrd="0" presId="urn:microsoft.com/office/officeart/2005/8/layout/lProcess2"/>
    <dgm:cxn modelId="{16BD67FA-86E9-4BB1-9F56-1A41BAE46E36}" srcId="{F0EA1258-50AD-4C93-8F66-F8FCCAEC6E59}" destId="{4F743741-7C9F-4A9A-9B2C-6E65A5C36EE0}" srcOrd="2" destOrd="0" parTransId="{05DBDF10-B5C3-4EA2-AF16-F09493572CEC}" sibTransId="{60A29FCD-FB6C-4587-9CE4-02CAB01B5A97}"/>
    <dgm:cxn modelId="{9A84E3FB-CB54-461D-9043-88D9C4FD10B4}" srcId="{F0EA1258-50AD-4C93-8F66-F8FCCAEC6E59}" destId="{57D64951-2CF4-4E81-8E4F-E8ED27F46C5D}" srcOrd="3" destOrd="0" parTransId="{7C9FA3AB-72E2-4745-87BA-FAF3EE91FDED}" sibTransId="{30157E6F-4E34-4809-A086-06BCD46B6444}"/>
    <dgm:cxn modelId="{F6AA83FD-BC17-4314-9FDB-5A42F496A557}" type="presOf" srcId="{2294FE2B-2EE4-4A88-8ABE-17986A09C605}" destId="{BA841D14-48F1-45FB-B3B3-C29B78A625E3}" srcOrd="0" destOrd="0" presId="urn:microsoft.com/office/officeart/2005/8/layout/lProcess2"/>
    <dgm:cxn modelId="{B0EFD5FE-22B8-4333-A6FA-E8D5E90A42B7}" srcId="{F0EA1258-50AD-4C93-8F66-F8FCCAEC6E59}" destId="{141F7929-2DA1-4037-9C0A-2390CD6C61E5}" srcOrd="0" destOrd="0" parTransId="{48613EB1-4E43-4CC7-9CBA-B8F5AC60528F}" sibTransId="{7A59FF46-75D6-406E-B5F8-EF22DDA3038E}"/>
    <dgm:cxn modelId="{D6F7EE48-F2CD-4A25-AA88-87ED017A016D}" type="presParOf" srcId="{7CF0A71B-AB2A-4906-ABA4-E2A8C902FFFA}" destId="{6FE5DDF0-B6EE-4BE6-868D-1B47A2597AE3}" srcOrd="0" destOrd="0" presId="urn:microsoft.com/office/officeart/2005/8/layout/lProcess2"/>
    <dgm:cxn modelId="{C30743D0-AA7E-4DEC-9163-AA6F0FC49BF9}" type="presParOf" srcId="{6FE5DDF0-B6EE-4BE6-868D-1B47A2597AE3}" destId="{4D1A656B-A05C-4F44-8FF1-4E26D83D2740}" srcOrd="0" destOrd="0" presId="urn:microsoft.com/office/officeart/2005/8/layout/lProcess2"/>
    <dgm:cxn modelId="{0CC4E58D-7362-4C5F-99D7-A87B4CD46013}" type="presParOf" srcId="{6FE5DDF0-B6EE-4BE6-868D-1B47A2597AE3}" destId="{2424D66B-86AB-4E8C-A50A-7CB1D7CE3503}" srcOrd="1" destOrd="0" presId="urn:microsoft.com/office/officeart/2005/8/layout/lProcess2"/>
    <dgm:cxn modelId="{E1DCB89C-5E2E-41F6-9235-3E7F03F8E2FF}" type="presParOf" srcId="{6FE5DDF0-B6EE-4BE6-868D-1B47A2597AE3}" destId="{E851D3E6-31AC-4F86-8159-7A52352EBEF7}" srcOrd="2" destOrd="0" presId="urn:microsoft.com/office/officeart/2005/8/layout/lProcess2"/>
    <dgm:cxn modelId="{AD5C3D6C-5CF6-4033-9349-CECB69AE72FF}" type="presParOf" srcId="{E851D3E6-31AC-4F86-8159-7A52352EBEF7}" destId="{89123F18-34BD-4700-B40D-FBE70AA968EE}" srcOrd="0" destOrd="0" presId="urn:microsoft.com/office/officeart/2005/8/layout/lProcess2"/>
    <dgm:cxn modelId="{81F11A71-A848-44EB-A3B1-3517546EF21D}" type="presParOf" srcId="{89123F18-34BD-4700-B40D-FBE70AA968EE}" destId="{9221D3F4-DEB0-4092-ACE9-4B96E52D90DE}" srcOrd="0" destOrd="0" presId="urn:microsoft.com/office/officeart/2005/8/layout/lProcess2"/>
    <dgm:cxn modelId="{FEAE6AA9-ECD9-45FA-BE2F-48A15B2E1D8E}" type="presParOf" srcId="{89123F18-34BD-4700-B40D-FBE70AA968EE}" destId="{0ED0121E-46D7-403A-AE54-9781201EBE70}" srcOrd="1" destOrd="0" presId="urn:microsoft.com/office/officeart/2005/8/layout/lProcess2"/>
    <dgm:cxn modelId="{65D5919F-E92D-4212-925D-D06117732A52}" type="presParOf" srcId="{89123F18-34BD-4700-B40D-FBE70AA968EE}" destId="{96DD649F-B07C-4DFD-9BC9-920A10363FBD}" srcOrd="2" destOrd="0" presId="urn:microsoft.com/office/officeart/2005/8/layout/lProcess2"/>
    <dgm:cxn modelId="{EF2B9CFB-46D3-40BA-982F-FCB6199FCACA}" type="presParOf" srcId="{89123F18-34BD-4700-B40D-FBE70AA968EE}" destId="{F6402DD9-268D-4FDD-9C9F-6CED10F4D357}" srcOrd="3" destOrd="0" presId="urn:microsoft.com/office/officeart/2005/8/layout/lProcess2"/>
    <dgm:cxn modelId="{52E2F300-4A85-4BE9-9E50-BBB822722BA6}" type="presParOf" srcId="{89123F18-34BD-4700-B40D-FBE70AA968EE}" destId="{D714470B-1E1D-4914-8A22-48C1F2C0BCD9}" srcOrd="4" destOrd="0" presId="urn:microsoft.com/office/officeart/2005/8/layout/lProcess2"/>
    <dgm:cxn modelId="{6890D7AB-4A08-4505-B44A-75F79CE43A27}" type="presParOf" srcId="{89123F18-34BD-4700-B40D-FBE70AA968EE}" destId="{F2395C5C-9A92-4461-9BC2-537AA8971B52}" srcOrd="5" destOrd="0" presId="urn:microsoft.com/office/officeart/2005/8/layout/lProcess2"/>
    <dgm:cxn modelId="{E1BFEB10-2519-469C-A7B4-4028D8896BC5}" type="presParOf" srcId="{89123F18-34BD-4700-B40D-FBE70AA968EE}" destId="{DE61BABE-ADE5-4885-89F7-25FACA60EDB2}" srcOrd="6" destOrd="0" presId="urn:microsoft.com/office/officeart/2005/8/layout/lProcess2"/>
    <dgm:cxn modelId="{1D669A62-038E-4978-93F9-3CBFBA8E0A68}" type="presParOf" srcId="{89123F18-34BD-4700-B40D-FBE70AA968EE}" destId="{D2FF9683-F9B6-4809-8D67-BCE3AA7DDE50}" srcOrd="7" destOrd="0" presId="urn:microsoft.com/office/officeart/2005/8/layout/lProcess2"/>
    <dgm:cxn modelId="{B097F201-CFED-4E16-A2B4-F3A152DE857A}" type="presParOf" srcId="{89123F18-34BD-4700-B40D-FBE70AA968EE}" destId="{8A9DBCD0-F49A-465C-8DD2-99606190AE9A}" srcOrd="8" destOrd="0" presId="urn:microsoft.com/office/officeart/2005/8/layout/lProcess2"/>
    <dgm:cxn modelId="{62E40A93-8A99-4614-8935-2DE991D96096}" type="presParOf" srcId="{89123F18-34BD-4700-B40D-FBE70AA968EE}" destId="{95248533-9FD3-409A-9DA0-661FF9769B0A}" srcOrd="9" destOrd="0" presId="urn:microsoft.com/office/officeart/2005/8/layout/lProcess2"/>
    <dgm:cxn modelId="{80A9DCB2-174E-4E5D-B0E8-1014E6BB8EA1}" type="presParOf" srcId="{89123F18-34BD-4700-B40D-FBE70AA968EE}" destId="{BA841D14-48F1-45FB-B3B3-C29B78A625E3}" srcOrd="1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B74CF-6C25-42E3-A37A-0271F62161E0}">
      <dsp:nvSpPr>
        <dsp:cNvPr id="0" name=""/>
        <dsp:cNvSpPr/>
      </dsp:nvSpPr>
      <dsp:spPr>
        <a:xfrm>
          <a:off x="-5422133" y="-830255"/>
          <a:ext cx="6456180" cy="6456180"/>
        </a:xfrm>
        <a:prstGeom prst="blockArc">
          <a:avLst>
            <a:gd name="adj1" fmla="val 18900000"/>
            <a:gd name="adj2" fmla="val 2700000"/>
            <a:gd name="adj3" fmla="val 335"/>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C51C80-022A-4DC3-BF56-2276BD04F630}">
      <dsp:nvSpPr>
        <dsp:cNvPr id="0" name=""/>
        <dsp:cNvSpPr/>
      </dsp:nvSpPr>
      <dsp:spPr>
        <a:xfrm>
          <a:off x="452148" y="299633"/>
          <a:ext cx="7609108" cy="59965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5973" tIns="83820" rIns="83820" bIns="83820" numCol="1" spcCol="1270" anchor="ctr" anchorCtr="0">
          <a:noAutofit/>
        </a:bodyPr>
        <a:lstStyle/>
        <a:p>
          <a:pPr marL="0" lvl="0" indent="0" algn="l" defTabSz="1466850">
            <a:lnSpc>
              <a:spcPct val="90000"/>
            </a:lnSpc>
            <a:spcBef>
              <a:spcPct val="0"/>
            </a:spcBef>
            <a:spcAft>
              <a:spcPct val="35000"/>
            </a:spcAft>
            <a:buNone/>
          </a:pPr>
          <a:r>
            <a:rPr lang="en-US" sz="3300" kern="1200" dirty="0"/>
            <a:t>Price and Factors affecting pricing</a:t>
          </a:r>
        </a:p>
      </dsp:txBody>
      <dsp:txXfrm>
        <a:off x="452148" y="299633"/>
        <a:ext cx="7609108" cy="599650"/>
      </dsp:txXfrm>
    </dsp:sp>
    <dsp:sp modelId="{628555B9-FC16-4EEB-AAC7-4B578C077F99}">
      <dsp:nvSpPr>
        <dsp:cNvPr id="0" name=""/>
        <dsp:cNvSpPr/>
      </dsp:nvSpPr>
      <dsp:spPr>
        <a:xfrm>
          <a:off x="77367" y="224677"/>
          <a:ext cx="749563" cy="749563"/>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198804-E894-49AD-BCBE-D94C262E325B}">
      <dsp:nvSpPr>
        <dsp:cNvPr id="0" name=""/>
        <dsp:cNvSpPr/>
      </dsp:nvSpPr>
      <dsp:spPr>
        <a:xfrm>
          <a:off x="881841" y="1198821"/>
          <a:ext cx="7179416" cy="599650"/>
        </a:xfrm>
        <a:prstGeom prst="rect">
          <a:avLst/>
        </a:prstGeom>
        <a:solidFill>
          <a:schemeClr val="accent3">
            <a:hueOff val="2125512"/>
            <a:satOff val="-2082"/>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5973" tIns="83820" rIns="83820" bIns="83820" numCol="1" spcCol="1270" anchor="ctr" anchorCtr="0">
          <a:noAutofit/>
        </a:bodyPr>
        <a:lstStyle/>
        <a:p>
          <a:pPr marL="0" lvl="0" indent="0" algn="l" defTabSz="1466850">
            <a:lnSpc>
              <a:spcPct val="90000"/>
            </a:lnSpc>
            <a:spcBef>
              <a:spcPct val="0"/>
            </a:spcBef>
            <a:spcAft>
              <a:spcPct val="35000"/>
            </a:spcAft>
            <a:buNone/>
          </a:pPr>
          <a:r>
            <a:rPr lang="en-US" sz="3300" kern="1200"/>
            <a:t>Determining price</a:t>
          </a:r>
          <a:endParaRPr lang="en-US" sz="3300" kern="1200" dirty="0"/>
        </a:p>
      </dsp:txBody>
      <dsp:txXfrm>
        <a:off x="881841" y="1198821"/>
        <a:ext cx="7179416" cy="599650"/>
      </dsp:txXfrm>
    </dsp:sp>
    <dsp:sp modelId="{740CB270-0ADB-4FC4-91D1-80C3DB8AC336}">
      <dsp:nvSpPr>
        <dsp:cNvPr id="0" name=""/>
        <dsp:cNvSpPr/>
      </dsp:nvSpPr>
      <dsp:spPr>
        <a:xfrm>
          <a:off x="507059" y="1123865"/>
          <a:ext cx="749563" cy="749563"/>
        </a:xfrm>
        <a:prstGeom prst="ellipse">
          <a:avLst/>
        </a:prstGeom>
        <a:solidFill>
          <a:schemeClr val="lt1">
            <a:hueOff val="0"/>
            <a:satOff val="0"/>
            <a:lumOff val="0"/>
            <a:alphaOff val="0"/>
          </a:schemeClr>
        </a:solidFill>
        <a:ln w="12700" cap="flat" cmpd="sng" algn="ctr">
          <a:solidFill>
            <a:schemeClr val="accent3">
              <a:hueOff val="2125512"/>
              <a:satOff val="-2082"/>
              <a:lumOff val="1373"/>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79755A-27F9-4E59-84BD-5A264B2FC41C}">
      <dsp:nvSpPr>
        <dsp:cNvPr id="0" name=""/>
        <dsp:cNvSpPr/>
      </dsp:nvSpPr>
      <dsp:spPr>
        <a:xfrm>
          <a:off x="1013721" y="2098009"/>
          <a:ext cx="7047535" cy="599650"/>
        </a:xfrm>
        <a:prstGeom prst="rect">
          <a:avLst/>
        </a:prstGeom>
        <a:solidFill>
          <a:schemeClr val="accent3">
            <a:hueOff val="4251024"/>
            <a:satOff val="-4164"/>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5973" tIns="83820" rIns="83820" bIns="83820" numCol="1" spcCol="1270" anchor="ctr" anchorCtr="0">
          <a:noAutofit/>
        </a:bodyPr>
        <a:lstStyle/>
        <a:p>
          <a:pPr marL="0" lvl="0" indent="0" algn="l" defTabSz="1466850">
            <a:lnSpc>
              <a:spcPct val="90000"/>
            </a:lnSpc>
            <a:spcBef>
              <a:spcPct val="0"/>
            </a:spcBef>
            <a:spcAft>
              <a:spcPct val="35000"/>
            </a:spcAft>
            <a:buNone/>
          </a:pPr>
          <a:r>
            <a:rPr lang="en-US" sz="3300" kern="1200"/>
            <a:t>Dynamic pricing</a:t>
          </a:r>
          <a:endParaRPr lang="en-US" sz="3300" kern="1200" dirty="0"/>
        </a:p>
      </dsp:txBody>
      <dsp:txXfrm>
        <a:off x="1013721" y="2098009"/>
        <a:ext cx="7047535" cy="599650"/>
      </dsp:txXfrm>
    </dsp:sp>
    <dsp:sp modelId="{44AB9F78-8851-42C3-A371-1949F047F49E}">
      <dsp:nvSpPr>
        <dsp:cNvPr id="0" name=""/>
        <dsp:cNvSpPr/>
      </dsp:nvSpPr>
      <dsp:spPr>
        <a:xfrm>
          <a:off x="638940" y="2023053"/>
          <a:ext cx="749563" cy="749563"/>
        </a:xfrm>
        <a:prstGeom prst="ellipse">
          <a:avLst/>
        </a:prstGeom>
        <a:solidFill>
          <a:schemeClr val="lt1">
            <a:hueOff val="0"/>
            <a:satOff val="0"/>
            <a:lumOff val="0"/>
            <a:alphaOff val="0"/>
          </a:schemeClr>
        </a:solidFill>
        <a:ln w="12700" cap="flat" cmpd="sng" algn="ctr">
          <a:solidFill>
            <a:schemeClr val="accent3">
              <a:hueOff val="4251024"/>
              <a:satOff val="-4164"/>
              <a:lumOff val="2745"/>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E62537-B01B-4BD1-9E60-42D3C75446E8}">
      <dsp:nvSpPr>
        <dsp:cNvPr id="0" name=""/>
        <dsp:cNvSpPr/>
      </dsp:nvSpPr>
      <dsp:spPr>
        <a:xfrm>
          <a:off x="881841" y="2997197"/>
          <a:ext cx="7179416" cy="599650"/>
        </a:xfrm>
        <a:prstGeom prst="rect">
          <a:avLst/>
        </a:prstGeom>
        <a:solidFill>
          <a:schemeClr val="accent3">
            <a:hueOff val="6376535"/>
            <a:satOff val="-6246"/>
            <a:lumOff val="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5973" tIns="83820" rIns="83820" bIns="83820" numCol="1" spcCol="1270" anchor="ctr" anchorCtr="0">
          <a:noAutofit/>
        </a:bodyPr>
        <a:lstStyle/>
        <a:p>
          <a:pPr marL="0" lvl="0" indent="0" algn="l" defTabSz="1466850">
            <a:lnSpc>
              <a:spcPct val="90000"/>
            </a:lnSpc>
            <a:spcBef>
              <a:spcPct val="0"/>
            </a:spcBef>
            <a:spcAft>
              <a:spcPct val="35000"/>
            </a:spcAft>
            <a:buNone/>
          </a:pPr>
          <a:r>
            <a:rPr lang="en-US" sz="3300" kern="1200"/>
            <a:t>Auctions</a:t>
          </a:r>
          <a:endParaRPr lang="en-US" sz="3300" kern="1200" dirty="0"/>
        </a:p>
      </dsp:txBody>
      <dsp:txXfrm>
        <a:off x="881841" y="2997197"/>
        <a:ext cx="7179416" cy="599650"/>
      </dsp:txXfrm>
    </dsp:sp>
    <dsp:sp modelId="{8D0AD54E-3C13-4171-9AB4-EDC1EABB25C0}">
      <dsp:nvSpPr>
        <dsp:cNvPr id="0" name=""/>
        <dsp:cNvSpPr/>
      </dsp:nvSpPr>
      <dsp:spPr>
        <a:xfrm>
          <a:off x="507059" y="2922241"/>
          <a:ext cx="749563" cy="749563"/>
        </a:xfrm>
        <a:prstGeom prst="ellipse">
          <a:avLst/>
        </a:prstGeom>
        <a:solidFill>
          <a:schemeClr val="lt1">
            <a:hueOff val="0"/>
            <a:satOff val="0"/>
            <a:lumOff val="0"/>
            <a:alphaOff val="0"/>
          </a:schemeClr>
        </a:solidFill>
        <a:ln w="12700" cap="flat" cmpd="sng" algn="ctr">
          <a:solidFill>
            <a:schemeClr val="accent3">
              <a:hueOff val="6376535"/>
              <a:satOff val="-6246"/>
              <a:lumOff val="4118"/>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D0066C-69ED-449E-863A-53EAFE71FA99}">
      <dsp:nvSpPr>
        <dsp:cNvPr id="0" name=""/>
        <dsp:cNvSpPr/>
      </dsp:nvSpPr>
      <dsp:spPr>
        <a:xfrm>
          <a:off x="452148" y="3896385"/>
          <a:ext cx="7609108" cy="599650"/>
        </a:xfrm>
        <a:prstGeom prst="rect">
          <a:avLst/>
        </a:prstGeom>
        <a:solidFill>
          <a:schemeClr val="accent3">
            <a:hueOff val="8502047"/>
            <a:satOff val="-8328"/>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5973" tIns="83820" rIns="83820" bIns="83820" numCol="1" spcCol="1270" anchor="ctr" anchorCtr="0">
          <a:noAutofit/>
        </a:bodyPr>
        <a:lstStyle/>
        <a:p>
          <a:pPr marL="0" lvl="0" indent="0" algn="l" defTabSz="1466850">
            <a:lnSpc>
              <a:spcPct val="90000"/>
            </a:lnSpc>
            <a:spcBef>
              <a:spcPct val="0"/>
            </a:spcBef>
            <a:spcAft>
              <a:spcPct val="35000"/>
            </a:spcAft>
            <a:buNone/>
          </a:pPr>
          <a:r>
            <a:rPr lang="en-US" sz="3300" kern="1200"/>
            <a:t>Revenue models</a:t>
          </a:r>
          <a:endParaRPr lang="en-US" sz="3300" kern="1200" dirty="0"/>
        </a:p>
      </dsp:txBody>
      <dsp:txXfrm>
        <a:off x="452148" y="3896385"/>
        <a:ext cx="7609108" cy="599650"/>
      </dsp:txXfrm>
    </dsp:sp>
    <dsp:sp modelId="{A6CAD574-2902-4965-AA4D-D156C23ABC93}">
      <dsp:nvSpPr>
        <dsp:cNvPr id="0" name=""/>
        <dsp:cNvSpPr/>
      </dsp:nvSpPr>
      <dsp:spPr>
        <a:xfrm>
          <a:off x="77367" y="3821429"/>
          <a:ext cx="749563" cy="749563"/>
        </a:xfrm>
        <a:prstGeom prst="ellipse">
          <a:avLst/>
        </a:prstGeom>
        <a:solidFill>
          <a:schemeClr val="lt1">
            <a:hueOff val="0"/>
            <a:satOff val="0"/>
            <a:lumOff val="0"/>
            <a:alphaOff val="0"/>
          </a:schemeClr>
        </a:solidFill>
        <a:ln w="12700" cap="flat" cmpd="sng" algn="ctr">
          <a:solidFill>
            <a:schemeClr val="accent3">
              <a:hueOff val="8502047"/>
              <a:satOff val="-8328"/>
              <a:lumOff val="549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98A2E-752E-4EE2-8507-559B11BE8CF2}">
      <dsp:nvSpPr>
        <dsp:cNvPr id="0" name=""/>
        <dsp:cNvSpPr/>
      </dsp:nvSpPr>
      <dsp:spPr>
        <a:xfrm>
          <a:off x="5527" y="0"/>
          <a:ext cx="5317196"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tx2">
                  <a:lumMod val="50000"/>
                </a:schemeClr>
              </a:solidFill>
            </a:rPr>
            <a:t>INTERNAL FACTORS</a:t>
          </a:r>
          <a:endParaRPr lang="en-US" sz="3600" b="1" kern="1200" dirty="0">
            <a:solidFill>
              <a:schemeClr val="tx2">
                <a:lumMod val="50000"/>
              </a:schemeClr>
            </a:solidFill>
          </a:endParaRPr>
        </a:p>
      </dsp:txBody>
      <dsp:txXfrm>
        <a:off x="5527" y="0"/>
        <a:ext cx="5317196" cy="1489233"/>
      </dsp:txXfrm>
    </dsp:sp>
    <dsp:sp modelId="{EEB5EDF3-AC6A-404C-948C-770BC7D6ECA3}">
      <dsp:nvSpPr>
        <dsp:cNvPr id="0" name=""/>
        <dsp:cNvSpPr/>
      </dsp:nvSpPr>
      <dsp:spPr>
        <a:xfrm>
          <a:off x="537247" y="1490173"/>
          <a:ext cx="4253756" cy="574278"/>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Cost</a:t>
          </a:r>
          <a:endParaRPr lang="en-US" sz="2600" kern="1200" dirty="0">
            <a:solidFill>
              <a:schemeClr val="bg1"/>
            </a:solidFill>
          </a:endParaRPr>
        </a:p>
      </dsp:txBody>
      <dsp:txXfrm>
        <a:off x="554067" y="1506993"/>
        <a:ext cx="4220116" cy="540638"/>
      </dsp:txXfrm>
    </dsp:sp>
    <dsp:sp modelId="{302A0843-6FA4-4A1D-88E6-AEDF7F765846}">
      <dsp:nvSpPr>
        <dsp:cNvPr id="0" name=""/>
        <dsp:cNvSpPr/>
      </dsp:nvSpPr>
      <dsp:spPr>
        <a:xfrm>
          <a:off x="537247" y="2165502"/>
          <a:ext cx="4253756" cy="574278"/>
        </a:xfrm>
        <a:prstGeom prst="roundRect">
          <a:avLst>
            <a:gd name="adj" fmla="val 10000"/>
          </a:avLst>
        </a:prstGeom>
        <a:solidFill>
          <a:schemeClr val="accent2">
            <a:hueOff val="845427"/>
            <a:satOff val="-5283"/>
            <a:lumOff val="-3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Company objectives</a:t>
          </a:r>
          <a:endParaRPr lang="en-US" sz="2600" kern="1200" dirty="0">
            <a:solidFill>
              <a:schemeClr val="bg1"/>
            </a:solidFill>
          </a:endParaRPr>
        </a:p>
      </dsp:txBody>
      <dsp:txXfrm>
        <a:off x="554067" y="2182322"/>
        <a:ext cx="4220116" cy="540638"/>
      </dsp:txXfrm>
    </dsp:sp>
    <dsp:sp modelId="{391B290B-E829-45B8-9189-033E0A12CC04}">
      <dsp:nvSpPr>
        <dsp:cNvPr id="0" name=""/>
        <dsp:cNvSpPr/>
      </dsp:nvSpPr>
      <dsp:spPr>
        <a:xfrm>
          <a:off x="537247" y="2815431"/>
          <a:ext cx="4253756" cy="574278"/>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err="1">
              <a:solidFill>
                <a:schemeClr val="bg1"/>
              </a:solidFill>
            </a:rPr>
            <a:t>Organisational</a:t>
          </a:r>
          <a:r>
            <a:rPr lang="en-US" sz="2600" b="0" i="0" kern="1200" dirty="0">
              <a:solidFill>
                <a:schemeClr val="bg1"/>
              </a:solidFill>
            </a:rPr>
            <a:t> factors</a:t>
          </a:r>
          <a:endParaRPr lang="en-US" sz="2600" kern="1200" dirty="0">
            <a:solidFill>
              <a:schemeClr val="bg1"/>
            </a:solidFill>
          </a:endParaRPr>
        </a:p>
      </dsp:txBody>
      <dsp:txXfrm>
        <a:off x="554067" y="2832251"/>
        <a:ext cx="4220116" cy="540638"/>
      </dsp:txXfrm>
    </dsp:sp>
    <dsp:sp modelId="{C9654758-079A-413D-A93A-FEC3AC199DC5}">
      <dsp:nvSpPr>
        <dsp:cNvPr id="0" name=""/>
        <dsp:cNvSpPr/>
      </dsp:nvSpPr>
      <dsp:spPr>
        <a:xfrm>
          <a:off x="537247" y="3478060"/>
          <a:ext cx="4253756" cy="574278"/>
        </a:xfrm>
        <a:prstGeom prst="roundRect">
          <a:avLst>
            <a:gd name="adj" fmla="val 10000"/>
          </a:avLst>
        </a:prstGeom>
        <a:solidFill>
          <a:schemeClr val="accent2">
            <a:hueOff val="2536282"/>
            <a:satOff val="-15850"/>
            <a:lumOff val="-9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Marketing mix</a:t>
          </a:r>
          <a:endParaRPr lang="en-US" sz="2600" kern="1200" dirty="0">
            <a:solidFill>
              <a:schemeClr val="bg1"/>
            </a:solidFill>
          </a:endParaRPr>
        </a:p>
      </dsp:txBody>
      <dsp:txXfrm>
        <a:off x="554067" y="3494880"/>
        <a:ext cx="4220116" cy="540638"/>
      </dsp:txXfrm>
    </dsp:sp>
    <dsp:sp modelId="{518E6B64-E58F-4A8B-8B69-31AEEC6B56EF}">
      <dsp:nvSpPr>
        <dsp:cNvPr id="0" name=""/>
        <dsp:cNvSpPr/>
      </dsp:nvSpPr>
      <dsp:spPr>
        <a:xfrm>
          <a:off x="537247" y="4140689"/>
          <a:ext cx="4253756" cy="574278"/>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Product differentiation</a:t>
          </a:r>
          <a:endParaRPr lang="en-US" sz="2600" kern="1200" dirty="0">
            <a:solidFill>
              <a:schemeClr val="bg1"/>
            </a:solidFill>
          </a:endParaRPr>
        </a:p>
      </dsp:txBody>
      <dsp:txXfrm>
        <a:off x="554067" y="4157509"/>
        <a:ext cx="4220116" cy="540638"/>
      </dsp:txXfrm>
    </dsp:sp>
    <dsp:sp modelId="{4D1A656B-A05C-4F44-8FF1-4E26D83D2740}">
      <dsp:nvSpPr>
        <dsp:cNvPr id="0" name=""/>
        <dsp:cNvSpPr/>
      </dsp:nvSpPr>
      <dsp:spPr>
        <a:xfrm>
          <a:off x="5721513" y="0"/>
          <a:ext cx="5317196"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5721513" y="0"/>
        <a:ext cx="5317196" cy="1489233"/>
      </dsp:txXfrm>
    </dsp:sp>
    <dsp:sp modelId="{9221D3F4-DEB0-4092-ACE9-4B96E52D90DE}">
      <dsp:nvSpPr>
        <dsp:cNvPr id="0" name=""/>
        <dsp:cNvSpPr/>
      </dsp:nvSpPr>
      <dsp:spPr>
        <a:xfrm>
          <a:off x="6253232" y="1489476"/>
          <a:ext cx="4253756" cy="476596"/>
        </a:xfrm>
        <a:prstGeom prst="roundRect">
          <a:avLst>
            <a:gd name="adj" fmla="val 10000"/>
          </a:avLst>
        </a:prstGeom>
        <a:solidFill>
          <a:schemeClr val="accent2">
            <a:hueOff val="4227136"/>
            <a:satOff val="-26416"/>
            <a:lumOff val="-15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Demand</a:t>
          </a:r>
          <a:endParaRPr lang="en-US" sz="2600" kern="1200" dirty="0">
            <a:solidFill>
              <a:schemeClr val="bg1"/>
            </a:solidFill>
          </a:endParaRPr>
        </a:p>
      </dsp:txBody>
      <dsp:txXfrm>
        <a:off x="6267191" y="1503435"/>
        <a:ext cx="4225838" cy="448678"/>
      </dsp:txXfrm>
    </dsp:sp>
    <dsp:sp modelId="{96DD649F-B07C-4DFD-9BC9-920A10363FBD}">
      <dsp:nvSpPr>
        <dsp:cNvPr id="0" name=""/>
        <dsp:cNvSpPr/>
      </dsp:nvSpPr>
      <dsp:spPr>
        <a:xfrm>
          <a:off x="6253232" y="2039394"/>
          <a:ext cx="425375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Competition</a:t>
          </a:r>
          <a:endParaRPr lang="en-US" sz="2600" kern="1200" dirty="0">
            <a:solidFill>
              <a:schemeClr val="bg1"/>
            </a:solidFill>
          </a:endParaRPr>
        </a:p>
      </dsp:txBody>
      <dsp:txXfrm>
        <a:off x="6267191" y="2053353"/>
        <a:ext cx="4225838" cy="448678"/>
      </dsp:txXfrm>
    </dsp:sp>
    <dsp:sp modelId="{D714470B-1E1D-4914-8A22-48C1F2C0BCD9}">
      <dsp:nvSpPr>
        <dsp:cNvPr id="0" name=""/>
        <dsp:cNvSpPr/>
      </dsp:nvSpPr>
      <dsp:spPr>
        <a:xfrm>
          <a:off x="6253232" y="2589313"/>
          <a:ext cx="4253756" cy="476596"/>
        </a:xfrm>
        <a:prstGeom prst="roundRect">
          <a:avLst>
            <a:gd name="adj" fmla="val 10000"/>
          </a:avLst>
        </a:prstGeom>
        <a:solidFill>
          <a:schemeClr val="accent2">
            <a:hueOff val="5917990"/>
            <a:satOff val="-36983"/>
            <a:lumOff val="-20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Suppliers</a:t>
          </a:r>
          <a:endParaRPr lang="en-US" sz="2600" kern="1200" dirty="0">
            <a:solidFill>
              <a:schemeClr val="bg1"/>
            </a:solidFill>
          </a:endParaRPr>
        </a:p>
      </dsp:txBody>
      <dsp:txXfrm>
        <a:off x="6267191" y="2603272"/>
        <a:ext cx="4225838" cy="448678"/>
      </dsp:txXfrm>
    </dsp:sp>
    <dsp:sp modelId="{DE61BABE-ADE5-4885-89F7-25FACA60EDB2}">
      <dsp:nvSpPr>
        <dsp:cNvPr id="0" name=""/>
        <dsp:cNvSpPr/>
      </dsp:nvSpPr>
      <dsp:spPr>
        <a:xfrm>
          <a:off x="6253232" y="3139231"/>
          <a:ext cx="425375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Economic conditions</a:t>
          </a:r>
          <a:endParaRPr lang="en-US" sz="2600" kern="1200" dirty="0">
            <a:solidFill>
              <a:schemeClr val="bg1"/>
            </a:solidFill>
          </a:endParaRPr>
        </a:p>
      </dsp:txBody>
      <dsp:txXfrm>
        <a:off x="6267191" y="3153190"/>
        <a:ext cx="4225838" cy="448678"/>
      </dsp:txXfrm>
    </dsp:sp>
    <dsp:sp modelId="{8A9DBCD0-F49A-465C-8DD2-99606190AE9A}">
      <dsp:nvSpPr>
        <dsp:cNvPr id="0" name=""/>
        <dsp:cNvSpPr/>
      </dsp:nvSpPr>
      <dsp:spPr>
        <a:xfrm>
          <a:off x="6253232" y="3689150"/>
          <a:ext cx="4253756" cy="476596"/>
        </a:xfrm>
        <a:prstGeom prst="roundRect">
          <a:avLst>
            <a:gd name="adj" fmla="val 10000"/>
          </a:avLst>
        </a:prstGeom>
        <a:solidFill>
          <a:schemeClr val="accent2">
            <a:hueOff val="7608844"/>
            <a:satOff val="-47550"/>
            <a:lumOff val="-26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Consumers</a:t>
          </a:r>
          <a:endParaRPr lang="en-US" sz="2600" kern="1200" dirty="0">
            <a:solidFill>
              <a:schemeClr val="bg1"/>
            </a:solidFill>
          </a:endParaRPr>
        </a:p>
      </dsp:txBody>
      <dsp:txXfrm>
        <a:off x="6267191" y="3703109"/>
        <a:ext cx="4225838" cy="448678"/>
      </dsp:txXfrm>
    </dsp:sp>
    <dsp:sp modelId="{BA841D14-48F1-45FB-B3B3-C29B78A625E3}">
      <dsp:nvSpPr>
        <dsp:cNvPr id="0" name=""/>
        <dsp:cNvSpPr/>
      </dsp:nvSpPr>
      <dsp:spPr>
        <a:xfrm>
          <a:off x="6253232" y="4239068"/>
          <a:ext cx="425375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Government</a:t>
          </a:r>
          <a:endParaRPr lang="en-US" sz="2600" kern="1200" dirty="0">
            <a:solidFill>
              <a:schemeClr val="bg1"/>
            </a:solidFill>
          </a:endParaRPr>
        </a:p>
      </dsp:txBody>
      <dsp:txXfrm>
        <a:off x="6267191" y="4253027"/>
        <a:ext cx="4225838" cy="448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98A2E-752E-4EE2-8507-559B11BE8CF2}">
      <dsp:nvSpPr>
        <dsp:cNvPr id="0" name=""/>
        <dsp:cNvSpPr/>
      </dsp:nvSpPr>
      <dsp:spPr>
        <a:xfrm>
          <a:off x="0" y="0"/>
          <a:ext cx="4240138" cy="47208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tx2">
                  <a:lumMod val="50000"/>
                </a:schemeClr>
              </a:solidFill>
            </a:rPr>
            <a:t>INTERNAL FACTORS</a:t>
          </a:r>
          <a:endParaRPr lang="en-US" sz="3600" b="1" kern="1200" dirty="0">
            <a:solidFill>
              <a:schemeClr val="tx2">
                <a:lumMod val="50000"/>
              </a:schemeClr>
            </a:solidFill>
          </a:endParaRPr>
        </a:p>
      </dsp:txBody>
      <dsp:txXfrm>
        <a:off x="0" y="0"/>
        <a:ext cx="4240138" cy="1416256"/>
      </dsp:txXfrm>
    </dsp:sp>
    <dsp:sp modelId="{EEB5EDF3-AC6A-404C-948C-770BC7D6ECA3}">
      <dsp:nvSpPr>
        <dsp:cNvPr id="0" name=""/>
        <dsp:cNvSpPr/>
      </dsp:nvSpPr>
      <dsp:spPr>
        <a:xfrm>
          <a:off x="424013" y="1417150"/>
          <a:ext cx="3392110" cy="54613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Cost</a:t>
          </a:r>
          <a:endParaRPr lang="en-US" sz="2600" b="1" kern="1200" dirty="0">
            <a:solidFill>
              <a:srgbClr val="C00000"/>
            </a:solidFill>
          </a:endParaRPr>
        </a:p>
      </dsp:txBody>
      <dsp:txXfrm>
        <a:off x="440009" y="1433146"/>
        <a:ext cx="3360118" cy="514145"/>
      </dsp:txXfrm>
    </dsp:sp>
    <dsp:sp modelId="{302A0843-6FA4-4A1D-88E6-AEDF7F765846}">
      <dsp:nvSpPr>
        <dsp:cNvPr id="0" name=""/>
        <dsp:cNvSpPr/>
      </dsp:nvSpPr>
      <dsp:spPr>
        <a:xfrm>
          <a:off x="424013" y="2047308"/>
          <a:ext cx="3392110" cy="546137"/>
        </a:xfrm>
        <a:prstGeom prst="roundRect">
          <a:avLst>
            <a:gd name="adj" fmla="val 10000"/>
          </a:avLst>
        </a:prstGeom>
        <a:solidFill>
          <a:schemeClr val="accent2">
            <a:hueOff val="2113568"/>
            <a:satOff val="-13208"/>
            <a:lumOff val="-75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Company objectives</a:t>
          </a:r>
          <a:endParaRPr lang="en-US" sz="2600" kern="1200" dirty="0">
            <a:solidFill>
              <a:schemeClr val="bg1"/>
            </a:solidFill>
          </a:endParaRPr>
        </a:p>
      </dsp:txBody>
      <dsp:txXfrm>
        <a:off x="440009" y="2063304"/>
        <a:ext cx="3360118" cy="514145"/>
      </dsp:txXfrm>
    </dsp:sp>
    <dsp:sp modelId="{391B290B-E829-45B8-9189-033E0A12CC04}">
      <dsp:nvSpPr>
        <dsp:cNvPr id="0" name=""/>
        <dsp:cNvSpPr/>
      </dsp:nvSpPr>
      <dsp:spPr>
        <a:xfrm>
          <a:off x="424013" y="2677466"/>
          <a:ext cx="3392110" cy="546137"/>
        </a:xfrm>
        <a:prstGeom prst="roundRect">
          <a:avLst>
            <a:gd name="adj" fmla="val 10000"/>
          </a:avLst>
        </a:prstGeom>
        <a:solidFill>
          <a:schemeClr val="accent2">
            <a:hueOff val="4227136"/>
            <a:satOff val="-26416"/>
            <a:lumOff val="-15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err="1">
              <a:solidFill>
                <a:schemeClr val="bg1"/>
              </a:solidFill>
            </a:rPr>
            <a:t>Organisational</a:t>
          </a:r>
          <a:r>
            <a:rPr lang="en-US" sz="2600" b="0" i="0" kern="1200" dirty="0">
              <a:solidFill>
                <a:schemeClr val="bg1"/>
              </a:solidFill>
            </a:rPr>
            <a:t> factors</a:t>
          </a:r>
          <a:endParaRPr lang="en-US" sz="2600" kern="1200" dirty="0">
            <a:solidFill>
              <a:schemeClr val="bg1"/>
            </a:solidFill>
          </a:endParaRPr>
        </a:p>
      </dsp:txBody>
      <dsp:txXfrm>
        <a:off x="440009" y="2693462"/>
        <a:ext cx="3360118" cy="514145"/>
      </dsp:txXfrm>
    </dsp:sp>
    <dsp:sp modelId="{C9654758-079A-413D-A93A-FEC3AC199DC5}">
      <dsp:nvSpPr>
        <dsp:cNvPr id="0" name=""/>
        <dsp:cNvSpPr/>
      </dsp:nvSpPr>
      <dsp:spPr>
        <a:xfrm>
          <a:off x="424013" y="3307624"/>
          <a:ext cx="3392110" cy="546137"/>
        </a:xfrm>
        <a:prstGeom prst="roundRect">
          <a:avLst>
            <a:gd name="adj" fmla="val 10000"/>
          </a:avLst>
        </a:prstGeom>
        <a:solidFill>
          <a:schemeClr val="accent2">
            <a:hueOff val="6340703"/>
            <a:satOff val="-39625"/>
            <a:lumOff val="-224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Marketing mix</a:t>
          </a:r>
          <a:endParaRPr lang="en-US" sz="2600" kern="1200" dirty="0">
            <a:solidFill>
              <a:schemeClr val="bg1"/>
            </a:solidFill>
          </a:endParaRPr>
        </a:p>
      </dsp:txBody>
      <dsp:txXfrm>
        <a:off x="440009" y="3323620"/>
        <a:ext cx="3360118" cy="514145"/>
      </dsp:txXfrm>
    </dsp:sp>
    <dsp:sp modelId="{518E6B64-E58F-4A8B-8B69-31AEEC6B56EF}">
      <dsp:nvSpPr>
        <dsp:cNvPr id="0" name=""/>
        <dsp:cNvSpPr/>
      </dsp:nvSpPr>
      <dsp:spPr>
        <a:xfrm>
          <a:off x="424013" y="3937782"/>
          <a:ext cx="3392110" cy="546137"/>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Product differentiation</a:t>
          </a:r>
          <a:endParaRPr lang="en-US" sz="2600" kern="1200" dirty="0">
            <a:solidFill>
              <a:schemeClr val="bg1"/>
            </a:solidFill>
          </a:endParaRPr>
        </a:p>
      </dsp:txBody>
      <dsp:txXfrm>
        <a:off x="440009" y="3953778"/>
        <a:ext cx="3360118" cy="5141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98A2E-752E-4EE2-8507-559B11BE8CF2}">
      <dsp:nvSpPr>
        <dsp:cNvPr id="0" name=""/>
        <dsp:cNvSpPr/>
      </dsp:nvSpPr>
      <dsp:spPr>
        <a:xfrm>
          <a:off x="0" y="0"/>
          <a:ext cx="4240138" cy="47208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tx2">
                  <a:lumMod val="50000"/>
                </a:schemeClr>
              </a:solidFill>
            </a:rPr>
            <a:t>INTERNAL FACTORS</a:t>
          </a:r>
          <a:endParaRPr lang="en-US" sz="3600" b="1" kern="1200" dirty="0">
            <a:solidFill>
              <a:schemeClr val="tx2">
                <a:lumMod val="50000"/>
              </a:schemeClr>
            </a:solidFill>
          </a:endParaRPr>
        </a:p>
      </dsp:txBody>
      <dsp:txXfrm>
        <a:off x="0" y="0"/>
        <a:ext cx="4240138" cy="1416256"/>
      </dsp:txXfrm>
    </dsp:sp>
    <dsp:sp modelId="{EEB5EDF3-AC6A-404C-948C-770BC7D6ECA3}">
      <dsp:nvSpPr>
        <dsp:cNvPr id="0" name=""/>
        <dsp:cNvSpPr/>
      </dsp:nvSpPr>
      <dsp:spPr>
        <a:xfrm>
          <a:off x="424013" y="1417150"/>
          <a:ext cx="3392110" cy="54613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rgbClr val="000000"/>
              </a:solidFill>
              <a:latin typeface="Franklin Gothic Book"/>
              <a:ea typeface="+mn-ea"/>
              <a:cs typeface="+mn-cs"/>
            </a:rPr>
            <a:t>Cost</a:t>
          </a:r>
        </a:p>
      </dsp:txBody>
      <dsp:txXfrm>
        <a:off x="440009" y="1433146"/>
        <a:ext cx="3360118" cy="514145"/>
      </dsp:txXfrm>
    </dsp:sp>
    <dsp:sp modelId="{302A0843-6FA4-4A1D-88E6-AEDF7F765846}">
      <dsp:nvSpPr>
        <dsp:cNvPr id="0" name=""/>
        <dsp:cNvSpPr/>
      </dsp:nvSpPr>
      <dsp:spPr>
        <a:xfrm>
          <a:off x="424013" y="2047308"/>
          <a:ext cx="3392110" cy="546137"/>
        </a:xfrm>
        <a:prstGeom prst="roundRect">
          <a:avLst>
            <a:gd name="adj" fmla="val 10000"/>
          </a:avLst>
        </a:prstGeom>
        <a:solidFill>
          <a:schemeClr val="accent2">
            <a:hueOff val="2113568"/>
            <a:satOff val="-13208"/>
            <a:lumOff val="-75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Company objectives</a:t>
          </a:r>
          <a:endParaRPr lang="en-US" sz="2600" b="1" kern="1200" dirty="0">
            <a:solidFill>
              <a:srgbClr val="C00000"/>
            </a:solidFill>
          </a:endParaRPr>
        </a:p>
      </dsp:txBody>
      <dsp:txXfrm>
        <a:off x="440009" y="2063304"/>
        <a:ext cx="3360118" cy="514145"/>
      </dsp:txXfrm>
    </dsp:sp>
    <dsp:sp modelId="{391B290B-E829-45B8-9189-033E0A12CC04}">
      <dsp:nvSpPr>
        <dsp:cNvPr id="0" name=""/>
        <dsp:cNvSpPr/>
      </dsp:nvSpPr>
      <dsp:spPr>
        <a:xfrm>
          <a:off x="424013" y="2677466"/>
          <a:ext cx="3392110" cy="546137"/>
        </a:xfrm>
        <a:prstGeom prst="roundRect">
          <a:avLst>
            <a:gd name="adj" fmla="val 10000"/>
          </a:avLst>
        </a:prstGeom>
        <a:solidFill>
          <a:schemeClr val="accent2">
            <a:hueOff val="4227136"/>
            <a:satOff val="-26416"/>
            <a:lumOff val="-15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err="1">
              <a:solidFill>
                <a:schemeClr val="bg1"/>
              </a:solidFill>
            </a:rPr>
            <a:t>Organisational</a:t>
          </a:r>
          <a:r>
            <a:rPr lang="en-US" sz="2600" b="0" i="0" kern="1200" dirty="0">
              <a:solidFill>
                <a:schemeClr val="bg1"/>
              </a:solidFill>
            </a:rPr>
            <a:t> factors</a:t>
          </a:r>
          <a:endParaRPr lang="en-US" sz="2600" kern="1200" dirty="0">
            <a:solidFill>
              <a:schemeClr val="bg1"/>
            </a:solidFill>
          </a:endParaRPr>
        </a:p>
      </dsp:txBody>
      <dsp:txXfrm>
        <a:off x="440009" y="2693462"/>
        <a:ext cx="3360118" cy="514145"/>
      </dsp:txXfrm>
    </dsp:sp>
    <dsp:sp modelId="{C9654758-079A-413D-A93A-FEC3AC199DC5}">
      <dsp:nvSpPr>
        <dsp:cNvPr id="0" name=""/>
        <dsp:cNvSpPr/>
      </dsp:nvSpPr>
      <dsp:spPr>
        <a:xfrm>
          <a:off x="424013" y="3307624"/>
          <a:ext cx="3392110" cy="546137"/>
        </a:xfrm>
        <a:prstGeom prst="roundRect">
          <a:avLst>
            <a:gd name="adj" fmla="val 10000"/>
          </a:avLst>
        </a:prstGeom>
        <a:solidFill>
          <a:schemeClr val="accent2">
            <a:hueOff val="6340703"/>
            <a:satOff val="-39625"/>
            <a:lumOff val="-224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Marketing mix</a:t>
          </a:r>
          <a:endParaRPr lang="en-US" sz="2600" kern="1200" dirty="0">
            <a:solidFill>
              <a:schemeClr val="bg1"/>
            </a:solidFill>
          </a:endParaRPr>
        </a:p>
      </dsp:txBody>
      <dsp:txXfrm>
        <a:off x="440009" y="3323620"/>
        <a:ext cx="3360118" cy="514145"/>
      </dsp:txXfrm>
    </dsp:sp>
    <dsp:sp modelId="{518E6B64-E58F-4A8B-8B69-31AEEC6B56EF}">
      <dsp:nvSpPr>
        <dsp:cNvPr id="0" name=""/>
        <dsp:cNvSpPr/>
      </dsp:nvSpPr>
      <dsp:spPr>
        <a:xfrm>
          <a:off x="424013" y="3937782"/>
          <a:ext cx="3392110" cy="546137"/>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Product differentiation</a:t>
          </a:r>
          <a:endParaRPr lang="en-US" sz="2600" kern="1200" dirty="0">
            <a:solidFill>
              <a:schemeClr val="bg1"/>
            </a:solidFill>
          </a:endParaRPr>
        </a:p>
      </dsp:txBody>
      <dsp:txXfrm>
        <a:off x="440009" y="3953778"/>
        <a:ext cx="3360118" cy="5141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98A2E-752E-4EE2-8507-559B11BE8CF2}">
      <dsp:nvSpPr>
        <dsp:cNvPr id="0" name=""/>
        <dsp:cNvSpPr/>
      </dsp:nvSpPr>
      <dsp:spPr>
        <a:xfrm>
          <a:off x="0" y="0"/>
          <a:ext cx="4240138" cy="47208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tx2">
                  <a:lumMod val="50000"/>
                </a:schemeClr>
              </a:solidFill>
            </a:rPr>
            <a:t>INTERNAL FACTORS</a:t>
          </a:r>
          <a:endParaRPr lang="en-US" sz="3600" b="1" kern="1200" dirty="0">
            <a:solidFill>
              <a:schemeClr val="tx2">
                <a:lumMod val="50000"/>
              </a:schemeClr>
            </a:solidFill>
          </a:endParaRPr>
        </a:p>
      </dsp:txBody>
      <dsp:txXfrm>
        <a:off x="0" y="0"/>
        <a:ext cx="4240138" cy="1416256"/>
      </dsp:txXfrm>
    </dsp:sp>
    <dsp:sp modelId="{EEB5EDF3-AC6A-404C-948C-770BC7D6ECA3}">
      <dsp:nvSpPr>
        <dsp:cNvPr id="0" name=""/>
        <dsp:cNvSpPr/>
      </dsp:nvSpPr>
      <dsp:spPr>
        <a:xfrm>
          <a:off x="424013" y="1417150"/>
          <a:ext cx="3392110" cy="54613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rgbClr val="000000"/>
              </a:solidFill>
              <a:latin typeface="Franklin Gothic Book"/>
              <a:ea typeface="+mn-ea"/>
              <a:cs typeface="+mn-cs"/>
            </a:rPr>
            <a:t>Cost</a:t>
          </a:r>
        </a:p>
      </dsp:txBody>
      <dsp:txXfrm>
        <a:off x="440009" y="1433146"/>
        <a:ext cx="3360118" cy="514145"/>
      </dsp:txXfrm>
    </dsp:sp>
    <dsp:sp modelId="{302A0843-6FA4-4A1D-88E6-AEDF7F765846}">
      <dsp:nvSpPr>
        <dsp:cNvPr id="0" name=""/>
        <dsp:cNvSpPr/>
      </dsp:nvSpPr>
      <dsp:spPr>
        <a:xfrm>
          <a:off x="424013" y="2047308"/>
          <a:ext cx="3392110" cy="546137"/>
        </a:xfrm>
        <a:prstGeom prst="roundRect">
          <a:avLst>
            <a:gd name="adj" fmla="val 10000"/>
          </a:avLst>
        </a:prstGeom>
        <a:solidFill>
          <a:schemeClr val="accent2">
            <a:hueOff val="2113568"/>
            <a:satOff val="-13208"/>
            <a:lumOff val="-75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rgbClr val="000000"/>
              </a:solidFill>
              <a:latin typeface="Franklin Gothic Book"/>
              <a:ea typeface="+mn-ea"/>
              <a:cs typeface="+mn-cs"/>
            </a:rPr>
            <a:t>Company</a:t>
          </a:r>
          <a:r>
            <a:rPr lang="en-US" sz="2600" b="1" i="0" kern="1200" dirty="0">
              <a:solidFill>
                <a:srgbClr val="C00000"/>
              </a:solidFill>
            </a:rPr>
            <a:t> </a:t>
          </a:r>
          <a:r>
            <a:rPr lang="en-US" sz="2600" b="0" i="0" kern="1200" dirty="0">
              <a:solidFill>
                <a:srgbClr val="000000"/>
              </a:solidFill>
              <a:latin typeface="Franklin Gothic Book"/>
              <a:ea typeface="+mn-ea"/>
              <a:cs typeface="+mn-cs"/>
            </a:rPr>
            <a:t>objectives</a:t>
          </a:r>
        </a:p>
      </dsp:txBody>
      <dsp:txXfrm>
        <a:off x="440009" y="2063304"/>
        <a:ext cx="3360118" cy="514145"/>
      </dsp:txXfrm>
    </dsp:sp>
    <dsp:sp modelId="{391B290B-E829-45B8-9189-033E0A12CC04}">
      <dsp:nvSpPr>
        <dsp:cNvPr id="0" name=""/>
        <dsp:cNvSpPr/>
      </dsp:nvSpPr>
      <dsp:spPr>
        <a:xfrm>
          <a:off x="424013" y="2677466"/>
          <a:ext cx="3392110" cy="546137"/>
        </a:xfrm>
        <a:prstGeom prst="roundRect">
          <a:avLst>
            <a:gd name="adj" fmla="val 10000"/>
          </a:avLst>
        </a:prstGeom>
        <a:solidFill>
          <a:schemeClr val="accent2">
            <a:hueOff val="4227136"/>
            <a:satOff val="-26416"/>
            <a:lumOff val="-15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err="1">
              <a:solidFill>
                <a:srgbClr val="C00000"/>
              </a:solidFill>
            </a:rPr>
            <a:t>Organisational</a:t>
          </a:r>
          <a:r>
            <a:rPr lang="en-US" sz="2600" b="1" i="0" kern="1200" dirty="0">
              <a:solidFill>
                <a:srgbClr val="C00000"/>
              </a:solidFill>
            </a:rPr>
            <a:t> factors</a:t>
          </a:r>
          <a:endParaRPr lang="en-US" sz="2600" b="1" kern="1200" dirty="0">
            <a:solidFill>
              <a:srgbClr val="C00000"/>
            </a:solidFill>
          </a:endParaRPr>
        </a:p>
      </dsp:txBody>
      <dsp:txXfrm>
        <a:off x="440009" y="2693462"/>
        <a:ext cx="3360118" cy="514145"/>
      </dsp:txXfrm>
    </dsp:sp>
    <dsp:sp modelId="{C9654758-079A-413D-A93A-FEC3AC199DC5}">
      <dsp:nvSpPr>
        <dsp:cNvPr id="0" name=""/>
        <dsp:cNvSpPr/>
      </dsp:nvSpPr>
      <dsp:spPr>
        <a:xfrm>
          <a:off x="424013" y="3307624"/>
          <a:ext cx="3392110" cy="546137"/>
        </a:xfrm>
        <a:prstGeom prst="roundRect">
          <a:avLst>
            <a:gd name="adj" fmla="val 10000"/>
          </a:avLst>
        </a:prstGeom>
        <a:solidFill>
          <a:schemeClr val="accent2">
            <a:hueOff val="6340703"/>
            <a:satOff val="-39625"/>
            <a:lumOff val="-224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Marketing mix</a:t>
          </a:r>
          <a:endParaRPr lang="en-US" sz="2600" kern="1200" dirty="0">
            <a:solidFill>
              <a:schemeClr val="bg1"/>
            </a:solidFill>
          </a:endParaRPr>
        </a:p>
      </dsp:txBody>
      <dsp:txXfrm>
        <a:off x="440009" y="3323620"/>
        <a:ext cx="3360118" cy="514145"/>
      </dsp:txXfrm>
    </dsp:sp>
    <dsp:sp modelId="{518E6B64-E58F-4A8B-8B69-31AEEC6B56EF}">
      <dsp:nvSpPr>
        <dsp:cNvPr id="0" name=""/>
        <dsp:cNvSpPr/>
      </dsp:nvSpPr>
      <dsp:spPr>
        <a:xfrm>
          <a:off x="424013" y="3937782"/>
          <a:ext cx="3392110" cy="546137"/>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Product differentiation</a:t>
          </a:r>
          <a:endParaRPr lang="en-US" sz="2600" kern="1200" dirty="0">
            <a:solidFill>
              <a:schemeClr val="bg1"/>
            </a:solidFill>
          </a:endParaRPr>
        </a:p>
      </dsp:txBody>
      <dsp:txXfrm>
        <a:off x="440009" y="3953778"/>
        <a:ext cx="3360118" cy="5141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98A2E-752E-4EE2-8507-559B11BE8CF2}">
      <dsp:nvSpPr>
        <dsp:cNvPr id="0" name=""/>
        <dsp:cNvSpPr/>
      </dsp:nvSpPr>
      <dsp:spPr>
        <a:xfrm>
          <a:off x="0" y="0"/>
          <a:ext cx="4240138" cy="47208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tx2">
                  <a:lumMod val="50000"/>
                </a:schemeClr>
              </a:solidFill>
            </a:rPr>
            <a:t>INTERNAL FACTORS</a:t>
          </a:r>
          <a:endParaRPr lang="en-US" sz="3600" b="1" kern="1200" dirty="0">
            <a:solidFill>
              <a:schemeClr val="tx2">
                <a:lumMod val="50000"/>
              </a:schemeClr>
            </a:solidFill>
          </a:endParaRPr>
        </a:p>
      </dsp:txBody>
      <dsp:txXfrm>
        <a:off x="0" y="0"/>
        <a:ext cx="4240138" cy="1416256"/>
      </dsp:txXfrm>
    </dsp:sp>
    <dsp:sp modelId="{EEB5EDF3-AC6A-404C-948C-770BC7D6ECA3}">
      <dsp:nvSpPr>
        <dsp:cNvPr id="0" name=""/>
        <dsp:cNvSpPr/>
      </dsp:nvSpPr>
      <dsp:spPr>
        <a:xfrm>
          <a:off x="424013" y="1417150"/>
          <a:ext cx="3392110" cy="54613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rgbClr val="000000"/>
              </a:solidFill>
              <a:latin typeface="Franklin Gothic Book"/>
              <a:ea typeface="+mn-ea"/>
              <a:cs typeface="+mn-cs"/>
            </a:rPr>
            <a:t>Cost</a:t>
          </a:r>
        </a:p>
      </dsp:txBody>
      <dsp:txXfrm>
        <a:off x="440009" y="1433146"/>
        <a:ext cx="3360118" cy="514145"/>
      </dsp:txXfrm>
    </dsp:sp>
    <dsp:sp modelId="{302A0843-6FA4-4A1D-88E6-AEDF7F765846}">
      <dsp:nvSpPr>
        <dsp:cNvPr id="0" name=""/>
        <dsp:cNvSpPr/>
      </dsp:nvSpPr>
      <dsp:spPr>
        <a:xfrm>
          <a:off x="424013" y="2047308"/>
          <a:ext cx="3392110" cy="546137"/>
        </a:xfrm>
        <a:prstGeom prst="roundRect">
          <a:avLst>
            <a:gd name="adj" fmla="val 10000"/>
          </a:avLst>
        </a:prstGeom>
        <a:solidFill>
          <a:schemeClr val="accent2">
            <a:hueOff val="2113568"/>
            <a:satOff val="-13208"/>
            <a:lumOff val="-75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rgbClr val="000000"/>
              </a:solidFill>
              <a:latin typeface="Franklin Gothic Book"/>
              <a:ea typeface="+mn-ea"/>
              <a:cs typeface="+mn-cs"/>
            </a:rPr>
            <a:t>Company</a:t>
          </a:r>
          <a:r>
            <a:rPr lang="en-US" sz="2600" b="1" i="0" kern="1200" dirty="0">
              <a:solidFill>
                <a:srgbClr val="C00000"/>
              </a:solidFill>
            </a:rPr>
            <a:t> </a:t>
          </a:r>
          <a:r>
            <a:rPr lang="en-US" sz="2600" b="0" i="0" kern="1200" dirty="0">
              <a:solidFill>
                <a:srgbClr val="000000"/>
              </a:solidFill>
              <a:latin typeface="Franklin Gothic Book"/>
              <a:ea typeface="+mn-ea"/>
              <a:cs typeface="+mn-cs"/>
            </a:rPr>
            <a:t>objectives</a:t>
          </a:r>
        </a:p>
      </dsp:txBody>
      <dsp:txXfrm>
        <a:off x="440009" y="2063304"/>
        <a:ext cx="3360118" cy="514145"/>
      </dsp:txXfrm>
    </dsp:sp>
    <dsp:sp modelId="{391B290B-E829-45B8-9189-033E0A12CC04}">
      <dsp:nvSpPr>
        <dsp:cNvPr id="0" name=""/>
        <dsp:cNvSpPr/>
      </dsp:nvSpPr>
      <dsp:spPr>
        <a:xfrm>
          <a:off x="424013" y="2677466"/>
          <a:ext cx="3392110" cy="546137"/>
        </a:xfrm>
        <a:prstGeom prst="roundRect">
          <a:avLst>
            <a:gd name="adj" fmla="val 10000"/>
          </a:avLst>
        </a:prstGeom>
        <a:solidFill>
          <a:schemeClr val="accent2">
            <a:hueOff val="4227136"/>
            <a:satOff val="-26416"/>
            <a:lumOff val="-15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err="1">
              <a:solidFill>
                <a:schemeClr val="bg1"/>
              </a:solidFill>
            </a:rPr>
            <a:t>Organisational</a:t>
          </a:r>
          <a:r>
            <a:rPr lang="en-US" sz="2600" b="0" i="0" kern="1200" dirty="0">
              <a:solidFill>
                <a:schemeClr val="bg1"/>
              </a:solidFill>
            </a:rPr>
            <a:t> factors</a:t>
          </a:r>
          <a:endParaRPr lang="en-US" sz="2600" b="0" kern="1200" dirty="0">
            <a:solidFill>
              <a:schemeClr val="bg1"/>
            </a:solidFill>
          </a:endParaRPr>
        </a:p>
      </dsp:txBody>
      <dsp:txXfrm>
        <a:off x="440009" y="2693462"/>
        <a:ext cx="3360118" cy="514145"/>
      </dsp:txXfrm>
    </dsp:sp>
    <dsp:sp modelId="{C9654758-079A-413D-A93A-FEC3AC199DC5}">
      <dsp:nvSpPr>
        <dsp:cNvPr id="0" name=""/>
        <dsp:cNvSpPr/>
      </dsp:nvSpPr>
      <dsp:spPr>
        <a:xfrm>
          <a:off x="424013" y="3307624"/>
          <a:ext cx="3392110" cy="546137"/>
        </a:xfrm>
        <a:prstGeom prst="roundRect">
          <a:avLst>
            <a:gd name="adj" fmla="val 10000"/>
          </a:avLst>
        </a:prstGeom>
        <a:solidFill>
          <a:schemeClr val="accent2">
            <a:hueOff val="6340703"/>
            <a:satOff val="-39625"/>
            <a:lumOff val="-224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Marketing</a:t>
          </a:r>
          <a:r>
            <a:rPr lang="en-US" sz="2600" b="0" i="0" kern="1200" dirty="0">
              <a:solidFill>
                <a:schemeClr val="bg1"/>
              </a:solidFill>
            </a:rPr>
            <a:t> </a:t>
          </a:r>
          <a:r>
            <a:rPr lang="en-US" sz="2600" b="1" i="0" kern="1200" dirty="0">
              <a:solidFill>
                <a:srgbClr val="C00000"/>
              </a:solidFill>
            </a:rPr>
            <a:t>mix</a:t>
          </a:r>
          <a:endParaRPr lang="en-US" sz="2600" b="1" kern="1200" dirty="0">
            <a:solidFill>
              <a:srgbClr val="C00000"/>
            </a:solidFill>
          </a:endParaRPr>
        </a:p>
      </dsp:txBody>
      <dsp:txXfrm>
        <a:off x="440009" y="3323620"/>
        <a:ext cx="3360118" cy="514145"/>
      </dsp:txXfrm>
    </dsp:sp>
    <dsp:sp modelId="{518E6B64-E58F-4A8B-8B69-31AEEC6B56EF}">
      <dsp:nvSpPr>
        <dsp:cNvPr id="0" name=""/>
        <dsp:cNvSpPr/>
      </dsp:nvSpPr>
      <dsp:spPr>
        <a:xfrm>
          <a:off x="424013" y="3937782"/>
          <a:ext cx="3392110" cy="546137"/>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Product differentiation</a:t>
          </a:r>
          <a:endParaRPr lang="en-US" sz="2600" kern="1200" dirty="0">
            <a:solidFill>
              <a:schemeClr val="bg1"/>
            </a:solidFill>
          </a:endParaRPr>
        </a:p>
      </dsp:txBody>
      <dsp:txXfrm>
        <a:off x="440009" y="3953778"/>
        <a:ext cx="3360118" cy="51414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98A2E-752E-4EE2-8507-559B11BE8CF2}">
      <dsp:nvSpPr>
        <dsp:cNvPr id="0" name=""/>
        <dsp:cNvSpPr/>
      </dsp:nvSpPr>
      <dsp:spPr>
        <a:xfrm>
          <a:off x="0" y="0"/>
          <a:ext cx="4240138" cy="47208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tx2">
                  <a:lumMod val="50000"/>
                </a:schemeClr>
              </a:solidFill>
            </a:rPr>
            <a:t>INTERNAL FACTORS</a:t>
          </a:r>
          <a:endParaRPr lang="en-US" sz="3600" b="1" kern="1200" dirty="0">
            <a:solidFill>
              <a:schemeClr val="tx2">
                <a:lumMod val="50000"/>
              </a:schemeClr>
            </a:solidFill>
          </a:endParaRPr>
        </a:p>
      </dsp:txBody>
      <dsp:txXfrm>
        <a:off x="0" y="0"/>
        <a:ext cx="4240138" cy="1416256"/>
      </dsp:txXfrm>
    </dsp:sp>
    <dsp:sp modelId="{EEB5EDF3-AC6A-404C-948C-770BC7D6ECA3}">
      <dsp:nvSpPr>
        <dsp:cNvPr id="0" name=""/>
        <dsp:cNvSpPr/>
      </dsp:nvSpPr>
      <dsp:spPr>
        <a:xfrm>
          <a:off x="424013" y="1417150"/>
          <a:ext cx="3392110" cy="54613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rgbClr val="000000"/>
              </a:solidFill>
              <a:latin typeface="Franklin Gothic Book"/>
              <a:ea typeface="+mn-ea"/>
              <a:cs typeface="+mn-cs"/>
            </a:rPr>
            <a:t>Cost</a:t>
          </a:r>
        </a:p>
      </dsp:txBody>
      <dsp:txXfrm>
        <a:off x="440009" y="1433146"/>
        <a:ext cx="3360118" cy="514145"/>
      </dsp:txXfrm>
    </dsp:sp>
    <dsp:sp modelId="{302A0843-6FA4-4A1D-88E6-AEDF7F765846}">
      <dsp:nvSpPr>
        <dsp:cNvPr id="0" name=""/>
        <dsp:cNvSpPr/>
      </dsp:nvSpPr>
      <dsp:spPr>
        <a:xfrm>
          <a:off x="424013" y="2047308"/>
          <a:ext cx="3392110" cy="546137"/>
        </a:xfrm>
        <a:prstGeom prst="roundRect">
          <a:avLst>
            <a:gd name="adj" fmla="val 10000"/>
          </a:avLst>
        </a:prstGeom>
        <a:solidFill>
          <a:schemeClr val="accent2">
            <a:hueOff val="2113568"/>
            <a:satOff val="-13208"/>
            <a:lumOff val="-75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rgbClr val="000000"/>
              </a:solidFill>
              <a:latin typeface="Franklin Gothic Book"/>
              <a:ea typeface="+mn-ea"/>
              <a:cs typeface="+mn-cs"/>
            </a:rPr>
            <a:t>Company</a:t>
          </a:r>
          <a:r>
            <a:rPr lang="en-US" sz="2600" b="1" i="0" kern="1200" dirty="0">
              <a:solidFill>
                <a:srgbClr val="C00000"/>
              </a:solidFill>
            </a:rPr>
            <a:t> </a:t>
          </a:r>
          <a:r>
            <a:rPr lang="en-US" sz="2600" b="0" i="0" kern="1200" dirty="0">
              <a:solidFill>
                <a:srgbClr val="000000"/>
              </a:solidFill>
              <a:latin typeface="Franklin Gothic Book"/>
              <a:ea typeface="+mn-ea"/>
              <a:cs typeface="+mn-cs"/>
            </a:rPr>
            <a:t>objectives</a:t>
          </a:r>
        </a:p>
      </dsp:txBody>
      <dsp:txXfrm>
        <a:off x="440009" y="2063304"/>
        <a:ext cx="3360118" cy="514145"/>
      </dsp:txXfrm>
    </dsp:sp>
    <dsp:sp modelId="{391B290B-E829-45B8-9189-033E0A12CC04}">
      <dsp:nvSpPr>
        <dsp:cNvPr id="0" name=""/>
        <dsp:cNvSpPr/>
      </dsp:nvSpPr>
      <dsp:spPr>
        <a:xfrm>
          <a:off x="424013" y="2677466"/>
          <a:ext cx="3392110" cy="546137"/>
        </a:xfrm>
        <a:prstGeom prst="roundRect">
          <a:avLst>
            <a:gd name="adj" fmla="val 10000"/>
          </a:avLst>
        </a:prstGeom>
        <a:solidFill>
          <a:schemeClr val="accent2">
            <a:hueOff val="4227136"/>
            <a:satOff val="-26416"/>
            <a:lumOff val="-15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l" defTabSz="1200150">
            <a:lnSpc>
              <a:spcPct val="90000"/>
            </a:lnSpc>
            <a:spcBef>
              <a:spcPct val="0"/>
            </a:spcBef>
            <a:spcAft>
              <a:spcPct val="35000"/>
            </a:spcAft>
            <a:buNone/>
          </a:pPr>
          <a:r>
            <a:rPr lang="en-US" sz="2700" b="0" i="0" kern="1200" dirty="0" err="1">
              <a:solidFill>
                <a:schemeClr val="bg1"/>
              </a:solidFill>
            </a:rPr>
            <a:t>Organisational</a:t>
          </a:r>
          <a:r>
            <a:rPr lang="en-US" sz="2700" b="0" i="0" kern="1200" dirty="0">
              <a:solidFill>
                <a:schemeClr val="bg1"/>
              </a:solidFill>
            </a:rPr>
            <a:t> factors</a:t>
          </a:r>
          <a:endParaRPr lang="en-US" sz="2700" b="0" kern="1200" dirty="0">
            <a:solidFill>
              <a:schemeClr val="bg1"/>
            </a:solidFill>
          </a:endParaRPr>
        </a:p>
      </dsp:txBody>
      <dsp:txXfrm>
        <a:off x="440009" y="2693462"/>
        <a:ext cx="3360118" cy="514145"/>
      </dsp:txXfrm>
    </dsp:sp>
    <dsp:sp modelId="{C9654758-079A-413D-A93A-FEC3AC199DC5}">
      <dsp:nvSpPr>
        <dsp:cNvPr id="0" name=""/>
        <dsp:cNvSpPr/>
      </dsp:nvSpPr>
      <dsp:spPr>
        <a:xfrm>
          <a:off x="424013" y="3307624"/>
          <a:ext cx="3392110" cy="546137"/>
        </a:xfrm>
        <a:prstGeom prst="roundRect">
          <a:avLst>
            <a:gd name="adj" fmla="val 10000"/>
          </a:avLst>
        </a:prstGeom>
        <a:solidFill>
          <a:schemeClr val="accent2">
            <a:hueOff val="6340703"/>
            <a:satOff val="-39625"/>
            <a:lumOff val="-224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l" defTabSz="1200150">
            <a:lnSpc>
              <a:spcPct val="90000"/>
            </a:lnSpc>
            <a:spcBef>
              <a:spcPct val="0"/>
            </a:spcBef>
            <a:spcAft>
              <a:spcPct val="35000"/>
            </a:spcAft>
            <a:buNone/>
          </a:pPr>
          <a:r>
            <a:rPr lang="en-US" sz="2700" b="0" i="0" kern="1200" dirty="0">
              <a:solidFill>
                <a:schemeClr val="bg1"/>
              </a:solidFill>
            </a:rPr>
            <a:t>Marketing mix</a:t>
          </a:r>
          <a:endParaRPr lang="en-US" sz="2700" b="0" kern="1200" dirty="0">
            <a:solidFill>
              <a:schemeClr val="bg1"/>
            </a:solidFill>
          </a:endParaRPr>
        </a:p>
      </dsp:txBody>
      <dsp:txXfrm>
        <a:off x="440009" y="3323620"/>
        <a:ext cx="3360118" cy="514145"/>
      </dsp:txXfrm>
    </dsp:sp>
    <dsp:sp modelId="{518E6B64-E58F-4A8B-8B69-31AEEC6B56EF}">
      <dsp:nvSpPr>
        <dsp:cNvPr id="0" name=""/>
        <dsp:cNvSpPr/>
      </dsp:nvSpPr>
      <dsp:spPr>
        <a:xfrm>
          <a:off x="424013" y="3937782"/>
          <a:ext cx="3392110" cy="546137"/>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latin typeface="Franklin Gothic Book"/>
              <a:ea typeface="+mn-ea"/>
              <a:cs typeface="+mn-cs"/>
            </a:rPr>
            <a:t>Product</a:t>
          </a:r>
          <a:r>
            <a:rPr lang="en-US" sz="2600" b="1" i="0" kern="1200" dirty="0">
              <a:solidFill>
                <a:srgbClr val="C00000"/>
              </a:solidFill>
            </a:rPr>
            <a:t> </a:t>
          </a:r>
          <a:r>
            <a:rPr lang="en-US" sz="2600" b="1" i="0" kern="1200" dirty="0">
              <a:solidFill>
                <a:srgbClr val="C00000"/>
              </a:solidFill>
              <a:latin typeface="Franklin Gothic Book"/>
              <a:ea typeface="+mn-ea"/>
              <a:cs typeface="+mn-cs"/>
            </a:rPr>
            <a:t>differentiation</a:t>
          </a:r>
        </a:p>
      </dsp:txBody>
      <dsp:txXfrm>
        <a:off x="440009" y="3953778"/>
        <a:ext cx="3360118" cy="5141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A656B-A05C-4F44-8FF1-4E26D83D2740}">
      <dsp:nvSpPr>
        <dsp:cNvPr id="0" name=""/>
        <dsp:cNvSpPr/>
      </dsp:nvSpPr>
      <dsp:spPr>
        <a:xfrm>
          <a:off x="0" y="0"/>
          <a:ext cx="4816758"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0" y="0"/>
        <a:ext cx="4816758" cy="1489233"/>
      </dsp:txXfrm>
    </dsp:sp>
    <dsp:sp modelId="{9221D3F4-DEB0-4092-ACE9-4B96E52D90DE}">
      <dsp:nvSpPr>
        <dsp:cNvPr id="0" name=""/>
        <dsp:cNvSpPr/>
      </dsp:nvSpPr>
      <dsp:spPr>
        <a:xfrm>
          <a:off x="481675" y="1489476"/>
          <a:ext cx="3853406" cy="4765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Demand</a:t>
          </a:r>
          <a:endParaRPr lang="en-US" sz="2600" b="1" kern="1200" dirty="0">
            <a:solidFill>
              <a:srgbClr val="C00000"/>
            </a:solidFill>
          </a:endParaRPr>
        </a:p>
      </dsp:txBody>
      <dsp:txXfrm>
        <a:off x="495634" y="1503435"/>
        <a:ext cx="3825488" cy="448678"/>
      </dsp:txXfrm>
    </dsp:sp>
    <dsp:sp modelId="{96DD649F-B07C-4DFD-9BC9-920A10363FBD}">
      <dsp:nvSpPr>
        <dsp:cNvPr id="0" name=""/>
        <dsp:cNvSpPr/>
      </dsp:nvSpPr>
      <dsp:spPr>
        <a:xfrm>
          <a:off x="481675" y="2039394"/>
          <a:ext cx="3853406" cy="476596"/>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Competition</a:t>
          </a:r>
          <a:endParaRPr lang="en-US" sz="2600" kern="1200" dirty="0">
            <a:solidFill>
              <a:schemeClr val="bg1"/>
            </a:solidFill>
          </a:endParaRPr>
        </a:p>
      </dsp:txBody>
      <dsp:txXfrm>
        <a:off x="495634" y="2053353"/>
        <a:ext cx="3825488" cy="448678"/>
      </dsp:txXfrm>
    </dsp:sp>
    <dsp:sp modelId="{D714470B-1E1D-4914-8A22-48C1F2C0BCD9}">
      <dsp:nvSpPr>
        <dsp:cNvPr id="0" name=""/>
        <dsp:cNvSpPr/>
      </dsp:nvSpPr>
      <dsp:spPr>
        <a:xfrm>
          <a:off x="481675" y="2589313"/>
          <a:ext cx="3853406" cy="476596"/>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Suppliers</a:t>
          </a:r>
          <a:endParaRPr lang="en-US" sz="2600" kern="1200" dirty="0">
            <a:solidFill>
              <a:schemeClr val="bg1"/>
            </a:solidFill>
          </a:endParaRPr>
        </a:p>
      </dsp:txBody>
      <dsp:txXfrm>
        <a:off x="495634" y="2603272"/>
        <a:ext cx="3825488" cy="448678"/>
      </dsp:txXfrm>
    </dsp:sp>
    <dsp:sp modelId="{DE61BABE-ADE5-4885-89F7-25FACA60EDB2}">
      <dsp:nvSpPr>
        <dsp:cNvPr id="0" name=""/>
        <dsp:cNvSpPr/>
      </dsp:nvSpPr>
      <dsp:spPr>
        <a:xfrm>
          <a:off x="481675" y="3139231"/>
          <a:ext cx="385340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Economic conditions</a:t>
          </a:r>
          <a:endParaRPr lang="en-US" sz="2600" kern="1200" dirty="0">
            <a:solidFill>
              <a:schemeClr val="bg1"/>
            </a:solidFill>
          </a:endParaRPr>
        </a:p>
      </dsp:txBody>
      <dsp:txXfrm>
        <a:off x="495634" y="3153190"/>
        <a:ext cx="3825488" cy="448678"/>
      </dsp:txXfrm>
    </dsp:sp>
    <dsp:sp modelId="{8A9DBCD0-F49A-465C-8DD2-99606190AE9A}">
      <dsp:nvSpPr>
        <dsp:cNvPr id="0" name=""/>
        <dsp:cNvSpPr/>
      </dsp:nvSpPr>
      <dsp:spPr>
        <a:xfrm>
          <a:off x="481675" y="3689150"/>
          <a:ext cx="385340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Consumers</a:t>
          </a:r>
          <a:endParaRPr lang="en-US" sz="2600" kern="1200" dirty="0">
            <a:solidFill>
              <a:schemeClr val="bg1"/>
            </a:solidFill>
          </a:endParaRPr>
        </a:p>
      </dsp:txBody>
      <dsp:txXfrm>
        <a:off x="495634" y="3703109"/>
        <a:ext cx="3825488" cy="448678"/>
      </dsp:txXfrm>
    </dsp:sp>
    <dsp:sp modelId="{BA841D14-48F1-45FB-B3B3-C29B78A625E3}">
      <dsp:nvSpPr>
        <dsp:cNvPr id="0" name=""/>
        <dsp:cNvSpPr/>
      </dsp:nvSpPr>
      <dsp:spPr>
        <a:xfrm>
          <a:off x="481675" y="4239068"/>
          <a:ext cx="385340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Government</a:t>
          </a:r>
          <a:endParaRPr lang="en-US" sz="2600" kern="1200" dirty="0">
            <a:solidFill>
              <a:schemeClr val="bg1"/>
            </a:solidFill>
          </a:endParaRPr>
        </a:p>
      </dsp:txBody>
      <dsp:txXfrm>
        <a:off x="495634" y="4253027"/>
        <a:ext cx="3825488" cy="44867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A656B-A05C-4F44-8FF1-4E26D83D2740}">
      <dsp:nvSpPr>
        <dsp:cNvPr id="0" name=""/>
        <dsp:cNvSpPr/>
      </dsp:nvSpPr>
      <dsp:spPr>
        <a:xfrm>
          <a:off x="0" y="0"/>
          <a:ext cx="4816758"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0" y="0"/>
        <a:ext cx="4816758" cy="1489233"/>
      </dsp:txXfrm>
    </dsp:sp>
    <dsp:sp modelId="{9221D3F4-DEB0-4092-ACE9-4B96E52D90DE}">
      <dsp:nvSpPr>
        <dsp:cNvPr id="0" name=""/>
        <dsp:cNvSpPr/>
      </dsp:nvSpPr>
      <dsp:spPr>
        <a:xfrm>
          <a:off x="481675" y="1489476"/>
          <a:ext cx="3853406" cy="4765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Demand</a:t>
          </a:r>
          <a:endParaRPr lang="en-US" sz="2600" kern="1200" dirty="0">
            <a:solidFill>
              <a:schemeClr val="bg1"/>
            </a:solidFill>
          </a:endParaRPr>
        </a:p>
      </dsp:txBody>
      <dsp:txXfrm>
        <a:off x="495634" y="1503435"/>
        <a:ext cx="3825488" cy="448678"/>
      </dsp:txXfrm>
    </dsp:sp>
    <dsp:sp modelId="{96DD649F-B07C-4DFD-9BC9-920A10363FBD}">
      <dsp:nvSpPr>
        <dsp:cNvPr id="0" name=""/>
        <dsp:cNvSpPr/>
      </dsp:nvSpPr>
      <dsp:spPr>
        <a:xfrm>
          <a:off x="481675" y="2039394"/>
          <a:ext cx="3853406" cy="476596"/>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Competition</a:t>
          </a:r>
          <a:endParaRPr lang="en-US" sz="2600" b="1" kern="1200" dirty="0">
            <a:solidFill>
              <a:srgbClr val="C00000"/>
            </a:solidFill>
          </a:endParaRPr>
        </a:p>
      </dsp:txBody>
      <dsp:txXfrm>
        <a:off x="495634" y="2053353"/>
        <a:ext cx="3825488" cy="448678"/>
      </dsp:txXfrm>
    </dsp:sp>
    <dsp:sp modelId="{D714470B-1E1D-4914-8A22-48C1F2C0BCD9}">
      <dsp:nvSpPr>
        <dsp:cNvPr id="0" name=""/>
        <dsp:cNvSpPr/>
      </dsp:nvSpPr>
      <dsp:spPr>
        <a:xfrm>
          <a:off x="481675" y="2589313"/>
          <a:ext cx="3853406" cy="476596"/>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Suppliers</a:t>
          </a:r>
          <a:endParaRPr lang="en-US" sz="2600" kern="1200" dirty="0">
            <a:solidFill>
              <a:schemeClr val="bg1"/>
            </a:solidFill>
          </a:endParaRPr>
        </a:p>
      </dsp:txBody>
      <dsp:txXfrm>
        <a:off x="495634" y="2603272"/>
        <a:ext cx="3825488" cy="448678"/>
      </dsp:txXfrm>
    </dsp:sp>
    <dsp:sp modelId="{DE61BABE-ADE5-4885-89F7-25FACA60EDB2}">
      <dsp:nvSpPr>
        <dsp:cNvPr id="0" name=""/>
        <dsp:cNvSpPr/>
      </dsp:nvSpPr>
      <dsp:spPr>
        <a:xfrm>
          <a:off x="481675" y="3139231"/>
          <a:ext cx="385340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Economic conditions</a:t>
          </a:r>
          <a:endParaRPr lang="en-US" sz="2600" kern="1200" dirty="0">
            <a:solidFill>
              <a:schemeClr val="bg1"/>
            </a:solidFill>
          </a:endParaRPr>
        </a:p>
      </dsp:txBody>
      <dsp:txXfrm>
        <a:off x="495634" y="3153190"/>
        <a:ext cx="3825488" cy="448678"/>
      </dsp:txXfrm>
    </dsp:sp>
    <dsp:sp modelId="{8A9DBCD0-F49A-465C-8DD2-99606190AE9A}">
      <dsp:nvSpPr>
        <dsp:cNvPr id="0" name=""/>
        <dsp:cNvSpPr/>
      </dsp:nvSpPr>
      <dsp:spPr>
        <a:xfrm>
          <a:off x="481675" y="3689150"/>
          <a:ext cx="385340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Consumers</a:t>
          </a:r>
          <a:endParaRPr lang="en-US" sz="2600" kern="1200" dirty="0">
            <a:solidFill>
              <a:schemeClr val="bg1"/>
            </a:solidFill>
          </a:endParaRPr>
        </a:p>
      </dsp:txBody>
      <dsp:txXfrm>
        <a:off x="495634" y="3703109"/>
        <a:ext cx="3825488" cy="448678"/>
      </dsp:txXfrm>
    </dsp:sp>
    <dsp:sp modelId="{BA841D14-48F1-45FB-B3B3-C29B78A625E3}">
      <dsp:nvSpPr>
        <dsp:cNvPr id="0" name=""/>
        <dsp:cNvSpPr/>
      </dsp:nvSpPr>
      <dsp:spPr>
        <a:xfrm>
          <a:off x="481675" y="4239068"/>
          <a:ext cx="385340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Government</a:t>
          </a:r>
          <a:endParaRPr lang="en-US" sz="2600" kern="1200" dirty="0">
            <a:solidFill>
              <a:schemeClr val="bg1"/>
            </a:solidFill>
          </a:endParaRPr>
        </a:p>
      </dsp:txBody>
      <dsp:txXfrm>
        <a:off x="495634" y="4253027"/>
        <a:ext cx="3825488" cy="44867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A656B-A05C-4F44-8FF1-4E26D83D2740}">
      <dsp:nvSpPr>
        <dsp:cNvPr id="0" name=""/>
        <dsp:cNvSpPr/>
      </dsp:nvSpPr>
      <dsp:spPr>
        <a:xfrm>
          <a:off x="0" y="0"/>
          <a:ext cx="4816758"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0" y="0"/>
        <a:ext cx="4816758" cy="1489233"/>
      </dsp:txXfrm>
    </dsp:sp>
    <dsp:sp modelId="{9221D3F4-DEB0-4092-ACE9-4B96E52D90DE}">
      <dsp:nvSpPr>
        <dsp:cNvPr id="0" name=""/>
        <dsp:cNvSpPr/>
      </dsp:nvSpPr>
      <dsp:spPr>
        <a:xfrm>
          <a:off x="481675" y="1489476"/>
          <a:ext cx="3853406" cy="4765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Demand</a:t>
          </a:r>
          <a:endParaRPr lang="en-US" sz="2600" kern="1200" dirty="0">
            <a:solidFill>
              <a:schemeClr val="bg1"/>
            </a:solidFill>
          </a:endParaRPr>
        </a:p>
      </dsp:txBody>
      <dsp:txXfrm>
        <a:off x="495634" y="1503435"/>
        <a:ext cx="3825488" cy="448678"/>
      </dsp:txXfrm>
    </dsp:sp>
    <dsp:sp modelId="{96DD649F-B07C-4DFD-9BC9-920A10363FBD}">
      <dsp:nvSpPr>
        <dsp:cNvPr id="0" name=""/>
        <dsp:cNvSpPr/>
      </dsp:nvSpPr>
      <dsp:spPr>
        <a:xfrm>
          <a:off x="481675" y="2039394"/>
          <a:ext cx="3853406" cy="476596"/>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Competition</a:t>
          </a:r>
          <a:endParaRPr lang="en-US" sz="2600" b="0" kern="1200" dirty="0">
            <a:solidFill>
              <a:schemeClr val="bg1"/>
            </a:solidFill>
          </a:endParaRPr>
        </a:p>
      </dsp:txBody>
      <dsp:txXfrm>
        <a:off x="495634" y="2053353"/>
        <a:ext cx="3825488" cy="448678"/>
      </dsp:txXfrm>
    </dsp:sp>
    <dsp:sp modelId="{D714470B-1E1D-4914-8A22-48C1F2C0BCD9}">
      <dsp:nvSpPr>
        <dsp:cNvPr id="0" name=""/>
        <dsp:cNvSpPr/>
      </dsp:nvSpPr>
      <dsp:spPr>
        <a:xfrm>
          <a:off x="481675" y="2589313"/>
          <a:ext cx="3853406" cy="476596"/>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Suppliers</a:t>
          </a:r>
          <a:endParaRPr lang="en-US" sz="2600" b="1" kern="1200" dirty="0">
            <a:solidFill>
              <a:srgbClr val="C00000"/>
            </a:solidFill>
          </a:endParaRPr>
        </a:p>
      </dsp:txBody>
      <dsp:txXfrm>
        <a:off x="495634" y="2603272"/>
        <a:ext cx="3825488" cy="448678"/>
      </dsp:txXfrm>
    </dsp:sp>
    <dsp:sp modelId="{DE61BABE-ADE5-4885-89F7-25FACA60EDB2}">
      <dsp:nvSpPr>
        <dsp:cNvPr id="0" name=""/>
        <dsp:cNvSpPr/>
      </dsp:nvSpPr>
      <dsp:spPr>
        <a:xfrm>
          <a:off x="481675" y="3139231"/>
          <a:ext cx="385340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Economic conditions</a:t>
          </a:r>
          <a:endParaRPr lang="en-US" sz="2600" kern="1200" dirty="0">
            <a:solidFill>
              <a:schemeClr val="bg1"/>
            </a:solidFill>
          </a:endParaRPr>
        </a:p>
      </dsp:txBody>
      <dsp:txXfrm>
        <a:off x="495634" y="3153190"/>
        <a:ext cx="3825488" cy="448678"/>
      </dsp:txXfrm>
    </dsp:sp>
    <dsp:sp modelId="{8A9DBCD0-F49A-465C-8DD2-99606190AE9A}">
      <dsp:nvSpPr>
        <dsp:cNvPr id="0" name=""/>
        <dsp:cNvSpPr/>
      </dsp:nvSpPr>
      <dsp:spPr>
        <a:xfrm>
          <a:off x="481675" y="3689150"/>
          <a:ext cx="385340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Consumers</a:t>
          </a:r>
          <a:endParaRPr lang="en-US" sz="2600" kern="1200" dirty="0">
            <a:solidFill>
              <a:schemeClr val="bg1"/>
            </a:solidFill>
          </a:endParaRPr>
        </a:p>
      </dsp:txBody>
      <dsp:txXfrm>
        <a:off x="495634" y="3703109"/>
        <a:ext cx="3825488" cy="448678"/>
      </dsp:txXfrm>
    </dsp:sp>
    <dsp:sp modelId="{BA841D14-48F1-45FB-B3B3-C29B78A625E3}">
      <dsp:nvSpPr>
        <dsp:cNvPr id="0" name=""/>
        <dsp:cNvSpPr/>
      </dsp:nvSpPr>
      <dsp:spPr>
        <a:xfrm>
          <a:off x="481675" y="4239068"/>
          <a:ext cx="385340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Government</a:t>
          </a:r>
          <a:endParaRPr lang="en-US" sz="2600" kern="1200" dirty="0">
            <a:solidFill>
              <a:schemeClr val="bg1"/>
            </a:solidFill>
          </a:endParaRPr>
        </a:p>
      </dsp:txBody>
      <dsp:txXfrm>
        <a:off x="495634" y="4253027"/>
        <a:ext cx="3825488" cy="44867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A656B-A05C-4F44-8FF1-4E26D83D2740}">
      <dsp:nvSpPr>
        <dsp:cNvPr id="0" name=""/>
        <dsp:cNvSpPr/>
      </dsp:nvSpPr>
      <dsp:spPr>
        <a:xfrm>
          <a:off x="0" y="0"/>
          <a:ext cx="4816758"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0" y="0"/>
        <a:ext cx="4816758" cy="1489233"/>
      </dsp:txXfrm>
    </dsp:sp>
    <dsp:sp modelId="{9221D3F4-DEB0-4092-ACE9-4B96E52D90DE}">
      <dsp:nvSpPr>
        <dsp:cNvPr id="0" name=""/>
        <dsp:cNvSpPr/>
      </dsp:nvSpPr>
      <dsp:spPr>
        <a:xfrm>
          <a:off x="481675" y="1489476"/>
          <a:ext cx="3853406" cy="4765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Demand</a:t>
          </a:r>
          <a:endParaRPr lang="en-US" sz="2600" kern="1200" dirty="0">
            <a:solidFill>
              <a:schemeClr val="bg1"/>
            </a:solidFill>
          </a:endParaRPr>
        </a:p>
      </dsp:txBody>
      <dsp:txXfrm>
        <a:off x="495634" y="1503435"/>
        <a:ext cx="3825488" cy="448678"/>
      </dsp:txXfrm>
    </dsp:sp>
    <dsp:sp modelId="{96DD649F-B07C-4DFD-9BC9-920A10363FBD}">
      <dsp:nvSpPr>
        <dsp:cNvPr id="0" name=""/>
        <dsp:cNvSpPr/>
      </dsp:nvSpPr>
      <dsp:spPr>
        <a:xfrm>
          <a:off x="481675" y="2039394"/>
          <a:ext cx="3853406" cy="476596"/>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Competition</a:t>
          </a:r>
          <a:endParaRPr lang="en-US" sz="2600" b="0" kern="1200" dirty="0">
            <a:solidFill>
              <a:schemeClr val="bg1"/>
            </a:solidFill>
          </a:endParaRPr>
        </a:p>
      </dsp:txBody>
      <dsp:txXfrm>
        <a:off x="495634" y="2053353"/>
        <a:ext cx="3825488" cy="448678"/>
      </dsp:txXfrm>
    </dsp:sp>
    <dsp:sp modelId="{D714470B-1E1D-4914-8A22-48C1F2C0BCD9}">
      <dsp:nvSpPr>
        <dsp:cNvPr id="0" name=""/>
        <dsp:cNvSpPr/>
      </dsp:nvSpPr>
      <dsp:spPr>
        <a:xfrm>
          <a:off x="481675" y="2589313"/>
          <a:ext cx="3853406" cy="476596"/>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Suppliers</a:t>
          </a:r>
          <a:endParaRPr lang="en-US" sz="2600" b="0" kern="1200" dirty="0">
            <a:solidFill>
              <a:schemeClr val="bg1"/>
            </a:solidFill>
          </a:endParaRPr>
        </a:p>
      </dsp:txBody>
      <dsp:txXfrm>
        <a:off x="495634" y="2603272"/>
        <a:ext cx="3825488" cy="448678"/>
      </dsp:txXfrm>
    </dsp:sp>
    <dsp:sp modelId="{DE61BABE-ADE5-4885-89F7-25FACA60EDB2}">
      <dsp:nvSpPr>
        <dsp:cNvPr id="0" name=""/>
        <dsp:cNvSpPr/>
      </dsp:nvSpPr>
      <dsp:spPr>
        <a:xfrm>
          <a:off x="481675" y="3139231"/>
          <a:ext cx="385340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Economic conditions</a:t>
          </a:r>
          <a:endParaRPr lang="en-US" sz="2600" b="1" kern="1200" dirty="0">
            <a:solidFill>
              <a:srgbClr val="C00000"/>
            </a:solidFill>
          </a:endParaRPr>
        </a:p>
      </dsp:txBody>
      <dsp:txXfrm>
        <a:off x="495634" y="3153190"/>
        <a:ext cx="3825488" cy="448678"/>
      </dsp:txXfrm>
    </dsp:sp>
    <dsp:sp modelId="{8A9DBCD0-F49A-465C-8DD2-99606190AE9A}">
      <dsp:nvSpPr>
        <dsp:cNvPr id="0" name=""/>
        <dsp:cNvSpPr/>
      </dsp:nvSpPr>
      <dsp:spPr>
        <a:xfrm>
          <a:off x="481675" y="3689150"/>
          <a:ext cx="385340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Consumers</a:t>
          </a:r>
          <a:endParaRPr lang="en-US" sz="2600" kern="1200" dirty="0">
            <a:solidFill>
              <a:schemeClr val="bg1"/>
            </a:solidFill>
          </a:endParaRPr>
        </a:p>
      </dsp:txBody>
      <dsp:txXfrm>
        <a:off x="495634" y="3703109"/>
        <a:ext cx="3825488" cy="448678"/>
      </dsp:txXfrm>
    </dsp:sp>
    <dsp:sp modelId="{BA841D14-48F1-45FB-B3B3-C29B78A625E3}">
      <dsp:nvSpPr>
        <dsp:cNvPr id="0" name=""/>
        <dsp:cNvSpPr/>
      </dsp:nvSpPr>
      <dsp:spPr>
        <a:xfrm>
          <a:off x="481675" y="4239068"/>
          <a:ext cx="385340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Government</a:t>
          </a:r>
          <a:endParaRPr lang="en-US" sz="2600" kern="1200" dirty="0">
            <a:solidFill>
              <a:schemeClr val="bg1"/>
            </a:solidFill>
          </a:endParaRPr>
        </a:p>
      </dsp:txBody>
      <dsp:txXfrm>
        <a:off x="495634" y="4253027"/>
        <a:ext cx="3825488" cy="44867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A656B-A05C-4F44-8FF1-4E26D83D2740}">
      <dsp:nvSpPr>
        <dsp:cNvPr id="0" name=""/>
        <dsp:cNvSpPr/>
      </dsp:nvSpPr>
      <dsp:spPr>
        <a:xfrm>
          <a:off x="0" y="0"/>
          <a:ext cx="4816758"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0" y="0"/>
        <a:ext cx="4816758" cy="1489233"/>
      </dsp:txXfrm>
    </dsp:sp>
    <dsp:sp modelId="{9221D3F4-DEB0-4092-ACE9-4B96E52D90DE}">
      <dsp:nvSpPr>
        <dsp:cNvPr id="0" name=""/>
        <dsp:cNvSpPr/>
      </dsp:nvSpPr>
      <dsp:spPr>
        <a:xfrm>
          <a:off x="481675" y="1489476"/>
          <a:ext cx="3853406" cy="4765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Demand</a:t>
          </a:r>
          <a:endParaRPr lang="en-US" sz="2600" kern="1200" dirty="0">
            <a:solidFill>
              <a:schemeClr val="bg1"/>
            </a:solidFill>
          </a:endParaRPr>
        </a:p>
      </dsp:txBody>
      <dsp:txXfrm>
        <a:off x="495634" y="1503435"/>
        <a:ext cx="3825488" cy="448678"/>
      </dsp:txXfrm>
    </dsp:sp>
    <dsp:sp modelId="{96DD649F-B07C-4DFD-9BC9-920A10363FBD}">
      <dsp:nvSpPr>
        <dsp:cNvPr id="0" name=""/>
        <dsp:cNvSpPr/>
      </dsp:nvSpPr>
      <dsp:spPr>
        <a:xfrm>
          <a:off x="481675" y="2039394"/>
          <a:ext cx="3853406" cy="476596"/>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Competition</a:t>
          </a:r>
          <a:endParaRPr lang="en-US" sz="2600" b="0" kern="1200" dirty="0">
            <a:solidFill>
              <a:schemeClr val="bg1"/>
            </a:solidFill>
          </a:endParaRPr>
        </a:p>
      </dsp:txBody>
      <dsp:txXfrm>
        <a:off x="495634" y="2053353"/>
        <a:ext cx="3825488" cy="448678"/>
      </dsp:txXfrm>
    </dsp:sp>
    <dsp:sp modelId="{D714470B-1E1D-4914-8A22-48C1F2C0BCD9}">
      <dsp:nvSpPr>
        <dsp:cNvPr id="0" name=""/>
        <dsp:cNvSpPr/>
      </dsp:nvSpPr>
      <dsp:spPr>
        <a:xfrm>
          <a:off x="481675" y="2589313"/>
          <a:ext cx="3853406" cy="476596"/>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Suppliers</a:t>
          </a:r>
          <a:endParaRPr lang="en-US" sz="2600" b="0" kern="1200" dirty="0">
            <a:solidFill>
              <a:schemeClr val="bg1"/>
            </a:solidFill>
          </a:endParaRPr>
        </a:p>
      </dsp:txBody>
      <dsp:txXfrm>
        <a:off x="495634" y="2603272"/>
        <a:ext cx="3825488" cy="448678"/>
      </dsp:txXfrm>
    </dsp:sp>
    <dsp:sp modelId="{DE61BABE-ADE5-4885-89F7-25FACA60EDB2}">
      <dsp:nvSpPr>
        <dsp:cNvPr id="0" name=""/>
        <dsp:cNvSpPr/>
      </dsp:nvSpPr>
      <dsp:spPr>
        <a:xfrm>
          <a:off x="481675" y="3139231"/>
          <a:ext cx="385340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Economic conditions</a:t>
          </a:r>
          <a:endParaRPr lang="en-US" sz="2600" b="1" kern="1200" dirty="0">
            <a:solidFill>
              <a:srgbClr val="C00000"/>
            </a:solidFill>
          </a:endParaRPr>
        </a:p>
      </dsp:txBody>
      <dsp:txXfrm>
        <a:off x="495634" y="3153190"/>
        <a:ext cx="3825488" cy="448678"/>
      </dsp:txXfrm>
    </dsp:sp>
    <dsp:sp modelId="{8A9DBCD0-F49A-465C-8DD2-99606190AE9A}">
      <dsp:nvSpPr>
        <dsp:cNvPr id="0" name=""/>
        <dsp:cNvSpPr/>
      </dsp:nvSpPr>
      <dsp:spPr>
        <a:xfrm>
          <a:off x="481675" y="3689150"/>
          <a:ext cx="385340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Consumers</a:t>
          </a:r>
          <a:endParaRPr lang="en-US" sz="2600" kern="1200" dirty="0">
            <a:solidFill>
              <a:schemeClr val="bg1"/>
            </a:solidFill>
          </a:endParaRPr>
        </a:p>
      </dsp:txBody>
      <dsp:txXfrm>
        <a:off x="495634" y="3703109"/>
        <a:ext cx="3825488" cy="448678"/>
      </dsp:txXfrm>
    </dsp:sp>
    <dsp:sp modelId="{BA841D14-48F1-45FB-B3B3-C29B78A625E3}">
      <dsp:nvSpPr>
        <dsp:cNvPr id="0" name=""/>
        <dsp:cNvSpPr/>
      </dsp:nvSpPr>
      <dsp:spPr>
        <a:xfrm>
          <a:off x="481675" y="4239068"/>
          <a:ext cx="385340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Government</a:t>
          </a:r>
          <a:endParaRPr lang="en-US" sz="2600" kern="1200" dirty="0">
            <a:solidFill>
              <a:schemeClr val="bg1"/>
            </a:solidFill>
          </a:endParaRPr>
        </a:p>
      </dsp:txBody>
      <dsp:txXfrm>
        <a:off x="495634" y="4253027"/>
        <a:ext cx="3825488" cy="44867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A656B-A05C-4F44-8FF1-4E26D83D2740}">
      <dsp:nvSpPr>
        <dsp:cNvPr id="0" name=""/>
        <dsp:cNvSpPr/>
      </dsp:nvSpPr>
      <dsp:spPr>
        <a:xfrm>
          <a:off x="0" y="0"/>
          <a:ext cx="4816758"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0" y="0"/>
        <a:ext cx="4816758" cy="1489233"/>
      </dsp:txXfrm>
    </dsp:sp>
    <dsp:sp modelId="{9221D3F4-DEB0-4092-ACE9-4B96E52D90DE}">
      <dsp:nvSpPr>
        <dsp:cNvPr id="0" name=""/>
        <dsp:cNvSpPr/>
      </dsp:nvSpPr>
      <dsp:spPr>
        <a:xfrm>
          <a:off x="481675" y="1489476"/>
          <a:ext cx="3853406" cy="4765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Demand</a:t>
          </a:r>
          <a:endParaRPr lang="en-US" sz="2600" kern="1200" dirty="0">
            <a:solidFill>
              <a:schemeClr val="bg1"/>
            </a:solidFill>
          </a:endParaRPr>
        </a:p>
      </dsp:txBody>
      <dsp:txXfrm>
        <a:off x="495634" y="1503435"/>
        <a:ext cx="3825488" cy="448678"/>
      </dsp:txXfrm>
    </dsp:sp>
    <dsp:sp modelId="{96DD649F-B07C-4DFD-9BC9-920A10363FBD}">
      <dsp:nvSpPr>
        <dsp:cNvPr id="0" name=""/>
        <dsp:cNvSpPr/>
      </dsp:nvSpPr>
      <dsp:spPr>
        <a:xfrm>
          <a:off x="481675" y="2039394"/>
          <a:ext cx="3853406" cy="476596"/>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Competition</a:t>
          </a:r>
          <a:endParaRPr lang="en-US" sz="2600" b="0" kern="1200" dirty="0">
            <a:solidFill>
              <a:schemeClr val="bg1"/>
            </a:solidFill>
          </a:endParaRPr>
        </a:p>
      </dsp:txBody>
      <dsp:txXfrm>
        <a:off x="495634" y="2053353"/>
        <a:ext cx="3825488" cy="448678"/>
      </dsp:txXfrm>
    </dsp:sp>
    <dsp:sp modelId="{D714470B-1E1D-4914-8A22-48C1F2C0BCD9}">
      <dsp:nvSpPr>
        <dsp:cNvPr id="0" name=""/>
        <dsp:cNvSpPr/>
      </dsp:nvSpPr>
      <dsp:spPr>
        <a:xfrm>
          <a:off x="481675" y="2589313"/>
          <a:ext cx="3853406" cy="476596"/>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Suppliers</a:t>
          </a:r>
          <a:endParaRPr lang="en-US" sz="2600" b="0" kern="1200" dirty="0">
            <a:solidFill>
              <a:schemeClr val="bg1"/>
            </a:solidFill>
          </a:endParaRPr>
        </a:p>
      </dsp:txBody>
      <dsp:txXfrm>
        <a:off x="495634" y="2603272"/>
        <a:ext cx="3825488" cy="448678"/>
      </dsp:txXfrm>
    </dsp:sp>
    <dsp:sp modelId="{DE61BABE-ADE5-4885-89F7-25FACA60EDB2}">
      <dsp:nvSpPr>
        <dsp:cNvPr id="0" name=""/>
        <dsp:cNvSpPr/>
      </dsp:nvSpPr>
      <dsp:spPr>
        <a:xfrm>
          <a:off x="481675" y="3139231"/>
          <a:ext cx="385340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Economic conditions</a:t>
          </a:r>
          <a:endParaRPr lang="en-US" sz="2600" b="0" kern="1200" dirty="0">
            <a:solidFill>
              <a:schemeClr val="bg1"/>
            </a:solidFill>
          </a:endParaRPr>
        </a:p>
      </dsp:txBody>
      <dsp:txXfrm>
        <a:off x="495634" y="3153190"/>
        <a:ext cx="3825488" cy="448678"/>
      </dsp:txXfrm>
    </dsp:sp>
    <dsp:sp modelId="{8A9DBCD0-F49A-465C-8DD2-99606190AE9A}">
      <dsp:nvSpPr>
        <dsp:cNvPr id="0" name=""/>
        <dsp:cNvSpPr/>
      </dsp:nvSpPr>
      <dsp:spPr>
        <a:xfrm>
          <a:off x="481675" y="3689150"/>
          <a:ext cx="385340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Consumers</a:t>
          </a:r>
          <a:endParaRPr lang="en-US" sz="2600" b="1" kern="1200" dirty="0">
            <a:solidFill>
              <a:srgbClr val="C00000"/>
            </a:solidFill>
          </a:endParaRPr>
        </a:p>
      </dsp:txBody>
      <dsp:txXfrm>
        <a:off x="495634" y="3703109"/>
        <a:ext cx="3825488" cy="448678"/>
      </dsp:txXfrm>
    </dsp:sp>
    <dsp:sp modelId="{BA841D14-48F1-45FB-B3B3-C29B78A625E3}">
      <dsp:nvSpPr>
        <dsp:cNvPr id="0" name=""/>
        <dsp:cNvSpPr/>
      </dsp:nvSpPr>
      <dsp:spPr>
        <a:xfrm>
          <a:off x="481675" y="4239068"/>
          <a:ext cx="385340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Government</a:t>
          </a:r>
          <a:endParaRPr lang="en-US" sz="2600" kern="1200" dirty="0">
            <a:solidFill>
              <a:schemeClr val="bg1"/>
            </a:solidFill>
          </a:endParaRPr>
        </a:p>
      </dsp:txBody>
      <dsp:txXfrm>
        <a:off x="495634" y="4253027"/>
        <a:ext cx="3825488" cy="44867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A656B-A05C-4F44-8FF1-4E26D83D2740}">
      <dsp:nvSpPr>
        <dsp:cNvPr id="0" name=""/>
        <dsp:cNvSpPr/>
      </dsp:nvSpPr>
      <dsp:spPr>
        <a:xfrm>
          <a:off x="0" y="0"/>
          <a:ext cx="4816758" cy="49641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i="0" kern="1200" dirty="0">
              <a:solidFill>
                <a:schemeClr val="accent3">
                  <a:lumMod val="50000"/>
                </a:schemeClr>
              </a:solidFill>
            </a:rPr>
            <a:t>EXTERNAL FACTORS</a:t>
          </a:r>
          <a:endParaRPr lang="en-US" sz="3600" b="1" kern="1200" dirty="0">
            <a:solidFill>
              <a:schemeClr val="accent3">
                <a:lumMod val="50000"/>
              </a:schemeClr>
            </a:solidFill>
          </a:endParaRPr>
        </a:p>
      </dsp:txBody>
      <dsp:txXfrm>
        <a:off x="0" y="0"/>
        <a:ext cx="4816758" cy="1489233"/>
      </dsp:txXfrm>
    </dsp:sp>
    <dsp:sp modelId="{9221D3F4-DEB0-4092-ACE9-4B96E52D90DE}">
      <dsp:nvSpPr>
        <dsp:cNvPr id="0" name=""/>
        <dsp:cNvSpPr/>
      </dsp:nvSpPr>
      <dsp:spPr>
        <a:xfrm>
          <a:off x="481675" y="1489476"/>
          <a:ext cx="3853406" cy="47659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Demand</a:t>
          </a:r>
          <a:endParaRPr lang="en-US" sz="2600" kern="1200" dirty="0">
            <a:solidFill>
              <a:schemeClr val="bg1"/>
            </a:solidFill>
          </a:endParaRPr>
        </a:p>
      </dsp:txBody>
      <dsp:txXfrm>
        <a:off x="495634" y="1503435"/>
        <a:ext cx="3825488" cy="448678"/>
      </dsp:txXfrm>
    </dsp:sp>
    <dsp:sp modelId="{96DD649F-B07C-4DFD-9BC9-920A10363FBD}">
      <dsp:nvSpPr>
        <dsp:cNvPr id="0" name=""/>
        <dsp:cNvSpPr/>
      </dsp:nvSpPr>
      <dsp:spPr>
        <a:xfrm>
          <a:off x="481675" y="2039394"/>
          <a:ext cx="3853406" cy="476596"/>
        </a:xfrm>
        <a:prstGeom prst="roundRect">
          <a:avLst>
            <a:gd name="adj" fmla="val 10000"/>
          </a:avLst>
        </a:prstGeom>
        <a:solidFill>
          <a:schemeClr val="accent2">
            <a:hueOff val="1690854"/>
            <a:satOff val="-10567"/>
            <a:lumOff val="-6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Competition</a:t>
          </a:r>
          <a:endParaRPr lang="en-US" sz="2600" b="0" kern="1200" dirty="0">
            <a:solidFill>
              <a:schemeClr val="bg1"/>
            </a:solidFill>
          </a:endParaRPr>
        </a:p>
      </dsp:txBody>
      <dsp:txXfrm>
        <a:off x="495634" y="2053353"/>
        <a:ext cx="3825488" cy="448678"/>
      </dsp:txXfrm>
    </dsp:sp>
    <dsp:sp modelId="{D714470B-1E1D-4914-8A22-48C1F2C0BCD9}">
      <dsp:nvSpPr>
        <dsp:cNvPr id="0" name=""/>
        <dsp:cNvSpPr/>
      </dsp:nvSpPr>
      <dsp:spPr>
        <a:xfrm>
          <a:off x="481675" y="2589313"/>
          <a:ext cx="3853406" cy="476596"/>
        </a:xfrm>
        <a:prstGeom prst="roundRect">
          <a:avLst>
            <a:gd name="adj" fmla="val 10000"/>
          </a:avLst>
        </a:prstGeom>
        <a:solidFill>
          <a:schemeClr val="accent2">
            <a:hueOff val="3381709"/>
            <a:satOff val="-21133"/>
            <a:lumOff val="-1200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Suppliers</a:t>
          </a:r>
          <a:endParaRPr lang="en-US" sz="2600" b="0" kern="1200" dirty="0">
            <a:solidFill>
              <a:schemeClr val="bg1"/>
            </a:solidFill>
          </a:endParaRPr>
        </a:p>
      </dsp:txBody>
      <dsp:txXfrm>
        <a:off x="495634" y="2603272"/>
        <a:ext cx="3825488" cy="448678"/>
      </dsp:txXfrm>
    </dsp:sp>
    <dsp:sp modelId="{DE61BABE-ADE5-4885-89F7-25FACA60EDB2}">
      <dsp:nvSpPr>
        <dsp:cNvPr id="0" name=""/>
        <dsp:cNvSpPr/>
      </dsp:nvSpPr>
      <dsp:spPr>
        <a:xfrm>
          <a:off x="481675" y="3139231"/>
          <a:ext cx="3853406" cy="476596"/>
        </a:xfrm>
        <a:prstGeom prst="roundRect">
          <a:avLst>
            <a:gd name="adj" fmla="val 10000"/>
          </a:avLst>
        </a:prstGeom>
        <a:solidFill>
          <a:schemeClr val="accent2">
            <a:hueOff val="5072563"/>
            <a:satOff val="-31700"/>
            <a:lumOff val="-17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Economic conditions</a:t>
          </a:r>
          <a:endParaRPr lang="en-US" sz="2600" b="0" kern="1200" dirty="0">
            <a:solidFill>
              <a:schemeClr val="bg1"/>
            </a:solidFill>
          </a:endParaRPr>
        </a:p>
      </dsp:txBody>
      <dsp:txXfrm>
        <a:off x="495634" y="3153190"/>
        <a:ext cx="3825488" cy="448678"/>
      </dsp:txXfrm>
    </dsp:sp>
    <dsp:sp modelId="{8A9DBCD0-F49A-465C-8DD2-99606190AE9A}">
      <dsp:nvSpPr>
        <dsp:cNvPr id="0" name=""/>
        <dsp:cNvSpPr/>
      </dsp:nvSpPr>
      <dsp:spPr>
        <a:xfrm>
          <a:off x="481675" y="3689150"/>
          <a:ext cx="3853406" cy="476596"/>
        </a:xfrm>
        <a:prstGeom prst="roundRect">
          <a:avLst>
            <a:gd name="adj" fmla="val 10000"/>
          </a:avLst>
        </a:prstGeom>
        <a:solidFill>
          <a:schemeClr val="accent2">
            <a:hueOff val="6763418"/>
            <a:satOff val="-42266"/>
            <a:lumOff val="-23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0" i="0" kern="1200" dirty="0">
              <a:solidFill>
                <a:schemeClr val="bg1"/>
              </a:solidFill>
            </a:rPr>
            <a:t>Consumers</a:t>
          </a:r>
          <a:endParaRPr lang="en-US" sz="2600" b="0" kern="1200" dirty="0">
            <a:solidFill>
              <a:schemeClr val="bg1"/>
            </a:solidFill>
          </a:endParaRPr>
        </a:p>
      </dsp:txBody>
      <dsp:txXfrm>
        <a:off x="495634" y="3703109"/>
        <a:ext cx="3825488" cy="448678"/>
      </dsp:txXfrm>
    </dsp:sp>
    <dsp:sp modelId="{BA841D14-48F1-45FB-B3B3-C29B78A625E3}">
      <dsp:nvSpPr>
        <dsp:cNvPr id="0" name=""/>
        <dsp:cNvSpPr/>
      </dsp:nvSpPr>
      <dsp:spPr>
        <a:xfrm>
          <a:off x="481675" y="4239068"/>
          <a:ext cx="3853406" cy="476596"/>
        </a:xfrm>
        <a:prstGeom prst="roundRect">
          <a:avLst>
            <a:gd name="adj" fmla="val 10000"/>
          </a:avLst>
        </a:prstGeom>
        <a:solidFill>
          <a:schemeClr val="accent2">
            <a:hueOff val="8454272"/>
            <a:satOff val="-52833"/>
            <a:lumOff val="-2999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l" defTabSz="1155700">
            <a:lnSpc>
              <a:spcPct val="90000"/>
            </a:lnSpc>
            <a:spcBef>
              <a:spcPct val="0"/>
            </a:spcBef>
            <a:spcAft>
              <a:spcPct val="35000"/>
            </a:spcAft>
            <a:buNone/>
          </a:pPr>
          <a:r>
            <a:rPr lang="en-US" sz="2600" b="1" i="0" kern="1200" dirty="0">
              <a:solidFill>
                <a:srgbClr val="C00000"/>
              </a:solidFill>
            </a:rPr>
            <a:t>Government</a:t>
          </a:r>
          <a:endParaRPr lang="en-US" sz="2600" b="1" kern="1200" dirty="0">
            <a:solidFill>
              <a:srgbClr val="C00000"/>
            </a:solidFill>
          </a:endParaRPr>
        </a:p>
      </dsp:txBody>
      <dsp:txXfrm>
        <a:off x="495634" y="4253027"/>
        <a:ext cx="3825488" cy="448678"/>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16-Feb-23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Mô</a:t>
            </a:r>
            <a:r>
              <a:rPr lang="en-US" dirty="0"/>
              <a:t> </a:t>
            </a:r>
            <a:r>
              <a:rPr lang="en-US" dirty="0" err="1"/>
              <a:t>hình</a:t>
            </a:r>
            <a:r>
              <a:rPr lang="en-US" dirty="0"/>
              <a:t> </a:t>
            </a:r>
            <a:r>
              <a:rPr lang="en-US" dirty="0" err="1"/>
              <a:t>định</a:t>
            </a:r>
            <a:r>
              <a:rPr lang="en-US" dirty="0"/>
              <a:t> </a:t>
            </a:r>
            <a:r>
              <a:rPr lang="en-US" dirty="0" err="1"/>
              <a:t>giá</a:t>
            </a:r>
            <a:r>
              <a:rPr lang="en-US" dirty="0"/>
              <a:t> </a:t>
            </a:r>
            <a:r>
              <a:rPr lang="en-US" dirty="0" err="1"/>
              <a:t>và</a:t>
            </a:r>
            <a:r>
              <a:rPr lang="en-US" dirty="0"/>
              <a:t> </a:t>
            </a:r>
            <a:r>
              <a:rPr lang="en-US" dirty="0" err="1"/>
              <a:t>doanh</a:t>
            </a:r>
            <a:r>
              <a:rPr lang="en-US" dirty="0"/>
              <a:t> </a:t>
            </a:r>
            <a:r>
              <a:rPr lang="en-US" dirty="0" err="1"/>
              <a:t>thu</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3588454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Auctions: </a:t>
            </a:r>
            <a:r>
              <a:rPr lang="en-US" dirty="0" err="1"/>
              <a:t>đấu</a:t>
            </a:r>
            <a:r>
              <a:rPr lang="en-US" dirty="0"/>
              <a:t> </a:t>
            </a:r>
            <a:r>
              <a:rPr lang="en-US" dirty="0" err="1"/>
              <a:t>giá</a:t>
            </a:r>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2666781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301449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internal factors </a:t>
            </a:r>
            <a:r>
              <a:rPr lang="en-US" dirty="0"/>
              <a:t>are factors that can be control, determine and process by the </a:t>
            </a:r>
            <a:r>
              <a:rPr lang="en-US" dirty="0" err="1"/>
              <a:t>organisation</a:t>
            </a:r>
            <a:r>
              <a:rPr lang="en-US" dirty="0"/>
              <a:t>. These factors are mostly in relation with the </a:t>
            </a:r>
            <a:r>
              <a:rPr lang="en-US" dirty="0" err="1"/>
              <a:t>organisation</a:t>
            </a:r>
            <a:r>
              <a:rPr lang="en-US" dirty="0"/>
              <a:t> business level strategy and greatly influenced by the nature of business.</a:t>
            </a:r>
          </a:p>
          <a:p>
            <a:endParaRPr lang="en-US" dirty="0"/>
          </a:p>
          <a:p>
            <a:r>
              <a:rPr lang="en-US" b="1" i="0" dirty="0">
                <a:solidFill>
                  <a:srgbClr val="081C36"/>
                </a:solidFill>
                <a:effectLst/>
                <a:latin typeface="SegoeuiPc"/>
              </a:rPr>
              <a:t>The external factors </a:t>
            </a:r>
            <a:r>
              <a:rPr lang="en-US" b="0" i="0" dirty="0">
                <a:solidFill>
                  <a:srgbClr val="081C36"/>
                </a:solidFill>
                <a:effectLst/>
                <a:latin typeface="SegoeuiPc"/>
              </a:rPr>
              <a:t>are those factors that are not within reach of the </a:t>
            </a:r>
            <a:r>
              <a:rPr lang="en-US" b="0" i="0" dirty="0" err="1">
                <a:solidFill>
                  <a:srgbClr val="081C36"/>
                </a:solidFill>
                <a:effectLst/>
                <a:latin typeface="SegoeuiPc"/>
              </a:rPr>
              <a:t>organisation</a:t>
            </a:r>
            <a:r>
              <a:rPr lang="en-US" b="0" i="0" dirty="0">
                <a:solidFill>
                  <a:srgbClr val="081C36"/>
                </a:solidFill>
                <a:effectLst/>
                <a:latin typeface="SegoeuiPc"/>
              </a:rPr>
              <a:t>. They are external because there are many parties that determine and control these factors. • The business </a:t>
            </a:r>
            <a:r>
              <a:rPr lang="en-US" b="0" i="0" dirty="0" err="1">
                <a:solidFill>
                  <a:srgbClr val="081C36"/>
                </a:solidFill>
                <a:effectLst/>
                <a:latin typeface="SegoeuiPc"/>
              </a:rPr>
              <a:t>organisation</a:t>
            </a:r>
            <a:r>
              <a:rPr lang="en-US" b="0" i="0" dirty="0">
                <a:solidFill>
                  <a:srgbClr val="081C36"/>
                </a:solidFill>
                <a:effectLst/>
                <a:latin typeface="SegoeuiPc"/>
              </a:rPr>
              <a:t> is a party to the external factor and cannot control or determine the aggregate indicators of these factor.</a:t>
            </a:r>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2593711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a:t>
            </a:r>
            <a:r>
              <a:rPr lang="en-US" dirty="0" err="1"/>
              <a:t>phí</a:t>
            </a:r>
            <a:r>
              <a:rPr lang="en-US" dirty="0"/>
              <a:t> </a:t>
            </a:r>
            <a:r>
              <a:rPr lang="en-US" dirty="0" err="1"/>
              <a:t>sản</a:t>
            </a:r>
            <a:r>
              <a:rPr lang="en-US" dirty="0"/>
              <a:t> </a:t>
            </a:r>
            <a:r>
              <a:rPr lang="en-US" dirty="0" err="1"/>
              <a:t>xuất</a:t>
            </a:r>
            <a:r>
              <a:rPr lang="en-US" dirty="0"/>
              <a:t> + </a:t>
            </a:r>
            <a:r>
              <a:rPr lang="en-US" dirty="0" err="1"/>
              <a:t>quảng</a:t>
            </a:r>
            <a:r>
              <a:rPr lang="en-US" dirty="0"/>
              <a:t> </a:t>
            </a:r>
            <a:r>
              <a:rPr lang="en-US" dirty="0" err="1"/>
              <a:t>cáo</a:t>
            </a:r>
            <a:r>
              <a:rPr lang="en-US" dirty="0"/>
              <a:t> + </a:t>
            </a:r>
            <a:r>
              <a:rPr lang="en-US" dirty="0" err="1"/>
              <a:t>phân</a:t>
            </a:r>
            <a:r>
              <a:rPr lang="en-US" dirty="0"/>
              <a:t> </a:t>
            </a:r>
            <a:r>
              <a:rPr lang="en-US" dirty="0" err="1"/>
              <a:t>phối</a:t>
            </a:r>
            <a:endParaRPr lang="en-US" dirty="0"/>
          </a:p>
          <a:p>
            <a:r>
              <a:rPr lang="en-US" dirty="0"/>
              <a:t>Break even point: </a:t>
            </a:r>
            <a:r>
              <a:rPr lang="en-US" dirty="0" err="1"/>
              <a:t>điểm</a:t>
            </a:r>
            <a:r>
              <a:rPr lang="en-US" dirty="0"/>
              <a:t> </a:t>
            </a:r>
            <a:r>
              <a:rPr lang="en-US" dirty="0" err="1"/>
              <a:t>hòa</a:t>
            </a:r>
            <a:r>
              <a:rPr lang="en-US" dirty="0"/>
              <a:t> </a:t>
            </a:r>
            <a:r>
              <a:rPr lang="en-US" dirty="0" err="1"/>
              <a:t>vốn</a:t>
            </a:r>
            <a:endParaRPr lang="en-US" dirty="0"/>
          </a:p>
          <a:p>
            <a:endParaRPr lang="en-US" dirty="0"/>
          </a:p>
          <a:p>
            <a:pPr marL="0" indent="0">
              <a:buFont typeface="Arial" panose="020B0604020202020204" pitchFamily="34" charset="0"/>
              <a:buNone/>
            </a:pPr>
            <a:r>
              <a:rPr lang="en-US" sz="1200" b="0" i="0" dirty="0">
                <a:solidFill>
                  <a:srgbClr val="081C36"/>
                </a:solidFill>
                <a:effectLst/>
                <a:latin typeface="SegoeuiPc"/>
              </a:rPr>
              <a:t>Costs of the product including the amount spent on product development, testing, and packaging, promotion and distribution.</a:t>
            </a:r>
          </a:p>
          <a:p>
            <a:pPr marL="0" indent="0">
              <a:buFont typeface="Arial" panose="020B0604020202020204" pitchFamily="34" charset="0"/>
              <a:buNone/>
            </a:pPr>
            <a:r>
              <a:rPr lang="en-US" sz="1200" b="0" i="0" dirty="0">
                <a:solidFill>
                  <a:srgbClr val="081C36"/>
                </a:solidFill>
                <a:effectLst/>
                <a:latin typeface="SegoeuiPc"/>
              </a:rPr>
              <a:t>For a product to be profitable it must attain a break even point. Its where a company recovers the money it has spend on a product </a:t>
            </a:r>
            <a:r>
              <a:rPr lang="en-US" sz="1200" dirty="0">
                <a:solidFill>
                  <a:srgbClr val="081C36"/>
                </a:solidFill>
                <a:latin typeface="SegoeuiPc"/>
              </a:rPr>
              <a:t>a</a:t>
            </a:r>
            <a:r>
              <a:rPr lang="en-US" sz="1200" b="0" i="0" dirty="0">
                <a:solidFill>
                  <a:srgbClr val="081C36"/>
                </a:solidFill>
                <a:effectLst/>
                <a:latin typeface="SegoeuiPc"/>
              </a:rPr>
              <a:t>nd start attaining profits</a:t>
            </a:r>
            <a:endParaRPr lang="en-US" sz="1200"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116508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081C36"/>
                </a:solidFill>
                <a:effectLst/>
                <a:latin typeface="SegoeuiPc"/>
              </a:rPr>
              <a:t>Với</a:t>
            </a:r>
            <a:r>
              <a:rPr lang="en-US" b="0" i="0" dirty="0">
                <a:solidFill>
                  <a:srgbClr val="081C36"/>
                </a:solidFill>
                <a:effectLst/>
                <a:latin typeface="SegoeuiPc"/>
              </a:rPr>
              <a:t> </a:t>
            </a:r>
            <a:r>
              <a:rPr lang="en-US" b="0" i="0" dirty="0" err="1">
                <a:solidFill>
                  <a:srgbClr val="081C36"/>
                </a:solidFill>
                <a:effectLst/>
                <a:latin typeface="SegoeuiPc"/>
              </a:rPr>
              <a:t>mỗi</a:t>
            </a:r>
            <a:r>
              <a:rPr lang="en-US" b="0" i="0" dirty="0">
                <a:solidFill>
                  <a:srgbClr val="081C36"/>
                </a:solidFill>
                <a:effectLst/>
                <a:latin typeface="SegoeuiPc"/>
              </a:rPr>
              <a:t> </a:t>
            </a:r>
            <a:r>
              <a:rPr lang="en-US" b="0" i="0" dirty="0" err="1">
                <a:solidFill>
                  <a:srgbClr val="081C36"/>
                </a:solidFill>
                <a:effectLst/>
                <a:latin typeface="SegoeuiPc"/>
              </a:rPr>
              <a:t>sản</a:t>
            </a:r>
            <a:r>
              <a:rPr lang="en-US" b="0" i="0" dirty="0">
                <a:solidFill>
                  <a:srgbClr val="081C36"/>
                </a:solidFill>
                <a:effectLst/>
                <a:latin typeface="SegoeuiPc"/>
              </a:rPr>
              <a:t> </a:t>
            </a:r>
            <a:r>
              <a:rPr lang="en-US" b="0" i="0" dirty="0" err="1">
                <a:solidFill>
                  <a:srgbClr val="081C36"/>
                </a:solidFill>
                <a:effectLst/>
                <a:latin typeface="SegoeuiPc"/>
              </a:rPr>
              <a:t>phẩm</a:t>
            </a:r>
            <a:r>
              <a:rPr lang="en-US" b="0" i="0" dirty="0">
                <a:solidFill>
                  <a:srgbClr val="081C36"/>
                </a:solidFill>
                <a:effectLst/>
                <a:latin typeface="SegoeuiPc"/>
              </a:rPr>
              <a:t>, </a:t>
            </a:r>
            <a:r>
              <a:rPr lang="en-US" b="0" i="0" dirty="0" err="1">
                <a:solidFill>
                  <a:srgbClr val="081C36"/>
                </a:solidFill>
                <a:effectLst/>
                <a:latin typeface="SegoeuiPc"/>
              </a:rPr>
              <a:t>trong</a:t>
            </a:r>
            <a:r>
              <a:rPr lang="en-US" b="0" i="0" dirty="0">
                <a:solidFill>
                  <a:srgbClr val="081C36"/>
                </a:solidFill>
                <a:effectLst/>
                <a:latin typeface="SegoeuiPc"/>
              </a:rPr>
              <a:t> </a:t>
            </a:r>
            <a:r>
              <a:rPr lang="en-US" b="0" i="0" dirty="0" err="1">
                <a:solidFill>
                  <a:srgbClr val="081C36"/>
                </a:solidFill>
                <a:effectLst/>
                <a:latin typeface="SegoeuiPc"/>
              </a:rPr>
              <a:t>từng</a:t>
            </a:r>
            <a:r>
              <a:rPr lang="en-US" b="0" i="0" dirty="0">
                <a:solidFill>
                  <a:srgbClr val="081C36"/>
                </a:solidFill>
                <a:effectLst/>
                <a:latin typeface="SegoeuiPc"/>
              </a:rPr>
              <a:t> </a:t>
            </a:r>
            <a:r>
              <a:rPr lang="en-US" b="0" i="0" dirty="0" err="1">
                <a:solidFill>
                  <a:srgbClr val="081C36"/>
                </a:solidFill>
                <a:effectLst/>
                <a:latin typeface="SegoeuiPc"/>
              </a:rPr>
              <a:t>thời</a:t>
            </a:r>
            <a:r>
              <a:rPr lang="en-US" b="0" i="0" dirty="0">
                <a:solidFill>
                  <a:srgbClr val="081C36"/>
                </a:solidFill>
                <a:effectLst/>
                <a:latin typeface="SegoeuiPc"/>
              </a:rPr>
              <a:t> </a:t>
            </a:r>
            <a:r>
              <a:rPr lang="en-US" b="0" i="0" dirty="0" err="1">
                <a:solidFill>
                  <a:srgbClr val="081C36"/>
                </a:solidFill>
                <a:effectLst/>
                <a:latin typeface="SegoeuiPc"/>
              </a:rPr>
              <a:t>điểm</a:t>
            </a:r>
            <a:r>
              <a:rPr lang="en-US" b="0" i="0" dirty="0">
                <a:solidFill>
                  <a:srgbClr val="081C36"/>
                </a:solidFill>
                <a:effectLst/>
                <a:latin typeface="SegoeuiPc"/>
              </a:rPr>
              <a:t>, </a:t>
            </a:r>
            <a:r>
              <a:rPr lang="en-US" b="0" i="0" dirty="0" err="1">
                <a:solidFill>
                  <a:srgbClr val="081C36"/>
                </a:solidFill>
                <a:effectLst/>
                <a:latin typeface="SegoeuiPc"/>
              </a:rPr>
              <a:t>công</a:t>
            </a:r>
            <a:r>
              <a:rPr lang="en-US" b="0" i="0" dirty="0">
                <a:solidFill>
                  <a:srgbClr val="081C36"/>
                </a:solidFill>
                <a:effectLst/>
                <a:latin typeface="SegoeuiPc"/>
              </a:rPr>
              <a:t> ty </a:t>
            </a:r>
            <a:r>
              <a:rPr lang="en-US" b="0" i="0" dirty="0" err="1">
                <a:solidFill>
                  <a:srgbClr val="081C36"/>
                </a:solidFill>
                <a:effectLst/>
                <a:latin typeface="SegoeuiPc"/>
              </a:rPr>
              <a:t>có</a:t>
            </a:r>
            <a:r>
              <a:rPr lang="en-US" b="0" i="0" dirty="0">
                <a:solidFill>
                  <a:srgbClr val="081C36"/>
                </a:solidFill>
                <a:effectLst/>
                <a:latin typeface="SegoeuiPc"/>
              </a:rPr>
              <a:t> </a:t>
            </a:r>
            <a:r>
              <a:rPr lang="en-US" b="0" i="0" dirty="0" err="1">
                <a:solidFill>
                  <a:srgbClr val="081C36"/>
                </a:solidFill>
                <a:effectLst/>
                <a:latin typeface="SegoeuiPc"/>
              </a:rPr>
              <a:t>định</a:t>
            </a:r>
            <a:r>
              <a:rPr lang="en-US" b="0" i="0" dirty="0">
                <a:solidFill>
                  <a:srgbClr val="081C36"/>
                </a:solidFill>
                <a:effectLst/>
                <a:latin typeface="SegoeuiPc"/>
              </a:rPr>
              <a:t> </a:t>
            </a:r>
            <a:r>
              <a:rPr lang="en-US" b="0" i="0" dirty="0" err="1">
                <a:solidFill>
                  <a:srgbClr val="081C36"/>
                </a:solidFill>
                <a:effectLst/>
                <a:latin typeface="SegoeuiPc"/>
              </a:rPr>
              <a:t>hướng</a:t>
            </a:r>
            <a:r>
              <a:rPr lang="en-US" b="0" i="0" dirty="0">
                <a:solidFill>
                  <a:srgbClr val="081C36"/>
                </a:solidFill>
                <a:effectLst/>
                <a:latin typeface="SegoeuiPc"/>
              </a:rPr>
              <a:t> </a:t>
            </a:r>
            <a:r>
              <a:rPr lang="en-US" b="0" i="0" dirty="0" err="1">
                <a:solidFill>
                  <a:srgbClr val="081C36"/>
                </a:solidFill>
                <a:effectLst/>
                <a:latin typeface="SegoeuiPc"/>
              </a:rPr>
              <a:t>về</a:t>
            </a:r>
            <a:r>
              <a:rPr lang="en-US" b="0" i="0" dirty="0">
                <a:solidFill>
                  <a:srgbClr val="081C36"/>
                </a:solidFill>
                <a:effectLst/>
                <a:latin typeface="SegoeuiPc"/>
              </a:rPr>
              <a:t> </a:t>
            </a:r>
            <a:r>
              <a:rPr lang="en-US" b="0" i="0" dirty="0" err="1">
                <a:solidFill>
                  <a:srgbClr val="081C36"/>
                </a:solidFill>
                <a:effectLst/>
                <a:latin typeface="SegoeuiPc"/>
              </a:rPr>
              <a:t>giá</a:t>
            </a:r>
            <a:r>
              <a:rPr lang="en-US" b="0" i="0" dirty="0">
                <a:solidFill>
                  <a:srgbClr val="081C36"/>
                </a:solidFill>
                <a:effectLst/>
                <a:latin typeface="SegoeuiPc"/>
              </a:rPr>
              <a:t> </a:t>
            </a:r>
            <a:r>
              <a:rPr lang="en-US" b="0" i="0" dirty="0" err="1">
                <a:solidFill>
                  <a:srgbClr val="081C36"/>
                </a:solidFill>
                <a:effectLst/>
                <a:latin typeface="SegoeuiPc"/>
              </a:rPr>
              <a:t>cho</a:t>
            </a:r>
            <a:r>
              <a:rPr lang="en-US" b="0" i="0" dirty="0">
                <a:solidFill>
                  <a:srgbClr val="081C36"/>
                </a:solidFill>
                <a:effectLst/>
                <a:latin typeface="SegoeuiPc"/>
              </a:rPr>
              <a:t> </a:t>
            </a:r>
            <a:r>
              <a:rPr lang="en-US" b="0" i="0" dirty="0" err="1">
                <a:solidFill>
                  <a:srgbClr val="081C36"/>
                </a:solidFill>
                <a:effectLst/>
                <a:latin typeface="SegoeuiPc"/>
              </a:rPr>
              <a:t>sản</a:t>
            </a:r>
            <a:r>
              <a:rPr lang="en-US" b="0" i="0" dirty="0">
                <a:solidFill>
                  <a:srgbClr val="081C36"/>
                </a:solidFill>
                <a:effectLst/>
                <a:latin typeface="SegoeuiPc"/>
              </a:rPr>
              <a:t> </a:t>
            </a:r>
            <a:r>
              <a:rPr lang="en-US" b="0" i="0" dirty="0" err="1">
                <a:solidFill>
                  <a:srgbClr val="081C36"/>
                </a:solidFill>
                <a:effectLst/>
                <a:latin typeface="SegoeuiPc"/>
              </a:rPr>
              <a:t>phẩm</a:t>
            </a:r>
            <a:r>
              <a:rPr lang="en-US" b="0" i="0" dirty="0">
                <a:solidFill>
                  <a:srgbClr val="081C36"/>
                </a:solidFill>
                <a:effectLst/>
                <a:latin typeface="SegoeuiPc"/>
              </a:rPr>
              <a:t>. </a:t>
            </a:r>
            <a:r>
              <a:rPr lang="en-US" b="0" i="0" dirty="0" err="1">
                <a:solidFill>
                  <a:srgbClr val="081C36"/>
                </a:solidFill>
                <a:effectLst/>
                <a:latin typeface="SegoeuiPc"/>
              </a:rPr>
              <a:t>Ví</a:t>
            </a:r>
            <a:r>
              <a:rPr lang="en-US" b="0" i="0" dirty="0">
                <a:solidFill>
                  <a:srgbClr val="081C36"/>
                </a:solidFill>
                <a:effectLst/>
                <a:latin typeface="SegoeuiPc"/>
              </a:rPr>
              <a:t> </a:t>
            </a:r>
            <a:r>
              <a:rPr lang="en-US" b="0" i="0" dirty="0" err="1">
                <a:solidFill>
                  <a:srgbClr val="081C36"/>
                </a:solidFill>
                <a:effectLst/>
                <a:latin typeface="SegoeuiPc"/>
              </a:rPr>
              <a:t>dụ</a:t>
            </a:r>
            <a:r>
              <a:rPr lang="en-US" b="0" i="0" dirty="0">
                <a:solidFill>
                  <a:srgbClr val="081C36"/>
                </a:solidFill>
                <a:effectLst/>
                <a:latin typeface="SegoeuiPc"/>
              </a:rPr>
              <a:t>: </a:t>
            </a:r>
            <a:r>
              <a:rPr lang="en-US" b="0" i="0" dirty="0" err="1">
                <a:solidFill>
                  <a:srgbClr val="081C36"/>
                </a:solidFill>
                <a:effectLst/>
                <a:latin typeface="SegoeuiPc"/>
              </a:rPr>
              <a:t>mục</a:t>
            </a:r>
            <a:r>
              <a:rPr lang="en-US" b="0" i="0" dirty="0">
                <a:solidFill>
                  <a:srgbClr val="081C36"/>
                </a:solidFill>
                <a:effectLst/>
                <a:latin typeface="SegoeuiPc"/>
              </a:rPr>
              <a:t> </a:t>
            </a:r>
            <a:r>
              <a:rPr lang="en-US" b="0" i="0" dirty="0" err="1">
                <a:solidFill>
                  <a:srgbClr val="081C36"/>
                </a:solidFill>
                <a:effectLst/>
                <a:latin typeface="SegoeuiPc"/>
              </a:rPr>
              <a:t>tiêu</a:t>
            </a:r>
            <a:r>
              <a:rPr lang="en-US" b="0" i="0" dirty="0">
                <a:solidFill>
                  <a:srgbClr val="081C36"/>
                </a:solidFill>
                <a:effectLst/>
                <a:latin typeface="SegoeuiPc"/>
              </a:rPr>
              <a:t> </a:t>
            </a:r>
            <a:r>
              <a:rPr lang="en-US" b="0" i="0" dirty="0" err="1">
                <a:solidFill>
                  <a:srgbClr val="081C36"/>
                </a:solidFill>
                <a:effectLst/>
                <a:latin typeface="SegoeuiPc"/>
              </a:rPr>
              <a:t>của</a:t>
            </a:r>
            <a:r>
              <a:rPr lang="en-US" b="0" i="0" dirty="0">
                <a:solidFill>
                  <a:srgbClr val="081C36"/>
                </a:solidFill>
                <a:effectLst/>
                <a:latin typeface="SegoeuiPc"/>
              </a:rPr>
              <a:t> </a:t>
            </a:r>
            <a:r>
              <a:rPr lang="en-US" b="0" i="0" dirty="0" err="1">
                <a:solidFill>
                  <a:srgbClr val="081C36"/>
                </a:solidFill>
                <a:effectLst/>
                <a:latin typeface="SegoeuiPc"/>
              </a:rPr>
              <a:t>công</a:t>
            </a:r>
            <a:r>
              <a:rPr lang="en-US" b="0" i="0" dirty="0">
                <a:solidFill>
                  <a:srgbClr val="081C36"/>
                </a:solidFill>
                <a:effectLst/>
                <a:latin typeface="SegoeuiPc"/>
              </a:rPr>
              <a:t> ty:</a:t>
            </a:r>
          </a:p>
          <a:p>
            <a:pPr marL="171450" indent="-171450">
              <a:buFontTx/>
              <a:buChar char="-"/>
            </a:pPr>
            <a:r>
              <a:rPr lang="en-US" b="0" i="0" dirty="0" err="1">
                <a:solidFill>
                  <a:srgbClr val="081C36"/>
                </a:solidFill>
                <a:effectLst/>
                <a:latin typeface="SegoeuiPc"/>
              </a:rPr>
              <a:t>Tối</a:t>
            </a:r>
            <a:r>
              <a:rPr lang="en-US" b="0" i="0" dirty="0">
                <a:solidFill>
                  <a:srgbClr val="081C36"/>
                </a:solidFill>
                <a:effectLst/>
                <a:latin typeface="SegoeuiPc"/>
              </a:rPr>
              <a:t> </a:t>
            </a:r>
            <a:r>
              <a:rPr lang="en-US" b="0" i="0" dirty="0" err="1">
                <a:solidFill>
                  <a:srgbClr val="081C36"/>
                </a:solidFill>
                <a:effectLst/>
                <a:latin typeface="SegoeuiPc"/>
              </a:rPr>
              <a:t>đa</a:t>
            </a:r>
            <a:r>
              <a:rPr lang="en-US" b="0" i="0" dirty="0">
                <a:solidFill>
                  <a:srgbClr val="081C36"/>
                </a:solidFill>
                <a:effectLst/>
                <a:latin typeface="SegoeuiPc"/>
              </a:rPr>
              <a:t> </a:t>
            </a:r>
            <a:r>
              <a:rPr lang="en-US" b="0" i="0" dirty="0" err="1">
                <a:solidFill>
                  <a:srgbClr val="081C36"/>
                </a:solidFill>
                <a:effectLst/>
                <a:latin typeface="SegoeuiPc"/>
              </a:rPr>
              <a:t>lợi</a:t>
            </a:r>
            <a:r>
              <a:rPr lang="en-US" b="0" i="0" dirty="0">
                <a:solidFill>
                  <a:srgbClr val="081C36"/>
                </a:solidFill>
                <a:effectLst/>
                <a:latin typeface="SegoeuiPc"/>
              </a:rPr>
              <a:t> </a:t>
            </a:r>
            <a:r>
              <a:rPr lang="en-US" b="0" i="0" dirty="0" err="1">
                <a:solidFill>
                  <a:srgbClr val="081C36"/>
                </a:solidFill>
                <a:effectLst/>
                <a:latin typeface="SegoeuiPc"/>
              </a:rPr>
              <a:t>nhuận</a:t>
            </a:r>
            <a:r>
              <a:rPr lang="en-US" b="0" i="0" dirty="0">
                <a:solidFill>
                  <a:srgbClr val="081C36"/>
                </a:solidFill>
                <a:effectLst/>
                <a:latin typeface="SegoeuiPc"/>
              </a:rPr>
              <a:t> (profit maximization) </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giá</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cao</a:t>
            </a:r>
            <a:endParaRPr lang="en-US" b="0" i="0" dirty="0">
              <a:solidFill>
                <a:srgbClr val="081C36"/>
              </a:solidFill>
              <a:effectLst/>
              <a:latin typeface="SegoeuiPc"/>
            </a:endParaRPr>
          </a:p>
          <a:p>
            <a:pPr marL="171450" indent="-171450">
              <a:buFontTx/>
              <a:buChar char="-"/>
            </a:pPr>
            <a:r>
              <a:rPr lang="en-US" b="0" i="0" dirty="0">
                <a:solidFill>
                  <a:srgbClr val="081C36"/>
                </a:solidFill>
                <a:effectLst/>
                <a:latin typeface="SegoeuiPc"/>
              </a:rPr>
              <a:t>hay </a:t>
            </a:r>
            <a:r>
              <a:rPr lang="en-US" b="0" i="0" dirty="0" err="1">
                <a:solidFill>
                  <a:srgbClr val="081C36"/>
                </a:solidFill>
                <a:effectLst/>
                <a:latin typeface="SegoeuiPc"/>
              </a:rPr>
              <a:t>mở</a:t>
            </a:r>
            <a:r>
              <a:rPr lang="en-US" b="0" i="0" dirty="0">
                <a:solidFill>
                  <a:srgbClr val="081C36"/>
                </a:solidFill>
                <a:effectLst/>
                <a:latin typeface="SegoeuiPc"/>
              </a:rPr>
              <a:t> </a:t>
            </a:r>
            <a:r>
              <a:rPr lang="en-US" b="0" i="0" dirty="0" err="1">
                <a:solidFill>
                  <a:srgbClr val="081C36"/>
                </a:solidFill>
                <a:effectLst/>
                <a:latin typeface="SegoeuiPc"/>
              </a:rPr>
              <a:t>rộng</a:t>
            </a:r>
            <a:r>
              <a:rPr lang="en-US" b="0" i="0" dirty="0">
                <a:solidFill>
                  <a:srgbClr val="081C36"/>
                </a:solidFill>
                <a:effectLst/>
                <a:latin typeface="SegoeuiPc"/>
              </a:rPr>
              <a:t> </a:t>
            </a:r>
            <a:r>
              <a:rPr lang="en-US" b="0" i="0" dirty="0" err="1">
                <a:solidFill>
                  <a:srgbClr val="081C36"/>
                </a:solidFill>
                <a:effectLst/>
                <a:latin typeface="SegoeuiPc"/>
              </a:rPr>
              <a:t>thị</a:t>
            </a:r>
            <a:r>
              <a:rPr lang="en-US" b="0" i="0" dirty="0">
                <a:solidFill>
                  <a:srgbClr val="081C36"/>
                </a:solidFill>
                <a:effectLst/>
                <a:latin typeface="SegoeuiPc"/>
              </a:rPr>
              <a:t> </a:t>
            </a:r>
            <a:r>
              <a:rPr lang="en-US" b="0" i="0" dirty="0" err="1">
                <a:solidFill>
                  <a:srgbClr val="081C36"/>
                </a:solidFill>
                <a:effectLst/>
                <a:latin typeface="SegoeuiPc"/>
              </a:rPr>
              <a:t>trường</a:t>
            </a:r>
            <a:r>
              <a:rPr lang="en-US" b="0" i="0" dirty="0">
                <a:solidFill>
                  <a:srgbClr val="081C36"/>
                </a:solidFill>
                <a:effectLst/>
                <a:latin typeface="SegoeuiPc"/>
              </a:rPr>
              <a:t> </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giá</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thấp</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đề</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thu</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hút</a:t>
            </a:r>
            <a:r>
              <a:rPr lang="en-US" b="0" i="0" dirty="0">
                <a:solidFill>
                  <a:srgbClr val="081C36"/>
                </a:solidFill>
                <a:effectLst/>
                <a:latin typeface="SegoeuiPc"/>
                <a:sym typeface="Wingdings" panose="05000000000000000000" pitchFamily="2" charset="2"/>
              </a:rPr>
              <a:t> </a:t>
            </a:r>
            <a:r>
              <a:rPr lang="en-US" b="0" i="0" dirty="0" err="1">
                <a:solidFill>
                  <a:srgbClr val="081C36"/>
                </a:solidFill>
                <a:effectLst/>
                <a:latin typeface="SegoeuiPc"/>
                <a:sym typeface="Wingdings" panose="05000000000000000000" pitchFamily="2" charset="2"/>
              </a:rPr>
              <a:t>người</a:t>
            </a:r>
            <a:r>
              <a:rPr lang="en-US" b="0" i="0" dirty="0">
                <a:solidFill>
                  <a:srgbClr val="081C36"/>
                </a:solidFill>
                <a:effectLst/>
                <a:latin typeface="SegoeuiPc"/>
                <a:sym typeface="Wingdings" panose="05000000000000000000" pitchFamily="2" charset="2"/>
              </a:rPr>
              <a:t> dung</a:t>
            </a:r>
          </a:p>
          <a:p>
            <a:pPr marL="171450" indent="-171450">
              <a:buFontTx/>
              <a:buChar char="-"/>
            </a:pPr>
            <a:endParaRPr lang="en-US" b="0" i="0" dirty="0">
              <a:solidFill>
                <a:srgbClr val="081C36"/>
              </a:solidFill>
              <a:effectLst/>
              <a:latin typeface="SegoeuiPc"/>
              <a:sym typeface="Wingdings" panose="05000000000000000000" pitchFamily="2" charset="2"/>
            </a:endParaRPr>
          </a:p>
          <a:p>
            <a:pPr algn="just"/>
            <a:r>
              <a:rPr lang="vi-VN" b="0" i="0" dirty="0">
                <a:solidFill>
                  <a:srgbClr val="212529"/>
                </a:solidFill>
                <a:effectLst/>
                <a:latin typeface="-apple-system"/>
              </a:rPr>
              <a:t>Mục tiêu của việc định giá – Price trong Marketing Mix bao gồm:</a:t>
            </a:r>
          </a:p>
          <a:p>
            <a:pPr algn="just"/>
            <a:r>
              <a:rPr lang="vi-VN" b="1" i="0" dirty="0">
                <a:solidFill>
                  <a:srgbClr val="212529"/>
                </a:solidFill>
                <a:effectLst/>
                <a:latin typeface="-apple-system"/>
              </a:rPr>
              <a:t>Tối đa hóa lợi nhuận</a:t>
            </a:r>
            <a:r>
              <a:rPr lang="vi-VN" b="0" i="0" dirty="0">
                <a:solidFill>
                  <a:srgbClr val="212529"/>
                </a:solidFill>
                <a:effectLst/>
                <a:latin typeface="-apple-system"/>
              </a:rPr>
              <a:t>: Mục tiêu chung của công ty trong việc định giá chính là tối đa hóa lợi nhuận. Tuy nhiên, có sự khác biệt trong việc tối đa hóa lợi nhuận ngắn hạn và dài hạn. Trong ngắn hạn, tối đa hóa lợi nhuận đồng nghĩa với việc định giá sản phẩm cao hơn. Nhưng để tối đa hóa lợi nhuận tổng thể về lâu dài, một mức giá thấp hơn sẽ đổi lại thị phần nhiều hơn. Từ đó, doanh nghiệp sẽ kiếm được nhiều lợi nhuận hơn từ doanh số bán hàng về mặt lâu dài.</a:t>
            </a:r>
          </a:p>
          <a:p>
            <a:pPr algn="just"/>
            <a:r>
              <a:rPr lang="vi-VN" b="1" i="0" dirty="0">
                <a:solidFill>
                  <a:srgbClr val="212529"/>
                </a:solidFill>
                <a:effectLst/>
                <a:latin typeface="-apple-system"/>
              </a:rPr>
              <a:t>Tối đa hóa doanh thu</a:t>
            </a:r>
            <a:r>
              <a:rPr lang="vi-VN" b="0" i="0" dirty="0">
                <a:solidFill>
                  <a:srgbClr val="212529"/>
                </a:solidFill>
                <a:effectLst/>
                <a:latin typeface="-apple-system"/>
              </a:rPr>
              <a:t>: Một công ty có thể giảm bớt lợi nhuận và tăng doanh thu bằng cách tăng doanh số bán hàng nhằm cải thiện thị phần và giảm chi phí dài hạn.</a:t>
            </a:r>
          </a:p>
          <a:p>
            <a:pPr algn="just"/>
            <a:r>
              <a:rPr lang="vi-VN" b="1" i="0" dirty="0">
                <a:solidFill>
                  <a:srgbClr val="212529"/>
                </a:solidFill>
                <a:effectLst/>
                <a:latin typeface="-apple-system"/>
              </a:rPr>
              <a:t>Lợi tức đầu tư (ROI)</a:t>
            </a:r>
            <a:r>
              <a:rPr lang="vi-VN" b="0" i="0" dirty="0">
                <a:solidFill>
                  <a:srgbClr val="212529"/>
                </a:solidFill>
                <a:effectLst/>
                <a:latin typeface="-apple-system"/>
              </a:rPr>
              <a:t>: Là mục tiêu chung của chiến dịch Marketing. Một công ty có thể đặt giá để đảm bảo tất cả các sản phẩm đều đạt được tỷ lệ hoàn vốn cụ thể trên tổng chi phí đầu tư.</a:t>
            </a:r>
          </a:p>
          <a:p>
            <a:pPr algn="just"/>
            <a:r>
              <a:rPr lang="vi-VN" b="1" i="0" dirty="0">
                <a:solidFill>
                  <a:srgbClr val="212529"/>
                </a:solidFill>
                <a:effectLst/>
                <a:latin typeface="-apple-system"/>
              </a:rPr>
              <a:t>Gia tăng thị phần</a:t>
            </a:r>
            <a:r>
              <a:rPr lang="vi-VN" b="0" i="0" dirty="0">
                <a:solidFill>
                  <a:srgbClr val="212529"/>
                </a:solidFill>
                <a:effectLst/>
                <a:latin typeface="-apple-system"/>
              </a:rPr>
              <a:t>: Việc định giá có thể khác nhau nếu công ty muốn nắm giữ một thị trường mới hoặc giữ lại một tỷ lệ phần trăm cụ thể của thị trường hiện tại. Đối với các mặt hàng mới, giảm giả giúp chiếm một phần đáng kể thị trường. Từ đó, mức giá có thể tăng dần khi sản phẩm được đối tượng mục tiêu chấp nhận. Trong trường hợp mức độ cạnh tranh thị trường cao, các công ty có thể sử dụng các quyết định định giá nhằm đảm bảo thị phần đã được nắm giữ.</a:t>
            </a:r>
          </a:p>
          <a:p>
            <a:pPr marL="0" indent="0">
              <a:buFontTx/>
              <a:buNone/>
            </a:pPr>
            <a:endParaRPr lang="en-US" b="0" i="0" dirty="0">
              <a:solidFill>
                <a:srgbClr val="081C36"/>
              </a:solidFill>
              <a:effectLst/>
              <a:latin typeface="SegoeuiPc"/>
              <a:sym typeface="Wingdings" panose="05000000000000000000" pitchFamily="2" charset="2"/>
            </a:endParaRPr>
          </a:p>
          <a:p>
            <a:pPr marL="171450" indent="-171450">
              <a:buFontTx/>
              <a:buChar char="-"/>
            </a:pPr>
            <a:endParaRPr lang="en-US" b="0" i="0" dirty="0">
              <a:solidFill>
                <a:srgbClr val="081C36"/>
              </a:solidFill>
              <a:effectLst/>
              <a:latin typeface="SegoeuiPc"/>
            </a:endParaRPr>
          </a:p>
          <a:p>
            <a:r>
              <a:rPr lang="en-US" b="0" i="0" dirty="0">
                <a:solidFill>
                  <a:srgbClr val="081C36"/>
                </a:solidFill>
                <a:effectLst/>
                <a:latin typeface="SegoeuiPc"/>
              </a:rPr>
              <a:t>Some </a:t>
            </a:r>
            <a:r>
              <a:rPr lang="en-US" b="0" i="0" dirty="0" err="1">
                <a:solidFill>
                  <a:srgbClr val="081C36"/>
                </a:solidFill>
                <a:effectLst/>
                <a:latin typeface="SegoeuiPc"/>
              </a:rPr>
              <a:t>organisation</a:t>
            </a:r>
            <a:r>
              <a:rPr lang="en-US" b="0" i="0" dirty="0">
                <a:solidFill>
                  <a:srgbClr val="081C36"/>
                </a:solidFill>
                <a:effectLst/>
                <a:latin typeface="SegoeuiPc"/>
              </a:rPr>
              <a:t> set a cost plus pricing. In such case, a percentage is added to the cost of production in order to arrive at the price.</a:t>
            </a:r>
          </a:p>
          <a:p>
            <a:r>
              <a:rPr lang="en-US" b="0" i="0" dirty="0">
                <a:solidFill>
                  <a:srgbClr val="081C36"/>
                </a:solidFill>
                <a:effectLst/>
                <a:latin typeface="SegoeuiPc"/>
              </a:rPr>
              <a:t>The argue here is that, the company's objective is profit maximization and therefore a pricing decision must be that will consider that profit maximization objective.</a:t>
            </a:r>
          </a:p>
          <a:p>
            <a:r>
              <a:rPr lang="en-US" b="0" i="0" dirty="0">
                <a:solidFill>
                  <a:srgbClr val="081C36"/>
                </a:solidFill>
                <a:effectLst/>
                <a:latin typeface="SegoeuiPc"/>
              </a:rPr>
              <a:t>When pricing decisions are made, they must be in line with the overall company objectives, as this is what will inform what the pricing objective really is, so than the pricing decisions made will not be against the company objective.</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511993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081C36"/>
                </a:solidFill>
                <a:effectLst/>
                <a:latin typeface="SegoeuiPc"/>
              </a:rPr>
              <a:t>Tùy</a:t>
            </a:r>
            <a:r>
              <a:rPr lang="en-US" b="0" i="0" dirty="0">
                <a:solidFill>
                  <a:srgbClr val="081C36"/>
                </a:solidFill>
                <a:effectLst/>
                <a:latin typeface="SegoeuiPc"/>
              </a:rPr>
              <a:t> </a:t>
            </a:r>
            <a:r>
              <a:rPr lang="en-US" b="0" i="0" dirty="0" err="1">
                <a:solidFill>
                  <a:srgbClr val="081C36"/>
                </a:solidFill>
                <a:effectLst/>
                <a:latin typeface="SegoeuiPc"/>
              </a:rPr>
              <a:t>cấu</a:t>
            </a:r>
            <a:r>
              <a:rPr lang="en-US" b="0" i="0" dirty="0">
                <a:solidFill>
                  <a:srgbClr val="081C36"/>
                </a:solidFill>
                <a:effectLst/>
                <a:latin typeface="SegoeuiPc"/>
              </a:rPr>
              <a:t> </a:t>
            </a:r>
            <a:r>
              <a:rPr lang="en-US" b="0" i="0" dirty="0" err="1">
                <a:solidFill>
                  <a:srgbClr val="081C36"/>
                </a:solidFill>
                <a:effectLst/>
                <a:latin typeface="SegoeuiPc"/>
              </a:rPr>
              <a:t>trúc</a:t>
            </a:r>
            <a:r>
              <a:rPr lang="en-US" b="0" i="0" dirty="0">
                <a:solidFill>
                  <a:srgbClr val="081C36"/>
                </a:solidFill>
                <a:effectLst/>
                <a:latin typeface="SegoeuiPc"/>
              </a:rPr>
              <a:t> </a:t>
            </a:r>
            <a:r>
              <a:rPr lang="en-US" b="0" i="0" dirty="0" err="1">
                <a:solidFill>
                  <a:srgbClr val="081C36"/>
                </a:solidFill>
                <a:effectLst/>
                <a:latin typeface="SegoeuiPc"/>
              </a:rPr>
              <a:t>của</a:t>
            </a:r>
            <a:r>
              <a:rPr lang="en-US" b="0" i="0" dirty="0">
                <a:solidFill>
                  <a:srgbClr val="081C36"/>
                </a:solidFill>
                <a:effectLst/>
                <a:latin typeface="SegoeuiPc"/>
              </a:rPr>
              <a:t> </a:t>
            </a:r>
            <a:r>
              <a:rPr lang="en-US" b="0" i="0" dirty="0" err="1">
                <a:solidFill>
                  <a:srgbClr val="081C36"/>
                </a:solidFill>
                <a:effectLst/>
                <a:latin typeface="SegoeuiPc"/>
              </a:rPr>
              <a:t>công</a:t>
            </a:r>
            <a:r>
              <a:rPr lang="en-US" b="0" i="0" dirty="0">
                <a:solidFill>
                  <a:srgbClr val="081C36"/>
                </a:solidFill>
                <a:effectLst/>
                <a:latin typeface="SegoeuiPc"/>
              </a:rPr>
              <a:t> ty, ai </a:t>
            </a:r>
            <a:r>
              <a:rPr lang="en-US" b="0" i="0" dirty="0" err="1">
                <a:solidFill>
                  <a:srgbClr val="081C36"/>
                </a:solidFill>
                <a:effectLst/>
                <a:latin typeface="SegoeuiPc"/>
              </a:rPr>
              <a:t>sẽ</a:t>
            </a:r>
            <a:r>
              <a:rPr lang="en-US" b="0" i="0" dirty="0">
                <a:solidFill>
                  <a:srgbClr val="081C36"/>
                </a:solidFill>
                <a:effectLst/>
                <a:latin typeface="SegoeuiPc"/>
              </a:rPr>
              <a:t> </a:t>
            </a:r>
            <a:r>
              <a:rPr lang="en-US" b="0" i="0" dirty="0" err="1">
                <a:solidFill>
                  <a:srgbClr val="081C36"/>
                </a:solidFill>
                <a:effectLst/>
                <a:latin typeface="SegoeuiPc"/>
              </a:rPr>
              <a:t>là</a:t>
            </a:r>
            <a:r>
              <a:rPr lang="en-US" b="0" i="0" dirty="0">
                <a:solidFill>
                  <a:srgbClr val="081C36"/>
                </a:solidFill>
                <a:effectLst/>
                <a:latin typeface="SegoeuiPc"/>
              </a:rPr>
              <a:t> </a:t>
            </a:r>
            <a:r>
              <a:rPr lang="en-US" b="0" i="0" dirty="0" err="1">
                <a:solidFill>
                  <a:srgbClr val="081C36"/>
                </a:solidFill>
                <a:effectLst/>
                <a:latin typeface="SegoeuiPc"/>
              </a:rPr>
              <a:t>người</a:t>
            </a:r>
            <a:r>
              <a:rPr lang="en-US" b="0" i="0" dirty="0">
                <a:solidFill>
                  <a:srgbClr val="081C36"/>
                </a:solidFill>
                <a:effectLst/>
                <a:latin typeface="SegoeuiPc"/>
              </a:rPr>
              <a:t> </a:t>
            </a:r>
            <a:r>
              <a:rPr lang="en-US" b="0" i="0" dirty="0" err="1">
                <a:solidFill>
                  <a:srgbClr val="081C36"/>
                </a:solidFill>
                <a:effectLst/>
                <a:latin typeface="SegoeuiPc"/>
              </a:rPr>
              <a:t>quyết</a:t>
            </a:r>
            <a:r>
              <a:rPr lang="en-US" b="0" i="0" dirty="0">
                <a:solidFill>
                  <a:srgbClr val="081C36"/>
                </a:solidFill>
                <a:effectLst/>
                <a:latin typeface="SegoeuiPc"/>
              </a:rPr>
              <a:t> </a:t>
            </a:r>
            <a:r>
              <a:rPr lang="en-US" b="0" i="0" dirty="0" err="1">
                <a:solidFill>
                  <a:srgbClr val="081C36"/>
                </a:solidFill>
                <a:effectLst/>
                <a:latin typeface="SegoeuiPc"/>
              </a:rPr>
              <a:t>định</a:t>
            </a:r>
            <a:r>
              <a:rPr lang="en-US" b="0" i="0" dirty="0">
                <a:solidFill>
                  <a:srgbClr val="081C36"/>
                </a:solidFill>
                <a:effectLst/>
                <a:latin typeface="SegoeuiPc"/>
              </a:rPr>
              <a:t> </a:t>
            </a:r>
            <a:r>
              <a:rPr lang="en-US" b="0" i="0" dirty="0" err="1">
                <a:solidFill>
                  <a:srgbClr val="081C36"/>
                </a:solidFill>
                <a:effectLst/>
                <a:latin typeface="SegoeuiPc"/>
              </a:rPr>
              <a:t>giá</a:t>
            </a:r>
            <a:r>
              <a:rPr lang="en-US" b="0" i="0" dirty="0">
                <a:solidFill>
                  <a:srgbClr val="081C36"/>
                </a:solidFill>
                <a:effectLst/>
                <a:latin typeface="SegoeuiPc"/>
              </a:rPr>
              <a:t>.</a:t>
            </a:r>
          </a:p>
          <a:p>
            <a:endParaRPr lang="en-US" dirty="0"/>
          </a:p>
          <a:p>
            <a:r>
              <a:rPr lang="en-US" dirty="0"/>
              <a:t>Management must decide who within the organization should set prices. </a:t>
            </a:r>
          </a:p>
          <a:p>
            <a:r>
              <a:rPr lang="en-US" dirty="0"/>
              <a:t>• For Small companies: CEO or top management</a:t>
            </a:r>
          </a:p>
          <a:p>
            <a:r>
              <a:rPr lang="en-US" dirty="0"/>
              <a:t>• For Large companies: Divisional or product line managers. Some industries have pricing departments.</a:t>
            </a:r>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4244977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1" dirty="0">
                <a:solidFill>
                  <a:srgbClr val="212529"/>
                </a:solidFill>
                <a:effectLst/>
                <a:latin typeface="-apple-system"/>
              </a:rPr>
              <a:t>Price trong Marketing Mix</a:t>
            </a:r>
            <a:r>
              <a:rPr lang="vi-VN" b="0" i="1" dirty="0">
                <a:solidFill>
                  <a:srgbClr val="212529"/>
                </a:solidFill>
                <a:effectLst/>
                <a:latin typeface="-apple-system"/>
              </a:rPr>
              <a:t> là chi phí của một sản phẩm hoặc dịch vụ. Xác định giá cho một sản phẩm hoặc dịch vụ ảnh hưởng lớn đến kế hoạch Marketing của công ty. Doanh nghiệp cần phải chọn một mức giá có thể đồng thời tiếp cận đối với thị trường mục tiêu và mục tiêu của mình. Giá cả có thể có tác động đáng kể đến sự thành công chung của một sản phẩm. </a:t>
            </a:r>
            <a:endParaRPr lang="en-US" b="0" i="1" dirty="0">
              <a:solidFill>
                <a:srgbClr val="212529"/>
              </a:solidFill>
              <a:effectLst/>
              <a:latin typeface="-apple-system"/>
            </a:endParaRPr>
          </a:p>
          <a:p>
            <a:r>
              <a:rPr lang="vi-VN" b="0" i="0" dirty="0">
                <a:solidFill>
                  <a:srgbClr val="212529"/>
                </a:solidFill>
                <a:effectLst/>
                <a:latin typeface="-apple-system"/>
              </a:rPr>
              <a:t>Ví dụ: nếu bạn định giá sản phẩm của mình quá cao so với đối tượng mục tiêu, thì rất ít người trong số họ có khả năng sẽ mua sản phẩm đó. Tương tự, nếu bạn định giá sản phẩm của mình quá thấp, thì một số người có thể bỏ qua. Đơn giản vì họ lo ngại nó có chất lượng kém. Việc này sẽ cắt giảm tỷ suất lợi nhuận tiềm năng của bạn.</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1447571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Roboto" panose="02000000000000000000" pitchFamily="2" charset="0"/>
              </a:rPr>
              <a:t>Characteristics of the product are the key to the price decision of the company because different characteristics of the product in terms of shape, color, size, packaging, etc. attract the attention of the customers. Customers are willing to pay more if they like and value the characteristics of the product. It could be a new style, feature, or anything out of the ordinary.</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327748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internal factors </a:t>
            </a:r>
            <a:r>
              <a:rPr lang="en-US" dirty="0"/>
              <a:t>are factors that can be control, determine and process by the </a:t>
            </a:r>
            <a:r>
              <a:rPr lang="en-US" dirty="0" err="1"/>
              <a:t>organisation</a:t>
            </a:r>
            <a:r>
              <a:rPr lang="en-US" dirty="0"/>
              <a:t>. These factors are mostly in relation with the </a:t>
            </a:r>
            <a:r>
              <a:rPr lang="en-US" dirty="0" err="1"/>
              <a:t>organisation</a:t>
            </a:r>
            <a:r>
              <a:rPr lang="en-US" dirty="0"/>
              <a:t> business level strategy and greatly influenced by the nature of business.</a:t>
            </a:r>
          </a:p>
          <a:p>
            <a:endParaRPr lang="en-US" dirty="0"/>
          </a:p>
          <a:p>
            <a:r>
              <a:rPr lang="en-US" b="1" i="0" dirty="0">
                <a:solidFill>
                  <a:srgbClr val="081C36"/>
                </a:solidFill>
                <a:effectLst/>
                <a:latin typeface="SegoeuiPc"/>
              </a:rPr>
              <a:t>The external factors </a:t>
            </a:r>
            <a:r>
              <a:rPr lang="en-US" b="0" i="0" dirty="0">
                <a:solidFill>
                  <a:srgbClr val="081C36"/>
                </a:solidFill>
                <a:effectLst/>
                <a:latin typeface="SegoeuiPc"/>
              </a:rPr>
              <a:t>are those factors that are not within reach of the </a:t>
            </a:r>
            <a:r>
              <a:rPr lang="en-US" b="0" i="0" dirty="0" err="1">
                <a:solidFill>
                  <a:srgbClr val="081C36"/>
                </a:solidFill>
                <a:effectLst/>
                <a:latin typeface="SegoeuiPc"/>
              </a:rPr>
              <a:t>organisation</a:t>
            </a:r>
            <a:r>
              <a:rPr lang="en-US" b="0" i="0" dirty="0">
                <a:solidFill>
                  <a:srgbClr val="081C36"/>
                </a:solidFill>
                <a:effectLst/>
                <a:latin typeface="SegoeuiPc"/>
              </a:rPr>
              <a:t>. They are external because there are many parties that determine and control these factors. • The business </a:t>
            </a:r>
            <a:r>
              <a:rPr lang="en-US" b="0" i="0" dirty="0" err="1">
                <a:solidFill>
                  <a:srgbClr val="081C36"/>
                </a:solidFill>
                <a:effectLst/>
                <a:latin typeface="SegoeuiPc"/>
              </a:rPr>
              <a:t>organisation</a:t>
            </a:r>
            <a:r>
              <a:rPr lang="en-US" b="0" i="0" dirty="0">
                <a:solidFill>
                  <a:srgbClr val="081C36"/>
                </a:solidFill>
                <a:effectLst/>
                <a:latin typeface="SegoeuiPc"/>
              </a:rPr>
              <a:t> is a party to the external factor and cannot control or determine the aggregate indicators of these factor.</a:t>
            </a:r>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3445021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vs production quantity</a:t>
            </a:r>
          </a:p>
          <a:p>
            <a:r>
              <a:rPr lang="en-US" dirty="0" err="1"/>
              <a:t>Số</a:t>
            </a:r>
            <a:r>
              <a:rPr lang="en-US" dirty="0"/>
              <a:t> </a:t>
            </a:r>
            <a:r>
              <a:rPr lang="en-US" dirty="0" err="1"/>
              <a:t>lượng</a:t>
            </a:r>
            <a:r>
              <a:rPr lang="en-US" dirty="0"/>
              <a:t> </a:t>
            </a:r>
            <a:r>
              <a:rPr lang="en-US" dirty="0" err="1"/>
              <a:t>sản</a:t>
            </a:r>
            <a:r>
              <a:rPr lang="en-US" dirty="0"/>
              <a:t> </a:t>
            </a:r>
            <a:r>
              <a:rPr lang="en-US" dirty="0" err="1"/>
              <a:t>xuất</a:t>
            </a:r>
            <a:r>
              <a:rPr lang="en-US" dirty="0"/>
              <a:t>/</a:t>
            </a:r>
            <a:r>
              <a:rPr lang="en-US" dirty="0" err="1"/>
              <a:t>ngày</a:t>
            </a:r>
            <a:r>
              <a:rPr lang="en-US" dirty="0"/>
              <a:t> </a:t>
            </a:r>
            <a:r>
              <a:rPr lang="en-US" dirty="0" err="1"/>
              <a:t>càng</a:t>
            </a:r>
            <a:r>
              <a:rPr lang="en-US" dirty="0"/>
              <a:t> </a:t>
            </a:r>
            <a:r>
              <a:rPr lang="en-US" dirty="0" err="1"/>
              <a:t>cao</a:t>
            </a:r>
            <a:r>
              <a:rPr lang="en-US" dirty="0"/>
              <a:t> </a:t>
            </a:r>
            <a:r>
              <a:rPr lang="en-US" dirty="0">
                <a:sym typeface="Wingdings" panose="05000000000000000000" pitchFamily="2" charset="2"/>
              </a:rPr>
              <a:t> </a:t>
            </a:r>
            <a:r>
              <a:rPr lang="en-US" dirty="0" err="1">
                <a:sym typeface="Wingdings" panose="05000000000000000000" pitchFamily="2" charset="2"/>
              </a:rPr>
              <a:t>giá</a:t>
            </a:r>
            <a:r>
              <a:rPr lang="en-US" dirty="0">
                <a:sym typeface="Wingdings" panose="05000000000000000000" pitchFamily="2" charset="2"/>
              </a:rPr>
              <a:t> </a:t>
            </a:r>
            <a:r>
              <a:rPr lang="en-US" dirty="0" err="1">
                <a:sym typeface="Wingdings" panose="05000000000000000000" pitchFamily="2" charset="2"/>
              </a:rPr>
              <a:t>càng</a:t>
            </a:r>
            <a:r>
              <a:rPr lang="en-US" dirty="0">
                <a:sym typeface="Wingdings" panose="05000000000000000000" pitchFamily="2" charset="2"/>
              </a:rPr>
              <a:t> </a:t>
            </a:r>
            <a:r>
              <a:rPr lang="en-US" dirty="0" err="1">
                <a:sym typeface="Wingdings" panose="05000000000000000000" pitchFamily="2" charset="2"/>
              </a:rPr>
              <a:t>giảm</a:t>
            </a:r>
            <a:endParaRPr lang="en-US" dirty="0">
              <a:sym typeface="Wingdings" panose="05000000000000000000" pitchFamily="2" charset="2"/>
            </a:endParaRPr>
          </a:p>
          <a:p>
            <a:r>
              <a:rPr lang="en-US" dirty="0" err="1">
                <a:sym typeface="Wingdings" panose="05000000000000000000" pitchFamily="2" charset="2"/>
              </a:rPr>
              <a:t>Các</a:t>
            </a:r>
            <a:r>
              <a:rPr lang="en-US" dirty="0">
                <a:sym typeface="Wingdings" panose="05000000000000000000" pitchFamily="2" charset="2"/>
              </a:rPr>
              <a:t> </a:t>
            </a:r>
            <a:r>
              <a:rPr lang="en-US" dirty="0" err="1">
                <a:sym typeface="Wingdings" panose="05000000000000000000" pitchFamily="2" charset="2"/>
              </a:rPr>
              <a:t>sản</a:t>
            </a:r>
            <a:r>
              <a:rPr lang="en-US" dirty="0">
                <a:sym typeface="Wingdings" panose="05000000000000000000" pitchFamily="2" charset="2"/>
              </a:rPr>
              <a:t> </a:t>
            </a:r>
            <a:r>
              <a:rPr lang="en-US" dirty="0" err="1">
                <a:sym typeface="Wingdings" panose="05000000000000000000" pitchFamily="2" charset="2"/>
              </a:rPr>
              <a:t>phẩm</a:t>
            </a:r>
            <a:r>
              <a:rPr lang="en-US" dirty="0">
                <a:sym typeface="Wingdings" panose="05000000000000000000" pitchFamily="2" charset="2"/>
              </a:rPr>
              <a:t> handmade  </a:t>
            </a:r>
            <a:r>
              <a:rPr lang="en-US" dirty="0" err="1">
                <a:sym typeface="Wingdings" panose="05000000000000000000" pitchFamily="2" charset="2"/>
              </a:rPr>
              <a:t>giá</a:t>
            </a:r>
            <a:r>
              <a:rPr lang="en-US" dirty="0">
                <a:sym typeface="Wingdings" panose="05000000000000000000" pitchFamily="2" charset="2"/>
              </a:rPr>
              <a:t> </a:t>
            </a:r>
            <a:r>
              <a:rPr lang="en-US" dirty="0" err="1">
                <a:sym typeface="Wingdings" panose="05000000000000000000" pitchFamily="2" charset="2"/>
              </a:rPr>
              <a:t>cao</a:t>
            </a: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dirty="0">
              <a:solidFill>
                <a:srgbClr val="C00000"/>
              </a:solidFill>
              <a:effectLst/>
              <a:latin typeface="SegoeuiP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C00000"/>
                </a:solidFill>
                <a:effectLst/>
                <a:latin typeface="SegoeuiPc"/>
              </a:rPr>
              <a:t>Elasticity of Demand: </a:t>
            </a:r>
            <a:r>
              <a:rPr lang="en-US" sz="1200" b="1" i="0" dirty="0" err="1">
                <a:solidFill>
                  <a:srgbClr val="C00000"/>
                </a:solidFill>
                <a:effectLst/>
                <a:latin typeface="SegoeuiPc"/>
              </a:rPr>
              <a:t>tính</a:t>
            </a:r>
            <a:r>
              <a:rPr lang="en-US" sz="1200" b="1" i="0" dirty="0">
                <a:solidFill>
                  <a:srgbClr val="C00000"/>
                </a:solidFill>
                <a:effectLst/>
                <a:latin typeface="SegoeuiPc"/>
              </a:rPr>
              <a:t> co </a:t>
            </a:r>
            <a:r>
              <a:rPr lang="en-US" sz="1200" b="1" i="0" dirty="0" err="1">
                <a:solidFill>
                  <a:srgbClr val="C00000"/>
                </a:solidFill>
                <a:effectLst/>
                <a:latin typeface="SegoeuiPc"/>
              </a:rPr>
              <a:t>giãn</a:t>
            </a:r>
            <a:endParaRPr lang="en-US" sz="1200" b="1" i="0" dirty="0">
              <a:solidFill>
                <a:srgbClr val="C00000"/>
              </a:solidFill>
              <a:effectLst/>
              <a:latin typeface="SegoeuiP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Elasticity (co</a:t>
            </a:r>
            <a:r>
              <a:rPr lang="en-US" sz="1100" baseline="0" dirty="0"/>
              <a:t> </a:t>
            </a:r>
            <a:r>
              <a:rPr lang="en-US" sz="1100" baseline="0" dirty="0" err="1"/>
              <a:t>giãn</a:t>
            </a:r>
            <a:r>
              <a:rPr lang="en-US" sz="1100" baseline="0" dirty="0"/>
              <a:t>, </a:t>
            </a:r>
            <a:r>
              <a:rPr lang="en-US" sz="1100" baseline="0" dirty="0" err="1"/>
              <a:t>mềm</a:t>
            </a:r>
            <a:r>
              <a:rPr lang="en-US" sz="1100" baseline="0" dirty="0"/>
              <a:t> </a:t>
            </a:r>
            <a:r>
              <a:rPr lang="en-US" sz="1100" baseline="0" dirty="0" err="1"/>
              <a:t>dẻo</a:t>
            </a:r>
            <a:r>
              <a:rPr lang="en-US" sz="1100" baseline="0" dirty="0"/>
              <a:t>)</a:t>
            </a:r>
            <a:r>
              <a:rPr lang="en-US" sz="1100" dirty="0"/>
              <a:t>: </a:t>
            </a:r>
            <a:r>
              <a:rPr lang="en-US" sz="1100" dirty="0" err="1"/>
              <a:t>sự</a:t>
            </a:r>
            <a:r>
              <a:rPr lang="en-US" sz="1100" baseline="0" dirty="0"/>
              <a:t> </a:t>
            </a:r>
            <a:r>
              <a:rPr lang="en-US" sz="1100" baseline="0" dirty="0" err="1"/>
              <a:t>nhạy</a:t>
            </a:r>
            <a:r>
              <a:rPr lang="en-US" sz="1100" baseline="0" dirty="0"/>
              <a:t> </a:t>
            </a:r>
            <a:r>
              <a:rPr lang="en-US" sz="1100" baseline="0" dirty="0" err="1"/>
              <a:t>của</a:t>
            </a:r>
            <a:r>
              <a:rPr lang="en-US" sz="1100" baseline="0" dirty="0"/>
              <a:t> </a:t>
            </a:r>
            <a:r>
              <a:rPr lang="en-US" sz="1100" baseline="0" dirty="0" err="1"/>
              <a:t>người</a:t>
            </a:r>
            <a:r>
              <a:rPr lang="en-US" sz="1100" baseline="0" dirty="0"/>
              <a:t> </a:t>
            </a:r>
            <a:r>
              <a:rPr lang="en-US" sz="1100" baseline="0" dirty="0" err="1"/>
              <a:t>tiêu</a:t>
            </a:r>
            <a:r>
              <a:rPr lang="en-US" sz="1100" baseline="0" dirty="0"/>
              <a:t> </a:t>
            </a:r>
            <a:r>
              <a:rPr lang="en-US" sz="1100" baseline="0" dirty="0" err="1"/>
              <a:t>dùng</a:t>
            </a:r>
            <a:r>
              <a:rPr lang="en-US" sz="1100" baseline="0" dirty="0"/>
              <a:t> </a:t>
            </a:r>
            <a:r>
              <a:rPr lang="en-US" sz="1100" baseline="0" dirty="0" err="1"/>
              <a:t>đối</a:t>
            </a:r>
            <a:r>
              <a:rPr lang="en-US" sz="1100" baseline="0" dirty="0"/>
              <a:t> </a:t>
            </a:r>
            <a:r>
              <a:rPr lang="en-US" sz="1100" baseline="0" dirty="0" err="1"/>
              <a:t>với</a:t>
            </a:r>
            <a:r>
              <a:rPr lang="en-US" sz="1100" baseline="0" dirty="0"/>
              <a:t> </a:t>
            </a:r>
            <a:r>
              <a:rPr lang="en-US" sz="1100" baseline="0" dirty="0" err="1"/>
              <a:t>sự</a:t>
            </a:r>
            <a:r>
              <a:rPr lang="en-US" sz="1100" baseline="0" dirty="0"/>
              <a:t> </a:t>
            </a:r>
            <a:r>
              <a:rPr lang="en-US" sz="1100" baseline="0" dirty="0" err="1"/>
              <a:t>thay</a:t>
            </a:r>
            <a:r>
              <a:rPr lang="en-US" sz="1100" baseline="0" dirty="0"/>
              <a:t> </a:t>
            </a:r>
            <a:r>
              <a:rPr lang="en-US" sz="1100" baseline="0" dirty="0" err="1"/>
              <a:t>đổi</a:t>
            </a:r>
            <a:r>
              <a:rPr lang="en-US" sz="1100" baseline="0" dirty="0"/>
              <a:t> </a:t>
            </a:r>
            <a:r>
              <a:rPr lang="en-US" sz="1100" baseline="0" dirty="0" err="1"/>
              <a:t>giá</a:t>
            </a:r>
            <a:r>
              <a:rPr lang="en-US" sz="1100" baseline="0" dirty="0"/>
              <a:t> </a:t>
            </a:r>
            <a:r>
              <a:rPr lang="en-US" sz="1100" baseline="0" dirty="0" err="1"/>
              <a:t>của</a:t>
            </a:r>
            <a:r>
              <a:rPr lang="en-US" sz="1100" baseline="0" dirty="0"/>
              <a:t> </a:t>
            </a:r>
            <a:r>
              <a:rPr lang="en-US" sz="1100" baseline="0" dirty="0" err="1"/>
              <a:t>sản</a:t>
            </a:r>
            <a:r>
              <a:rPr lang="en-US" sz="1100" baseline="0" dirty="0"/>
              <a:t> </a:t>
            </a:r>
            <a:r>
              <a:rPr lang="en-US" sz="1100" baseline="0" dirty="0" err="1"/>
              <a:t>phẩm</a:t>
            </a:r>
            <a:r>
              <a:rPr lang="en-US" sz="1100" baseline="0" dirty="0"/>
              <a:t>. </a:t>
            </a:r>
            <a:r>
              <a:rPr lang="en-US" sz="1100" baseline="0" dirty="0" err="1"/>
              <a:t>Sản</a:t>
            </a:r>
            <a:r>
              <a:rPr lang="en-US" sz="1100" baseline="0" dirty="0"/>
              <a:t> </a:t>
            </a:r>
            <a:r>
              <a:rPr lang="en-US" sz="1100" baseline="0" dirty="0" err="1"/>
              <a:t>phẩm</a:t>
            </a:r>
            <a:r>
              <a:rPr lang="en-US" sz="1100" baseline="0" dirty="0"/>
              <a:t> </a:t>
            </a:r>
            <a:r>
              <a:rPr lang="en-US" sz="1100" baseline="0" dirty="0" err="1"/>
              <a:t>có</a:t>
            </a:r>
            <a:r>
              <a:rPr lang="en-US" sz="1100" baseline="0" dirty="0"/>
              <a:t> </a:t>
            </a:r>
            <a:r>
              <a:rPr lang="en-US" sz="1100" dirty="0"/>
              <a:t>elasticity </a:t>
            </a:r>
            <a:r>
              <a:rPr lang="en-US" sz="1100" dirty="0" err="1"/>
              <a:t>cao</a:t>
            </a:r>
            <a:r>
              <a:rPr lang="en-US" sz="1100" dirty="0"/>
              <a:t> </a:t>
            </a:r>
            <a:r>
              <a:rPr lang="en-US" sz="1100" dirty="0" err="1"/>
              <a:t>thì</a:t>
            </a:r>
            <a:r>
              <a:rPr lang="en-US" sz="1100" baseline="0" dirty="0"/>
              <a:t> </a:t>
            </a:r>
            <a:r>
              <a:rPr lang="en-US" sz="1100" baseline="0" dirty="0" err="1"/>
              <a:t>chỉ</a:t>
            </a:r>
            <a:r>
              <a:rPr lang="en-US" sz="1100" baseline="0" dirty="0"/>
              <a:t> </a:t>
            </a:r>
            <a:r>
              <a:rPr lang="en-US" sz="1100" baseline="0" dirty="0" err="1"/>
              <a:t>cần</a:t>
            </a:r>
            <a:r>
              <a:rPr lang="en-US" sz="1100" baseline="0" dirty="0"/>
              <a:t> </a:t>
            </a:r>
            <a:r>
              <a:rPr lang="en-US" sz="1100" baseline="0" dirty="0" err="1"/>
              <a:t>một</a:t>
            </a:r>
            <a:r>
              <a:rPr lang="en-US" sz="1100" baseline="0" dirty="0"/>
              <a:t> </a:t>
            </a:r>
            <a:r>
              <a:rPr lang="en-US" sz="1100" baseline="0" dirty="0" err="1"/>
              <a:t>sự</a:t>
            </a:r>
            <a:r>
              <a:rPr lang="en-US" sz="1100" baseline="0" dirty="0"/>
              <a:t> </a:t>
            </a:r>
            <a:r>
              <a:rPr lang="en-US" sz="1100" baseline="0" dirty="0" err="1"/>
              <a:t>thay</a:t>
            </a:r>
            <a:r>
              <a:rPr lang="en-US" sz="1100" baseline="0" dirty="0"/>
              <a:t> </a:t>
            </a:r>
            <a:r>
              <a:rPr lang="en-US" sz="1100" baseline="0" dirty="0" err="1"/>
              <a:t>đổi</a:t>
            </a:r>
            <a:r>
              <a:rPr lang="en-US" sz="1100" baseline="0" dirty="0"/>
              <a:t> </a:t>
            </a:r>
            <a:r>
              <a:rPr lang="en-US" sz="1100" baseline="0" dirty="0" err="1"/>
              <a:t>nhỏ</a:t>
            </a:r>
            <a:r>
              <a:rPr lang="en-US" sz="1100" baseline="0" dirty="0"/>
              <a:t> </a:t>
            </a:r>
            <a:r>
              <a:rPr lang="en-US" sz="1100" baseline="0" dirty="0" err="1"/>
              <a:t>về</a:t>
            </a:r>
            <a:r>
              <a:rPr lang="en-US" sz="1100" baseline="0" dirty="0"/>
              <a:t> </a:t>
            </a:r>
            <a:r>
              <a:rPr lang="en-US" sz="1100" baseline="0" dirty="0" err="1"/>
              <a:t>giá</a:t>
            </a:r>
            <a:r>
              <a:rPr lang="en-US" sz="1100" baseline="0" dirty="0"/>
              <a:t> </a:t>
            </a:r>
            <a:r>
              <a:rPr lang="en-US" sz="1100" baseline="0" dirty="0" err="1"/>
              <a:t>cũng</a:t>
            </a:r>
            <a:r>
              <a:rPr lang="en-US" sz="1100" baseline="0" dirty="0"/>
              <a:t> </a:t>
            </a:r>
            <a:r>
              <a:rPr lang="en-US" sz="1100" baseline="0" dirty="0" err="1"/>
              <a:t>tác</a:t>
            </a:r>
            <a:r>
              <a:rPr lang="en-US" sz="1100" baseline="0" dirty="0"/>
              <a:t> </a:t>
            </a:r>
            <a:r>
              <a:rPr lang="en-US" sz="1100" baseline="0" dirty="0" err="1"/>
              <a:t>động</a:t>
            </a:r>
            <a:r>
              <a:rPr lang="en-US" sz="1100" baseline="0" dirty="0"/>
              <a:t> </a:t>
            </a:r>
            <a:r>
              <a:rPr lang="en-US" sz="1100" baseline="0" dirty="0" err="1"/>
              <a:t>mạnh</a:t>
            </a:r>
            <a:r>
              <a:rPr lang="en-US" sz="1100" baseline="0" dirty="0"/>
              <a:t> </a:t>
            </a:r>
            <a:r>
              <a:rPr lang="en-US" sz="1100" baseline="0" dirty="0" err="1"/>
              <a:t>đến</a:t>
            </a:r>
            <a:r>
              <a:rPr lang="en-US" sz="1100" baseline="0" dirty="0"/>
              <a:t> </a:t>
            </a:r>
            <a:r>
              <a:rPr lang="en-US" sz="1100" baseline="0" dirty="0" err="1"/>
              <a:t>người</a:t>
            </a:r>
            <a:r>
              <a:rPr lang="en-US" sz="1100" baseline="0" dirty="0"/>
              <a:t> </a:t>
            </a:r>
            <a:r>
              <a:rPr lang="en-US" sz="1100" baseline="0" dirty="0" err="1"/>
              <a:t>tiêu</a:t>
            </a:r>
            <a:r>
              <a:rPr lang="en-US" sz="1100" baseline="0" dirty="0"/>
              <a:t> </a:t>
            </a:r>
            <a:r>
              <a:rPr lang="en-US" sz="1100" baseline="0" dirty="0" err="1"/>
              <a:t>dùng</a:t>
            </a:r>
            <a:r>
              <a:rPr lang="en-US" sz="1100" baseline="0" dirty="0"/>
              <a:t> (</a:t>
            </a:r>
            <a:r>
              <a:rPr lang="en-US" sz="1100" baseline="0" dirty="0" err="1"/>
              <a:t>ví</a:t>
            </a:r>
            <a:r>
              <a:rPr lang="en-US" sz="1100" baseline="0" dirty="0"/>
              <a:t> </a:t>
            </a:r>
            <a:r>
              <a:rPr lang="en-US" sz="1100" baseline="0" dirty="0" err="1"/>
              <a:t>dụ</a:t>
            </a:r>
            <a:r>
              <a:rPr lang="en-US" sz="1100" baseline="0" dirty="0"/>
              <a:t>: </a:t>
            </a:r>
            <a:r>
              <a:rPr lang="en-US" sz="1100" baseline="0" dirty="0" err="1"/>
              <a:t>có</a:t>
            </a:r>
            <a:r>
              <a:rPr lang="en-US" sz="1100" baseline="0" dirty="0"/>
              <a:t> </a:t>
            </a:r>
            <a:r>
              <a:rPr lang="en-US" sz="1100" baseline="0" dirty="0" err="1"/>
              <a:t>nhiều</a:t>
            </a:r>
            <a:r>
              <a:rPr lang="en-US" sz="1100" baseline="0" dirty="0"/>
              <a:t> </a:t>
            </a:r>
            <a:r>
              <a:rPr lang="en-US" sz="1100" baseline="0" dirty="0" err="1"/>
              <a:t>sp</a:t>
            </a:r>
            <a:r>
              <a:rPr lang="en-US" sz="1100" baseline="0" dirty="0"/>
              <a:t> </a:t>
            </a:r>
            <a:r>
              <a:rPr lang="en-US" sz="1100" baseline="0" dirty="0" err="1"/>
              <a:t>thay</a:t>
            </a:r>
            <a:r>
              <a:rPr lang="en-US" sz="1100" baseline="0" dirty="0"/>
              <a:t> </a:t>
            </a:r>
            <a:r>
              <a:rPr lang="en-US" sz="1100" baseline="0" dirty="0" err="1"/>
              <a:t>thế</a:t>
            </a:r>
            <a:r>
              <a:rPr lang="en-US" sz="1100" baseline="0" dirty="0"/>
              <a:t>, </a:t>
            </a:r>
            <a:r>
              <a:rPr lang="en-US" sz="1100" baseline="0" dirty="0" err="1"/>
              <a:t>tỉ</a:t>
            </a:r>
            <a:r>
              <a:rPr lang="en-US" sz="1100" baseline="0" dirty="0"/>
              <a:t> </a:t>
            </a:r>
            <a:r>
              <a:rPr lang="en-US" sz="1100" baseline="0" dirty="0" err="1"/>
              <a:t>trọng</a:t>
            </a:r>
            <a:r>
              <a:rPr lang="en-US" sz="1100" baseline="0" dirty="0"/>
              <a:t> </a:t>
            </a:r>
            <a:r>
              <a:rPr lang="en-US" sz="1100" baseline="0" dirty="0" err="1"/>
              <a:t>cao</a:t>
            </a:r>
            <a:r>
              <a:rPr lang="en-US" sz="1100" baseline="0" dirty="0"/>
              <a:t> </a:t>
            </a:r>
            <a:r>
              <a:rPr lang="en-US" sz="1100" baseline="0" dirty="0" err="1"/>
              <a:t>trong</a:t>
            </a:r>
            <a:r>
              <a:rPr lang="en-US" sz="1100" baseline="0" dirty="0"/>
              <a:t> </a:t>
            </a:r>
            <a:r>
              <a:rPr lang="en-US" sz="1100" baseline="0" dirty="0" err="1"/>
              <a:t>thu</a:t>
            </a:r>
            <a:r>
              <a:rPr lang="en-US" sz="1100" baseline="0" dirty="0"/>
              <a:t> </a:t>
            </a:r>
            <a:r>
              <a:rPr lang="en-US" sz="1100" baseline="0" dirty="0" err="1"/>
              <a:t>nhập</a:t>
            </a:r>
            <a:r>
              <a:rPr lang="en-US" sz="1100" baseline="0" dirty="0"/>
              <a:t> </a:t>
            </a:r>
            <a:r>
              <a:rPr lang="en-US" sz="1100" baseline="0" dirty="0" err="1"/>
              <a:t>của</a:t>
            </a:r>
            <a:r>
              <a:rPr lang="en-US" sz="1100" baseline="0" dirty="0"/>
              <a:t> </a:t>
            </a:r>
            <a:r>
              <a:rPr lang="en-US" sz="1100" baseline="0" dirty="0" err="1"/>
              <a:t>người</a:t>
            </a:r>
            <a:r>
              <a:rPr lang="en-US" sz="1100" baseline="0" dirty="0"/>
              <a:t> </a:t>
            </a:r>
            <a:r>
              <a:rPr lang="en-US" sz="1100" baseline="0" dirty="0" err="1"/>
              <a:t>tiêu</a:t>
            </a:r>
            <a:r>
              <a:rPr lang="en-US" sz="1100" baseline="0" dirty="0"/>
              <a:t> </a:t>
            </a:r>
            <a:r>
              <a:rPr lang="en-US" sz="1100" baseline="0" dirty="0" err="1"/>
              <a:t>dùng</a:t>
            </a:r>
            <a:r>
              <a:rPr lang="en-US" sz="1100" baseline="0" dirty="0"/>
              <a:t>, </a:t>
            </a:r>
            <a:r>
              <a:rPr lang="en-US" sz="1100" baseline="0" dirty="0" err="1"/>
              <a:t>không</a:t>
            </a:r>
            <a:r>
              <a:rPr lang="en-US" sz="1100" baseline="0" dirty="0"/>
              <a:t> </a:t>
            </a:r>
            <a:r>
              <a:rPr lang="en-US" sz="1100" baseline="0" dirty="0" err="1"/>
              <a:t>quá</a:t>
            </a:r>
            <a:r>
              <a:rPr lang="en-US" sz="1100" baseline="0" dirty="0"/>
              <a:t> </a:t>
            </a:r>
            <a:r>
              <a:rPr lang="en-US" sz="1100" baseline="0" dirty="0" err="1"/>
              <a:t>cần</a:t>
            </a:r>
            <a:r>
              <a:rPr lang="en-US" sz="1100" baseline="0" dirty="0"/>
              <a:t> </a:t>
            </a:r>
            <a:r>
              <a:rPr lang="en-US" sz="1100" baseline="0" dirty="0" err="1"/>
              <a:t>thiết</a:t>
            </a:r>
            <a:r>
              <a:rPr lang="en-US" sz="1100" baseline="0" dirty="0"/>
              <a:t>). </a:t>
            </a:r>
            <a:r>
              <a:rPr lang="en-US" sz="1100" baseline="0" dirty="0" err="1"/>
              <a:t>Xăng</a:t>
            </a:r>
            <a:r>
              <a:rPr lang="en-US" sz="1100" baseline="0" dirty="0"/>
              <a:t> </a:t>
            </a:r>
            <a:r>
              <a:rPr lang="en-US" sz="1100" baseline="0" dirty="0" err="1"/>
              <a:t>dầu</a:t>
            </a:r>
            <a:r>
              <a:rPr lang="en-US" sz="1100" baseline="0" dirty="0"/>
              <a:t> </a:t>
            </a:r>
            <a:r>
              <a:rPr lang="en-US" sz="1100" baseline="0" dirty="0" err="1"/>
              <a:t>có</a:t>
            </a:r>
            <a:r>
              <a:rPr lang="en-US" sz="1100" baseline="0" dirty="0"/>
              <a:t> elasticity </a:t>
            </a:r>
            <a:r>
              <a:rPr lang="en-US" sz="1100" baseline="0" dirty="0" err="1"/>
              <a:t>cao</a:t>
            </a:r>
            <a:r>
              <a:rPr lang="en-US" sz="1100" baseline="0" dirty="0"/>
              <a:t> hay </a:t>
            </a:r>
            <a:r>
              <a:rPr lang="en-US" sz="1100" baseline="0" dirty="0" err="1"/>
              <a:t>thấp</a:t>
            </a:r>
            <a:r>
              <a:rPr lang="en-US" sz="1100"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dirty="0">
                <a:solidFill>
                  <a:srgbClr val="424142"/>
                </a:solidFill>
                <a:effectLst/>
                <a:latin typeface="Georgia" panose="02040502050405020303" pitchFamily="18" charset="0"/>
              </a:rPr>
              <a:t>If the demand of the product is inelastic, high prices may be fixed. On the other hand, if demand is elastic, the firm should not fix high prices, rather it should fix lower prices than that of the competitors.</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dirty="0">
              <a:solidFill>
                <a:srgbClr val="081C36"/>
              </a:solidFill>
              <a:effectLst/>
              <a:latin typeface="SegoeuiPc"/>
            </a:endParaRP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4277246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081C36"/>
                </a:solidFill>
                <a:effectLst/>
                <a:latin typeface="SegoeuiPc"/>
              </a:rPr>
              <a:t>Consider competitors' costs, prices, and possible reactions when developing a pricing strategy.</a:t>
            </a:r>
          </a:p>
          <a:p>
            <a:endParaRPr lang="en-US" b="0" i="0" dirty="0">
              <a:solidFill>
                <a:srgbClr val="424142"/>
              </a:solidFill>
              <a:effectLst/>
              <a:latin typeface="Georgia" panose="02040502050405020303" pitchFamily="18" charset="0"/>
            </a:endParaRPr>
          </a:p>
          <a:p>
            <a:r>
              <a:rPr lang="en-US" b="0" i="0" dirty="0">
                <a:solidFill>
                  <a:srgbClr val="424142"/>
                </a:solidFill>
                <a:effectLst/>
                <a:latin typeface="Georgia" panose="02040502050405020303" pitchFamily="18" charset="0"/>
              </a:rPr>
              <a:t>If there is high competition, the prices may be kept low to effectively face the competition, and if competition is low, the prices may be kept high.</a:t>
            </a:r>
          </a:p>
          <a:p>
            <a:r>
              <a:rPr lang="en-US" b="0" i="0" dirty="0" err="1">
                <a:solidFill>
                  <a:srgbClr val="424142"/>
                </a:solidFill>
                <a:effectLst/>
                <a:latin typeface="Georgia" panose="02040502050405020303" pitchFamily="18" charset="0"/>
              </a:rPr>
              <a:t>Độc</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quyền</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48258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dirty="0">
                <a:solidFill>
                  <a:srgbClr val="424142"/>
                </a:solidFill>
                <a:effectLst/>
                <a:latin typeface="Georgia" panose="02040502050405020303" pitchFamily="18" charset="0"/>
              </a:rPr>
              <a:t>Suppliers of raw materials and other goods can have a significant effect on the price of a product. If the price of cotton goes up, the increase is passed on by suppliers to manufacturers. Manufacturers, in turn, pass it on to consumers.</a:t>
            </a:r>
          </a:p>
          <a:p>
            <a:pPr algn="l" fontAlgn="base"/>
            <a:r>
              <a:rPr lang="en-US" b="0" dirty="0">
                <a:solidFill>
                  <a:srgbClr val="424142"/>
                </a:solidFill>
                <a:effectLst/>
                <a:latin typeface="Georgia" panose="02040502050405020303" pitchFamily="18" charset="0"/>
              </a:rPr>
              <a:t>Sometimes, however, when a manufacturer appears to be making large profits on a particular product, suppliers will attempt to make profits by charging more for their supplies. In other words, the price of a finished product is intimately linked up with the price of the raw materials. Scarcity or abundance of the raw materials also determines pricing.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2906878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24142"/>
                </a:solidFill>
                <a:effectLst/>
                <a:latin typeface="Georgia" panose="02040502050405020303" pitchFamily="18" charset="0"/>
              </a:rPr>
              <a:t>The inflationary or deflationary tendency affects pricing. In recession (</a:t>
            </a:r>
            <a:r>
              <a:rPr lang="en-US" b="0" i="0" dirty="0" err="1">
                <a:solidFill>
                  <a:srgbClr val="424142"/>
                </a:solidFill>
                <a:effectLst/>
                <a:latin typeface="Georgia" panose="02040502050405020303" pitchFamily="18" charset="0"/>
              </a:rPr>
              <a:t>suy</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thoái</a:t>
            </a:r>
            <a:r>
              <a:rPr lang="en-US" b="0" i="0" dirty="0">
                <a:solidFill>
                  <a:srgbClr val="424142"/>
                </a:solidFill>
                <a:effectLst/>
                <a:latin typeface="Georgia" panose="02040502050405020303" pitchFamily="18" charset="0"/>
              </a:rPr>
              <a:t>) period, the prices are reduced to a sizeable extent to maintain the level of turnover. On the other hand, the prices are increased in boom period to cover the increasing cost of production and distribution. To meet the changes in demand, price etc.</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3820642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24142"/>
                </a:solidFill>
                <a:effectLst/>
                <a:latin typeface="Georgia" panose="02040502050405020303" pitchFamily="18" charset="0"/>
              </a:rPr>
              <a:t>The inflationary or deflationary tendency affects pricing. In recession (</a:t>
            </a:r>
            <a:r>
              <a:rPr lang="en-US" b="0" i="0" dirty="0" err="1">
                <a:solidFill>
                  <a:srgbClr val="424142"/>
                </a:solidFill>
                <a:effectLst/>
                <a:latin typeface="Georgia" panose="02040502050405020303" pitchFamily="18" charset="0"/>
              </a:rPr>
              <a:t>suy</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thoái</a:t>
            </a:r>
            <a:r>
              <a:rPr lang="en-US" b="0" i="0" dirty="0">
                <a:solidFill>
                  <a:srgbClr val="424142"/>
                </a:solidFill>
                <a:effectLst/>
                <a:latin typeface="Georgia" panose="02040502050405020303" pitchFamily="18" charset="0"/>
              </a:rPr>
              <a:t>) period, the prices are reduced to a sizeable extent to maintain the level of turnover. On the other hand, the prices are increased in boom period to cover the increasing cost of production and distribution. To meet the changes in demand, price etc.</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3978389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24142"/>
                </a:solidFill>
                <a:effectLst/>
                <a:latin typeface="Georgia" panose="02040502050405020303" pitchFamily="18" charset="0"/>
              </a:rPr>
              <a:t>The inflationary or deflationary tendency affects pricing. In recession (</a:t>
            </a:r>
            <a:r>
              <a:rPr lang="en-US" b="0" i="0" dirty="0" err="1">
                <a:solidFill>
                  <a:srgbClr val="424142"/>
                </a:solidFill>
                <a:effectLst/>
                <a:latin typeface="Georgia" panose="02040502050405020303" pitchFamily="18" charset="0"/>
              </a:rPr>
              <a:t>suy</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thoái</a:t>
            </a:r>
            <a:r>
              <a:rPr lang="en-US" b="0" i="0" dirty="0">
                <a:solidFill>
                  <a:srgbClr val="424142"/>
                </a:solidFill>
                <a:effectLst/>
                <a:latin typeface="Georgia" panose="02040502050405020303" pitchFamily="18" charset="0"/>
              </a:rPr>
              <a:t>) period, the prices are reduced to a sizeable extent to maintain the level of turnover. On the other hand, the prices are increased in boom period to cover the increasing cost of production and distribution. To meet the changes in demand, price etc.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err="1">
                <a:solidFill>
                  <a:srgbClr val="424142"/>
                </a:solidFill>
                <a:effectLst/>
                <a:latin typeface="Georgia" panose="02040502050405020303" pitchFamily="18" charset="0"/>
              </a:rPr>
              <a:t>Ví</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dụ</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thị</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trường</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Trung</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Quốc</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dân</a:t>
            </a:r>
            <a:r>
              <a:rPr lang="en-US" b="0" i="0" dirty="0">
                <a:solidFill>
                  <a:srgbClr val="424142"/>
                </a:solidFill>
                <a:effectLst/>
                <a:latin typeface="Georgia" panose="02040502050405020303" pitchFamily="18" charset="0"/>
              </a:rPr>
              <a:t> </a:t>
            </a:r>
            <a:r>
              <a:rPr lang="en-US" b="0" i="0" dirty="0" err="1">
                <a:solidFill>
                  <a:srgbClr val="424142"/>
                </a:solidFill>
                <a:effectLst/>
                <a:latin typeface="Georgia" panose="02040502050405020303" pitchFamily="18" charset="0"/>
              </a:rPr>
              <a:t>đông</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443518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24142"/>
                </a:solidFill>
                <a:effectLst/>
                <a:latin typeface="Georgia" panose="02040502050405020303" pitchFamily="18" charset="0"/>
              </a:rPr>
              <a:t>Price discretion is also affected by the price-control by the government through enactment of legislation, when it is thought proper to arrest the inflationary trend in prices of certain products. The prices cannot be fixed higher, as government keeps a close watch on pricing in the private sector. The marketers obviously can exercise substantial control over the internal factors, while they have little, if any, control over the external ones.</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1153237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Một</a:t>
            </a:r>
            <a:r>
              <a:rPr lang="en-US" baseline="0" dirty="0"/>
              <a:t> </a:t>
            </a:r>
            <a:r>
              <a:rPr lang="en-US" baseline="0" dirty="0" err="1"/>
              <a:t>cách</a:t>
            </a:r>
            <a:r>
              <a:rPr lang="en-US" baseline="0" dirty="0"/>
              <a:t> </a:t>
            </a:r>
            <a:r>
              <a:rPr lang="en-US" baseline="0" dirty="0" err="1"/>
              <a:t>để</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giá</a:t>
            </a:r>
            <a:endParaRPr lang="en-US" baseline="0" dirty="0"/>
          </a:p>
          <a:p>
            <a:r>
              <a:rPr lang="en-US" dirty="0"/>
              <a:t>-</a:t>
            </a:r>
            <a:r>
              <a:rPr lang="en-US" dirty="0" err="1"/>
              <a:t>Giới</a:t>
            </a:r>
            <a:r>
              <a:rPr lang="en-US" baseline="0" dirty="0"/>
              <a:t> </a:t>
            </a:r>
            <a:r>
              <a:rPr lang="en-US" baseline="0" dirty="0" err="1"/>
              <a:t>thiệu</a:t>
            </a:r>
            <a:r>
              <a:rPr lang="en-US" baseline="0" dirty="0"/>
              <a:t> </a:t>
            </a:r>
            <a:r>
              <a:rPr lang="en-US" baseline="0" dirty="0" err="1"/>
              <a:t>sơ</a:t>
            </a:r>
            <a:r>
              <a:rPr lang="en-US" baseline="0" dirty="0"/>
              <a:t> </a:t>
            </a:r>
            <a:r>
              <a:rPr lang="en-US" baseline="0" dirty="0" err="1"/>
              <a:t>về</a:t>
            </a:r>
            <a:r>
              <a:rPr lang="en-US" baseline="0" dirty="0"/>
              <a:t> </a:t>
            </a:r>
            <a:r>
              <a:rPr lang="en-US" baseline="0" dirty="0" err="1"/>
              <a:t>lý</a:t>
            </a:r>
            <a:r>
              <a:rPr lang="en-US" baseline="0" dirty="0"/>
              <a:t> </a:t>
            </a:r>
            <a:r>
              <a:rPr lang="en-US" baseline="0" dirty="0" err="1"/>
              <a:t>thuyết</a:t>
            </a:r>
            <a:r>
              <a:rPr lang="en-US" baseline="0" dirty="0"/>
              <a:t> </a:t>
            </a:r>
            <a:r>
              <a:rPr lang="en-US" baseline="0" dirty="0" err="1"/>
              <a:t>trò</a:t>
            </a:r>
            <a:r>
              <a:rPr lang="en-US" baseline="0" dirty="0"/>
              <a:t> </a:t>
            </a:r>
            <a:r>
              <a:rPr lang="en-US" baseline="0" dirty="0" err="1"/>
              <a:t>chơi</a:t>
            </a:r>
            <a:endParaRPr lang="en-US" baseline="0" dirty="0"/>
          </a:p>
          <a:p>
            <a:r>
              <a:rPr lang="en-US" dirty="0"/>
              <a:t>-</a:t>
            </a:r>
            <a:r>
              <a:rPr lang="en-US" dirty="0" err="1"/>
              <a:t>Giới</a:t>
            </a:r>
            <a:r>
              <a:rPr lang="en-US" baseline="0" dirty="0"/>
              <a:t> </a:t>
            </a:r>
            <a:r>
              <a:rPr lang="en-US" baseline="0" dirty="0" err="1"/>
              <a:t>thiệu</a:t>
            </a:r>
            <a:r>
              <a:rPr lang="en-US" baseline="0" dirty="0"/>
              <a:t> </a:t>
            </a:r>
            <a:r>
              <a:rPr lang="en-US" baseline="0" dirty="0" err="1"/>
              <a:t>về</a:t>
            </a:r>
            <a:r>
              <a:rPr lang="en-US" baseline="0" dirty="0"/>
              <a:t> 2 </a:t>
            </a:r>
            <a:r>
              <a:rPr lang="en-US" baseline="0" dirty="0" err="1"/>
              <a:t>người</a:t>
            </a:r>
            <a:r>
              <a:rPr lang="en-US" baseline="0" dirty="0"/>
              <a:t> </a:t>
            </a:r>
            <a:r>
              <a:rPr lang="en-US" baseline="0" dirty="0" err="1"/>
              <a:t>tù</a:t>
            </a:r>
            <a:endParaRPr lang="en-US" baseline="0" dirty="0"/>
          </a:p>
          <a:p>
            <a:r>
              <a:rPr lang="en-US" baseline="0" dirty="0"/>
              <a:t>- </a:t>
            </a:r>
            <a:r>
              <a:rPr lang="en-US" baseline="0" dirty="0" err="1"/>
              <a:t>Cả</a:t>
            </a:r>
            <a:r>
              <a:rPr lang="en-US" baseline="0" dirty="0"/>
              <a:t> 2 </a:t>
            </a:r>
            <a:r>
              <a:rPr lang="en-US" baseline="0" dirty="0" err="1"/>
              <a:t>không</a:t>
            </a:r>
            <a:r>
              <a:rPr lang="en-US" baseline="0" dirty="0"/>
              <a:t> </a:t>
            </a:r>
            <a:r>
              <a:rPr lang="en-US" baseline="0" dirty="0" err="1"/>
              <a:t>biết</a:t>
            </a:r>
            <a:r>
              <a:rPr lang="en-US" baseline="0" dirty="0"/>
              <a:t> </a:t>
            </a:r>
            <a:r>
              <a:rPr lang="en-US" baseline="0" dirty="0" err="1"/>
              <a:t>người</a:t>
            </a:r>
            <a:r>
              <a:rPr lang="en-US" baseline="0" dirty="0"/>
              <a:t> kia </a:t>
            </a:r>
            <a:r>
              <a:rPr lang="en-US" baseline="0" dirty="0" err="1"/>
              <a:t>sẽ</a:t>
            </a:r>
            <a:r>
              <a:rPr lang="en-US" baseline="0" dirty="0"/>
              <a:t> </a:t>
            </a:r>
            <a:r>
              <a:rPr lang="en-US" baseline="0" dirty="0" err="1"/>
              <a:t>làm</a:t>
            </a:r>
            <a:r>
              <a:rPr lang="en-US" baseline="0" dirty="0"/>
              <a:t> </a:t>
            </a:r>
            <a:r>
              <a:rPr lang="en-US" baseline="0" dirty="0" err="1"/>
              <a:t>gì</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18</a:t>
            </a:fld>
            <a:endParaRPr lang="en-US"/>
          </a:p>
        </p:txBody>
      </p:sp>
    </p:spTree>
    <p:extLst>
      <p:ext uri="{BB962C8B-B14F-4D97-AF65-F5344CB8AC3E}">
        <p14:creationId xmlns:p14="http://schemas.microsoft.com/office/powerpoint/2010/main" val="1046368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252525"/>
                </a:solidFill>
                <a:effectLst/>
                <a:latin typeface="Roboto-Regular"/>
              </a:rPr>
              <a:t>Giả thuyết của cân bằng Nash là các người chơi đưa ra quyết định độc lập, không thông đồng với nhau. Dựa vào toán học và logic để xác định các hành động mà người tham gia trò chơi nên thực hiện để đảm bảo kết quả tốt nhất cho chính họ.</a:t>
            </a:r>
            <a:endParaRPr lang="en-US" b="0" i="0" dirty="0">
              <a:solidFill>
                <a:srgbClr val="252525"/>
              </a:solidFill>
              <a:effectLst/>
              <a:latin typeface="Roboto-Regular"/>
            </a:endParaRPr>
          </a:p>
          <a:p>
            <a:pPr algn="l"/>
            <a:r>
              <a:rPr lang="vi-VN" b="1" dirty="0">
                <a:solidFill>
                  <a:srgbClr val="252525"/>
                </a:solidFill>
                <a:effectLst/>
                <a:latin typeface="Roboto-Bold"/>
              </a:rPr>
              <a:t>Ứng dụng trong thị trường độc quyền nhóm</a:t>
            </a:r>
          </a:p>
          <a:p>
            <a:pPr algn="l"/>
            <a:r>
              <a:rPr lang="vi-VN" b="0" dirty="0">
                <a:solidFill>
                  <a:srgbClr val="252525"/>
                </a:solidFill>
                <a:effectLst/>
                <a:latin typeface="Roboto-Regular"/>
              </a:rPr>
              <a:t>Cân bằng Nash có thể được ứng dụng vào các ngành từ kinh tế đến khoa học xã hội. Trong lĩnh vực kinh tế, cân bằng Nash được ứng dụng phổ biến trong thị trường độc quyền nhóm.</a:t>
            </a:r>
          </a:p>
          <a:p>
            <a:pPr algn="l"/>
            <a:r>
              <a:rPr lang="vi-VN" b="0" dirty="0">
                <a:solidFill>
                  <a:srgbClr val="252525"/>
                </a:solidFill>
                <a:effectLst/>
                <a:latin typeface="Roboto-Regular"/>
              </a:rPr>
              <a:t>Trong thị trường độc quyền nhóm, trạng thái cân bằng Nash là trạng thái cân bằng được xác định bởi đặc điểm là không ai trong số các nhà độc quyền có thể tăng lợi nhuận của mình bằng cách đơn phương thay đổi chiến lược giá.</a:t>
            </a:r>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19</a:t>
            </a:fld>
            <a:endParaRPr lang="en-US"/>
          </a:p>
        </p:txBody>
      </p:sp>
    </p:spTree>
    <p:extLst>
      <p:ext uri="{BB962C8B-B14F-4D97-AF65-F5344CB8AC3E}">
        <p14:creationId xmlns:p14="http://schemas.microsoft.com/office/powerpoint/2010/main" val="4113930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Giả</a:t>
            </a:r>
            <a:r>
              <a:rPr lang="en-US" baseline="0" dirty="0"/>
              <a:t> </a:t>
            </a:r>
            <a:r>
              <a:rPr lang="en-US" baseline="0" dirty="0" err="1"/>
              <a:t>định</a:t>
            </a:r>
            <a:r>
              <a:rPr lang="en-US" baseline="0" dirty="0"/>
              <a:t>: </a:t>
            </a:r>
            <a:r>
              <a:rPr lang="en-US" baseline="0" dirty="0" err="1"/>
              <a:t>khách</a:t>
            </a:r>
            <a:r>
              <a:rPr lang="en-US" baseline="0" dirty="0"/>
              <a:t> </a:t>
            </a:r>
            <a:r>
              <a:rPr lang="en-US" baseline="0" dirty="0" err="1"/>
              <a:t>hàng</a:t>
            </a:r>
            <a:r>
              <a:rPr lang="en-US" baseline="0" dirty="0"/>
              <a:t> </a:t>
            </a:r>
            <a:r>
              <a:rPr lang="en-US" baseline="0" dirty="0" err="1"/>
              <a:t>mua</a:t>
            </a:r>
            <a:r>
              <a:rPr lang="en-US" baseline="0" dirty="0"/>
              <a:t> </a:t>
            </a:r>
            <a:r>
              <a:rPr lang="en-US" baseline="0" dirty="0" err="1"/>
              <a:t>ngẫu</a:t>
            </a:r>
            <a:r>
              <a:rPr lang="en-US" baseline="0" dirty="0"/>
              <a:t> </a:t>
            </a:r>
            <a:r>
              <a:rPr lang="en-US" baseline="0" dirty="0" err="1"/>
              <a:t>nhiên</a:t>
            </a:r>
            <a:r>
              <a:rPr lang="en-US" baseline="0" dirty="0"/>
              <a:t> </a:t>
            </a:r>
            <a:r>
              <a:rPr lang="en-US" baseline="0" dirty="0" err="1"/>
              <a:t>và</a:t>
            </a:r>
            <a:r>
              <a:rPr lang="en-US" baseline="0" dirty="0"/>
              <a:t> </a:t>
            </a:r>
            <a:r>
              <a:rPr lang="en-US" baseline="0" dirty="0" err="1"/>
              <a:t>chọn</a:t>
            </a:r>
            <a:r>
              <a:rPr lang="en-US" baseline="0" dirty="0"/>
              <a:t> </a:t>
            </a:r>
            <a:r>
              <a:rPr lang="en-US" baseline="0" dirty="0" err="1"/>
              <a:t>giá</a:t>
            </a:r>
            <a:r>
              <a:rPr lang="en-US" baseline="0" dirty="0"/>
              <a:t> </a:t>
            </a:r>
            <a:r>
              <a:rPr lang="en-US" baseline="0" dirty="0" err="1"/>
              <a:t>thấp</a:t>
            </a:r>
            <a:r>
              <a:rPr lang="en-US" baseline="0" dirty="0"/>
              <a:t> </a:t>
            </a:r>
            <a:r>
              <a:rPr lang="en-US" baseline="0" dirty="0" err="1"/>
              <a:t>nhất</a:t>
            </a:r>
            <a:r>
              <a:rPr lang="en-US" baseline="0" dirty="0"/>
              <a:t> </a:t>
            </a:r>
            <a:r>
              <a:rPr lang="en-US" baseline="0" dirty="0" err="1"/>
              <a:t>có</a:t>
            </a:r>
            <a:r>
              <a:rPr lang="en-US" baseline="0" dirty="0"/>
              <a:t> </a:t>
            </a:r>
            <a:r>
              <a:rPr lang="en-US" baseline="0" dirty="0" err="1"/>
              <a:t>thể</a:t>
            </a:r>
            <a:r>
              <a:rPr lang="en-US" baseline="0" dirty="0"/>
              <a:t> (</a:t>
            </a:r>
            <a:r>
              <a:rPr lang="en-US" baseline="0" dirty="0" err="1"/>
              <a:t>nếu</a:t>
            </a:r>
            <a:r>
              <a:rPr lang="en-US" baseline="0" dirty="0"/>
              <a:t> </a:t>
            </a:r>
            <a:r>
              <a:rPr lang="en-US" baseline="0" dirty="0" err="1"/>
              <a:t>giá</a:t>
            </a:r>
            <a:r>
              <a:rPr lang="en-US" baseline="0" dirty="0"/>
              <a:t> </a:t>
            </a:r>
            <a:r>
              <a:rPr lang="en-US" baseline="0" dirty="0" err="1"/>
              <a:t>bằng</a:t>
            </a:r>
            <a:r>
              <a:rPr lang="en-US" baseline="0" dirty="0"/>
              <a:t> </a:t>
            </a:r>
            <a:r>
              <a:rPr lang="en-US" baseline="0" dirty="0" err="1"/>
              <a:t>nhau</a:t>
            </a:r>
            <a:r>
              <a:rPr lang="en-US" baseline="0" dirty="0"/>
              <a:t>: 50% </a:t>
            </a:r>
            <a:r>
              <a:rPr lang="en-US" baseline="0" dirty="0" err="1"/>
              <a:t>mua</a:t>
            </a:r>
            <a:r>
              <a:rPr lang="en-US" baseline="0" dirty="0"/>
              <a:t> A, 50% </a:t>
            </a:r>
            <a:r>
              <a:rPr lang="en-US" baseline="0" dirty="0" err="1"/>
              <a:t>mua</a:t>
            </a:r>
            <a:r>
              <a:rPr lang="en-US" baseline="0" dirty="0"/>
              <a:t> B)</a:t>
            </a:r>
          </a:p>
          <a:p>
            <a:r>
              <a:rPr lang="en-US" baseline="0" dirty="0"/>
              <a:t>-</a:t>
            </a:r>
            <a:r>
              <a:rPr lang="en-US" baseline="0" dirty="0" err="1"/>
              <a:t>Các</a:t>
            </a:r>
            <a:r>
              <a:rPr lang="en-US" baseline="0" dirty="0"/>
              <a:t> </a:t>
            </a:r>
            <a:r>
              <a:rPr lang="en-US" baseline="0" dirty="0" err="1"/>
              <a:t>cty</a:t>
            </a:r>
            <a:r>
              <a:rPr lang="en-US" baseline="0" dirty="0"/>
              <a:t> </a:t>
            </a:r>
            <a:r>
              <a:rPr lang="en-US" baseline="0" dirty="0" err="1"/>
              <a:t>có</a:t>
            </a:r>
            <a:r>
              <a:rPr lang="en-US" baseline="0" dirty="0"/>
              <a:t> </a:t>
            </a:r>
            <a:r>
              <a:rPr lang="en-US" baseline="0" dirty="0" err="1"/>
              <a:t>thể</a:t>
            </a:r>
            <a:r>
              <a:rPr lang="en-US" baseline="0" dirty="0"/>
              <a:t> </a:t>
            </a:r>
            <a:r>
              <a:rPr lang="en-US" baseline="0" dirty="0" err="1"/>
              <a:t>sản</a:t>
            </a:r>
            <a:r>
              <a:rPr lang="en-US" baseline="0" dirty="0"/>
              <a:t> </a:t>
            </a:r>
            <a:r>
              <a:rPr lang="en-US" baseline="0" dirty="0" err="1"/>
              <a:t>xuất</a:t>
            </a:r>
            <a:r>
              <a:rPr lang="en-US" baseline="0" dirty="0"/>
              <a:t> </a:t>
            </a:r>
            <a:r>
              <a:rPr lang="en-US" baseline="0" dirty="0" err="1"/>
              <a:t>tối</a:t>
            </a:r>
            <a:r>
              <a:rPr lang="en-US" baseline="0" dirty="0"/>
              <a:t> </a:t>
            </a:r>
            <a:r>
              <a:rPr lang="en-US" baseline="0" dirty="0" err="1"/>
              <a:t>đa</a:t>
            </a:r>
            <a:r>
              <a:rPr lang="en-US" baseline="0" dirty="0"/>
              <a:t> </a:t>
            </a:r>
            <a:r>
              <a:rPr lang="en-US" baseline="0" dirty="0" err="1"/>
              <a:t>để</a:t>
            </a:r>
            <a:r>
              <a:rPr lang="en-US" baseline="0" dirty="0"/>
              <a:t> </a:t>
            </a:r>
            <a:r>
              <a:rPr lang="en-US" baseline="0" dirty="0" err="1"/>
              <a:t>thỏa</a:t>
            </a:r>
            <a:r>
              <a:rPr lang="en-US" baseline="0" dirty="0"/>
              <a:t> </a:t>
            </a:r>
            <a:r>
              <a:rPr lang="en-US" baseline="0" dirty="0" err="1"/>
              <a:t>mãn</a:t>
            </a:r>
            <a:r>
              <a:rPr lang="en-US" baseline="0" dirty="0"/>
              <a:t> </a:t>
            </a:r>
            <a:r>
              <a:rPr lang="en-US" baseline="0" dirty="0" err="1"/>
              <a:t>khách</a:t>
            </a:r>
            <a:r>
              <a:rPr lang="en-US" baseline="0" dirty="0"/>
              <a:t> </a:t>
            </a:r>
            <a:r>
              <a:rPr lang="en-US" baseline="0" dirty="0" err="1"/>
              <a:t>hàng</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20</a:t>
            </a:fld>
            <a:endParaRPr lang="en-US"/>
          </a:p>
        </p:txBody>
      </p:sp>
    </p:spTree>
    <p:extLst>
      <p:ext uri="{BB962C8B-B14F-4D97-AF65-F5344CB8AC3E}">
        <p14:creationId xmlns:p14="http://schemas.microsoft.com/office/powerpoint/2010/main" val="921658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Phân</a:t>
            </a:r>
            <a:r>
              <a:rPr lang="en-US" baseline="0" dirty="0"/>
              <a:t> </a:t>
            </a:r>
            <a:r>
              <a:rPr lang="en-US" baseline="0" dirty="0" err="1"/>
              <a:t>tích</a:t>
            </a:r>
            <a:r>
              <a:rPr lang="en-US" baseline="0" dirty="0"/>
              <a:t> </a:t>
            </a:r>
            <a:r>
              <a:rPr lang="en-US" baseline="0" dirty="0" err="1"/>
              <a:t>bảng</a:t>
            </a:r>
            <a:r>
              <a:rPr lang="en-US" baseline="0" dirty="0"/>
              <a:t>, </a:t>
            </a:r>
            <a:r>
              <a:rPr lang="en-US" baseline="0" dirty="0" err="1"/>
              <a:t>góc</a:t>
            </a:r>
            <a:r>
              <a:rPr lang="en-US" baseline="0" dirty="0"/>
              <a:t> </a:t>
            </a:r>
            <a:r>
              <a:rPr lang="en-US" baseline="0" dirty="0" err="1"/>
              <a:t>trên</a:t>
            </a:r>
            <a:r>
              <a:rPr lang="en-US" baseline="0" dirty="0"/>
              <a:t> </a:t>
            </a:r>
            <a:r>
              <a:rPr lang="en-US" baseline="0" dirty="0" err="1"/>
              <a:t>phải</a:t>
            </a:r>
            <a:r>
              <a:rPr lang="en-US" baseline="0" dirty="0"/>
              <a:t> </a:t>
            </a:r>
            <a:r>
              <a:rPr lang="en-US" baseline="0" dirty="0" err="1"/>
              <a:t>là</a:t>
            </a:r>
            <a:r>
              <a:rPr lang="en-US" baseline="0" dirty="0"/>
              <a:t> </a:t>
            </a:r>
            <a:r>
              <a:rPr lang="en-US" baseline="0" dirty="0" err="1"/>
              <a:t>của</a:t>
            </a:r>
            <a:r>
              <a:rPr lang="en-US" baseline="0" dirty="0"/>
              <a:t> B, </a:t>
            </a:r>
            <a:r>
              <a:rPr lang="en-US" baseline="0" dirty="0" err="1"/>
              <a:t>dưới</a:t>
            </a:r>
            <a:r>
              <a:rPr lang="en-US" baseline="0" dirty="0"/>
              <a:t> </a:t>
            </a:r>
            <a:r>
              <a:rPr lang="en-US" baseline="0" dirty="0" err="1"/>
              <a:t>trái</a:t>
            </a:r>
            <a:r>
              <a:rPr lang="en-US" baseline="0" dirty="0"/>
              <a:t> </a:t>
            </a:r>
            <a:r>
              <a:rPr lang="en-US" baseline="0" dirty="0" err="1"/>
              <a:t>là</a:t>
            </a:r>
            <a:r>
              <a:rPr lang="en-US" baseline="0" dirty="0"/>
              <a:t> </a:t>
            </a:r>
            <a:r>
              <a:rPr lang="en-US" baseline="0" dirty="0" err="1"/>
              <a:t>của</a:t>
            </a:r>
            <a:r>
              <a:rPr lang="en-US" baseline="0" dirty="0"/>
              <a:t> A</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21</a:t>
            </a:fld>
            <a:endParaRPr lang="en-US"/>
          </a:p>
        </p:txBody>
      </p:sp>
    </p:spTree>
    <p:extLst>
      <p:ext uri="{BB962C8B-B14F-4D97-AF65-F5344CB8AC3E}">
        <p14:creationId xmlns:p14="http://schemas.microsoft.com/office/powerpoint/2010/main" val="771163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Có</a:t>
            </a:r>
            <a:r>
              <a:rPr lang="en-US" baseline="0" dirty="0"/>
              <a:t> </a:t>
            </a:r>
            <a:r>
              <a:rPr lang="en-US" baseline="0" dirty="0" err="1"/>
              <a:t>cần</a:t>
            </a:r>
            <a:r>
              <a:rPr lang="en-US" baseline="0" dirty="0"/>
              <a:t> </a:t>
            </a:r>
            <a:r>
              <a:rPr lang="en-US" baseline="0" dirty="0" err="1"/>
              <a:t>phải</a:t>
            </a:r>
            <a:r>
              <a:rPr lang="en-US" baseline="0" dirty="0"/>
              <a:t> </a:t>
            </a:r>
            <a:r>
              <a:rPr lang="en-US" baseline="0" dirty="0" err="1"/>
              <a:t>bán</a:t>
            </a:r>
            <a:r>
              <a:rPr lang="en-US" baseline="0" dirty="0"/>
              <a:t> </a:t>
            </a:r>
            <a:r>
              <a:rPr lang="en-US" baseline="0" dirty="0" err="1"/>
              <a:t>cùng</a:t>
            </a:r>
            <a:r>
              <a:rPr lang="en-US" baseline="0" dirty="0"/>
              <a:t> </a:t>
            </a:r>
            <a:r>
              <a:rPr lang="en-US" baseline="0" dirty="0" err="1"/>
              <a:t>một</a:t>
            </a:r>
            <a:r>
              <a:rPr lang="en-US" baseline="0" dirty="0"/>
              <a:t> </a:t>
            </a:r>
            <a:r>
              <a:rPr lang="en-US" baseline="0" dirty="0" err="1"/>
              <a:t>mức</a:t>
            </a:r>
            <a:r>
              <a:rPr lang="en-US" baseline="0" dirty="0"/>
              <a:t> </a:t>
            </a:r>
            <a:r>
              <a:rPr lang="en-US" baseline="0" dirty="0" err="1"/>
              <a:t>giá</a:t>
            </a:r>
            <a:r>
              <a:rPr lang="en-US" baseline="0" dirty="0"/>
              <a:t> </a:t>
            </a:r>
            <a:r>
              <a:rPr lang="en-US" baseline="0" dirty="0" err="1"/>
              <a:t>cho</a:t>
            </a:r>
            <a:r>
              <a:rPr lang="en-US" baseline="0" dirty="0"/>
              <a:t> </a:t>
            </a:r>
            <a:r>
              <a:rPr lang="en-US" baseline="0" dirty="0" err="1"/>
              <a:t>mọi</a:t>
            </a:r>
            <a:r>
              <a:rPr lang="en-US" baseline="0" dirty="0"/>
              <a:t> </a:t>
            </a:r>
            <a:r>
              <a:rPr lang="en-US" baseline="0" dirty="0" err="1"/>
              <a:t>người</a:t>
            </a:r>
            <a:r>
              <a:rPr lang="en-US" baseline="0" dirty="0"/>
              <a:t> hay </a:t>
            </a:r>
            <a:r>
              <a:rPr lang="en-US" baseline="0" dirty="0" err="1"/>
              <a:t>mọi</a:t>
            </a:r>
            <a:r>
              <a:rPr lang="en-US" baseline="0" dirty="0"/>
              <a:t> </a:t>
            </a:r>
            <a:r>
              <a:rPr lang="en-US" baseline="0" dirty="0" err="1"/>
              <a:t>thời</a:t>
            </a:r>
            <a:r>
              <a:rPr lang="en-US" baseline="0" dirty="0"/>
              <a:t> </a:t>
            </a:r>
            <a:r>
              <a:rPr lang="en-US" baseline="0" dirty="0" err="1"/>
              <a:t>điểm</a:t>
            </a:r>
            <a:r>
              <a:rPr lang="en-US" baseline="0" dirty="0"/>
              <a:t> hay </a:t>
            </a:r>
            <a:r>
              <a:rPr lang="en-US" baseline="0" dirty="0" err="1"/>
              <a:t>mọi</a:t>
            </a:r>
            <a:r>
              <a:rPr lang="en-US" baseline="0" dirty="0"/>
              <a:t> </a:t>
            </a:r>
            <a:r>
              <a:rPr lang="en-US" baseline="0" dirty="0" err="1"/>
              <a:t>số</a:t>
            </a:r>
            <a:r>
              <a:rPr lang="en-US" baseline="0" dirty="0"/>
              <a:t> </a:t>
            </a:r>
            <a:r>
              <a:rPr lang="en-US" baseline="0" dirty="0" err="1"/>
              <a:t>lượng</a:t>
            </a:r>
            <a:r>
              <a:rPr lang="en-US" baseline="0" dirty="0"/>
              <a:t> </a:t>
            </a:r>
            <a:r>
              <a:rPr lang="en-US" baseline="0" dirty="0" err="1"/>
              <a:t>bán</a:t>
            </a:r>
            <a:r>
              <a:rPr lang="en-US" baseline="0" dirty="0"/>
              <a:t>? </a:t>
            </a:r>
            <a:r>
              <a:rPr lang="en-US" dirty="0" err="1"/>
              <a:t>Định</a:t>
            </a:r>
            <a:r>
              <a:rPr lang="en-US" baseline="0" dirty="0"/>
              <a:t> </a:t>
            </a:r>
            <a:r>
              <a:rPr lang="en-US" baseline="0" dirty="0" err="1"/>
              <a:t>giá</a:t>
            </a:r>
            <a:r>
              <a:rPr lang="en-US" baseline="0" dirty="0"/>
              <a:t> </a:t>
            </a:r>
            <a:r>
              <a:rPr lang="en-US" baseline="0" dirty="0" err="1"/>
              <a:t>đúng</a:t>
            </a:r>
            <a:r>
              <a:rPr lang="en-US" baseline="0" dirty="0"/>
              <a:t> </a:t>
            </a:r>
            <a:r>
              <a:rPr lang="en-US" baseline="0" dirty="0" err="1"/>
              <a:t>thì</a:t>
            </a:r>
            <a:r>
              <a:rPr lang="en-US" baseline="0" dirty="0"/>
              <a:t> </a:t>
            </a:r>
            <a:r>
              <a:rPr lang="en-US" baseline="0" dirty="0" err="1"/>
              <a:t>phức</a:t>
            </a:r>
            <a:r>
              <a:rPr lang="en-US" baseline="0" dirty="0"/>
              <a:t> </a:t>
            </a:r>
            <a:r>
              <a:rPr lang="en-US" baseline="0" dirty="0" err="1"/>
              <a:t>tạp</a:t>
            </a:r>
            <a:r>
              <a:rPr lang="en-US" baseline="0" dirty="0"/>
              <a:t>: </a:t>
            </a:r>
            <a:r>
              <a:rPr lang="en-US" baseline="0" dirty="0" err="1"/>
              <a:t>các</a:t>
            </a:r>
            <a:r>
              <a:rPr lang="en-US" baseline="0" dirty="0"/>
              <a:t> </a:t>
            </a:r>
            <a:r>
              <a:rPr lang="en-US" baseline="0" dirty="0" err="1"/>
              <a:t>yếu</a:t>
            </a:r>
            <a:r>
              <a:rPr lang="en-US" baseline="0" dirty="0"/>
              <a:t> </a:t>
            </a:r>
            <a:r>
              <a:rPr lang="en-US" baseline="0" dirty="0" err="1"/>
              <a:t>tố</a:t>
            </a:r>
            <a:r>
              <a:rPr lang="en-US" baseline="0" dirty="0"/>
              <a:t> </a:t>
            </a:r>
            <a:r>
              <a:rPr lang="en-US" baseline="0" dirty="0" err="1"/>
              <a:t>liên</a:t>
            </a:r>
            <a:r>
              <a:rPr lang="en-US" baseline="0" dirty="0"/>
              <a:t> </a:t>
            </a:r>
            <a:r>
              <a:rPr lang="en-US" baseline="0" dirty="0" err="1"/>
              <a:t>quan</a:t>
            </a:r>
            <a:r>
              <a:rPr lang="en-US" baseline="0" dirty="0"/>
              <a:t> </a:t>
            </a:r>
            <a:r>
              <a:rPr lang="en-US" baseline="0" dirty="0" err="1"/>
              <a:t>là</a:t>
            </a:r>
            <a:r>
              <a:rPr lang="en-US" baseline="0" dirty="0"/>
              <a:t> </a:t>
            </a:r>
            <a:r>
              <a:rPr lang="en-US" baseline="0" dirty="0" err="1"/>
              <a:t>phải</a:t>
            </a:r>
            <a:r>
              <a:rPr lang="en-US" baseline="0" dirty="0"/>
              <a:t> </a:t>
            </a:r>
            <a:r>
              <a:rPr lang="en-US" baseline="0" dirty="0" err="1"/>
              <a:t>nắm</a:t>
            </a:r>
            <a:r>
              <a:rPr lang="en-US" baseline="0" dirty="0"/>
              <a:t> chi </a:t>
            </a:r>
            <a:r>
              <a:rPr lang="en-US" baseline="0" dirty="0" err="1"/>
              <a:t>phí</a:t>
            </a:r>
            <a:r>
              <a:rPr lang="en-US" baseline="0" dirty="0"/>
              <a:t> </a:t>
            </a:r>
            <a:r>
              <a:rPr lang="en-US" baseline="0" dirty="0" err="1"/>
              <a:t>sản</a:t>
            </a:r>
            <a:r>
              <a:rPr lang="en-US" baseline="0" dirty="0"/>
              <a:t> </a:t>
            </a:r>
            <a:r>
              <a:rPr lang="en-US" baseline="0" dirty="0" err="1"/>
              <a:t>xuất</a:t>
            </a:r>
            <a:r>
              <a:rPr lang="en-US" baseline="0" dirty="0"/>
              <a:t>, </a:t>
            </a:r>
            <a:r>
              <a:rPr lang="en-US" baseline="0" dirty="0" err="1"/>
              <a:t>thứ</a:t>
            </a:r>
            <a:r>
              <a:rPr lang="en-US" baseline="0" dirty="0"/>
              <a:t> </a:t>
            </a:r>
            <a:r>
              <a:rPr lang="en-US" baseline="0" dirty="0" err="1"/>
              <a:t>nhì</a:t>
            </a:r>
            <a:r>
              <a:rPr lang="en-US" baseline="0" dirty="0"/>
              <a:t> </a:t>
            </a:r>
            <a:r>
              <a:rPr lang="en-US" baseline="0" dirty="0" err="1"/>
              <a:t>nữa</a:t>
            </a:r>
            <a:r>
              <a:rPr lang="en-US" baseline="0" dirty="0"/>
              <a:t> </a:t>
            </a:r>
            <a:r>
              <a:rPr lang="en-US" baseline="0" dirty="0" err="1"/>
              <a:t>biết</a:t>
            </a:r>
            <a:r>
              <a:rPr lang="en-US" baseline="0" dirty="0"/>
              <a:t> </a:t>
            </a:r>
            <a:r>
              <a:rPr lang="en-US" baseline="0" dirty="0" err="1"/>
              <a:t>được</a:t>
            </a:r>
            <a:r>
              <a:rPr lang="en-US" baseline="0" dirty="0"/>
              <a:t> </a:t>
            </a:r>
            <a:r>
              <a:rPr lang="en-US" baseline="0" dirty="0" err="1"/>
              <a:t>khách</a:t>
            </a:r>
            <a:r>
              <a:rPr lang="en-US" baseline="0" dirty="0"/>
              <a:t> </a:t>
            </a:r>
            <a:r>
              <a:rPr lang="en-US" baseline="0" dirty="0" err="1"/>
              <a:t>hàng</a:t>
            </a:r>
            <a:r>
              <a:rPr lang="en-US" baseline="0" dirty="0"/>
              <a:t> </a:t>
            </a:r>
            <a:r>
              <a:rPr lang="en-US" baseline="0" dirty="0" err="1"/>
              <a:t>lượng</a:t>
            </a:r>
            <a:r>
              <a:rPr lang="en-US" baseline="0" dirty="0"/>
              <a:t> </a:t>
            </a:r>
            <a:r>
              <a:rPr lang="en-US" baseline="0" dirty="0" err="1"/>
              <a:t>giá</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như</a:t>
            </a:r>
            <a:r>
              <a:rPr lang="en-US" baseline="0" dirty="0"/>
              <a:t> </a:t>
            </a:r>
            <a:r>
              <a:rPr lang="en-US" baseline="0" dirty="0" err="1"/>
              <a:t>thế</a:t>
            </a:r>
            <a:r>
              <a:rPr lang="en-US" baseline="0" dirty="0"/>
              <a:t> </a:t>
            </a:r>
            <a:r>
              <a:rPr lang="en-US" baseline="0" dirty="0" err="1"/>
              <a:t>nào</a:t>
            </a:r>
            <a:r>
              <a:rPr lang="en-US" baseline="0" dirty="0"/>
              <a:t>, </a:t>
            </a:r>
            <a:r>
              <a:rPr lang="en-US" baseline="0" dirty="0" err="1"/>
              <a:t>và</a:t>
            </a:r>
            <a:r>
              <a:rPr lang="en-US" baseline="0" dirty="0"/>
              <a:t> </a:t>
            </a:r>
            <a:r>
              <a:rPr lang="en-US" baseline="0" dirty="0" err="1"/>
              <a:t>nhu</a:t>
            </a:r>
            <a:r>
              <a:rPr lang="en-US" baseline="0" dirty="0"/>
              <a:t> </a:t>
            </a:r>
            <a:r>
              <a:rPr lang="en-US" baseline="0" dirty="0" err="1"/>
              <a:t>cầu</a:t>
            </a:r>
            <a:r>
              <a:rPr lang="en-US" baseline="0" dirty="0"/>
              <a:t> </a:t>
            </a:r>
            <a:r>
              <a:rPr lang="en-US" baseline="0" dirty="0" err="1"/>
              <a:t>trong</a:t>
            </a:r>
            <a:r>
              <a:rPr lang="en-US" baseline="0" dirty="0"/>
              <a:t> </a:t>
            </a:r>
            <a:r>
              <a:rPr lang="en-US" baseline="0" dirty="0" err="1"/>
              <a:t>tương</a:t>
            </a:r>
            <a:r>
              <a:rPr lang="en-US" baseline="0" dirty="0"/>
              <a:t> </a:t>
            </a:r>
            <a:r>
              <a:rPr lang="en-US" baseline="0" dirty="0" err="1"/>
              <a:t>lai</a:t>
            </a:r>
            <a:r>
              <a:rPr lang="en-US" baseline="0" dirty="0"/>
              <a:t> </a:t>
            </a:r>
            <a:r>
              <a:rPr lang="en-US" baseline="0" dirty="0" err="1"/>
              <a:t>sẽ</a:t>
            </a:r>
            <a:r>
              <a:rPr lang="en-US" baseline="0" dirty="0"/>
              <a:t> </a:t>
            </a:r>
            <a:r>
              <a:rPr lang="en-US" baseline="0" dirty="0" err="1"/>
              <a:t>ra</a:t>
            </a:r>
            <a:r>
              <a:rPr lang="en-US" baseline="0" dirty="0"/>
              <a:t> </a:t>
            </a:r>
            <a:r>
              <a:rPr lang="en-US" baseline="0" dirty="0" err="1"/>
              <a:t>sao</a:t>
            </a:r>
            <a:r>
              <a:rPr lang="en-US" baseline="0" dirty="0"/>
              <a:t>.</a:t>
            </a:r>
          </a:p>
          <a:p>
            <a:r>
              <a:rPr lang="en-US" baseline="0" dirty="0"/>
              <a:t>-Internet </a:t>
            </a:r>
            <a:r>
              <a:rPr lang="en-US" baseline="0" dirty="0" err="1"/>
              <a:t>cho</a:t>
            </a:r>
            <a:r>
              <a:rPr lang="en-US" baseline="0" dirty="0"/>
              <a:t> </a:t>
            </a:r>
            <a:r>
              <a:rPr lang="en-US" baseline="0" dirty="0" err="1"/>
              <a:t>phép</a:t>
            </a:r>
            <a:r>
              <a:rPr lang="en-US" baseline="0" dirty="0"/>
              <a:t> </a:t>
            </a:r>
            <a:r>
              <a:rPr lang="en-US" baseline="0" dirty="0" err="1"/>
              <a:t>thu</a:t>
            </a:r>
            <a:r>
              <a:rPr lang="en-US" baseline="0" dirty="0"/>
              <a:t> </a:t>
            </a:r>
            <a:r>
              <a:rPr lang="en-US" baseline="0" dirty="0" err="1"/>
              <a:t>thập</a:t>
            </a:r>
            <a:r>
              <a:rPr lang="en-US" baseline="0" dirty="0"/>
              <a:t> </a:t>
            </a:r>
            <a:r>
              <a:rPr lang="en-US" baseline="0" dirty="0" err="1"/>
              <a:t>thông</a:t>
            </a:r>
            <a:r>
              <a:rPr lang="en-US" baseline="0" dirty="0"/>
              <a:t> tin </a:t>
            </a:r>
            <a:r>
              <a:rPr lang="en-US" baseline="0" dirty="0" err="1"/>
              <a:t>nhiều</a:t>
            </a:r>
            <a:r>
              <a:rPr lang="en-US" baseline="0" dirty="0"/>
              <a:t> </a:t>
            </a:r>
            <a:r>
              <a:rPr lang="en-US" baseline="0" dirty="0" err="1"/>
              <a:t>hơn</a:t>
            </a:r>
            <a:r>
              <a:rPr lang="en-US" baseline="0" dirty="0"/>
              <a:t> </a:t>
            </a:r>
            <a:r>
              <a:rPr lang="en-US" baseline="0" dirty="0" err="1"/>
              <a:t>về</a:t>
            </a:r>
            <a:r>
              <a:rPr lang="en-US" baseline="0" dirty="0"/>
              <a:t> </a:t>
            </a:r>
            <a:r>
              <a:rPr lang="en-US" baseline="0" dirty="0" err="1"/>
              <a:t>khách</a:t>
            </a:r>
            <a:r>
              <a:rPr lang="en-US" baseline="0" dirty="0"/>
              <a:t> </a:t>
            </a:r>
            <a:r>
              <a:rPr lang="en-US" baseline="0" dirty="0" err="1"/>
              <a:t>hàng</a:t>
            </a:r>
            <a:r>
              <a:rPr lang="en-US" baseline="0" dirty="0"/>
              <a:t>, do </a:t>
            </a:r>
            <a:r>
              <a:rPr lang="en-US" baseline="0" dirty="0" err="1"/>
              <a:t>đó</a:t>
            </a:r>
            <a:r>
              <a:rPr lang="en-US" baseline="0" dirty="0"/>
              <a:t> </a:t>
            </a:r>
            <a:r>
              <a:rPr lang="en-US" baseline="0" dirty="0" err="1"/>
              <a:t>hỗ</a:t>
            </a:r>
            <a:r>
              <a:rPr lang="en-US" baseline="0" dirty="0"/>
              <a:t> </a:t>
            </a:r>
            <a:r>
              <a:rPr lang="en-US" baseline="0" dirty="0" err="1"/>
              <a:t>trợ</a:t>
            </a:r>
            <a:r>
              <a:rPr lang="en-US" baseline="0" dirty="0"/>
              <a:t> </a:t>
            </a:r>
            <a:r>
              <a:rPr lang="en-US" baseline="0" dirty="0" err="1"/>
              <a:t>trong</a:t>
            </a:r>
            <a:r>
              <a:rPr lang="en-US" baseline="0" dirty="0"/>
              <a:t> </a:t>
            </a:r>
            <a:r>
              <a:rPr lang="en-US" baseline="0" dirty="0" err="1"/>
              <a:t>việc</a:t>
            </a:r>
            <a:r>
              <a:rPr lang="en-US" baseline="0" dirty="0"/>
              <a:t> </a:t>
            </a:r>
            <a:r>
              <a:rPr lang="en-US" baseline="0" dirty="0" err="1"/>
              <a:t>điều</a:t>
            </a:r>
            <a:r>
              <a:rPr lang="en-US" baseline="0" dirty="0"/>
              <a:t> </a:t>
            </a:r>
            <a:r>
              <a:rPr lang="en-US" baseline="0" dirty="0" err="1"/>
              <a:t>chỉnh</a:t>
            </a:r>
            <a:r>
              <a:rPr lang="en-US" baseline="0" dirty="0"/>
              <a:t> </a:t>
            </a:r>
            <a:r>
              <a:rPr lang="en-US" baseline="0" dirty="0" err="1"/>
              <a:t>giá</a:t>
            </a:r>
            <a:r>
              <a:rPr lang="en-US" baseline="0" dirty="0"/>
              <a:t> </a:t>
            </a:r>
            <a:r>
              <a:rPr lang="en-US" baseline="0" dirty="0" err="1"/>
              <a:t>động</a:t>
            </a:r>
            <a:r>
              <a:rPr lang="en-US" baseline="0" dirty="0"/>
              <a:t>. </a:t>
            </a:r>
            <a:r>
              <a:rPr lang="en-US" baseline="0" dirty="0" err="1"/>
              <a:t>Thông</a:t>
            </a:r>
            <a:r>
              <a:rPr lang="en-US" baseline="0" dirty="0"/>
              <a:t> tin </a:t>
            </a:r>
            <a:r>
              <a:rPr lang="en-US" baseline="0" dirty="0" err="1"/>
              <a:t>thu</a:t>
            </a:r>
            <a:r>
              <a:rPr lang="en-US" baseline="0" dirty="0"/>
              <a:t> </a:t>
            </a:r>
            <a:r>
              <a:rPr lang="en-US" baseline="0" dirty="0" err="1"/>
              <a:t>thập</a:t>
            </a:r>
            <a:r>
              <a:rPr lang="en-US" baseline="0" dirty="0"/>
              <a:t> </a:t>
            </a:r>
            <a:r>
              <a:rPr lang="en-US" baseline="0" dirty="0" err="1"/>
              <a:t>có</a:t>
            </a:r>
            <a:r>
              <a:rPr lang="en-US" baseline="0" dirty="0"/>
              <a:t> </a:t>
            </a:r>
            <a:r>
              <a:rPr lang="en-US" baseline="0" dirty="0" err="1"/>
              <a:t>thể</a:t>
            </a:r>
            <a:r>
              <a:rPr lang="en-US" baseline="0" dirty="0"/>
              <a:t> </a:t>
            </a:r>
            <a:r>
              <a:rPr lang="en-US" baseline="0" dirty="0" err="1"/>
              <a:t>bao</a:t>
            </a:r>
            <a:r>
              <a:rPr lang="en-US" baseline="0" dirty="0"/>
              <a:t> </a:t>
            </a:r>
            <a:r>
              <a:rPr lang="en-US" baseline="0" dirty="0" err="1"/>
              <a:t>gồm</a:t>
            </a:r>
            <a:r>
              <a:rPr lang="en-US" baseline="0" dirty="0"/>
              <a:t> </a:t>
            </a:r>
            <a:r>
              <a:rPr lang="en-US" baseline="0" dirty="0" err="1"/>
              <a:t>sở</a:t>
            </a:r>
            <a:r>
              <a:rPr lang="en-US" baseline="0" dirty="0"/>
              <a:t> </a:t>
            </a:r>
            <a:r>
              <a:rPr lang="en-US" baseline="0" dirty="0" err="1"/>
              <a:t>thích</a:t>
            </a:r>
            <a:r>
              <a:rPr lang="en-US" baseline="0" dirty="0"/>
              <a:t>, </a:t>
            </a:r>
            <a:r>
              <a:rPr lang="en-US" baseline="0" dirty="0" err="1"/>
              <a:t>hoặc</a:t>
            </a:r>
            <a:r>
              <a:rPr lang="en-US" baseline="0" dirty="0"/>
              <a:t> </a:t>
            </a:r>
            <a:r>
              <a:rPr lang="en-US" baseline="0" dirty="0" err="1"/>
              <a:t>mức</a:t>
            </a:r>
            <a:r>
              <a:rPr lang="en-US" baseline="0" dirty="0"/>
              <a:t> </a:t>
            </a:r>
            <a:r>
              <a:rPr lang="en-US" baseline="0" dirty="0" err="1"/>
              <a:t>giới</a:t>
            </a:r>
            <a:r>
              <a:rPr lang="en-US" baseline="0" dirty="0"/>
              <a:t> </a:t>
            </a:r>
            <a:r>
              <a:rPr lang="en-US" baseline="0" dirty="0" err="1"/>
              <a:t>hạn</a:t>
            </a:r>
            <a:r>
              <a:rPr lang="en-US" baseline="0" dirty="0"/>
              <a:t> chi </a:t>
            </a:r>
            <a:r>
              <a:rPr lang="en-US" baseline="0" dirty="0" err="1"/>
              <a:t>tiêu</a:t>
            </a:r>
            <a:r>
              <a:rPr lang="en-US" baseline="0" dirty="0"/>
              <a:t>, </a:t>
            </a:r>
            <a:r>
              <a:rPr lang="en-US" baseline="0" dirty="0" err="1"/>
              <a:t>hỗ</a:t>
            </a:r>
            <a:r>
              <a:rPr lang="en-US" baseline="0" dirty="0"/>
              <a:t> </a:t>
            </a:r>
            <a:r>
              <a:rPr lang="en-US" baseline="0" dirty="0" err="1"/>
              <a:t>trợ</a:t>
            </a:r>
            <a:r>
              <a:rPr lang="en-US" baseline="0" dirty="0"/>
              <a:t> </a:t>
            </a:r>
            <a:r>
              <a:rPr lang="en-US" baseline="0" dirty="0" err="1"/>
              <a:t>việc</a:t>
            </a:r>
            <a:r>
              <a:rPr lang="en-US" baseline="0" dirty="0"/>
              <a:t> </a:t>
            </a:r>
            <a:r>
              <a:rPr lang="en-US" baseline="0" dirty="0" err="1"/>
              <a:t>định</a:t>
            </a:r>
            <a:r>
              <a:rPr lang="en-US" baseline="0" dirty="0"/>
              <a:t> </a:t>
            </a:r>
            <a:r>
              <a:rPr lang="en-US" baseline="0" dirty="0" err="1"/>
              <a:t>giá</a:t>
            </a:r>
            <a:r>
              <a:rPr lang="en-US" baseline="0" dirty="0"/>
              <a:t> </a:t>
            </a:r>
            <a:r>
              <a:rPr lang="en-US" baseline="0" dirty="0" err="1"/>
              <a:t>động</a:t>
            </a:r>
            <a:r>
              <a:rPr lang="en-US" baseline="0" dirty="0"/>
              <a:t>.</a:t>
            </a:r>
          </a:p>
          <a:p>
            <a:r>
              <a:rPr lang="en-US" baseline="0" dirty="0"/>
              <a:t>-Menu cost: chi </a:t>
            </a:r>
            <a:r>
              <a:rPr lang="en-US" baseline="0" dirty="0" err="1"/>
              <a:t>phí</a:t>
            </a:r>
            <a:r>
              <a:rPr lang="en-US" baseline="0" dirty="0"/>
              <a:t> </a:t>
            </a:r>
            <a:r>
              <a:rPr lang="en-US" baseline="0" dirty="0" err="1"/>
              <a:t>liên</a:t>
            </a:r>
            <a:r>
              <a:rPr lang="en-US" baseline="0" dirty="0"/>
              <a:t> </a:t>
            </a:r>
            <a:r>
              <a:rPr lang="en-US" baseline="0" dirty="0" err="1"/>
              <a:t>quan</a:t>
            </a:r>
            <a:r>
              <a:rPr lang="en-US" baseline="0" dirty="0"/>
              <a:t> </a:t>
            </a:r>
            <a:r>
              <a:rPr lang="en-US" baseline="0" dirty="0" err="1"/>
              <a:t>đến</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giá</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Nguồn</a:t>
            </a:r>
            <a:r>
              <a:rPr lang="en-US" baseline="0" dirty="0"/>
              <a:t> </a:t>
            </a:r>
            <a:r>
              <a:rPr lang="en-US" baseline="0" dirty="0" err="1"/>
              <a:t>gốc</a:t>
            </a:r>
            <a:r>
              <a:rPr lang="en-US" baseline="0" dirty="0"/>
              <a:t>: </a:t>
            </a:r>
            <a:r>
              <a:rPr lang="en-US" baseline="0" dirty="0" err="1"/>
              <a:t>dùng</a:t>
            </a:r>
            <a:r>
              <a:rPr lang="en-US" baseline="0" dirty="0"/>
              <a:t> </a:t>
            </a:r>
            <a:r>
              <a:rPr lang="en-US" baseline="0" dirty="0" err="1"/>
              <a:t>cho</a:t>
            </a:r>
            <a:r>
              <a:rPr lang="en-US" baseline="0" dirty="0"/>
              <a:t> </a:t>
            </a:r>
            <a:r>
              <a:rPr lang="en-US" baseline="0" dirty="0" err="1"/>
              <a:t>các</a:t>
            </a:r>
            <a:r>
              <a:rPr lang="en-US" baseline="0" dirty="0"/>
              <a:t> </a:t>
            </a:r>
            <a:r>
              <a:rPr lang="en-US" baseline="0" dirty="0" err="1"/>
              <a:t>nhà</a:t>
            </a:r>
            <a:r>
              <a:rPr lang="en-US" baseline="0" dirty="0"/>
              <a:t> </a:t>
            </a:r>
            <a:r>
              <a:rPr lang="en-US" baseline="0" dirty="0" err="1"/>
              <a:t>hàng</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giá</a:t>
            </a:r>
            <a:r>
              <a:rPr lang="en-US" baseline="0" dirty="0"/>
              <a:t> </a:t>
            </a:r>
            <a:r>
              <a:rPr lang="en-US" baseline="0" dirty="0" err="1"/>
              <a:t>trên</a:t>
            </a:r>
            <a:r>
              <a:rPr lang="en-US" baseline="0" dirty="0"/>
              <a:t> </a:t>
            </a:r>
            <a:r>
              <a:rPr lang="en-US" baseline="0" dirty="0" err="1"/>
              <a:t>thực</a:t>
            </a:r>
            <a:r>
              <a:rPr lang="en-US" baseline="0" dirty="0"/>
              <a:t> </a:t>
            </a:r>
            <a:r>
              <a:rPr lang="en-US" baseline="0" dirty="0" err="1"/>
              <a:t>đơn</a:t>
            </a:r>
            <a:r>
              <a:rPr lang="en-US" baseline="0" dirty="0"/>
              <a:t>: </a:t>
            </a:r>
            <a:r>
              <a:rPr lang="en-US" baseline="0" dirty="0" err="1"/>
              <a:t>phải</a:t>
            </a:r>
            <a:r>
              <a:rPr lang="en-US" baseline="0" dirty="0"/>
              <a:t> in </a:t>
            </a:r>
            <a:r>
              <a:rPr lang="en-US" baseline="0" dirty="0" err="1"/>
              <a:t>lại</a:t>
            </a:r>
            <a:r>
              <a:rPr lang="en-US" baseline="0" dirty="0"/>
              <a:t>. </a:t>
            </a:r>
            <a:r>
              <a:rPr lang="en-US" baseline="0" dirty="0" err="1"/>
              <a:t>Hiện</a:t>
            </a:r>
            <a:r>
              <a:rPr lang="en-US" baseline="0" dirty="0"/>
              <a:t> </a:t>
            </a:r>
            <a:r>
              <a:rPr lang="en-US" baseline="0" dirty="0" err="1"/>
              <a:t>tại</a:t>
            </a:r>
            <a:r>
              <a:rPr lang="en-US" baseline="0" dirty="0"/>
              <a:t> </a:t>
            </a:r>
            <a:r>
              <a:rPr lang="en-US" baseline="0" dirty="0" err="1"/>
              <a:t>dùng</a:t>
            </a:r>
            <a:r>
              <a:rPr lang="en-US" baseline="0" dirty="0"/>
              <a:t> </a:t>
            </a:r>
            <a:r>
              <a:rPr lang="en-US" baseline="0" dirty="0" err="1"/>
              <a:t>cho</a:t>
            </a:r>
            <a:r>
              <a:rPr lang="en-US" baseline="0" dirty="0"/>
              <a:t> </a:t>
            </a:r>
            <a:r>
              <a:rPr lang="en-US" baseline="0" dirty="0" err="1"/>
              <a:t>các</a:t>
            </a:r>
            <a:r>
              <a:rPr lang="en-US" baseline="0" dirty="0"/>
              <a:t> chi </a:t>
            </a:r>
            <a:r>
              <a:rPr lang="en-US" baseline="0" dirty="0" err="1"/>
              <a:t>phí</a:t>
            </a:r>
            <a:r>
              <a:rPr lang="en-US" baseline="0" dirty="0"/>
              <a:t> </a:t>
            </a:r>
            <a:r>
              <a:rPr lang="en-US" baseline="0" dirty="0" err="1"/>
              <a:t>liên</a:t>
            </a:r>
            <a:r>
              <a:rPr lang="en-US" baseline="0" dirty="0"/>
              <a:t> </a:t>
            </a:r>
            <a:r>
              <a:rPr lang="en-US" baseline="0" dirty="0" err="1"/>
              <a:t>quan</a:t>
            </a:r>
            <a:r>
              <a:rPr lang="en-US" baseline="0" dirty="0"/>
              <a:t> </a:t>
            </a:r>
            <a:r>
              <a:rPr lang="en-US" baseline="0" dirty="0" err="1"/>
              <a:t>khi</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giá</a:t>
            </a:r>
            <a:r>
              <a:rPr lang="en-US" baseline="0" dirty="0"/>
              <a:t>. </a:t>
            </a:r>
            <a:r>
              <a:rPr lang="en-US" baseline="0" dirty="0" err="1"/>
              <a:t>Ví</a:t>
            </a:r>
            <a:r>
              <a:rPr lang="en-US" baseline="0" dirty="0"/>
              <a:t> </a:t>
            </a:r>
            <a:r>
              <a:rPr lang="en-US" baseline="0" dirty="0" err="1"/>
              <a:t>dụ</a:t>
            </a:r>
            <a:r>
              <a:rPr lang="en-US" baseline="0" dirty="0"/>
              <a:t>: </a:t>
            </a:r>
            <a:r>
              <a:rPr lang="en-US" baseline="0" dirty="0" err="1"/>
              <a:t>cập</a:t>
            </a:r>
            <a:r>
              <a:rPr lang="en-US" baseline="0" dirty="0"/>
              <a:t> </a:t>
            </a:r>
            <a:r>
              <a:rPr lang="en-US" baseline="0" dirty="0" err="1"/>
              <a:t>nhật</a:t>
            </a:r>
            <a:r>
              <a:rPr lang="en-US" baseline="0" dirty="0"/>
              <a:t> </a:t>
            </a:r>
            <a:r>
              <a:rPr lang="en-US" baseline="0" dirty="0" err="1"/>
              <a:t>thông</a:t>
            </a:r>
            <a:r>
              <a:rPr lang="en-US" baseline="0" dirty="0"/>
              <a:t> tin (</a:t>
            </a:r>
            <a:r>
              <a:rPr lang="en-US" baseline="0" dirty="0" err="1"/>
              <a:t>hàng</a:t>
            </a:r>
            <a:r>
              <a:rPr lang="en-US" baseline="0" dirty="0"/>
              <a:t> </a:t>
            </a:r>
            <a:r>
              <a:rPr lang="en-US" baseline="0" dirty="0" err="1"/>
              <a:t>nghìn</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quyết</a:t>
            </a:r>
            <a:r>
              <a:rPr lang="en-US" baseline="0" dirty="0"/>
              <a:t> </a:t>
            </a:r>
            <a:r>
              <a:rPr lang="en-US" baseline="0" dirty="0" err="1"/>
              <a:t>định</a:t>
            </a:r>
            <a:r>
              <a:rPr lang="en-US" baseline="0" dirty="0"/>
              <a:t> </a:t>
            </a:r>
            <a:r>
              <a:rPr lang="en-US" baseline="0" dirty="0" err="1"/>
              <a:t>mức</a:t>
            </a:r>
            <a:r>
              <a:rPr lang="en-US" baseline="0" dirty="0"/>
              <a:t> </a:t>
            </a:r>
            <a:r>
              <a:rPr lang="en-US" baseline="0" dirty="0" err="1"/>
              <a:t>giá</a:t>
            </a:r>
            <a:r>
              <a:rPr lang="en-US" baseline="0" dirty="0"/>
              <a:t> </a:t>
            </a:r>
            <a:r>
              <a:rPr lang="en-US" baseline="0" dirty="0" err="1"/>
              <a:t>mới</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trên</a:t>
            </a:r>
            <a:r>
              <a:rPr lang="en-US" baseline="0" dirty="0"/>
              <a:t> </a:t>
            </a:r>
            <a:r>
              <a:rPr lang="en-US" baseline="0" dirty="0" err="1"/>
              <a:t>nhiều</a:t>
            </a:r>
            <a:r>
              <a:rPr lang="en-US" baseline="0" dirty="0"/>
              <a:t> chi </a:t>
            </a:r>
            <a:r>
              <a:rPr lang="en-US" baseline="0" dirty="0" err="1"/>
              <a:t>nhánh</a:t>
            </a:r>
            <a:r>
              <a:rPr lang="en-US" baseline="0" dirty="0"/>
              <a:t>, </a:t>
            </a:r>
            <a:r>
              <a:rPr lang="en-US" baseline="0" dirty="0" err="1"/>
              <a:t>v.v</a:t>
            </a:r>
            <a:r>
              <a:rPr lang="en-US" baseline="0" dirty="0"/>
              <a:t>…</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22</a:t>
            </a:fld>
            <a:endParaRPr lang="en-US"/>
          </a:p>
        </p:txBody>
      </p:sp>
    </p:spTree>
    <p:extLst>
      <p:ext uri="{BB962C8B-B14F-4D97-AF65-F5344CB8AC3E}">
        <p14:creationId xmlns:p14="http://schemas.microsoft.com/office/powerpoint/2010/main" val="91060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dispersion (</a:t>
            </a:r>
            <a:r>
              <a:rPr lang="en-US" dirty="0" err="1"/>
              <a:t>phân</a:t>
            </a:r>
            <a:r>
              <a:rPr lang="en-US" dirty="0"/>
              <a:t> </a:t>
            </a:r>
            <a:r>
              <a:rPr lang="en-US" dirty="0" err="1"/>
              <a:t>tán</a:t>
            </a:r>
            <a:r>
              <a:rPr lang="en-US" dirty="0"/>
              <a:t>):</a:t>
            </a:r>
            <a:r>
              <a:rPr lang="en-US" baseline="0" dirty="0"/>
              <a:t> </a:t>
            </a:r>
            <a:r>
              <a:rPr lang="en-US" sz="1200" kern="1200" baseline="0" dirty="0" err="1">
                <a:solidFill>
                  <a:schemeClr val="tx1"/>
                </a:solidFill>
                <a:latin typeface="+mn-lt"/>
                <a:ea typeface="+mn-ea"/>
                <a:cs typeface="+mn-cs"/>
              </a:rPr>
              <a:t>có</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hoặc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gian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Biến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gian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nhiều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cùng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một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sản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phẩm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với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khác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nhau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Biến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gian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thay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sản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phẩm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của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mình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gian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hoặc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sự</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thay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mức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độ</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cung-cầu</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-Price discrimination (</a:t>
            </a:r>
            <a:r>
              <a:rPr lang="en-US" sz="1200" kern="1200" baseline="0" dirty="0" err="1">
                <a:solidFill>
                  <a:schemeClr val="tx1"/>
                </a:solidFill>
                <a:latin typeface="+mn-lt"/>
                <a:ea typeface="+mn-ea"/>
                <a:cs typeface="+mn-cs"/>
              </a:rPr>
              <a:t>sự</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phân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biệt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sản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phẩm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thay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từng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-First degree (or perfect) differentiation: </a:t>
            </a:r>
            <a:r>
              <a:rPr lang="en-US" sz="1200" kern="1200" baseline="0" dirty="0" err="1">
                <a:solidFill>
                  <a:schemeClr val="tx1"/>
                </a:solidFill>
                <a:latin typeface="+mn-lt"/>
                <a:ea typeface="+mn-ea"/>
                <a:cs typeface="+mn-cs"/>
              </a:rPr>
              <a:t>thay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lượng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đại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lý</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cấp</a:t>
            </a:r>
            <a:r>
              <a:rPr lang="en-US" sz="1200" kern="1200" baseline="0" dirty="0">
                <a:solidFill>
                  <a:schemeClr val="tx1"/>
                </a:solidFill>
                <a:latin typeface="+mn-lt"/>
                <a:ea typeface="+mn-ea"/>
                <a:cs typeface="+mn-cs"/>
              </a:rPr>
              <a:t> 1, </a:t>
            </a:r>
            <a:r>
              <a:rPr lang="en-US" sz="1200" kern="1200" baseline="0" dirty="0" err="1">
                <a:solidFill>
                  <a:schemeClr val="tx1"/>
                </a:solidFill>
                <a:latin typeface="+mn-lt"/>
                <a:ea typeface="+mn-ea"/>
                <a:cs typeface="+mn-cs"/>
              </a:rPr>
              <a:t>cấp</a:t>
            </a:r>
            <a:r>
              <a:rPr lang="en-US" sz="1200" kern="1200" baseline="0" dirty="0">
                <a:solidFill>
                  <a:schemeClr val="tx1"/>
                </a:solidFill>
                <a:latin typeface="+mn-lt"/>
                <a:ea typeface="+mn-ea"/>
                <a:cs typeface="+mn-cs"/>
              </a:rPr>
              <a:t> 2 </a:t>
            </a:r>
            <a:r>
              <a:rPr lang="en-US" sz="1200" kern="1200" baseline="0" dirty="0" err="1">
                <a:solidFill>
                  <a:schemeClr val="tx1"/>
                </a:solidFill>
                <a:latin typeface="+mn-lt"/>
                <a:ea typeface="+mn-ea"/>
                <a:cs typeface="+mn-cs"/>
              </a:rPr>
              <a:t>có</a:t>
            </a:r>
            <a:r>
              <a:rPr lang="en-US" sz="1200" kern="1200" baseline="0" dirty="0">
                <a:solidFill>
                  <a:schemeClr val="tx1"/>
                </a:solidFill>
                <a:latin typeface="+mn-lt"/>
                <a:ea typeface="+mn-ea"/>
                <a:cs typeface="+mn-cs"/>
              </a:rPr>
              <a:t> cam </a:t>
            </a:r>
            <a:r>
              <a:rPr lang="en-US" sz="1200" kern="1200" baseline="0" dirty="0" err="1">
                <a:solidFill>
                  <a:schemeClr val="tx1"/>
                </a:solidFill>
                <a:latin typeface="+mn-lt"/>
                <a:ea typeface="+mn-ea"/>
                <a:cs typeface="+mn-cs"/>
              </a:rPr>
              <a:t>kết</a:t>
            </a:r>
            <a:r>
              <a:rPr lang="en-US" sz="1200" kern="1200" baseline="0" dirty="0">
                <a:solidFill>
                  <a:schemeClr val="tx1"/>
                </a:solidFill>
                <a:latin typeface="+mn-lt"/>
                <a:ea typeface="+mn-ea"/>
                <a:cs typeface="+mn-cs"/>
              </a:rPr>
              <a:t> SL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-Second degree price differentiation: </a:t>
            </a:r>
            <a:r>
              <a:rPr lang="en-US" sz="1200" kern="1200" baseline="0" dirty="0" err="1">
                <a:solidFill>
                  <a:schemeClr val="tx1"/>
                </a:solidFill>
                <a:latin typeface="+mn-lt"/>
                <a:ea typeface="+mn-ea"/>
                <a:cs typeface="+mn-cs"/>
              </a:rPr>
              <a:t>chỉ</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thay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lượng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điện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nước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giảm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nhiều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v.v</a:t>
            </a:r>
            <a:r>
              <a:rPr lang="en-US" sz="1200" kern="1200" baseline="0" dirty="0">
                <a:solidFill>
                  <a:schemeClr val="tx1"/>
                </a:solidFill>
                <a:latin typeface="+mn-lt"/>
                <a:ea typeface="+mn-ea"/>
                <a:cs typeface="+mn-cs"/>
              </a:rPr>
              <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-Third degree price differentiation: </a:t>
            </a:r>
            <a:r>
              <a:rPr lang="en-US" sz="1200" kern="1200" baseline="0" dirty="0" err="1">
                <a:solidFill>
                  <a:schemeClr val="tx1"/>
                </a:solidFill>
                <a:latin typeface="+mn-lt"/>
                <a:ea typeface="+mn-ea"/>
                <a:cs typeface="+mn-cs"/>
              </a:rPr>
              <a:t>chỉ</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thay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đổi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internet </a:t>
            </a:r>
            <a:r>
              <a:rPr lang="en-US" sz="1200" kern="1200" baseline="0" dirty="0" err="1">
                <a:solidFill>
                  <a:schemeClr val="tx1"/>
                </a:solidFill>
                <a:latin typeface="+mn-lt"/>
                <a:ea typeface="+mn-ea"/>
                <a:cs typeface="+mn-cs"/>
              </a:rPr>
              <a:t>theo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cty</a:t>
            </a:r>
            <a:r>
              <a:rPr lang="en-US" sz="1200" kern="1200" baseline="0" dirty="0">
                <a:solidFill>
                  <a:schemeClr val="tx1"/>
                </a:solidFill>
                <a:latin typeface="+mn-lt"/>
                <a:ea typeface="+mn-ea"/>
                <a:cs typeface="+mn-cs"/>
              </a:rPr>
              <a:t> hay </a:t>
            </a:r>
            <a:r>
              <a:rPr lang="en-US" sz="1200" kern="1200" baseline="0" dirty="0" err="1">
                <a:solidFill>
                  <a:schemeClr val="tx1"/>
                </a:solidFill>
                <a:latin typeface="+mn-lt"/>
                <a:ea typeface="+mn-ea"/>
                <a:cs typeface="+mn-cs"/>
              </a:rPr>
              <a:t>cá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nhân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sinh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viên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khác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làm</a:t>
            </a:r>
            <a:r>
              <a:rPr lang="en-US" sz="1200" kern="1200" baseline="0" dirty="0">
                <a:solidFill>
                  <a:schemeClr val="tx1"/>
                </a:solidFill>
                <a:latin typeface="+mn-lt"/>
                <a:ea typeface="+mn-ea"/>
                <a:cs typeface="+mn-cs"/>
              </a:rPr>
              <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sym typeface="Wingdings" panose="05000000000000000000" pitchFamily="2" charset="2"/>
              </a:rPr>
              <a:t> </a:t>
            </a:r>
            <a:r>
              <a:rPr lang="en-US" sz="1200" kern="1200" baseline="0" dirty="0" err="1">
                <a:solidFill>
                  <a:schemeClr val="tx1"/>
                </a:solidFill>
                <a:latin typeface="+mn-lt"/>
                <a:ea typeface="+mn-ea"/>
                <a:cs typeface="+mn-cs"/>
                <a:sym typeface="Wingdings" panose="05000000000000000000" pitchFamily="2" charset="2"/>
              </a:rPr>
              <a:t>Yêu</a:t>
            </a:r>
            <a:r>
              <a:rPr lang="en-US" sz="1200" kern="1200" baseline="0" dirty="0">
                <a:solidFill>
                  <a:schemeClr val="tx1"/>
                </a:solidFill>
                <a:latin typeface="+mn-lt"/>
                <a:ea typeface="+mn-ea"/>
                <a:cs typeface="+mn-cs"/>
                <a:sym typeface="Wingdings" panose="05000000000000000000" pitchFamily="2" charset="2"/>
              </a:rPr>
              <a:t> </a:t>
            </a:r>
            <a:r>
              <a:rPr lang="en-US" sz="1200" kern="1200" baseline="0" dirty="0" err="1">
                <a:solidFill>
                  <a:schemeClr val="tx1"/>
                </a:solidFill>
                <a:latin typeface="+mn-lt"/>
                <a:ea typeface="+mn-ea"/>
                <a:cs typeface="+mn-cs"/>
                <a:sym typeface="Wingdings" panose="05000000000000000000" pitchFamily="2" charset="2"/>
              </a:rPr>
              <a:t>cầu</a:t>
            </a:r>
            <a:r>
              <a:rPr lang="en-US" sz="1200" kern="1200" baseline="0" dirty="0">
                <a:solidFill>
                  <a:schemeClr val="tx1"/>
                </a:solidFill>
                <a:latin typeface="+mn-lt"/>
                <a:ea typeface="+mn-ea"/>
                <a:cs typeface="+mn-cs"/>
                <a:sym typeface="Wingdings" panose="05000000000000000000" pitchFamily="2" charset="2"/>
              </a:rPr>
              <a:t> SV </a:t>
            </a:r>
            <a:r>
              <a:rPr lang="en-US" sz="1200" kern="1200" baseline="0" dirty="0" err="1">
                <a:solidFill>
                  <a:schemeClr val="tx1"/>
                </a:solidFill>
                <a:latin typeface="+mn-lt"/>
                <a:ea typeface="+mn-ea"/>
                <a:cs typeface="+mn-cs"/>
                <a:sym typeface="Wingdings" panose="05000000000000000000" pitchFamily="2" charset="2"/>
              </a:rPr>
              <a:t>tìm</a:t>
            </a:r>
            <a:r>
              <a:rPr lang="en-US" sz="1200" kern="1200" baseline="0" dirty="0">
                <a:solidFill>
                  <a:schemeClr val="tx1"/>
                </a:solidFill>
                <a:latin typeface="+mn-lt"/>
                <a:ea typeface="+mn-ea"/>
                <a:cs typeface="+mn-cs"/>
                <a:sym typeface="Wingdings" panose="05000000000000000000" pitchFamily="2" charset="2"/>
              </a:rPr>
              <a:t> </a:t>
            </a:r>
            <a:r>
              <a:rPr lang="en-US" sz="1200" kern="1200" baseline="0" dirty="0" err="1">
                <a:solidFill>
                  <a:schemeClr val="tx1"/>
                </a:solidFill>
                <a:latin typeface="+mn-lt"/>
                <a:ea typeface="+mn-ea"/>
                <a:cs typeface="+mn-cs"/>
                <a:sym typeface="Wingdings" panose="05000000000000000000" pitchFamily="2" charset="2"/>
              </a:rPr>
              <a:t>thêm</a:t>
            </a:r>
            <a:r>
              <a:rPr lang="en-US" sz="1200" kern="1200" baseline="0" dirty="0">
                <a:solidFill>
                  <a:schemeClr val="tx1"/>
                </a:solidFill>
                <a:latin typeface="+mn-lt"/>
                <a:ea typeface="+mn-ea"/>
                <a:cs typeface="+mn-cs"/>
                <a:sym typeface="Wingdings" panose="05000000000000000000" pitchFamily="2" charset="2"/>
              </a:rPr>
              <a:t> </a:t>
            </a:r>
            <a:r>
              <a:rPr lang="en-US" sz="1200" kern="1200" baseline="0" dirty="0" err="1">
                <a:solidFill>
                  <a:schemeClr val="tx1"/>
                </a:solidFill>
                <a:latin typeface="+mn-lt"/>
                <a:ea typeface="+mn-ea"/>
                <a:cs typeface="+mn-cs"/>
                <a:sym typeface="Wingdings" panose="05000000000000000000" pitchFamily="2" charset="2"/>
              </a:rPr>
              <a:t>ví</a:t>
            </a:r>
            <a:r>
              <a:rPr lang="en-US" sz="1200" kern="1200" baseline="0" dirty="0">
                <a:solidFill>
                  <a:schemeClr val="tx1"/>
                </a:solidFill>
                <a:latin typeface="+mn-lt"/>
                <a:ea typeface="+mn-ea"/>
                <a:cs typeface="+mn-cs"/>
                <a:sym typeface="Wingdings" panose="05000000000000000000" pitchFamily="2" charset="2"/>
              </a:rPr>
              <a:t> </a:t>
            </a:r>
            <a:r>
              <a:rPr lang="en-US" sz="1200" kern="1200" baseline="0" dirty="0" err="1">
                <a:solidFill>
                  <a:schemeClr val="tx1"/>
                </a:solidFill>
                <a:latin typeface="+mn-lt"/>
                <a:ea typeface="+mn-ea"/>
                <a:cs typeface="+mn-cs"/>
                <a:sym typeface="Wingdings" panose="05000000000000000000" pitchFamily="2" charset="2"/>
              </a:rPr>
              <a:t>dụ</a:t>
            </a:r>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23</a:t>
            </a:fld>
            <a:endParaRPr lang="en-US"/>
          </a:p>
        </p:txBody>
      </p:sp>
    </p:spTree>
    <p:extLst>
      <p:ext uri="{BB962C8B-B14F-4D97-AF65-F5344CB8AC3E}">
        <p14:creationId xmlns:p14="http://schemas.microsoft.com/office/powerpoint/2010/main" val="20395369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-Product differentiation: </a:t>
            </a:r>
            <a:r>
              <a:rPr lang="en-US" sz="1200" kern="1200" baseline="0" dirty="0" err="1">
                <a:solidFill>
                  <a:schemeClr val="tx1"/>
                </a:solidFill>
                <a:latin typeface="+mn-lt"/>
                <a:ea typeface="+mn-ea"/>
                <a:cs typeface="+mn-cs"/>
              </a:rPr>
              <a:t>thêm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vào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các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bổ</a:t>
            </a:r>
            <a:r>
              <a:rPr lang="en-US" sz="1200" kern="1200" baseline="0" dirty="0">
                <a:solidFill>
                  <a:schemeClr val="tx1"/>
                </a:solidFill>
                <a:latin typeface="+mn-lt"/>
                <a:ea typeface="+mn-ea"/>
                <a:cs typeface="+mn-cs"/>
              </a:rPr>
              <a:t> sung, </a:t>
            </a:r>
            <a:r>
              <a:rPr lang="en-US" sz="1200" kern="1200" baseline="0" dirty="0" err="1">
                <a:solidFill>
                  <a:schemeClr val="tx1"/>
                </a:solidFill>
                <a:latin typeface="+mn-lt"/>
                <a:ea typeface="+mn-ea"/>
                <a:cs typeface="+mn-cs"/>
              </a:rPr>
              <a:t>tùy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chọn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sản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phẩm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của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mình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làm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sản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phẩm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giảm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năng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bị</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thay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thế</a:t>
            </a:r>
            <a:r>
              <a:rPr lang="en-US" sz="1200" kern="1200" baseline="0" dirty="0">
                <a:solidFill>
                  <a:schemeClr val="tx1"/>
                </a:solidFill>
                <a:latin typeface="+mn-lt"/>
                <a:ea typeface="+mn-ea"/>
                <a:cs typeface="+mn-cs"/>
              </a:rPr>
              <a:t> (vendor lock-in effect, </a:t>
            </a:r>
            <a:r>
              <a:rPr lang="en-US" sz="1200" kern="1200" baseline="0" dirty="0" err="1">
                <a:solidFill>
                  <a:schemeClr val="tx1"/>
                </a:solidFill>
                <a:latin typeface="+mn-lt"/>
                <a:ea typeface="+mn-ea"/>
                <a:cs typeface="+mn-cs"/>
              </a:rPr>
              <a:t>tăng</a:t>
            </a:r>
            <a:r>
              <a:rPr lang="en-US" sz="1200" kern="1200" baseline="0" dirty="0">
                <a:solidFill>
                  <a:schemeClr val="tx1"/>
                </a:solidFill>
                <a:latin typeface="+mn-lt"/>
                <a:ea typeface="+mn-ea"/>
                <a:cs typeface="+mn-cs"/>
              </a:rPr>
              <a:t> switching cost) </a:t>
            </a:r>
            <a:r>
              <a:rPr lang="en-US" sz="1200" kern="1200" baseline="0" dirty="0" err="1">
                <a:solidFill>
                  <a:schemeClr val="tx1"/>
                </a:solidFill>
                <a:latin typeface="+mn-lt"/>
                <a:ea typeface="+mn-ea"/>
                <a:cs typeface="+mn-cs"/>
              </a:rPr>
              <a:t>và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tăng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năng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đáp</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ứng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từng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nhóm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khách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hàng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cụ</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Ví</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dụ</a:t>
            </a:r>
            <a:r>
              <a:rPr lang="en-US" sz="1200" kern="1200" baseline="0" dirty="0">
                <a:solidFill>
                  <a:schemeClr val="tx1"/>
                </a:solidFill>
                <a:latin typeface="+mn-lt"/>
                <a:ea typeface="+mn-ea"/>
                <a:cs typeface="+mn-cs"/>
              </a:rPr>
              <a:t>: Dell computer</a:t>
            </a: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Cách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hiện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thực</a:t>
            </a:r>
            <a:r>
              <a:rPr lang="en-US" sz="1200" kern="1200" baseline="0" dirty="0">
                <a:solidFill>
                  <a:schemeClr val="tx1"/>
                </a:solidFill>
                <a:latin typeface="+mn-lt"/>
                <a:ea typeface="+mn-ea"/>
                <a:cs typeface="+mn-cs"/>
              </a:rPr>
              <a:t> dynamic pricing</a:t>
            </a:r>
          </a:p>
          <a:p>
            <a:r>
              <a:rPr lang="en-US" sz="1200" kern="1200" baseline="0" dirty="0">
                <a:solidFill>
                  <a:schemeClr val="tx1"/>
                </a:solidFill>
                <a:latin typeface="+mn-lt"/>
                <a:ea typeface="+mn-ea"/>
                <a:cs typeface="+mn-cs"/>
              </a:rPr>
              <a:t>-Posted price (</a:t>
            </a:r>
            <a:r>
              <a:rPr lang="en-US" sz="1200" kern="1200" baseline="0" dirty="0" err="1">
                <a:solidFill>
                  <a:schemeClr val="tx1"/>
                </a:solidFill>
                <a:latin typeface="+mn-lt"/>
                <a:ea typeface="+mn-ea"/>
                <a:cs typeface="+mn-cs"/>
              </a:rPr>
              <a:t>niêm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yết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khai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một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cách</a:t>
            </a:r>
            <a:r>
              <a:rPr lang="en-US" sz="1200" kern="1200" baseline="0" dirty="0">
                <a:solidFill>
                  <a:schemeClr val="tx1"/>
                </a:solidFill>
                <a:latin typeface="+mn-lt"/>
                <a:ea typeface="+mn-ea"/>
                <a:cs typeface="+mn-cs"/>
              </a:rPr>
              <a:t> dynamic) </a:t>
            </a:r>
            <a:r>
              <a:rPr lang="en-US" sz="1200" kern="1200" baseline="0" dirty="0" err="1">
                <a:solidFill>
                  <a:schemeClr val="tx1"/>
                </a:solidFill>
                <a:latin typeface="+mn-lt"/>
                <a:ea typeface="+mn-ea"/>
                <a:cs typeface="+mn-cs"/>
              </a:rPr>
              <a:t>bởi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có</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chọn</a:t>
            </a:r>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không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sản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phẩm</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-Price discovery (</a:t>
            </a:r>
            <a:r>
              <a:rPr lang="en-US" sz="1200" kern="1200" baseline="0" dirty="0" err="1">
                <a:solidFill>
                  <a:schemeClr val="tx1"/>
                </a:solidFill>
                <a:latin typeface="+mn-lt"/>
                <a:ea typeface="+mn-ea"/>
                <a:cs typeface="+mn-cs"/>
              </a:rPr>
              <a:t>báo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quyết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định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thông</a:t>
            </a:r>
            <a:r>
              <a:rPr lang="en-US" sz="1200" kern="1200" baseline="0" dirty="0">
                <a:solidFill>
                  <a:schemeClr val="tx1"/>
                </a:solidFill>
                <a:latin typeface="+mn-lt"/>
                <a:ea typeface="+mn-ea"/>
                <a:cs typeface="+mn-cs"/>
              </a:rPr>
              <a:t> qua </a:t>
            </a:r>
            <a:r>
              <a:rPr lang="en-US" sz="1200" kern="1200" baseline="0" dirty="0" err="1">
                <a:solidFill>
                  <a:schemeClr val="tx1"/>
                </a:solidFill>
                <a:latin typeface="+mn-lt"/>
                <a:ea typeface="+mn-ea"/>
                <a:cs typeface="+mn-cs"/>
              </a:rPr>
              <a:t>một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quá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trình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(bidding) </a:t>
            </a: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Ví</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dụ</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về</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ngành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nghiệp</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hàng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dựa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trên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thông</a:t>
            </a:r>
            <a:r>
              <a:rPr lang="en-US" sz="1200" kern="1200" baseline="0" dirty="0">
                <a:solidFill>
                  <a:schemeClr val="tx1"/>
                </a:solidFill>
                <a:latin typeface="+mn-lt"/>
                <a:ea typeface="+mn-ea"/>
                <a:cs typeface="+mn-cs"/>
              </a:rPr>
              <a:t> tin </a:t>
            </a:r>
            <a:r>
              <a:rPr lang="en-US" sz="1200" kern="1200" baseline="0" dirty="0" err="1">
                <a:solidFill>
                  <a:schemeClr val="tx1"/>
                </a:solidFill>
                <a:latin typeface="+mn-lt"/>
                <a:ea typeface="+mn-ea"/>
                <a:cs typeface="+mn-cs"/>
              </a:rPr>
              <a:t>quá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khứ</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số</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lượng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đặt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chỗ</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dự</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đoán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số</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lượng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loại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ghế</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sẽ</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book </a:t>
            </a:r>
            <a:r>
              <a:rPr lang="en-US" sz="1200" kern="1200" baseline="0" dirty="0" err="1">
                <a:solidFill>
                  <a:schemeClr val="tx1"/>
                </a:solidFill>
                <a:latin typeface="+mn-lt"/>
                <a:ea typeface="+mn-ea"/>
                <a:cs typeface="+mn-cs"/>
              </a:rPr>
              <a:t>mà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điều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chỉnh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số</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lượng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ghế</a:t>
            </a:r>
            <a:r>
              <a:rPr lang="en-US" sz="1200" kern="1200" baseline="0" dirty="0">
                <a:solidFill>
                  <a:schemeClr val="tx1"/>
                </a:solidFill>
                <a:latin typeface="+mn-lt"/>
                <a:ea typeface="+mn-ea"/>
                <a:cs typeface="+mn-cs"/>
              </a:rPr>
              <a:t> business </a:t>
            </a:r>
            <a:r>
              <a:rPr lang="en-US" sz="1200" kern="1200" baseline="0" dirty="0" err="1">
                <a:solidFill>
                  <a:schemeClr val="tx1"/>
                </a:solidFill>
                <a:latin typeface="+mn-lt"/>
                <a:ea typeface="+mn-ea"/>
                <a:cs typeface="+mn-cs"/>
              </a:rPr>
              <a:t>và</a:t>
            </a:r>
            <a:r>
              <a:rPr lang="en-US" sz="1200" kern="1200" baseline="0" dirty="0">
                <a:solidFill>
                  <a:schemeClr val="tx1"/>
                </a:solidFill>
                <a:latin typeface="+mn-lt"/>
                <a:ea typeface="+mn-ea"/>
                <a:cs typeface="+mn-cs"/>
              </a:rPr>
              <a:t> economy </a:t>
            </a:r>
            <a:r>
              <a:rPr lang="en-US" sz="1200" kern="1200" baseline="0" dirty="0" err="1">
                <a:solidFill>
                  <a:schemeClr val="tx1"/>
                </a:solidFill>
                <a:latin typeface="+mn-lt"/>
                <a:ea typeface="+mn-ea"/>
                <a:cs typeface="+mn-cs"/>
              </a:rPr>
              <a:t>tương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ứng</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-Priceline.com: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phép</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vé</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máy</a:t>
            </a:r>
            <a:r>
              <a:rPr lang="en-US" sz="1200" kern="1200" baseline="0" dirty="0">
                <a:solidFill>
                  <a:schemeClr val="tx1"/>
                </a:solidFill>
                <a:latin typeface="+mn-lt"/>
                <a:ea typeface="+mn-ea"/>
                <a:cs typeface="+mn-cs"/>
              </a:rPr>
              <a:t> bay </a:t>
            </a:r>
            <a:r>
              <a:rPr lang="en-US" sz="1200" kern="1200" baseline="0" dirty="0" err="1">
                <a:solidFill>
                  <a:schemeClr val="tx1"/>
                </a:solidFill>
                <a:latin typeface="+mn-lt"/>
                <a:ea typeface="+mn-ea"/>
                <a:cs typeface="+mn-cs"/>
              </a:rPr>
              <a:t>vào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giờ</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chót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với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rẻ</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thường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giúp</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hãng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hàng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hết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vé</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nếu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ghế</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trống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thì</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sẽ</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mất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tiền</a:t>
            </a:r>
            <a:r>
              <a:rPr lang="en-US" sz="1200" kern="1200" baseline="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24</a:t>
            </a:fld>
            <a:endParaRPr lang="en-US"/>
          </a:p>
        </p:txBody>
      </p:sp>
    </p:spTree>
    <p:extLst>
      <p:ext uri="{BB962C8B-B14F-4D97-AF65-F5344CB8AC3E}">
        <p14:creationId xmlns:p14="http://schemas.microsoft.com/office/powerpoint/2010/main" val="3321402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-Babylon (500 BC): </a:t>
            </a:r>
            <a:r>
              <a:rPr lang="en-US" sz="1200" kern="1200" baseline="0" dirty="0" err="1">
                <a:solidFill>
                  <a:schemeClr val="tx1"/>
                </a:solidFill>
                <a:latin typeface="+mn-lt"/>
                <a:ea typeface="+mn-ea"/>
                <a:cs typeface="+mn-cs"/>
              </a:rPr>
              <a:t>đàn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lấy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phụ</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nữ</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mình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muốn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kết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hôn</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Đế</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chế</a:t>
            </a:r>
            <a:r>
              <a:rPr lang="en-US" sz="1200" kern="1200" baseline="0" dirty="0">
                <a:solidFill>
                  <a:schemeClr val="tx1"/>
                </a:solidFill>
                <a:latin typeface="+mn-lt"/>
                <a:ea typeface="+mn-ea"/>
                <a:cs typeface="+mn-cs"/>
              </a:rPr>
              <a:t> La </a:t>
            </a:r>
            <a:r>
              <a:rPr lang="en-US" sz="1200" kern="1200" baseline="0" dirty="0" err="1">
                <a:solidFill>
                  <a:schemeClr val="tx1"/>
                </a:solidFill>
                <a:latin typeface="+mn-lt"/>
                <a:ea typeface="+mn-ea"/>
                <a:cs typeface="+mn-cs"/>
              </a:rPr>
              <a:t>Mã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các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đồ</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vật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chiếm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của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kẻ</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thù</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Chùa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Phật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các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đồ</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vật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của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những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sư</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chết</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Định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nghĩa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liên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quan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đến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Private valuation: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mỗi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tự</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giới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mình</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Shill bidders: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thuê</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tham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tạo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hiệu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ứng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tâm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lý</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đầu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đẩy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0AF09E1-458B-41C0-845B-4BEE7F0E5E02}" type="slidenum">
              <a:rPr lang="en-US" smtClean="0"/>
              <a:t>25</a:t>
            </a:fld>
            <a:endParaRPr lang="en-US"/>
          </a:p>
        </p:txBody>
      </p:sp>
    </p:spTree>
    <p:extLst>
      <p:ext uri="{BB962C8B-B14F-4D97-AF65-F5344CB8AC3E}">
        <p14:creationId xmlns:p14="http://schemas.microsoft.com/office/powerpoint/2010/main" val="14800137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26</a:t>
            </a:fld>
            <a:endParaRPr lang="en-US"/>
          </a:p>
        </p:txBody>
      </p:sp>
    </p:spTree>
    <p:extLst>
      <p:ext uri="{BB962C8B-B14F-4D97-AF65-F5344CB8AC3E}">
        <p14:creationId xmlns:p14="http://schemas.microsoft.com/office/powerpoint/2010/main" val="2617517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Phân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biệt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giữa</a:t>
            </a:r>
            <a:r>
              <a:rPr lang="en-US" sz="1200" kern="1200" baseline="0" dirty="0">
                <a:solidFill>
                  <a:schemeClr val="tx1"/>
                </a:solidFill>
                <a:latin typeface="+mn-lt"/>
                <a:ea typeface="+mn-ea"/>
                <a:cs typeface="+mn-cs"/>
              </a:rPr>
              <a:t> minimum bid </a:t>
            </a:r>
            <a:r>
              <a:rPr lang="en-US" sz="1200" kern="1200" baseline="0" dirty="0" err="1">
                <a:solidFill>
                  <a:schemeClr val="tx1"/>
                </a:solidFill>
                <a:latin typeface="+mn-lt"/>
                <a:ea typeface="+mn-ea"/>
                <a:cs typeface="+mn-cs"/>
              </a:rPr>
              <a:t>và</a:t>
            </a:r>
            <a:r>
              <a:rPr lang="en-US" sz="1200" kern="1200" baseline="0" dirty="0">
                <a:solidFill>
                  <a:schemeClr val="tx1"/>
                </a:solidFill>
                <a:latin typeface="+mn-lt"/>
                <a:ea typeface="+mn-ea"/>
                <a:cs typeface="+mn-cs"/>
              </a:rPr>
              <a:t> reserve price? </a:t>
            </a:r>
            <a:r>
              <a:rPr lang="en-US" sz="1200" kern="1200" baseline="0" dirty="0" err="1">
                <a:solidFill>
                  <a:schemeClr val="tx1"/>
                </a:solidFill>
                <a:latin typeface="+mn-lt"/>
                <a:ea typeface="+mn-ea"/>
                <a:cs typeface="+mn-cs"/>
              </a:rPr>
              <a:t>Cái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đầu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thông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còn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cái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cuối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thì</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không</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-Yankee: </a:t>
            </a:r>
            <a:r>
              <a:rPr lang="en-US" sz="1200" kern="1200" baseline="0" dirty="0" err="1">
                <a:solidFill>
                  <a:schemeClr val="tx1"/>
                </a:solidFill>
                <a:latin typeface="+mn-lt"/>
                <a:ea typeface="+mn-ea"/>
                <a:cs typeface="+mn-cs"/>
              </a:rPr>
              <a:t>nhiều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món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hàng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có</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nhất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cung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cấp</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đủ</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số</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yêu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cầu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phần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còn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lại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dành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thứ</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nhì</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thứ</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v.v</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tất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thắng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trả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thấp</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nhất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còn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nhận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hàng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ví</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dụ</a:t>
            </a:r>
            <a:r>
              <a:rPr lang="en-US" sz="1200" kern="1200" baseline="0" dirty="0">
                <a:solidFill>
                  <a:schemeClr val="tx1"/>
                </a:solidFill>
                <a:latin typeface="+mn-lt"/>
                <a:ea typeface="+mn-ea"/>
                <a:cs typeface="+mn-cs"/>
              </a:rPr>
              <a:t>: 100 </a:t>
            </a:r>
            <a:r>
              <a:rPr lang="en-US" sz="1200" kern="1200" baseline="0" dirty="0" err="1">
                <a:solidFill>
                  <a:schemeClr val="tx1"/>
                </a:solidFill>
                <a:latin typeface="+mn-lt"/>
                <a:ea typeface="+mn-ea"/>
                <a:cs typeface="+mn-cs"/>
              </a:rPr>
              <a:t>món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1: 70 </a:t>
            </a:r>
            <a:r>
              <a:rPr lang="en-US" sz="1200" kern="1200" baseline="0" dirty="0" err="1">
                <a:solidFill>
                  <a:schemeClr val="tx1"/>
                </a:solidFill>
                <a:latin typeface="+mn-lt"/>
                <a:ea typeface="+mn-ea"/>
                <a:cs typeface="+mn-cs"/>
              </a:rPr>
              <a:t>món</a:t>
            </a:r>
            <a:r>
              <a:rPr lang="en-US" sz="1200" kern="1200" baseline="0" dirty="0">
                <a:solidFill>
                  <a:schemeClr val="tx1"/>
                </a:solidFill>
                <a:latin typeface="+mn-lt"/>
                <a:ea typeface="+mn-ea"/>
                <a:cs typeface="+mn-cs"/>
              </a:rPr>
              <a:t> $100,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2: 20 </a:t>
            </a:r>
            <a:r>
              <a:rPr lang="en-US" sz="1200" kern="1200" baseline="0" dirty="0" err="1">
                <a:solidFill>
                  <a:schemeClr val="tx1"/>
                </a:solidFill>
                <a:latin typeface="+mn-lt"/>
                <a:ea typeface="+mn-ea"/>
                <a:cs typeface="+mn-cs"/>
              </a:rPr>
              <a:t>món</a:t>
            </a:r>
            <a:r>
              <a:rPr lang="en-US" sz="1200" kern="1200" baseline="0" dirty="0">
                <a:solidFill>
                  <a:schemeClr val="tx1"/>
                </a:solidFill>
                <a:latin typeface="+mn-lt"/>
                <a:ea typeface="+mn-ea"/>
                <a:cs typeface="+mn-cs"/>
              </a:rPr>
              <a:t> $90,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3: 30 </a:t>
            </a:r>
            <a:r>
              <a:rPr lang="en-US" sz="1200" kern="1200" baseline="0" dirty="0" err="1">
                <a:solidFill>
                  <a:schemeClr val="tx1"/>
                </a:solidFill>
                <a:latin typeface="+mn-lt"/>
                <a:ea typeface="+mn-ea"/>
                <a:cs typeface="+mn-cs"/>
              </a:rPr>
              <a:t>món</a:t>
            </a:r>
            <a:r>
              <a:rPr lang="en-US" sz="1200" kern="1200" baseline="0" dirty="0">
                <a:solidFill>
                  <a:schemeClr val="tx1"/>
                </a:solidFill>
                <a:latin typeface="+mn-lt"/>
                <a:ea typeface="+mn-ea"/>
                <a:cs typeface="+mn-cs"/>
              </a:rPr>
              <a:t> $80,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4: 50 </a:t>
            </a:r>
            <a:r>
              <a:rPr lang="en-US" sz="1200" kern="1200" baseline="0" dirty="0" err="1">
                <a:solidFill>
                  <a:schemeClr val="tx1"/>
                </a:solidFill>
                <a:latin typeface="+mn-lt"/>
                <a:ea typeface="+mn-ea"/>
                <a:cs typeface="+mn-cs"/>
              </a:rPr>
              <a:t>món</a:t>
            </a:r>
            <a:r>
              <a:rPr lang="en-US" sz="1200" kern="1200" baseline="0" dirty="0">
                <a:solidFill>
                  <a:schemeClr val="tx1"/>
                </a:solidFill>
                <a:latin typeface="+mn-lt"/>
                <a:ea typeface="+mn-ea"/>
                <a:cs typeface="+mn-cs"/>
              </a:rPr>
              <a:t> $70; </a:t>
            </a:r>
            <a:r>
              <a:rPr lang="en-US" sz="1200" kern="1200" baseline="0" dirty="0" err="1">
                <a:solidFill>
                  <a:schemeClr val="tx1"/>
                </a:solidFill>
                <a:latin typeface="+mn-lt"/>
                <a:ea typeface="+mn-ea"/>
                <a:cs typeface="+mn-cs"/>
              </a:rPr>
              <a:t>kết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quả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1: 70,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2: 20,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3: 10,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phải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trả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là</a:t>
            </a:r>
            <a:r>
              <a:rPr lang="en-US" sz="1200" kern="1200" baseline="0" dirty="0">
                <a:solidFill>
                  <a:schemeClr val="tx1"/>
                </a:solidFill>
                <a:latin typeface="+mn-lt"/>
                <a:ea typeface="+mn-ea"/>
                <a:cs typeface="+mn-cs"/>
              </a:rPr>
              <a:t> $80)</a:t>
            </a:r>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27</a:t>
            </a:fld>
            <a:endParaRPr lang="en-US"/>
          </a:p>
        </p:txBody>
      </p:sp>
    </p:spTree>
    <p:extLst>
      <p:ext uri="{BB962C8B-B14F-4D97-AF65-F5344CB8AC3E}">
        <p14:creationId xmlns:p14="http://schemas.microsoft.com/office/powerpoint/2010/main" val="11646781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kiểu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anh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có</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khuyết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điểm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có</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thể</a:t>
            </a:r>
            <a:r>
              <a:rPr lang="en-US" sz="1200" kern="1200" baseline="0" dirty="0">
                <a:solidFill>
                  <a:schemeClr val="tx1"/>
                </a:solidFill>
                <a:latin typeface="+mn-lt"/>
                <a:ea typeface="+mn-ea"/>
                <a:cs typeface="+mn-cs"/>
              </a:rPr>
              <a:t> k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tối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thắng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chỉ</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cần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nhì</a:t>
            </a:r>
            <a:r>
              <a:rPr lang="en-US" sz="1200" kern="1200" baseline="0" dirty="0">
                <a:solidFill>
                  <a:schemeClr val="tx1"/>
                </a:solidFill>
                <a:latin typeface="+mn-lt"/>
                <a:ea typeface="+mn-ea"/>
                <a:cs typeface="+mn-cs"/>
              </a:rPr>
              <a:t> 1 </a:t>
            </a:r>
            <a:r>
              <a:rPr lang="en-US" sz="1200" kern="1200" baseline="0" dirty="0" err="1">
                <a:solidFill>
                  <a:schemeClr val="tx1"/>
                </a:solidFill>
                <a:latin typeface="+mn-lt"/>
                <a:ea typeface="+mn-ea"/>
                <a:cs typeface="+mn-cs"/>
              </a:rPr>
              <a:t>ít</a:t>
            </a:r>
            <a:r>
              <a:rPr lang="en-US" sz="1200" kern="1200" baseline="0" dirty="0">
                <a:solidFill>
                  <a:schemeClr val="tx1"/>
                </a:solidFill>
                <a:latin typeface="+mn-lt"/>
                <a:ea typeface="+mn-ea"/>
                <a:cs typeface="+mn-cs"/>
              </a:rPr>
              <a:t>)</a:t>
            </a:r>
          </a:p>
          <a:p>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có</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với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dự</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kiến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hiện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tượng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tâm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sinh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lý</a:t>
            </a:r>
            <a:r>
              <a:rPr lang="en-US" sz="1200" kern="1200" baseline="0" dirty="0">
                <a:solidFill>
                  <a:schemeClr val="tx1"/>
                </a:solidFill>
                <a:latin typeface="+mn-lt"/>
                <a:ea typeface="+mn-ea"/>
                <a:cs typeface="+mn-cs"/>
              </a:rPr>
              <a:t>)</a:t>
            </a:r>
          </a:p>
        </p:txBody>
      </p:sp>
      <p:sp>
        <p:nvSpPr>
          <p:cNvPr id="4" name="Slide Number Placeholder 3"/>
          <p:cNvSpPr>
            <a:spLocks noGrp="1"/>
          </p:cNvSpPr>
          <p:nvPr>
            <p:ph type="sldNum" sz="quarter" idx="10"/>
          </p:nvPr>
        </p:nvSpPr>
        <p:spPr/>
        <p:txBody>
          <a:bodyPr/>
          <a:lstStyle/>
          <a:p>
            <a:fld id="{30AF09E1-458B-41C0-845B-4BEE7F0E5E02}" type="slidenum">
              <a:rPr lang="en-US" smtClean="0"/>
              <a:t>28</a:t>
            </a:fld>
            <a:endParaRPr lang="en-US"/>
          </a:p>
        </p:txBody>
      </p:sp>
    </p:spTree>
    <p:extLst>
      <p:ext uri="{BB962C8B-B14F-4D97-AF65-F5344CB8AC3E}">
        <p14:creationId xmlns:p14="http://schemas.microsoft.com/office/powerpoint/2010/main" val="2176803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kiểu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Lan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cũng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mở</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0AF09E1-458B-41C0-845B-4BEE7F0E5E02}" type="slidenum">
              <a:rPr lang="en-US" smtClean="0"/>
              <a:t>29</a:t>
            </a:fld>
            <a:endParaRPr lang="en-US"/>
          </a:p>
        </p:txBody>
      </p:sp>
    </p:spTree>
    <p:extLst>
      <p:ext uri="{BB962C8B-B14F-4D97-AF65-F5344CB8AC3E}">
        <p14:creationId xmlns:p14="http://schemas.microsoft.com/office/powerpoint/2010/main" val="2645017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Customer confusion: </a:t>
            </a:r>
            <a:r>
              <a:rPr lang="en-US" sz="1200" kern="1200" baseline="0" dirty="0" err="1">
                <a:solidFill>
                  <a:schemeClr val="tx1"/>
                </a:solidFill>
                <a:latin typeface="+mn-lt"/>
                <a:ea typeface="+mn-ea"/>
                <a:cs typeface="+mn-cs"/>
              </a:rPr>
              <a:t>nên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chốt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khi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nào</a:t>
            </a:r>
            <a:r>
              <a:rPr lang="en-US" sz="1200" kern="1200" baseline="0" dirty="0">
                <a:solidFill>
                  <a:schemeClr val="tx1"/>
                </a:solidFill>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Anh: </a:t>
            </a:r>
            <a:r>
              <a:rPr lang="en-US" sz="1200" kern="1200" baseline="0" dirty="0" err="1">
                <a:solidFill>
                  <a:schemeClr val="tx1"/>
                </a:solidFill>
                <a:latin typeface="+mn-lt"/>
                <a:ea typeface="+mn-ea"/>
                <a:cs typeface="+mn-cs"/>
              </a:rPr>
              <a:t>mình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chủ</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động</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0AF09E1-458B-41C0-845B-4BEE7F0E5E02}" type="slidenum">
              <a:rPr lang="en-US" smtClean="0"/>
              <a:t>30</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Vickrey</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giải</a:t>
            </a:r>
            <a:r>
              <a:rPr lang="en-US" sz="1200" kern="1200" baseline="0" dirty="0">
                <a:solidFill>
                  <a:schemeClr val="tx1"/>
                </a:solidFill>
                <a:latin typeface="+mn-lt"/>
                <a:ea typeface="+mn-ea"/>
                <a:cs typeface="+mn-cs"/>
              </a:rPr>
              <a:t> Nobel </a:t>
            </a:r>
            <a:r>
              <a:rPr lang="en-US" sz="1200" kern="1200" baseline="0" dirty="0" err="1">
                <a:solidFill>
                  <a:schemeClr val="tx1"/>
                </a:solidFill>
                <a:latin typeface="+mn-lt"/>
                <a:ea typeface="+mn-ea"/>
                <a:cs typeface="+mn-cs"/>
              </a:rPr>
              <a:t>kinh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tế</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vì</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phân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tích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về</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loại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hình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này</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được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tốt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nhất</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mình</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ước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lượng</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Giảm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sự</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cấu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kết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giữa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các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Second-price: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thắng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trả</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nhất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nhưng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SP </a:t>
            </a:r>
            <a:r>
              <a:rPr lang="en-US" sz="1200" kern="1200" baseline="0" dirty="0" err="1">
                <a:solidFill>
                  <a:schemeClr val="tx1"/>
                </a:solidFill>
                <a:latin typeface="+mn-lt"/>
                <a:ea typeface="+mn-ea"/>
                <a:cs typeface="+mn-cs"/>
              </a:rPr>
              <a:t>với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của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cao</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thứ</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nhì</a:t>
            </a:r>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0AF09E1-458B-41C0-845B-4BEE7F0E5E02}" type="slidenum">
              <a:rPr lang="en-US" smtClean="0"/>
              <a:t>31</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-Auctioneer </a:t>
            </a:r>
            <a:r>
              <a:rPr lang="en-US" sz="1200" kern="1200" baseline="0" dirty="0" err="1">
                <a:solidFill>
                  <a:schemeClr val="tx1"/>
                </a:solidFill>
                <a:latin typeface="+mn-lt"/>
                <a:ea typeface="+mn-ea"/>
                <a:cs typeface="+mn-cs"/>
              </a:rPr>
              <a:t>chọn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đóng</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và</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với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này</a:t>
            </a:r>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32</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đưa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các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bán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người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chọn</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giá</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thấp</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nhất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để</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mua</a:t>
            </a:r>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33</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34</a:t>
            </a:fld>
            <a:endParaRPr lang="en-US"/>
          </a:p>
        </p:txBody>
      </p:sp>
    </p:spTree>
    <p:extLst>
      <p:ext uri="{BB962C8B-B14F-4D97-AF65-F5344CB8AC3E}">
        <p14:creationId xmlns:p14="http://schemas.microsoft.com/office/powerpoint/2010/main" val="21215330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Một</a:t>
            </a:r>
            <a:r>
              <a:rPr lang="en-US" baseline="0" dirty="0"/>
              <a:t> website </a:t>
            </a:r>
            <a:r>
              <a:rPr lang="en-US" baseline="0" dirty="0" err="1"/>
              <a:t>có</a:t>
            </a:r>
            <a:r>
              <a:rPr lang="en-US" baseline="0" dirty="0"/>
              <a:t> </a:t>
            </a:r>
            <a:r>
              <a:rPr lang="en-US" baseline="0" dirty="0" err="1"/>
              <a:t>thể</a:t>
            </a:r>
            <a:r>
              <a:rPr lang="en-US" baseline="0" dirty="0"/>
              <a:t> </a:t>
            </a:r>
            <a:r>
              <a:rPr lang="en-US" baseline="0" dirty="0" err="1"/>
              <a:t>dùng</a:t>
            </a:r>
            <a:r>
              <a:rPr lang="en-US" baseline="0" dirty="0"/>
              <a:t> </a:t>
            </a:r>
            <a:r>
              <a:rPr lang="en-US" baseline="0" dirty="0" err="1"/>
              <a:t>nhiều</a:t>
            </a:r>
            <a:r>
              <a:rPr lang="en-US" baseline="0" dirty="0"/>
              <a:t> </a:t>
            </a:r>
            <a:r>
              <a:rPr lang="en-US" baseline="0" dirty="0" err="1"/>
              <a:t>mô</a:t>
            </a:r>
            <a:r>
              <a:rPr lang="en-US" baseline="0" dirty="0"/>
              <a:t> </a:t>
            </a:r>
            <a:r>
              <a:rPr lang="en-US" baseline="0" dirty="0" err="1"/>
              <a:t>hình</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35</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36</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Ví</a:t>
            </a:r>
            <a:r>
              <a:rPr lang="en-US" baseline="0" dirty="0"/>
              <a:t> </a:t>
            </a:r>
            <a:r>
              <a:rPr lang="en-US" baseline="0" dirty="0" err="1"/>
              <a:t>dụ</a:t>
            </a:r>
            <a:r>
              <a:rPr lang="en-US" baseline="0" dirty="0"/>
              <a:t> </a:t>
            </a:r>
            <a:r>
              <a:rPr lang="en-US" baseline="0" dirty="0" err="1"/>
              <a:t>về</a:t>
            </a:r>
            <a:r>
              <a:rPr lang="en-US" baseline="0" dirty="0"/>
              <a:t> digital content: LexisNexis </a:t>
            </a:r>
            <a:r>
              <a:rPr lang="en-US" baseline="0" dirty="0" err="1"/>
              <a:t>cung</a:t>
            </a:r>
            <a:r>
              <a:rPr lang="en-US" baseline="0" dirty="0"/>
              <a:t> </a:t>
            </a:r>
            <a:r>
              <a:rPr lang="en-US" baseline="0" dirty="0" err="1"/>
              <a:t>cấp</a:t>
            </a:r>
            <a:r>
              <a:rPr lang="en-US" baseline="0" dirty="0"/>
              <a:t> </a:t>
            </a:r>
            <a:r>
              <a:rPr lang="en-US" baseline="0" dirty="0" err="1"/>
              <a:t>thông</a:t>
            </a:r>
            <a:r>
              <a:rPr lang="en-US" baseline="0" dirty="0"/>
              <a:t> tin </a:t>
            </a:r>
            <a:r>
              <a:rPr lang="en-US" baseline="0" dirty="0" err="1"/>
              <a:t>về</a:t>
            </a:r>
            <a:r>
              <a:rPr lang="en-US" baseline="0" dirty="0"/>
              <a:t> </a:t>
            </a:r>
            <a:r>
              <a:rPr lang="en-US" baseline="0" dirty="0" err="1"/>
              <a:t>luật</a:t>
            </a:r>
            <a:r>
              <a:rPr lang="en-US" baseline="0" dirty="0"/>
              <a:t>, ACM digital library </a:t>
            </a:r>
            <a:r>
              <a:rPr lang="en-US" baseline="0" dirty="0" err="1"/>
              <a:t>về</a:t>
            </a:r>
            <a:r>
              <a:rPr lang="en-US" baseline="0" dirty="0"/>
              <a:t> computer science, </a:t>
            </a:r>
            <a:r>
              <a:rPr lang="en-US" baseline="0" dirty="0" err="1"/>
              <a:t>thông</a:t>
            </a:r>
            <a:r>
              <a:rPr lang="en-US" baseline="0" dirty="0"/>
              <a:t> tin </a:t>
            </a:r>
            <a:r>
              <a:rPr lang="en-US" baseline="0" dirty="0" err="1"/>
              <a:t>của</a:t>
            </a:r>
            <a:r>
              <a:rPr lang="en-US" baseline="0" dirty="0"/>
              <a:t> </a:t>
            </a:r>
            <a:r>
              <a:rPr lang="en-US" baseline="0" dirty="0" err="1"/>
              <a:t>các</a:t>
            </a:r>
            <a:r>
              <a:rPr lang="en-US" baseline="0" dirty="0"/>
              <a:t> website </a:t>
            </a:r>
            <a:r>
              <a:rPr lang="en-US" baseline="0" dirty="0" err="1"/>
              <a:t>người</a:t>
            </a:r>
            <a:r>
              <a:rPr lang="en-US" baseline="0" dirty="0"/>
              <a:t> </a:t>
            </a:r>
            <a:r>
              <a:rPr lang="en-US" baseline="0" dirty="0" err="1"/>
              <a:t>lớn</a:t>
            </a:r>
            <a:endParaRPr lang="en-US" baseline="0" dirty="0"/>
          </a:p>
          <a:p>
            <a:r>
              <a:rPr lang="en-US" baseline="0" dirty="0"/>
              <a:t>-</a:t>
            </a:r>
            <a:r>
              <a:rPr lang="en-US" baseline="0" dirty="0" err="1"/>
              <a:t>Giải</a:t>
            </a:r>
            <a:r>
              <a:rPr lang="en-US" baseline="0" dirty="0"/>
              <a:t> </a:t>
            </a:r>
            <a:r>
              <a:rPr lang="en-US" baseline="0" dirty="0" err="1"/>
              <a:t>thích</a:t>
            </a:r>
            <a:r>
              <a:rPr lang="en-US" baseline="0" dirty="0"/>
              <a:t> </a:t>
            </a:r>
            <a:r>
              <a:rPr lang="en-US" baseline="0" dirty="0" err="1"/>
              <a:t>về</a:t>
            </a:r>
            <a:r>
              <a:rPr lang="en-US" baseline="0" dirty="0"/>
              <a:t> stickiness </a:t>
            </a:r>
            <a:r>
              <a:rPr lang="en-US" baseline="0" dirty="0" err="1"/>
              <a:t>và</a:t>
            </a:r>
            <a:r>
              <a:rPr lang="en-US" baseline="0" dirty="0"/>
              <a:t> </a:t>
            </a:r>
            <a:r>
              <a:rPr lang="en-US" baseline="0" dirty="0" err="1"/>
              <a:t>hữu</a:t>
            </a:r>
            <a:r>
              <a:rPr lang="en-US" baseline="0" dirty="0"/>
              <a:t> </a:t>
            </a:r>
            <a:r>
              <a:rPr lang="en-US" baseline="0" dirty="0" err="1"/>
              <a:t>ích</a:t>
            </a:r>
            <a:r>
              <a:rPr lang="en-US" baseline="0" dirty="0"/>
              <a:t> </a:t>
            </a:r>
            <a:r>
              <a:rPr lang="en-US" baseline="0" dirty="0" err="1"/>
              <a:t>của</a:t>
            </a:r>
            <a:r>
              <a:rPr lang="en-US" baseline="0" dirty="0"/>
              <a:t> </a:t>
            </a:r>
            <a:r>
              <a:rPr lang="en-US" baseline="0" dirty="0" err="1"/>
              <a:t>nó</a:t>
            </a:r>
            <a:r>
              <a:rPr lang="en-US" baseline="0" dirty="0"/>
              <a:t> </a:t>
            </a:r>
            <a:r>
              <a:rPr lang="en-US" baseline="0" dirty="0" err="1"/>
              <a:t>với</a:t>
            </a:r>
            <a:r>
              <a:rPr lang="en-US" baseline="0" dirty="0"/>
              <a:t> site </a:t>
            </a:r>
            <a:r>
              <a:rPr lang="en-US" baseline="0" dirty="0" err="1"/>
              <a:t>kiếm</a:t>
            </a:r>
            <a:r>
              <a:rPr lang="en-US" baseline="0" dirty="0"/>
              <a:t> </a:t>
            </a:r>
            <a:r>
              <a:rPr lang="en-US" baseline="0" dirty="0" err="1"/>
              <a:t>lợi</a:t>
            </a:r>
            <a:r>
              <a:rPr lang="en-US" baseline="0" dirty="0"/>
              <a:t> </a:t>
            </a:r>
            <a:r>
              <a:rPr lang="en-US" baseline="0" dirty="0" err="1"/>
              <a:t>nhuận</a:t>
            </a:r>
            <a:r>
              <a:rPr lang="en-US" baseline="0" dirty="0"/>
              <a:t> </a:t>
            </a:r>
            <a:r>
              <a:rPr lang="en-US" baseline="0" dirty="0" err="1"/>
              <a:t>từ</a:t>
            </a:r>
            <a:r>
              <a:rPr lang="en-US" baseline="0" dirty="0"/>
              <a:t> </a:t>
            </a:r>
            <a:r>
              <a:rPr lang="en-US" baseline="0" dirty="0" err="1"/>
              <a:t>quảng</a:t>
            </a:r>
            <a:r>
              <a:rPr lang="en-US" baseline="0" dirty="0"/>
              <a:t> </a:t>
            </a:r>
            <a:r>
              <a:rPr lang="en-US" baseline="0" dirty="0" err="1"/>
              <a:t>cáo</a:t>
            </a:r>
            <a:endParaRPr lang="en-US" baseline="0" dirty="0"/>
          </a:p>
          <a:p>
            <a:r>
              <a:rPr lang="en-US" dirty="0"/>
              <a:t>-Website </a:t>
            </a:r>
            <a:r>
              <a:rPr lang="en-US" dirty="0" err="1"/>
              <a:t>phải</a:t>
            </a:r>
            <a:r>
              <a:rPr lang="en-US" baseline="0" dirty="0"/>
              <a:t> </a:t>
            </a:r>
            <a:r>
              <a:rPr lang="en-US" baseline="0" dirty="0" err="1"/>
              <a:t>có</a:t>
            </a:r>
            <a:r>
              <a:rPr lang="en-US" baseline="0" dirty="0"/>
              <a:t> </a:t>
            </a:r>
            <a:r>
              <a:rPr lang="en-US" baseline="0" dirty="0" err="1"/>
              <a:t>số</a:t>
            </a:r>
            <a:r>
              <a:rPr lang="en-US" baseline="0" dirty="0"/>
              <a:t> </a:t>
            </a:r>
            <a:r>
              <a:rPr lang="en-US" baseline="0" dirty="0" err="1"/>
              <a:t>người</a:t>
            </a:r>
            <a:r>
              <a:rPr lang="en-US" baseline="0" dirty="0"/>
              <a:t> </a:t>
            </a:r>
            <a:r>
              <a:rPr lang="en-US" baseline="0" dirty="0" err="1"/>
              <a:t>truy</a:t>
            </a:r>
            <a:r>
              <a:rPr lang="en-US" baseline="0" dirty="0"/>
              <a:t> </a:t>
            </a:r>
            <a:r>
              <a:rPr lang="en-US" baseline="0" dirty="0" err="1"/>
              <a:t>cập</a:t>
            </a:r>
            <a:r>
              <a:rPr lang="en-US" baseline="0" dirty="0"/>
              <a:t> </a:t>
            </a:r>
            <a:r>
              <a:rPr lang="en-US" baseline="0" dirty="0" err="1"/>
              <a:t>đông</a:t>
            </a:r>
            <a:r>
              <a:rPr lang="en-US" baseline="0" dirty="0"/>
              <a:t> </a:t>
            </a:r>
            <a:r>
              <a:rPr lang="en-US" baseline="0" dirty="0" err="1"/>
              <a:t>thì</a:t>
            </a:r>
            <a:r>
              <a:rPr lang="en-US" baseline="0" dirty="0"/>
              <a:t> </a:t>
            </a:r>
            <a:r>
              <a:rPr lang="en-US" baseline="0" dirty="0" err="1"/>
              <a:t>mới</a:t>
            </a:r>
            <a:r>
              <a:rPr lang="en-US" baseline="0" dirty="0"/>
              <a:t> </a:t>
            </a:r>
            <a:r>
              <a:rPr lang="en-US" baseline="0" dirty="0" err="1"/>
              <a:t>thu</a:t>
            </a:r>
            <a:r>
              <a:rPr lang="en-US" baseline="0" dirty="0"/>
              <a:t> </a:t>
            </a:r>
            <a:r>
              <a:rPr lang="en-US" baseline="0" dirty="0" err="1"/>
              <a:t>hút</a:t>
            </a:r>
            <a:r>
              <a:rPr lang="en-US" baseline="0" dirty="0"/>
              <a:t> </a:t>
            </a:r>
            <a:r>
              <a:rPr lang="en-US" baseline="0" dirty="0" err="1"/>
              <a:t>công</a:t>
            </a:r>
            <a:r>
              <a:rPr lang="en-US" baseline="0" dirty="0"/>
              <a:t> </a:t>
            </a:r>
            <a:r>
              <a:rPr lang="en-US" baseline="0" dirty="0" err="1"/>
              <a:t>ty</a:t>
            </a:r>
            <a:r>
              <a:rPr lang="en-US" baseline="0" dirty="0"/>
              <a:t> </a:t>
            </a:r>
            <a:r>
              <a:rPr lang="en-US" baseline="0" dirty="0" err="1"/>
              <a:t>quảng</a:t>
            </a:r>
            <a:r>
              <a:rPr lang="en-US" baseline="0" dirty="0"/>
              <a:t> </a:t>
            </a:r>
            <a:r>
              <a:rPr lang="en-US" baseline="0" dirty="0" err="1"/>
              <a:t>cáo</a:t>
            </a:r>
            <a:r>
              <a:rPr lang="en-US" baseline="0" dirty="0"/>
              <a:t>, </a:t>
            </a:r>
            <a:r>
              <a:rPr lang="en-US" baseline="0" dirty="0" err="1"/>
              <a:t>nhưng</a:t>
            </a:r>
            <a:r>
              <a:rPr lang="en-US" baseline="0" dirty="0"/>
              <a:t> website </a:t>
            </a:r>
            <a:r>
              <a:rPr lang="en-US" baseline="0" dirty="0" err="1"/>
              <a:t>chuyên</a:t>
            </a:r>
            <a:r>
              <a:rPr lang="en-US" baseline="0" dirty="0"/>
              <a:t> </a:t>
            </a:r>
            <a:r>
              <a:rPr lang="en-US" baseline="0" dirty="0" err="1"/>
              <a:t>cho</a:t>
            </a:r>
            <a:r>
              <a:rPr lang="en-US" baseline="0" dirty="0"/>
              <a:t> </a:t>
            </a:r>
            <a:r>
              <a:rPr lang="en-US" baseline="0" dirty="0" err="1"/>
              <a:t>những</a:t>
            </a:r>
            <a:r>
              <a:rPr lang="en-US" baseline="0" dirty="0"/>
              <a:t> </a:t>
            </a:r>
            <a:r>
              <a:rPr lang="en-US" baseline="0" dirty="0" err="1"/>
              <a:t>nhóm</a:t>
            </a:r>
            <a:r>
              <a:rPr lang="en-US" baseline="0" dirty="0"/>
              <a:t> </a:t>
            </a:r>
            <a:r>
              <a:rPr lang="en-US" baseline="0" dirty="0" err="1"/>
              <a:t>người</a:t>
            </a:r>
            <a:r>
              <a:rPr lang="en-US" baseline="0" dirty="0"/>
              <a:t> </a:t>
            </a:r>
            <a:r>
              <a:rPr lang="en-US" baseline="0" dirty="0" err="1"/>
              <a:t>nào</a:t>
            </a:r>
            <a:r>
              <a:rPr lang="en-US" baseline="0" dirty="0"/>
              <a:t> </a:t>
            </a:r>
            <a:r>
              <a:rPr lang="en-US" baseline="0" dirty="0" err="1"/>
              <a:t>đó</a:t>
            </a:r>
            <a:r>
              <a:rPr lang="en-US" baseline="0" dirty="0"/>
              <a:t> </a:t>
            </a:r>
            <a:r>
              <a:rPr lang="en-US" baseline="0" dirty="0" err="1"/>
              <a:t>lại</a:t>
            </a:r>
            <a:r>
              <a:rPr lang="en-US" baseline="0" dirty="0"/>
              <a:t> </a:t>
            </a:r>
            <a:r>
              <a:rPr lang="en-US" baseline="0" dirty="0" err="1"/>
              <a:t>có</a:t>
            </a:r>
            <a:r>
              <a:rPr lang="en-US" baseline="0" dirty="0"/>
              <a:t> </a:t>
            </a:r>
            <a:r>
              <a:rPr lang="en-US" baseline="0" dirty="0" err="1"/>
              <a:t>lợi</a:t>
            </a:r>
            <a:r>
              <a:rPr lang="en-US" baseline="0" dirty="0"/>
              <a:t> </a:t>
            </a:r>
            <a:r>
              <a:rPr lang="en-US" baseline="0" dirty="0" err="1"/>
              <a:t>thế</a:t>
            </a:r>
            <a:r>
              <a:rPr lang="en-US" baseline="0" dirty="0"/>
              <a:t> </a:t>
            </a:r>
            <a:r>
              <a:rPr lang="en-US" baseline="0" dirty="0" err="1"/>
              <a:t>riêng</a:t>
            </a:r>
            <a:r>
              <a:rPr lang="en-US" baseline="0" dirty="0"/>
              <a:t> (</a:t>
            </a:r>
            <a:r>
              <a:rPr lang="en-US" baseline="0" dirty="0" err="1"/>
              <a:t>thông</a:t>
            </a:r>
            <a:r>
              <a:rPr lang="en-US" baseline="0" dirty="0"/>
              <a:t> tin </a:t>
            </a:r>
            <a:r>
              <a:rPr lang="en-US" baseline="0" dirty="0" err="1"/>
              <a:t>nhân</a:t>
            </a:r>
            <a:r>
              <a:rPr lang="en-US" baseline="0" dirty="0"/>
              <a:t> </a:t>
            </a:r>
            <a:r>
              <a:rPr lang="en-US" baseline="0" dirty="0" err="1"/>
              <a:t>khẩu</a:t>
            </a:r>
            <a:r>
              <a:rPr lang="en-US" baseline="0" dirty="0"/>
              <a:t> </a:t>
            </a:r>
            <a:r>
              <a:rPr lang="en-US" baseline="0" dirty="0" err="1"/>
              <a:t>học</a:t>
            </a:r>
            <a:r>
              <a:rPr lang="en-US" baseline="0" dirty="0"/>
              <a:t>: </a:t>
            </a:r>
            <a:r>
              <a:rPr lang="en-US" baseline="0" dirty="0" err="1"/>
              <a:t>địa</a:t>
            </a:r>
            <a:r>
              <a:rPr lang="en-US" baseline="0" dirty="0"/>
              <a:t> </a:t>
            </a:r>
            <a:r>
              <a:rPr lang="en-US" baseline="0" dirty="0" err="1"/>
              <a:t>chỉ</a:t>
            </a:r>
            <a:r>
              <a:rPr lang="en-US" baseline="0" dirty="0"/>
              <a:t>, </a:t>
            </a:r>
            <a:r>
              <a:rPr lang="en-US" baseline="0" dirty="0" err="1"/>
              <a:t>tuổi</a:t>
            </a:r>
            <a:r>
              <a:rPr lang="en-US" baseline="0" dirty="0"/>
              <a:t>, </a:t>
            </a:r>
            <a:r>
              <a:rPr lang="en-US" baseline="0" dirty="0" err="1"/>
              <a:t>sở</a:t>
            </a:r>
            <a:r>
              <a:rPr lang="en-US" baseline="0" dirty="0"/>
              <a:t> </a:t>
            </a:r>
            <a:r>
              <a:rPr lang="en-US" baseline="0" dirty="0" err="1"/>
              <a:t>thích</a:t>
            </a:r>
            <a:r>
              <a:rPr lang="en-US" baseline="0" dirty="0"/>
              <a:t>, </a:t>
            </a:r>
            <a:r>
              <a:rPr lang="en-US" baseline="0" dirty="0" err="1"/>
              <a:t>tôn</a:t>
            </a:r>
            <a:r>
              <a:rPr lang="en-US" baseline="0" dirty="0"/>
              <a:t> </a:t>
            </a:r>
            <a:r>
              <a:rPr lang="en-US" baseline="0" dirty="0" err="1"/>
              <a:t>giáo</a:t>
            </a:r>
            <a:r>
              <a:rPr lang="en-US" baseline="0" dirty="0"/>
              <a:t>, </a:t>
            </a:r>
            <a:r>
              <a:rPr lang="en-US" baseline="0" dirty="0" err="1"/>
              <a:t>v.v</a:t>
            </a:r>
            <a:r>
              <a:rPr lang="en-US" baseline="0" dirty="0"/>
              <a:t>…)</a:t>
            </a:r>
          </a:p>
          <a:p>
            <a:r>
              <a:rPr lang="en-US" baseline="0" dirty="0" err="1"/>
              <a:t>Quảng</a:t>
            </a:r>
            <a:r>
              <a:rPr lang="en-US" baseline="0" dirty="0"/>
              <a:t> </a:t>
            </a:r>
            <a:r>
              <a:rPr lang="en-US" baseline="0" dirty="0" err="1"/>
              <a:t>cáo</a:t>
            </a:r>
            <a:r>
              <a:rPr lang="en-US" baseline="0" dirty="0"/>
              <a:t> </a:t>
            </a:r>
            <a:r>
              <a:rPr lang="en-US" baseline="0" dirty="0" err="1"/>
              <a:t>trên</a:t>
            </a:r>
            <a:r>
              <a:rPr lang="en-US" baseline="0" dirty="0"/>
              <a:t> </a:t>
            </a:r>
            <a:r>
              <a:rPr lang="en-US" baseline="0" dirty="0" err="1"/>
              <a:t>trang</a:t>
            </a:r>
            <a:r>
              <a:rPr lang="en-US" baseline="0" dirty="0"/>
              <a:t> tin </a:t>
            </a:r>
            <a:r>
              <a:rPr lang="en-US" baseline="0" dirty="0" err="1"/>
              <a:t>chung</a:t>
            </a:r>
            <a:r>
              <a:rPr lang="en-US" baseline="0" dirty="0"/>
              <a:t> (tin </a:t>
            </a:r>
            <a:r>
              <a:rPr lang="en-US" baseline="0" dirty="0" err="1"/>
              <a:t>tức</a:t>
            </a:r>
            <a:r>
              <a:rPr lang="en-US" baseline="0" dirty="0"/>
              <a:t>) hay </a:t>
            </a:r>
            <a:r>
              <a:rPr lang="en-US" baseline="0" dirty="0" err="1"/>
              <a:t>chuyên</a:t>
            </a:r>
            <a:r>
              <a:rPr lang="en-US" baseline="0" dirty="0"/>
              <a:t> (website </a:t>
            </a:r>
            <a:r>
              <a:rPr lang="en-US" baseline="0" dirty="0" err="1"/>
              <a:t>nghề</a:t>
            </a:r>
            <a:r>
              <a:rPr lang="en-US" baseline="0" dirty="0"/>
              <a:t> </a:t>
            </a:r>
            <a:r>
              <a:rPr lang="en-US" baseline="0" dirty="0" err="1"/>
              <a:t>nghiệp</a:t>
            </a:r>
            <a:r>
              <a:rPr lang="en-US" baseline="0" dirty="0"/>
              <a:t>, </a:t>
            </a:r>
            <a:r>
              <a:rPr lang="en-US" baseline="0" dirty="0" err="1"/>
              <a:t>xe</a:t>
            </a:r>
            <a:r>
              <a:rPr lang="en-US" baseline="0" dirty="0"/>
              <a:t> </a:t>
            </a:r>
            <a:r>
              <a:rPr lang="en-US" baseline="0" dirty="0" err="1"/>
              <a:t>cộ</a:t>
            </a:r>
            <a:r>
              <a:rPr lang="en-US" baseline="0" dirty="0"/>
              <a:t>, </a:t>
            </a:r>
            <a:r>
              <a:rPr lang="en-US" baseline="0" dirty="0" err="1"/>
              <a:t>điện</a:t>
            </a:r>
            <a:r>
              <a:rPr lang="en-US" baseline="0" dirty="0"/>
              <a:t> </a:t>
            </a:r>
            <a:r>
              <a:rPr lang="en-US" baseline="0" dirty="0" err="1"/>
              <a:t>thoại</a:t>
            </a:r>
            <a:r>
              <a:rPr lang="en-US" baseline="0" dirty="0"/>
              <a:t>, </a:t>
            </a:r>
            <a:r>
              <a:rPr lang="en-US" baseline="0" dirty="0" err="1"/>
              <a:t>v.v</a:t>
            </a:r>
            <a:r>
              <a:rPr lang="en-US" baseline="0" dirty="0"/>
              <a:t>…)</a:t>
            </a:r>
          </a:p>
          <a:p>
            <a:r>
              <a:rPr lang="en-US" baseline="0" dirty="0"/>
              <a:t>-Portal: </a:t>
            </a:r>
            <a:r>
              <a:rPr lang="en-US" baseline="0" dirty="0" err="1"/>
              <a:t>cổng</a:t>
            </a:r>
            <a:r>
              <a:rPr lang="en-US" baseline="0" dirty="0"/>
              <a:t> </a:t>
            </a:r>
            <a:r>
              <a:rPr lang="en-US" baseline="0" dirty="0" err="1"/>
              <a:t>thông</a:t>
            </a:r>
            <a:r>
              <a:rPr lang="en-US" baseline="0" dirty="0"/>
              <a:t> tin, </a:t>
            </a:r>
            <a:r>
              <a:rPr lang="en-US" baseline="0" dirty="0" err="1"/>
              <a:t>nơi</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để</a:t>
            </a:r>
            <a:r>
              <a:rPr lang="en-US" baseline="0" dirty="0"/>
              <a:t> </a:t>
            </a:r>
            <a:r>
              <a:rPr lang="en-US" baseline="0" dirty="0" err="1"/>
              <a:t>vào</a:t>
            </a:r>
            <a:r>
              <a:rPr lang="en-US" baseline="0" dirty="0"/>
              <a:t> </a:t>
            </a:r>
            <a:r>
              <a:rPr lang="en-US" baseline="0" dirty="0" err="1"/>
              <a:t>các</a:t>
            </a:r>
            <a:r>
              <a:rPr lang="en-US" baseline="0" dirty="0"/>
              <a:t> </a:t>
            </a:r>
            <a:r>
              <a:rPr lang="en-US" baseline="0" dirty="0" err="1"/>
              <a:t>dịch</a:t>
            </a:r>
            <a:r>
              <a:rPr lang="en-US" baseline="0" dirty="0"/>
              <a:t> </a:t>
            </a:r>
            <a:r>
              <a:rPr lang="en-US" baseline="0" dirty="0" err="1"/>
              <a:t>vụ</a:t>
            </a:r>
            <a:r>
              <a:rPr lang="en-US" baseline="0" dirty="0"/>
              <a:t> </a:t>
            </a:r>
            <a:r>
              <a:rPr lang="en-US" baseline="0" dirty="0" err="1"/>
              <a:t>cụ</a:t>
            </a:r>
            <a:r>
              <a:rPr lang="en-US" baseline="0" dirty="0"/>
              <a:t> </a:t>
            </a:r>
            <a:r>
              <a:rPr lang="en-US" baseline="0" dirty="0" err="1"/>
              <a:t>thể</a:t>
            </a:r>
            <a:r>
              <a:rPr lang="en-US" baseline="0" dirty="0"/>
              <a:t> </a:t>
            </a:r>
            <a:r>
              <a:rPr lang="en-US" baseline="0" dirty="0" err="1"/>
              <a:t>khác</a:t>
            </a:r>
            <a:r>
              <a:rPr lang="en-US" baseline="0" dirty="0"/>
              <a:t> =&gt; </a:t>
            </a:r>
            <a:r>
              <a:rPr lang="en-US" baseline="0" dirty="0" err="1"/>
              <a:t>có</a:t>
            </a:r>
            <a:r>
              <a:rPr lang="en-US" baseline="0" dirty="0"/>
              <a:t> </a:t>
            </a:r>
            <a:r>
              <a:rPr lang="en-US" baseline="0" dirty="0" err="1"/>
              <a:t>nhiều</a:t>
            </a:r>
            <a:r>
              <a:rPr lang="en-US" baseline="0" dirty="0"/>
              <a:t> </a:t>
            </a:r>
            <a:r>
              <a:rPr lang="en-US" baseline="0" dirty="0" err="1"/>
              <a:t>người</a:t>
            </a:r>
            <a:r>
              <a:rPr lang="en-US" baseline="0" dirty="0"/>
              <a:t> </a:t>
            </a:r>
            <a:r>
              <a:rPr lang="en-US" baseline="0" dirty="0" err="1"/>
              <a:t>truy</a:t>
            </a:r>
            <a:r>
              <a:rPr lang="en-US" baseline="0" dirty="0"/>
              <a:t> </a:t>
            </a:r>
            <a:r>
              <a:rPr lang="en-US" baseline="0" dirty="0" err="1"/>
              <a:t>cập</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37</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of access: </a:t>
            </a:r>
            <a:r>
              <a:rPr lang="en-US" dirty="0" err="1"/>
              <a:t>ví</a:t>
            </a:r>
            <a:r>
              <a:rPr lang="en-US" baseline="0" dirty="0"/>
              <a:t> </a:t>
            </a:r>
            <a:r>
              <a:rPr lang="en-US" baseline="0" dirty="0" err="1"/>
              <a:t>dụ</a:t>
            </a:r>
            <a:r>
              <a:rPr lang="en-US" baseline="0" dirty="0"/>
              <a:t> free </a:t>
            </a:r>
            <a:r>
              <a:rPr lang="en-US" baseline="0" dirty="0" err="1"/>
              <a:t>chỉ</a:t>
            </a:r>
            <a:r>
              <a:rPr lang="en-US" baseline="0" dirty="0"/>
              <a:t> </a:t>
            </a:r>
            <a:r>
              <a:rPr lang="en-US" baseline="0" dirty="0" err="1"/>
              <a:t>được</a:t>
            </a:r>
            <a:r>
              <a:rPr lang="en-US" baseline="0" dirty="0"/>
              <a:t> </a:t>
            </a:r>
            <a:r>
              <a:rPr lang="en-US" baseline="0" dirty="0" err="1"/>
              <a:t>xem</a:t>
            </a:r>
            <a:r>
              <a:rPr lang="en-US" baseline="0" dirty="0"/>
              <a:t>, subscriber </a:t>
            </a:r>
            <a:r>
              <a:rPr lang="en-US" baseline="0" dirty="0" err="1"/>
              <a:t>được</a:t>
            </a:r>
            <a:r>
              <a:rPr lang="en-US" baseline="0" dirty="0"/>
              <a:t> in, </a:t>
            </a:r>
            <a:r>
              <a:rPr lang="en-US" baseline="0" dirty="0" err="1"/>
              <a:t>được</a:t>
            </a:r>
            <a:r>
              <a:rPr lang="en-US" baseline="0" dirty="0"/>
              <a:t> </a:t>
            </a:r>
            <a:r>
              <a:rPr lang="en-US" baseline="0" dirty="0" err="1"/>
              <a:t>đọc</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cũ</a:t>
            </a:r>
            <a:r>
              <a:rPr lang="en-US" baseline="0" dirty="0"/>
              <a:t>, </a:t>
            </a:r>
            <a:r>
              <a:rPr lang="en-US" baseline="0" dirty="0" err="1"/>
              <a:t>tìm</a:t>
            </a:r>
            <a:r>
              <a:rPr lang="en-US" baseline="0" dirty="0"/>
              <a:t> </a:t>
            </a:r>
            <a:r>
              <a:rPr lang="en-US" baseline="0" dirty="0" err="1"/>
              <a:t>kiếm</a:t>
            </a:r>
            <a:r>
              <a:rPr lang="en-US" baseline="0" dirty="0"/>
              <a:t>, </a:t>
            </a:r>
            <a:r>
              <a:rPr lang="en-US" baseline="0" dirty="0" err="1"/>
              <a:t>v.v</a:t>
            </a:r>
            <a:r>
              <a:rPr lang="en-US" baseline="0" dirty="0"/>
              <a:t>…</a:t>
            </a:r>
          </a:p>
          <a:p>
            <a:r>
              <a:rPr lang="en-US" baseline="0" dirty="0"/>
              <a:t>-</a:t>
            </a:r>
            <a:r>
              <a:rPr lang="en-US" baseline="0" dirty="0" err="1"/>
              <a:t>Ví</a:t>
            </a:r>
            <a:r>
              <a:rPr lang="en-US" baseline="0" dirty="0"/>
              <a:t> </a:t>
            </a:r>
            <a:r>
              <a:rPr lang="en-US" baseline="0" dirty="0" err="1"/>
              <a:t>dụ</a:t>
            </a:r>
            <a:r>
              <a:rPr lang="en-US" baseline="0" dirty="0"/>
              <a:t> </a:t>
            </a:r>
            <a:r>
              <a:rPr lang="en-US" baseline="0" dirty="0" err="1"/>
              <a:t>về</a:t>
            </a:r>
            <a:r>
              <a:rPr lang="en-US" baseline="0" dirty="0"/>
              <a:t> 2 </a:t>
            </a:r>
            <a:r>
              <a:rPr lang="en-US" baseline="0" dirty="0" err="1"/>
              <a:t>khái</a:t>
            </a:r>
            <a:r>
              <a:rPr lang="en-US" baseline="0" dirty="0"/>
              <a:t> </a:t>
            </a:r>
            <a:r>
              <a:rPr lang="en-US" baseline="0" dirty="0" err="1"/>
              <a:t>niệm</a:t>
            </a:r>
            <a:r>
              <a:rPr lang="en-US" baseline="0" dirty="0"/>
              <a:t> </a:t>
            </a:r>
            <a:r>
              <a:rPr lang="en-US" dirty="0"/>
              <a:t>disintermediation </a:t>
            </a:r>
            <a:r>
              <a:rPr lang="en-US" dirty="0" err="1"/>
              <a:t>và</a:t>
            </a:r>
            <a:r>
              <a:rPr lang="en-US" baseline="0" dirty="0"/>
              <a:t> </a:t>
            </a:r>
            <a:r>
              <a:rPr lang="en-US" dirty="0" err="1"/>
              <a:t>reintermediation</a:t>
            </a:r>
            <a:r>
              <a:rPr lang="en-US" dirty="0"/>
              <a:t>: </a:t>
            </a:r>
            <a:r>
              <a:rPr lang="en-US" dirty="0" err="1"/>
              <a:t>công</a:t>
            </a:r>
            <a:r>
              <a:rPr lang="en-US" baseline="0" dirty="0"/>
              <a:t> </a:t>
            </a:r>
            <a:r>
              <a:rPr lang="en-US" baseline="0" dirty="0" err="1"/>
              <a:t>ty</a:t>
            </a:r>
            <a:r>
              <a:rPr lang="en-US" baseline="0" dirty="0"/>
              <a:t> du </a:t>
            </a:r>
            <a:r>
              <a:rPr lang="en-US" baseline="0" dirty="0" err="1"/>
              <a:t>lịch</a:t>
            </a:r>
            <a:endParaRPr lang="en-US" baseline="0" dirty="0"/>
          </a:p>
          <a:p>
            <a:r>
              <a:rPr lang="en-US" baseline="0" dirty="0"/>
              <a:t>-Travel (commission </a:t>
            </a:r>
            <a:r>
              <a:rPr lang="en-US" baseline="0" dirty="0" err="1"/>
              <a:t>dựa</a:t>
            </a:r>
            <a:r>
              <a:rPr lang="en-US" baseline="0" dirty="0"/>
              <a:t> </a:t>
            </a:r>
            <a:r>
              <a:rPr lang="en-US" baseline="0" dirty="0" err="1"/>
              <a:t>trên</a:t>
            </a:r>
            <a:r>
              <a:rPr lang="en-US" baseline="0" dirty="0"/>
              <a:t> book </a:t>
            </a:r>
            <a:r>
              <a:rPr lang="en-US" baseline="0" dirty="0" err="1"/>
              <a:t>vé</a:t>
            </a:r>
            <a:r>
              <a:rPr lang="en-US" baseline="0" dirty="0"/>
              <a:t>, </a:t>
            </a:r>
            <a:r>
              <a:rPr lang="en-US" baseline="0" dirty="0" err="1"/>
              <a:t>đặt</a:t>
            </a:r>
            <a:r>
              <a:rPr lang="en-US" baseline="0" dirty="0"/>
              <a:t> </a:t>
            </a:r>
            <a:r>
              <a:rPr lang="en-US" baseline="0" dirty="0" err="1"/>
              <a:t>phòng</a:t>
            </a:r>
            <a:r>
              <a:rPr lang="en-US" baseline="0" dirty="0"/>
              <a:t>, </a:t>
            </a:r>
            <a:r>
              <a:rPr lang="en-US" baseline="0" dirty="0" err="1"/>
              <a:t>v.v</a:t>
            </a:r>
            <a:r>
              <a:rPr lang="en-US" baseline="0" dirty="0"/>
              <a:t>…)</a:t>
            </a:r>
          </a:p>
          <a:p>
            <a:r>
              <a:rPr lang="en-US" baseline="0" dirty="0"/>
              <a:t>-Online banking: </a:t>
            </a:r>
            <a:r>
              <a:rPr lang="en-US" baseline="0" dirty="0" err="1"/>
              <a:t>cho</a:t>
            </a:r>
            <a:r>
              <a:rPr lang="en-US" baseline="0" dirty="0"/>
              <a:t> </a:t>
            </a:r>
            <a:r>
              <a:rPr lang="en-US" baseline="0" dirty="0" err="1"/>
              <a:t>phép</a:t>
            </a:r>
            <a:r>
              <a:rPr lang="en-US" baseline="0" dirty="0"/>
              <a:t> </a:t>
            </a:r>
            <a:r>
              <a:rPr lang="en-US" baseline="0" dirty="0" err="1"/>
              <a:t>thanh</a:t>
            </a:r>
            <a:r>
              <a:rPr lang="en-US" baseline="0" dirty="0"/>
              <a:t> </a:t>
            </a:r>
            <a:r>
              <a:rPr lang="en-US" baseline="0" dirty="0" err="1"/>
              <a:t>toán</a:t>
            </a:r>
            <a:r>
              <a:rPr lang="en-US" baseline="0" dirty="0"/>
              <a:t> </a:t>
            </a:r>
            <a:r>
              <a:rPr lang="en-US" baseline="0" dirty="0" err="1"/>
              <a:t>trực</a:t>
            </a:r>
            <a:r>
              <a:rPr lang="en-US" baseline="0" dirty="0"/>
              <a:t> </a:t>
            </a:r>
            <a:r>
              <a:rPr lang="en-US" baseline="0" dirty="0" err="1"/>
              <a:t>tuyến</a:t>
            </a:r>
            <a:r>
              <a:rPr lang="en-US" baseline="0" dirty="0"/>
              <a:t>, </a:t>
            </a:r>
            <a:r>
              <a:rPr lang="en-US" baseline="0" dirty="0" err="1"/>
              <a:t>và</a:t>
            </a:r>
            <a:r>
              <a:rPr lang="en-US" baseline="0" dirty="0"/>
              <a:t> </a:t>
            </a:r>
            <a:r>
              <a:rPr lang="en-US" baseline="0" dirty="0" err="1"/>
              <a:t>tính</a:t>
            </a:r>
            <a:r>
              <a:rPr lang="en-US" baseline="0" dirty="0"/>
              <a:t> </a:t>
            </a:r>
            <a:r>
              <a:rPr lang="en-US" baseline="0" dirty="0" err="1"/>
              <a:t>phí</a:t>
            </a:r>
            <a:r>
              <a:rPr lang="en-US" baseline="0" dirty="0"/>
              <a:t> </a:t>
            </a:r>
            <a:r>
              <a:rPr lang="en-US" baseline="0" dirty="0" err="1"/>
              <a:t>đi</a:t>
            </a:r>
            <a:r>
              <a:rPr lang="en-US" baseline="0" dirty="0"/>
              <a:t> </a:t>
            </a:r>
            <a:r>
              <a:rPr lang="en-US" baseline="0" dirty="0" err="1"/>
              <a:t>kèm</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38</a:t>
            </a:fld>
            <a:endParaRPr lang="en-US"/>
          </a:p>
        </p:txBody>
      </p:sp>
    </p:spTree>
    <p:extLst>
      <p:ext uri="{BB962C8B-B14F-4D97-AF65-F5344CB8AC3E}">
        <p14:creationId xmlns:p14="http://schemas.microsoft.com/office/powerpoint/2010/main" val="21215330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-Fee-for-service:</a:t>
            </a:r>
            <a:r>
              <a:rPr lang="en-US" baseline="0" dirty="0"/>
              <a:t> </a:t>
            </a:r>
            <a:r>
              <a:rPr lang="en-US" baseline="0" dirty="0" err="1"/>
              <a:t>không</a:t>
            </a:r>
            <a:r>
              <a:rPr lang="en-US" baseline="0" dirty="0"/>
              <a:t> </a:t>
            </a:r>
            <a:r>
              <a:rPr lang="en-US" baseline="0" dirty="0" err="1"/>
              <a:t>phải</a:t>
            </a:r>
            <a:r>
              <a:rPr lang="en-US" baseline="0" dirty="0"/>
              <a:t> </a:t>
            </a:r>
            <a:r>
              <a:rPr lang="en-US" baseline="0" dirty="0" err="1"/>
              <a:t>dịch</a:t>
            </a:r>
            <a:r>
              <a:rPr lang="en-US" baseline="0" dirty="0"/>
              <a:t> </a:t>
            </a:r>
            <a:r>
              <a:rPr lang="en-US" baseline="0" dirty="0" err="1"/>
              <a:t>vụ</a:t>
            </a:r>
            <a:r>
              <a:rPr lang="en-US" baseline="0" dirty="0"/>
              <a:t> </a:t>
            </a:r>
            <a:r>
              <a:rPr lang="en-US" baseline="0" dirty="0" err="1"/>
              <a:t>trung</a:t>
            </a:r>
            <a:r>
              <a:rPr lang="en-US" baseline="0" dirty="0"/>
              <a:t> </a:t>
            </a:r>
            <a:r>
              <a:rPr lang="en-US" baseline="0" dirty="0" err="1"/>
              <a:t>gian</a:t>
            </a:r>
            <a:r>
              <a:rPr lang="en-US" baseline="0" dirty="0"/>
              <a:t>, </a:t>
            </a:r>
            <a:r>
              <a:rPr lang="en-US" baseline="0" dirty="0" err="1"/>
              <a:t>và</a:t>
            </a:r>
            <a:r>
              <a:rPr lang="en-US" baseline="0" dirty="0"/>
              <a:t> </a:t>
            </a:r>
            <a:r>
              <a:rPr lang="en-US" baseline="0" dirty="0" err="1"/>
              <a:t>không</a:t>
            </a:r>
            <a:r>
              <a:rPr lang="en-US" baseline="0" dirty="0"/>
              <a:t> </a:t>
            </a:r>
            <a:r>
              <a:rPr lang="en-US" baseline="0" dirty="0" err="1"/>
              <a:t>tính</a:t>
            </a:r>
            <a:r>
              <a:rPr lang="en-US" baseline="0" dirty="0"/>
              <a:t> </a:t>
            </a:r>
            <a:r>
              <a:rPr lang="en-US" baseline="0" dirty="0" err="1"/>
              <a:t>theo</a:t>
            </a:r>
            <a:r>
              <a:rPr lang="en-US" baseline="0" dirty="0"/>
              <a:t> </a:t>
            </a:r>
            <a:r>
              <a:rPr lang="en-US" baseline="0" dirty="0" err="1"/>
              <a:t>kích</a:t>
            </a:r>
            <a:r>
              <a:rPr lang="en-US" baseline="0" dirty="0"/>
              <a:t> </a:t>
            </a:r>
            <a:r>
              <a:rPr lang="en-US" baseline="0" dirty="0" err="1"/>
              <a:t>thước</a:t>
            </a:r>
            <a:r>
              <a:rPr lang="en-US" baseline="0" dirty="0"/>
              <a:t> </a:t>
            </a:r>
            <a:r>
              <a:rPr lang="en-US" baseline="0" dirty="0" err="1"/>
              <a:t>mà</a:t>
            </a:r>
            <a:r>
              <a:rPr lang="en-US" baseline="0" dirty="0"/>
              <a:t> </a:t>
            </a:r>
            <a:r>
              <a:rPr lang="en-US" baseline="0" dirty="0" err="1"/>
              <a:t>dựa</a:t>
            </a:r>
            <a:r>
              <a:rPr lang="en-US" baseline="0" dirty="0"/>
              <a:t> </a:t>
            </a:r>
            <a:r>
              <a:rPr lang="en-US" baseline="0" dirty="0" err="1"/>
              <a:t>trên</a:t>
            </a:r>
            <a:r>
              <a:rPr lang="en-US" baseline="0" dirty="0"/>
              <a:t> </a:t>
            </a:r>
            <a:r>
              <a:rPr lang="en-US" baseline="0" dirty="0" err="1"/>
              <a:t>giá</a:t>
            </a:r>
            <a:r>
              <a:rPr lang="en-US" baseline="0" dirty="0"/>
              <a:t> </a:t>
            </a:r>
            <a:r>
              <a:rPr lang="en-US" baseline="0" dirty="0" err="1"/>
              <a:t>trị</a:t>
            </a:r>
            <a:r>
              <a:rPr lang="en-US" baseline="0" dirty="0"/>
              <a:t> </a:t>
            </a:r>
            <a:r>
              <a:rPr lang="en-US" baseline="0" dirty="0" err="1"/>
              <a:t>dịch</a:t>
            </a:r>
            <a:r>
              <a:rPr lang="en-US" baseline="0" dirty="0"/>
              <a:t> </a:t>
            </a:r>
            <a:r>
              <a:rPr lang="en-US" baseline="0" dirty="0" err="1"/>
              <a:t>vụ</a:t>
            </a:r>
            <a:r>
              <a:rPr lang="en-US" baseline="0" dirty="0"/>
              <a:t> </a:t>
            </a:r>
            <a:r>
              <a:rPr lang="en-US" baseline="0" dirty="0" err="1"/>
              <a:t>mang</a:t>
            </a:r>
            <a:r>
              <a:rPr lang="en-US" baseline="0" dirty="0"/>
              <a:t> </a:t>
            </a:r>
            <a:r>
              <a:rPr lang="en-US" baseline="0" dirty="0" err="1"/>
              <a:t>lại</a:t>
            </a:r>
            <a:endParaRPr lang="en-US" baseline="0" dirty="0"/>
          </a:p>
          <a:p>
            <a:r>
              <a:rPr lang="en-US" baseline="0" dirty="0"/>
              <a:t>-Online games: </a:t>
            </a:r>
            <a:r>
              <a:rPr lang="en-US" baseline="0" dirty="0" err="1"/>
              <a:t>đóng</a:t>
            </a:r>
            <a:r>
              <a:rPr lang="en-US" baseline="0" dirty="0"/>
              <a:t> </a:t>
            </a:r>
            <a:r>
              <a:rPr lang="en-US" baseline="0" dirty="0" err="1"/>
              <a:t>tiền</a:t>
            </a:r>
            <a:r>
              <a:rPr lang="en-US" baseline="0" dirty="0"/>
              <a:t> </a:t>
            </a:r>
            <a:r>
              <a:rPr lang="en-US" baseline="0" dirty="0" err="1"/>
              <a:t>để</a:t>
            </a:r>
            <a:r>
              <a:rPr lang="en-US" baseline="0" dirty="0"/>
              <a:t> </a:t>
            </a:r>
            <a:r>
              <a:rPr lang="en-US" baseline="0" dirty="0" err="1"/>
              <a:t>được</a:t>
            </a:r>
            <a:r>
              <a:rPr lang="en-US" baseline="0" dirty="0"/>
              <a:t> </a:t>
            </a:r>
            <a:r>
              <a:rPr lang="en-US" baseline="0" dirty="0" err="1"/>
              <a:t>chơi</a:t>
            </a:r>
            <a:r>
              <a:rPr lang="en-US" baseline="0" dirty="0"/>
              <a:t> game</a:t>
            </a:r>
          </a:p>
          <a:p>
            <a:r>
              <a:rPr lang="en-US" baseline="0" dirty="0"/>
              <a:t>-Professional service: </a:t>
            </a:r>
            <a:r>
              <a:rPr lang="en-US" baseline="0" dirty="0" err="1"/>
              <a:t>luật</a:t>
            </a:r>
            <a:r>
              <a:rPr lang="en-US" baseline="0" dirty="0"/>
              <a:t>, y </a:t>
            </a:r>
            <a:r>
              <a:rPr lang="en-US" baseline="0" dirty="0" err="1"/>
              <a:t>tế</a:t>
            </a:r>
            <a:r>
              <a:rPr lang="en-US" baseline="0" dirty="0"/>
              <a:t> (</a:t>
            </a:r>
            <a:r>
              <a:rPr lang="en-US" baseline="0" dirty="0" err="1"/>
              <a:t>tuy</a:t>
            </a:r>
            <a:r>
              <a:rPr lang="en-US" baseline="0" dirty="0"/>
              <a:t> </a:t>
            </a:r>
            <a:r>
              <a:rPr lang="en-US" baseline="0" dirty="0" err="1"/>
              <a:t>nhiên</a:t>
            </a:r>
            <a:r>
              <a:rPr lang="en-US" baseline="0" dirty="0"/>
              <a:t> </a:t>
            </a:r>
            <a:r>
              <a:rPr lang="en-US" baseline="0" dirty="0" err="1"/>
              <a:t>chỉ</a:t>
            </a:r>
            <a:r>
              <a:rPr lang="en-US" baseline="0" dirty="0"/>
              <a:t> </a:t>
            </a:r>
            <a:r>
              <a:rPr lang="en-US" baseline="0" dirty="0" err="1"/>
              <a:t>được</a:t>
            </a:r>
            <a:r>
              <a:rPr lang="en-US" baseline="0" dirty="0"/>
              <a:t> </a:t>
            </a:r>
            <a:r>
              <a:rPr lang="en-US" baseline="0" dirty="0" err="1"/>
              <a:t>dùng</a:t>
            </a:r>
            <a:r>
              <a:rPr lang="en-US" baseline="0" dirty="0"/>
              <a:t> </a:t>
            </a:r>
            <a:r>
              <a:rPr lang="en-US" baseline="0" dirty="0" err="1"/>
              <a:t>giới</a:t>
            </a:r>
            <a:r>
              <a:rPr lang="en-US" baseline="0" dirty="0"/>
              <a:t> </a:t>
            </a:r>
            <a:r>
              <a:rPr lang="en-US" baseline="0" dirty="0" err="1"/>
              <a:t>hạn</a:t>
            </a:r>
            <a:r>
              <a:rPr lang="en-US" baseline="0" dirty="0"/>
              <a:t> do </a:t>
            </a:r>
            <a:r>
              <a:rPr lang="en-US" baseline="0" dirty="0" err="1"/>
              <a:t>khó</a:t>
            </a:r>
            <a:r>
              <a:rPr lang="en-US" baseline="0" dirty="0"/>
              <a:t> </a:t>
            </a:r>
            <a:r>
              <a:rPr lang="en-US" baseline="0" dirty="0" err="1"/>
              <a:t>khăn</a:t>
            </a:r>
            <a:r>
              <a:rPr lang="en-US" baseline="0" dirty="0"/>
              <a:t> </a:t>
            </a:r>
            <a:r>
              <a:rPr lang="en-US" baseline="0" dirty="0" err="1"/>
              <a:t>trong</a:t>
            </a:r>
            <a:r>
              <a:rPr lang="en-US" baseline="0" dirty="0"/>
              <a:t> </a:t>
            </a:r>
            <a:r>
              <a:rPr lang="en-US" baseline="0" dirty="0" err="1"/>
              <a:t>việc</a:t>
            </a:r>
            <a:r>
              <a:rPr lang="en-US" baseline="0" dirty="0"/>
              <a:t> </a:t>
            </a:r>
            <a:r>
              <a:rPr lang="en-US" baseline="0" dirty="0" err="1"/>
              <a:t>bảo</a:t>
            </a:r>
            <a:r>
              <a:rPr lang="en-US" baseline="0" dirty="0"/>
              <a:t> </a:t>
            </a:r>
            <a:r>
              <a:rPr lang="en-US" baseline="0" dirty="0" err="1"/>
              <a:t>vệ</a:t>
            </a:r>
            <a:r>
              <a:rPr lang="en-US" baseline="0" dirty="0"/>
              <a:t> </a:t>
            </a:r>
            <a:r>
              <a:rPr lang="en-US" baseline="0" dirty="0" err="1"/>
              <a:t>tính</a:t>
            </a:r>
            <a:r>
              <a:rPr lang="en-US" baseline="0" dirty="0"/>
              <a:t> </a:t>
            </a:r>
            <a:r>
              <a:rPr lang="en-US" baseline="0" dirty="0" err="1"/>
              <a:t>riêng</a:t>
            </a:r>
            <a:r>
              <a:rPr lang="en-US" baseline="0" dirty="0"/>
              <a:t> </a:t>
            </a:r>
            <a:r>
              <a:rPr lang="en-US" baseline="0" dirty="0" err="1"/>
              <a:t>tư</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và</a:t>
            </a:r>
            <a:r>
              <a:rPr lang="en-US" baseline="0" dirty="0"/>
              <a:t> </a:t>
            </a:r>
            <a:r>
              <a:rPr lang="en-US" baseline="0" dirty="0" err="1"/>
              <a:t>khách</a:t>
            </a:r>
            <a:r>
              <a:rPr lang="en-US" baseline="0" dirty="0"/>
              <a:t> </a:t>
            </a:r>
            <a:r>
              <a:rPr lang="en-US" baseline="0" dirty="0" err="1"/>
              <a:t>hàng</a:t>
            </a:r>
            <a:r>
              <a:rPr lang="en-US" baseline="0" dirty="0"/>
              <a:t> </a:t>
            </a:r>
            <a:r>
              <a:rPr lang="en-US" baseline="0" dirty="0" err="1"/>
              <a:t>cũng</a:t>
            </a:r>
            <a:r>
              <a:rPr lang="en-US" baseline="0" dirty="0"/>
              <a:t> </a:t>
            </a:r>
            <a:r>
              <a:rPr lang="en-US" baseline="0" dirty="0" err="1"/>
              <a:t>như</a:t>
            </a:r>
            <a:r>
              <a:rPr lang="en-US" baseline="0" dirty="0"/>
              <a:t> </a:t>
            </a:r>
            <a:r>
              <a:rPr lang="en-US" baseline="0" dirty="0" err="1"/>
              <a:t>khó</a:t>
            </a:r>
            <a:r>
              <a:rPr lang="en-US" baseline="0" dirty="0"/>
              <a:t> </a:t>
            </a:r>
            <a:r>
              <a:rPr lang="en-US" baseline="0" dirty="0" err="1"/>
              <a:t>chẩn</a:t>
            </a:r>
            <a:r>
              <a:rPr lang="en-US" baseline="0" dirty="0"/>
              <a:t> </a:t>
            </a:r>
            <a:r>
              <a:rPr lang="en-US" baseline="0" dirty="0" err="1"/>
              <a:t>đoán</a:t>
            </a:r>
            <a:r>
              <a:rPr lang="en-US" baseline="0" dirty="0"/>
              <a:t> hay </a:t>
            </a:r>
            <a:r>
              <a:rPr lang="en-US" baseline="0" dirty="0" err="1"/>
              <a:t>tư</a:t>
            </a:r>
            <a:r>
              <a:rPr lang="en-US" baseline="0" dirty="0"/>
              <a:t> </a:t>
            </a:r>
            <a:r>
              <a:rPr lang="en-US" baseline="0" dirty="0" err="1"/>
              <a:t>vấn</a:t>
            </a:r>
            <a:r>
              <a:rPr lang="en-US" baseline="0" dirty="0"/>
              <a:t> </a:t>
            </a:r>
            <a:r>
              <a:rPr lang="en-US" baseline="0" dirty="0" err="1"/>
              <a:t>từ</a:t>
            </a:r>
            <a:r>
              <a:rPr lang="en-US" baseline="0" dirty="0"/>
              <a:t> </a:t>
            </a:r>
            <a:r>
              <a:rPr lang="en-US" baseline="0" dirty="0" err="1"/>
              <a:t>xa</a:t>
            </a:r>
            <a:r>
              <a:rPr lang="en-US" baseline="0" dirty="0"/>
              <a:t>)</a:t>
            </a:r>
          </a:p>
          <a:p>
            <a:r>
              <a:rPr lang="en-US" baseline="0" dirty="0"/>
              <a:t>-Conflict: website </a:t>
            </a:r>
            <a:r>
              <a:rPr lang="en-US" baseline="0" dirty="0" err="1"/>
              <a:t>có</a:t>
            </a:r>
            <a:r>
              <a:rPr lang="en-US" baseline="0" dirty="0"/>
              <a:t> </a:t>
            </a:r>
            <a:r>
              <a:rPr lang="en-US" baseline="0" dirty="0" err="1"/>
              <a:t>thể</a:t>
            </a:r>
            <a:r>
              <a:rPr lang="en-US" baseline="0" dirty="0"/>
              <a:t> </a:t>
            </a:r>
            <a:r>
              <a:rPr lang="en-US" baseline="0" dirty="0" err="1"/>
              <a:t>cạnh</a:t>
            </a:r>
            <a:r>
              <a:rPr lang="en-US" baseline="0" dirty="0"/>
              <a:t> </a:t>
            </a:r>
            <a:r>
              <a:rPr lang="en-US" baseline="0" dirty="0" err="1"/>
              <a:t>tranh</a:t>
            </a:r>
            <a:r>
              <a:rPr lang="en-US" baseline="0" dirty="0"/>
              <a:t> </a:t>
            </a:r>
            <a:r>
              <a:rPr lang="en-US" baseline="0" dirty="0" err="1"/>
              <a:t>với</a:t>
            </a:r>
            <a:r>
              <a:rPr lang="en-US" baseline="0" dirty="0"/>
              <a:t> </a:t>
            </a:r>
            <a:r>
              <a:rPr lang="en-US" baseline="0" dirty="0" err="1"/>
              <a:t>cửa</a:t>
            </a:r>
            <a:r>
              <a:rPr lang="en-US" baseline="0" dirty="0"/>
              <a:t> </a:t>
            </a:r>
            <a:r>
              <a:rPr lang="en-US" baseline="0" dirty="0" err="1"/>
              <a:t>hàng</a:t>
            </a:r>
            <a:r>
              <a:rPr lang="en-US" baseline="0" dirty="0"/>
              <a:t> </a:t>
            </a:r>
            <a:r>
              <a:rPr lang="en-US" baseline="0" dirty="0" err="1"/>
              <a:t>hiện</a:t>
            </a:r>
            <a:r>
              <a:rPr lang="en-US" baseline="0" dirty="0"/>
              <a:t> </a:t>
            </a:r>
            <a:r>
              <a:rPr lang="en-US" baseline="0" dirty="0" err="1"/>
              <a:t>có</a:t>
            </a:r>
            <a:endParaRPr lang="en-US" baseline="0" dirty="0"/>
          </a:p>
          <a:p>
            <a:r>
              <a:rPr lang="en-US" baseline="0" dirty="0"/>
              <a:t>-Alliances: Amazon </a:t>
            </a:r>
            <a:r>
              <a:rPr lang="en-US" baseline="0" dirty="0" err="1"/>
              <a:t>liên</a:t>
            </a:r>
            <a:r>
              <a:rPr lang="en-US" baseline="0" dirty="0"/>
              <a:t> minh </a:t>
            </a:r>
            <a:r>
              <a:rPr lang="en-US" baseline="0" dirty="0" err="1"/>
              <a:t>với</a:t>
            </a:r>
            <a:r>
              <a:rPr lang="en-US" baseline="0" dirty="0"/>
              <a:t> </a:t>
            </a:r>
            <a:r>
              <a:rPr lang="en-US" baseline="0" dirty="0" err="1"/>
              <a:t>các</a:t>
            </a:r>
            <a:r>
              <a:rPr lang="en-US" baseline="0" dirty="0"/>
              <a:t> </a:t>
            </a:r>
            <a:r>
              <a:rPr lang="en-US" baseline="0" dirty="0" err="1"/>
              <a:t>công</a:t>
            </a:r>
            <a:r>
              <a:rPr lang="en-US" baseline="0" dirty="0"/>
              <a:t> </a:t>
            </a:r>
            <a:r>
              <a:rPr lang="en-US" baseline="0" dirty="0" err="1"/>
              <a:t>ty</a:t>
            </a:r>
            <a:r>
              <a:rPr lang="en-US" baseline="0" dirty="0"/>
              <a:t> </a:t>
            </a:r>
            <a:r>
              <a:rPr lang="en-US" baseline="0" dirty="0" err="1"/>
              <a:t>khác</a:t>
            </a:r>
            <a:r>
              <a:rPr lang="en-US" baseline="0" dirty="0"/>
              <a:t> </a:t>
            </a:r>
            <a:r>
              <a:rPr lang="en-US" baseline="0" dirty="0" err="1"/>
              <a:t>để</a:t>
            </a:r>
            <a:r>
              <a:rPr lang="en-US" baseline="0" dirty="0"/>
              <a:t> </a:t>
            </a:r>
            <a:r>
              <a:rPr lang="en-US" baseline="0" dirty="0" err="1"/>
              <a:t>bán</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kết</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CDNow</a:t>
            </a:r>
            <a:r>
              <a:rPr lang="en-US" baseline="0" dirty="0"/>
              <a:t> </a:t>
            </a:r>
            <a:r>
              <a:rPr lang="en-US" baseline="0" dirty="0" err="1"/>
              <a:t>để</a:t>
            </a:r>
            <a:r>
              <a:rPr lang="en-US" baseline="0" dirty="0"/>
              <a:t> </a:t>
            </a:r>
            <a:r>
              <a:rPr lang="en-US" baseline="0" dirty="0" err="1"/>
              <a:t>bán</a:t>
            </a:r>
            <a:r>
              <a:rPr lang="en-US" baseline="0" dirty="0"/>
              <a:t> audio, video </a:t>
            </a:r>
            <a:r>
              <a:rPr lang="en-US" baseline="0" dirty="0" err="1"/>
              <a:t>trên</a:t>
            </a:r>
            <a:r>
              <a:rPr lang="en-US" baseline="0" dirty="0"/>
              <a:t> Amazon)</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39</a:t>
            </a:fld>
            <a:endParaRPr lang="en-US"/>
          </a:p>
        </p:txBody>
      </p:sp>
    </p:spTree>
    <p:extLst>
      <p:ext uri="{BB962C8B-B14F-4D97-AF65-F5344CB8AC3E}">
        <p14:creationId xmlns:p14="http://schemas.microsoft.com/office/powerpoint/2010/main" val="2598421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4521-5518-88CD-AEB1-AF485557B0B8}"/>
              </a:ext>
            </a:extLst>
          </p:cNvPr>
          <p:cNvSpPr>
            <a:spLocks noGrp="1"/>
          </p:cNvSpPr>
          <p:nvPr>
            <p:ph type="title"/>
          </p:nvPr>
        </p:nvSpPr>
        <p:spPr>
          <a:xfrm>
            <a:off x="544995" y="137524"/>
            <a:ext cx="11044031" cy="866328"/>
          </a:xfrm>
        </p:spPr>
        <p:txBody>
          <a:bodyPr/>
          <a:lstStyle/>
          <a:p>
            <a:r>
              <a:rPr lang="en-US"/>
              <a:t>Click to edit Master title style</a:t>
            </a:r>
          </a:p>
        </p:txBody>
      </p:sp>
      <p:grpSp>
        <p:nvGrpSpPr>
          <p:cNvPr id="5" name="Group 4">
            <a:extLst>
              <a:ext uri="{FF2B5EF4-FFF2-40B4-BE49-F238E27FC236}">
                <a16:creationId xmlns:a16="http://schemas.microsoft.com/office/drawing/2014/main" id="{6A77EA8B-E003-58EB-2A56-117C1ADBE73D}"/>
              </a:ext>
            </a:extLst>
          </p:cNvPr>
          <p:cNvGrpSpPr>
            <a:grpSpLocks/>
          </p:cNvGrpSpPr>
          <p:nvPr userDrawn="1"/>
        </p:nvGrpSpPr>
        <p:grpSpPr bwMode="auto">
          <a:xfrm rot="5400000" flipV="1">
            <a:off x="9693153" y="55511"/>
            <a:ext cx="2536101" cy="2461591"/>
            <a:chOff x="0" y="12289"/>
            <a:chExt cx="3550" cy="3551"/>
          </a:xfrm>
        </p:grpSpPr>
        <p:sp>
          <p:nvSpPr>
            <p:cNvPr id="6" name="Freeform 14">
              <a:extLst>
                <a:ext uri="{FF2B5EF4-FFF2-40B4-BE49-F238E27FC236}">
                  <a16:creationId xmlns:a16="http://schemas.microsoft.com/office/drawing/2014/main" id="{B291EAAF-6A16-EDF9-533A-B02FB32F2CA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7" name="Freeform 15">
              <a:extLst>
                <a:ext uri="{FF2B5EF4-FFF2-40B4-BE49-F238E27FC236}">
                  <a16:creationId xmlns:a16="http://schemas.microsoft.com/office/drawing/2014/main" id="{A31A7074-3397-63C1-8957-0AA8FC694977}"/>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18">
              <a:extLst>
                <a:ext uri="{FF2B5EF4-FFF2-40B4-BE49-F238E27FC236}">
                  <a16:creationId xmlns:a16="http://schemas.microsoft.com/office/drawing/2014/main" id="{2F6F977A-783E-61C5-FE75-C0D4C2538865}"/>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9" name="Straight Connector 8">
            <a:extLst>
              <a:ext uri="{FF2B5EF4-FFF2-40B4-BE49-F238E27FC236}">
                <a16:creationId xmlns:a16="http://schemas.microsoft.com/office/drawing/2014/main" id="{EBC9E799-5C81-FD36-E7E5-379F648A2B31}"/>
              </a:ext>
            </a:extLst>
          </p:cNvPr>
          <p:cNvCxnSpPr>
            <a:cxnSpLocks/>
          </p:cNvCxnSpPr>
          <p:nvPr userDrawn="1"/>
        </p:nvCxnSpPr>
        <p:spPr>
          <a:xfrm>
            <a:off x="544995" y="1052529"/>
            <a:ext cx="7843631" cy="0"/>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DF34F396-F0D2-CD05-62DF-073803288637}"/>
              </a:ext>
            </a:extLst>
          </p:cNvPr>
          <p:cNvSpPr txBox="1"/>
          <p:nvPr userDrawn="1"/>
        </p:nvSpPr>
        <p:spPr>
          <a:xfrm>
            <a:off x="11407599" y="6345929"/>
            <a:ext cx="540817" cy="369332"/>
          </a:xfrm>
          <a:prstGeom prst="rect">
            <a:avLst/>
          </a:prstGeom>
          <a:noFill/>
        </p:spPr>
        <p:txBody>
          <a:bodyPr wrap="square" rtlCol="0">
            <a:spAutoFit/>
          </a:bodyPr>
          <a:lstStyle/>
          <a:p>
            <a:fld id="{FCA1FBFD-59E1-451F-A63E-5A72DB31BC5A}" type="slidenum">
              <a:rPr lang="en-US" smtClean="0">
                <a:solidFill>
                  <a:schemeClr val="accent3">
                    <a:lumMod val="75000"/>
                  </a:schemeClr>
                </a:solidFill>
              </a:rPr>
              <a:t>‹#›</a:t>
            </a:fld>
            <a:endParaRPr lang="en-US" dirty="0">
              <a:solidFill>
                <a:schemeClr val="accent3">
                  <a:lumMod val="75000"/>
                </a:schemeClr>
              </a:solidFill>
            </a:endParaRPr>
          </a:p>
        </p:txBody>
      </p:sp>
      <p:sp>
        <p:nvSpPr>
          <p:cNvPr id="4" name="Text Placeholder 2">
            <a:extLst>
              <a:ext uri="{FF2B5EF4-FFF2-40B4-BE49-F238E27FC236}">
                <a16:creationId xmlns:a16="http://schemas.microsoft.com/office/drawing/2014/main" id="{57B5FDEF-DE66-8106-9AF4-CD7D4DB2CC55}"/>
              </a:ext>
            </a:extLst>
          </p:cNvPr>
          <p:cNvSpPr>
            <a:spLocks noGrp="1"/>
          </p:cNvSpPr>
          <p:nvPr>
            <p:ph idx="1" hasCustomPrompt="1"/>
          </p:nvPr>
        </p:nvSpPr>
        <p:spPr>
          <a:xfrm>
            <a:off x="544995" y="1212573"/>
            <a:ext cx="11044031" cy="4964389"/>
          </a:xfrm>
          <a:prstGeom prst="rect">
            <a:avLst/>
          </a:prstGeom>
        </p:spPr>
        <p:txBody>
          <a:bodyPr vert="horz" lIns="91440" tIns="45720" rIns="91440" bIns="45720" rtlCol="0">
            <a:normAutofit/>
          </a:bodyPr>
          <a:lstStyle>
            <a:lvl1pPr>
              <a:defRPr/>
            </a:lvl1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17560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endParaRPr lang="en-US" dirty="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093066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484177" y="349729"/>
            <a:ext cx="9710603"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endParaRPr lang="en-US" dirty="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a:t>Click icon to add chart</a:t>
            </a:r>
            <a:endParaRPr lang="en-US" dirty="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r>
              <a:rPr lang="en-US"/>
              <a:t>Click icon to add table</a:t>
            </a:r>
            <a:endParaRPr lang="en-US" dirty="0"/>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a:t>Click icon to add picture</a:t>
            </a:r>
            <a:endParaRPr lang="en-US" dirty="0"/>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a:t>Click icon to add picture</a:t>
            </a:r>
            <a:endParaRPr lang="en-US" dirty="0"/>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a:t>Click icon to add picture</a:t>
            </a:r>
            <a:endParaRPr lang="en-US" dirty="0"/>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a:xfrm>
            <a:off x="2992120" y="6332220"/>
            <a:ext cx="1313180" cy="247651"/>
          </a:xfrm>
          <a:prstGeom prst="rect">
            <a:avLst/>
          </a:prstGeom>
        </p:spPr>
        <p:txBody>
          <a:bodyPr/>
          <a:lstStyle/>
          <a:p>
            <a:endParaRPr lang="en-US" dirty="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a:xfrm>
            <a:off x="1494790" y="6332220"/>
            <a:ext cx="1497330" cy="247651"/>
          </a:xfrm>
          <a:prstGeom prst="rect">
            <a:avLst/>
          </a:prstGeom>
        </p:spPr>
        <p:txBody>
          <a:bodyPr/>
          <a:lstStyle/>
          <a:p>
            <a:endParaRPr lang="en-US" b="0" dirty="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a:t>Click icon to add picture</a:t>
            </a:r>
            <a:endParaRPr lang="en-US"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2917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44995" y="1113183"/>
            <a:ext cx="10808805" cy="50637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44995" y="87829"/>
            <a:ext cx="10808805" cy="866328"/>
          </a:xfrm>
          <a:prstGeom prst="rect">
            <a:avLst/>
          </a:prstGeom>
        </p:spPr>
        <p:txBody>
          <a:bodyPr vert="horz" lIns="91440" tIns="45720" rIns="91440" bIns="45720" rtlCol="0" anchor="ctr">
            <a:normAutofit/>
          </a:bodyPr>
          <a:lstStyle/>
          <a:p>
            <a:r>
              <a:rPr lang="en-US" dirty="0"/>
              <a:t>Click to edit Master title style</a:t>
            </a: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10830560" y="6405562"/>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FD105E26-F9F1-4204-8FF7-5A02817EDB1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94" r:id="rId1"/>
    <p:sldLayoutId id="2147483659" r:id="rId2"/>
    <p:sldLayoutId id="2147483693" r:id="rId3"/>
    <p:sldLayoutId id="2147483671" r:id="rId4"/>
    <p:sldLayoutId id="2147483672" r:id="rId5"/>
    <p:sldLayoutId id="2147483673" r:id="rId6"/>
    <p:sldLayoutId id="2147483684" r:id="rId7"/>
    <p:sldLayoutId id="2147483675" r:id="rId8"/>
    <p:sldLayoutId id="2147483676" r:id="rId9"/>
    <p:sldLayoutId id="2147483677" r:id="rId10"/>
    <p:sldLayoutId id="2147483685" r:id="rId11"/>
    <p:sldLayoutId id="2147483688" r:id="rId12"/>
    <p:sldLayoutId id="2147483692" r:id="rId13"/>
    <p:sldLayoutId id="2147483682" r:id="rId14"/>
    <p:sldLayoutId id="2147483695" r:id="rId15"/>
  </p:sldLayoutIdLst>
  <p:hf hdr="0" ftr="0" dt="0"/>
  <p:txStyles>
    <p:titleStyle>
      <a:lvl1pPr algn="l" defTabSz="914400" rtl="0" eaLnBrk="1" latinLnBrk="0" hangingPunct="1">
        <a:lnSpc>
          <a:spcPct val="90000"/>
        </a:lnSpc>
        <a:spcBef>
          <a:spcPct val="0"/>
        </a:spcBef>
        <a:buNone/>
        <a:defRPr sz="4400" b="1" i="0" kern="1200" spc="100" baseline="0">
          <a:solidFill>
            <a:schemeClr val="accent3">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3993266" y="2116182"/>
            <a:ext cx="7865359" cy="1514019"/>
          </a:xfrm>
        </p:spPr>
        <p:txBody>
          <a:bodyPr/>
          <a:lstStyle/>
          <a:p>
            <a:r>
              <a:rPr lang="en-US" sz="4000" dirty="0">
                <a:solidFill>
                  <a:schemeClr val="accent3">
                    <a:lumMod val="75000"/>
                  </a:schemeClr>
                </a:solidFill>
              </a:rPr>
              <a:t>Chapter 3: </a:t>
            </a:r>
            <a:br>
              <a:rPr lang="en-US" sz="6000" dirty="0">
                <a:solidFill>
                  <a:srgbClr val="C00000"/>
                </a:solidFill>
              </a:rPr>
            </a:br>
            <a:r>
              <a:rPr lang="en-US" sz="7000" dirty="0">
                <a:solidFill>
                  <a:srgbClr val="C00000"/>
                </a:solidFill>
              </a:rPr>
              <a:t>Pricing &amp; </a:t>
            </a:r>
            <a:br>
              <a:rPr lang="en-US" sz="7000" dirty="0">
                <a:solidFill>
                  <a:srgbClr val="C00000"/>
                </a:solidFill>
              </a:rPr>
            </a:br>
            <a:r>
              <a:rPr lang="en-US" sz="7000" dirty="0">
                <a:solidFill>
                  <a:srgbClr val="C00000"/>
                </a:solidFill>
              </a:rPr>
              <a:t>Revenue models</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a:lstStyle/>
          <a:p>
            <a:r>
              <a:rPr lang="en-US" sz="3000" dirty="0">
                <a:latin typeface="+mj-lt"/>
              </a:rPr>
              <a:t>Electronic Commerce</a:t>
            </a:r>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E3DDD-D2C2-11DB-499F-63A3E86AFD0C}"/>
              </a:ext>
            </a:extLst>
          </p:cNvPr>
          <p:cNvSpPr>
            <a:spLocks noGrp="1"/>
          </p:cNvSpPr>
          <p:nvPr>
            <p:ph type="title"/>
          </p:nvPr>
        </p:nvSpPr>
        <p:spPr/>
        <p:txBody>
          <a:bodyPr/>
          <a:lstStyle/>
          <a:p>
            <a:r>
              <a:rPr lang="en-US" dirty="0"/>
              <a:t>Outline</a:t>
            </a:r>
          </a:p>
        </p:txBody>
      </p:sp>
      <p:graphicFrame>
        <p:nvGraphicFramePr>
          <p:cNvPr id="4" name="Diagram 3">
            <a:extLst>
              <a:ext uri="{FF2B5EF4-FFF2-40B4-BE49-F238E27FC236}">
                <a16:creationId xmlns:a16="http://schemas.microsoft.com/office/drawing/2014/main" id="{4FC22C5C-1495-AF8F-49FE-8B8C50CDE111}"/>
              </a:ext>
            </a:extLst>
          </p:cNvPr>
          <p:cNvGraphicFramePr/>
          <p:nvPr>
            <p:extLst>
              <p:ext uri="{D42A27DB-BD31-4B8C-83A1-F6EECF244321}">
                <p14:modId xmlns:p14="http://schemas.microsoft.com/office/powerpoint/2010/main" val="323299268"/>
              </p:ext>
            </p:extLst>
          </p:nvPr>
        </p:nvGraphicFramePr>
        <p:xfrm>
          <a:off x="602974" y="1247238"/>
          <a:ext cx="8128000" cy="47956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9484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A9D0D-8A08-6A52-7888-1F2A8C3C8618}"/>
              </a:ext>
            </a:extLst>
          </p:cNvPr>
          <p:cNvSpPr>
            <a:spLocks noGrp="1"/>
          </p:cNvSpPr>
          <p:nvPr>
            <p:ph type="title"/>
          </p:nvPr>
        </p:nvSpPr>
        <p:spPr/>
        <p:txBody>
          <a:bodyPr/>
          <a:lstStyle/>
          <a:p>
            <a:r>
              <a:rPr lang="en-US" dirty="0"/>
              <a:t>Price and Pricing</a:t>
            </a:r>
          </a:p>
        </p:txBody>
      </p:sp>
      <p:sp>
        <p:nvSpPr>
          <p:cNvPr id="3" name="Content Placeholder 2">
            <a:extLst>
              <a:ext uri="{FF2B5EF4-FFF2-40B4-BE49-F238E27FC236}">
                <a16:creationId xmlns:a16="http://schemas.microsoft.com/office/drawing/2014/main" id="{C8193B57-49E6-6268-866B-9575E419C32C}"/>
              </a:ext>
            </a:extLst>
          </p:cNvPr>
          <p:cNvSpPr>
            <a:spLocks noGrp="1"/>
          </p:cNvSpPr>
          <p:nvPr>
            <p:ph idx="1"/>
          </p:nvPr>
        </p:nvSpPr>
        <p:spPr/>
        <p:txBody>
          <a:bodyPr/>
          <a:lstStyle/>
          <a:p>
            <a:r>
              <a:rPr lang="en-US" b="1" i="1" dirty="0">
                <a:solidFill>
                  <a:srgbClr val="C00000"/>
                </a:solidFill>
              </a:rPr>
              <a:t>Price</a:t>
            </a:r>
            <a:r>
              <a:rPr lang="en-US" dirty="0"/>
              <a:t> is the amount of money charged for a product or service. (Philip Kotler)</a:t>
            </a:r>
          </a:p>
          <a:p>
            <a:r>
              <a:rPr lang="en-US" b="1" i="1" dirty="0">
                <a:solidFill>
                  <a:srgbClr val="C00000"/>
                </a:solidFill>
              </a:rPr>
              <a:t>Pricing</a:t>
            </a:r>
            <a:r>
              <a:rPr lang="en-US" dirty="0"/>
              <a:t> is the process whereby a business sets the price at which it will sell its products and services.</a:t>
            </a:r>
          </a:p>
          <a:p>
            <a:r>
              <a:rPr lang="en-US" dirty="0"/>
              <a:t>Price is the result of a complex set of calculations, research and understanding and risk taking ability.</a:t>
            </a:r>
          </a:p>
        </p:txBody>
      </p:sp>
    </p:spTree>
    <p:extLst>
      <p:ext uri="{BB962C8B-B14F-4D97-AF65-F5344CB8AC3E}">
        <p14:creationId xmlns:p14="http://schemas.microsoft.com/office/powerpoint/2010/main" val="2931826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2064768706"/>
              </p:ext>
            </p:extLst>
          </p:nvPr>
        </p:nvGraphicFramePr>
        <p:xfrm>
          <a:off x="544513" y="1212850"/>
          <a:ext cx="11044237"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471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1828546399"/>
              </p:ext>
            </p:extLst>
          </p:nvPr>
        </p:nvGraphicFramePr>
        <p:xfrm>
          <a:off x="544514" y="1339702"/>
          <a:ext cx="4240138" cy="4720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74EC4F0-8651-45F2-2670-961FAEF1BD5F}"/>
              </a:ext>
            </a:extLst>
          </p:cNvPr>
          <p:cNvSpPr txBox="1"/>
          <p:nvPr/>
        </p:nvSpPr>
        <p:spPr>
          <a:xfrm>
            <a:off x="5588023" y="2334127"/>
            <a:ext cx="5635242" cy="3046988"/>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Cost</a:t>
            </a:r>
          </a:p>
          <a:p>
            <a:pPr marL="285750" indent="-285750">
              <a:buFont typeface="Arial" panose="020B0604020202020204" pitchFamily="34" charset="0"/>
              <a:buChar char="•"/>
            </a:pPr>
            <a:r>
              <a:rPr lang="en-US" sz="2300" b="0" i="0" dirty="0">
                <a:solidFill>
                  <a:srgbClr val="081C36"/>
                </a:solidFill>
                <a:effectLst/>
                <a:latin typeface="SegoeuiPc"/>
              </a:rPr>
              <a:t>The amount spent on </a:t>
            </a:r>
            <a:r>
              <a:rPr lang="en-US" sz="2300" b="0" i="1" dirty="0">
                <a:solidFill>
                  <a:srgbClr val="081C36"/>
                </a:solidFill>
                <a:effectLst/>
                <a:latin typeface="SegoeuiPc"/>
              </a:rPr>
              <a:t>production, promotion and distribution</a:t>
            </a:r>
            <a:r>
              <a:rPr lang="en-US" sz="2300" b="0" i="0" dirty="0">
                <a:solidFill>
                  <a:srgbClr val="081C36"/>
                </a:solidFill>
                <a:effectLst/>
                <a:latin typeface="SegoeuiPc"/>
              </a:rPr>
              <a:t>.</a:t>
            </a:r>
          </a:p>
          <a:p>
            <a:pPr marL="285750" indent="-285750">
              <a:buFont typeface="Arial" panose="020B0604020202020204" pitchFamily="34" charset="0"/>
              <a:buChar char="•"/>
            </a:pPr>
            <a:r>
              <a:rPr lang="en-US" sz="2300" b="0" i="0" dirty="0">
                <a:solidFill>
                  <a:srgbClr val="081C36"/>
                </a:solidFill>
                <a:effectLst/>
                <a:latin typeface="SegoeuiPc"/>
              </a:rPr>
              <a:t>For a product to be </a:t>
            </a:r>
            <a:r>
              <a:rPr lang="en-US" sz="2300" b="0" i="1" dirty="0">
                <a:solidFill>
                  <a:srgbClr val="081C36"/>
                </a:solidFill>
                <a:effectLst/>
                <a:latin typeface="SegoeuiPc"/>
              </a:rPr>
              <a:t>profitable</a:t>
            </a:r>
            <a:r>
              <a:rPr lang="en-US" sz="2300" b="0" i="0" dirty="0">
                <a:solidFill>
                  <a:srgbClr val="081C36"/>
                </a:solidFill>
                <a:effectLst/>
                <a:latin typeface="SegoeuiPc"/>
              </a:rPr>
              <a:t> it must attain a </a:t>
            </a:r>
            <a:r>
              <a:rPr lang="en-US" sz="2300" b="0" i="1" dirty="0">
                <a:solidFill>
                  <a:srgbClr val="081C36"/>
                </a:solidFill>
                <a:effectLst/>
                <a:latin typeface="SegoeuiPc"/>
              </a:rPr>
              <a:t>break even point</a:t>
            </a:r>
            <a:r>
              <a:rPr lang="en-US" sz="2300" b="0" i="0" dirty="0">
                <a:solidFill>
                  <a:srgbClr val="081C36"/>
                </a:solidFill>
                <a:effectLst/>
                <a:latin typeface="SegoeuiPc"/>
              </a:rPr>
              <a:t>. Its where a company recovers the money it has spend on a product </a:t>
            </a:r>
            <a:r>
              <a:rPr lang="en-US" sz="2300" dirty="0">
                <a:solidFill>
                  <a:srgbClr val="081C36"/>
                </a:solidFill>
                <a:latin typeface="SegoeuiPc"/>
              </a:rPr>
              <a:t>a</a:t>
            </a:r>
            <a:r>
              <a:rPr lang="en-US" sz="2300" b="0" i="0" dirty="0">
                <a:solidFill>
                  <a:srgbClr val="081C36"/>
                </a:solidFill>
                <a:effectLst/>
                <a:latin typeface="SegoeuiPc"/>
              </a:rPr>
              <a:t>nd start attaining profits</a:t>
            </a:r>
            <a:endParaRPr lang="en-US" sz="2300" dirty="0"/>
          </a:p>
        </p:txBody>
      </p:sp>
    </p:spTree>
    <p:extLst>
      <p:ext uri="{BB962C8B-B14F-4D97-AF65-F5344CB8AC3E}">
        <p14:creationId xmlns:p14="http://schemas.microsoft.com/office/powerpoint/2010/main" val="1111538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1864320296"/>
              </p:ext>
            </p:extLst>
          </p:nvPr>
        </p:nvGraphicFramePr>
        <p:xfrm>
          <a:off x="544514" y="1339702"/>
          <a:ext cx="4240138" cy="4720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74EC4F0-8651-45F2-2670-961FAEF1BD5F}"/>
              </a:ext>
            </a:extLst>
          </p:cNvPr>
          <p:cNvSpPr txBox="1"/>
          <p:nvPr/>
        </p:nvSpPr>
        <p:spPr>
          <a:xfrm>
            <a:off x="5520647" y="2790363"/>
            <a:ext cx="5635242" cy="2339102"/>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Company objectives</a:t>
            </a:r>
          </a:p>
          <a:p>
            <a:pPr marL="285750" indent="-285750">
              <a:buFont typeface="Arial" panose="020B0604020202020204" pitchFamily="34" charset="0"/>
              <a:buChar char="•"/>
            </a:pPr>
            <a:r>
              <a:rPr lang="en-US" sz="2300" dirty="0">
                <a:solidFill>
                  <a:srgbClr val="081C36"/>
                </a:solidFill>
                <a:latin typeface="SegoeuiPc"/>
              </a:rPr>
              <a:t>P</a:t>
            </a:r>
            <a:r>
              <a:rPr lang="en-US" sz="2300" b="0" i="0" dirty="0">
                <a:solidFill>
                  <a:srgbClr val="081C36"/>
                </a:solidFill>
                <a:effectLst/>
                <a:latin typeface="SegoeuiPc"/>
              </a:rPr>
              <a:t>ricing decisions must be in line with the overall predefined objectives.</a:t>
            </a:r>
          </a:p>
          <a:p>
            <a:pPr marL="742950" lvl="1" indent="-285750">
              <a:buFont typeface="Arial" panose="020B0604020202020204" pitchFamily="34" charset="0"/>
              <a:buChar char="•"/>
            </a:pPr>
            <a:r>
              <a:rPr lang="en-US" sz="2300" b="0" i="0" dirty="0">
                <a:solidFill>
                  <a:srgbClr val="081C36"/>
                </a:solidFill>
                <a:effectLst/>
                <a:latin typeface="SegoeuiPc"/>
              </a:rPr>
              <a:t>profit maximization</a:t>
            </a:r>
          </a:p>
          <a:p>
            <a:pPr marL="742950" lvl="1" indent="-285750">
              <a:buFont typeface="Arial" panose="020B0604020202020204" pitchFamily="34" charset="0"/>
              <a:buChar char="•"/>
            </a:pPr>
            <a:r>
              <a:rPr lang="en-US" sz="2300" dirty="0">
                <a:solidFill>
                  <a:srgbClr val="081C36"/>
                </a:solidFill>
                <a:latin typeface="SegoeuiPc"/>
              </a:rPr>
              <a:t>wealth </a:t>
            </a:r>
            <a:r>
              <a:rPr lang="en-US" sz="2300" b="0" i="0" dirty="0">
                <a:solidFill>
                  <a:srgbClr val="081C36"/>
                </a:solidFill>
                <a:effectLst/>
                <a:latin typeface="SegoeuiPc"/>
              </a:rPr>
              <a:t>maximization</a:t>
            </a:r>
          </a:p>
          <a:p>
            <a:pPr marL="742950" lvl="1" indent="-285750">
              <a:buFont typeface="Arial" panose="020B0604020202020204" pitchFamily="34" charset="0"/>
              <a:buChar char="•"/>
            </a:pPr>
            <a:r>
              <a:rPr lang="en-US" sz="2300" b="0" i="0" dirty="0">
                <a:solidFill>
                  <a:srgbClr val="081C36"/>
                </a:solidFill>
                <a:effectLst/>
                <a:latin typeface="SegoeuiPc"/>
              </a:rPr>
              <a:t>market share maximization</a:t>
            </a:r>
          </a:p>
        </p:txBody>
      </p:sp>
    </p:spTree>
    <p:extLst>
      <p:ext uri="{BB962C8B-B14F-4D97-AF65-F5344CB8AC3E}">
        <p14:creationId xmlns:p14="http://schemas.microsoft.com/office/powerpoint/2010/main" val="480491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2943493479"/>
              </p:ext>
            </p:extLst>
          </p:nvPr>
        </p:nvGraphicFramePr>
        <p:xfrm>
          <a:off x="544514" y="1339702"/>
          <a:ext cx="4240138" cy="4720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74EC4F0-8651-45F2-2670-961FAEF1BD5F}"/>
              </a:ext>
            </a:extLst>
          </p:cNvPr>
          <p:cNvSpPr txBox="1"/>
          <p:nvPr/>
        </p:nvSpPr>
        <p:spPr>
          <a:xfrm>
            <a:off x="5530272" y="2203222"/>
            <a:ext cx="5635242" cy="3524042"/>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err="1">
                <a:solidFill>
                  <a:srgbClr val="C00000"/>
                </a:solidFill>
                <a:effectLst/>
                <a:latin typeface="SegoeuiPc"/>
              </a:rPr>
              <a:t>Organisational</a:t>
            </a:r>
            <a:r>
              <a:rPr lang="en-US" sz="2600" b="1" i="0" dirty="0">
                <a:solidFill>
                  <a:srgbClr val="C00000"/>
                </a:solidFill>
                <a:effectLst/>
                <a:latin typeface="SegoeuiPc"/>
              </a:rPr>
              <a:t> factors</a:t>
            </a:r>
          </a:p>
          <a:p>
            <a:pPr marL="285750" indent="-285750">
              <a:buFont typeface="Arial" panose="020B0604020202020204" pitchFamily="34" charset="0"/>
              <a:buChar char="•"/>
            </a:pPr>
            <a:r>
              <a:rPr lang="en-US" sz="2400" b="0" i="0" dirty="0">
                <a:solidFill>
                  <a:srgbClr val="081C36"/>
                </a:solidFill>
                <a:effectLst/>
                <a:latin typeface="SegoeuiPc"/>
              </a:rPr>
              <a:t>Two levels:</a:t>
            </a:r>
          </a:p>
          <a:p>
            <a:pPr marL="800100" lvl="1" indent="-342900">
              <a:buFont typeface="Wingdings" panose="05000000000000000000" pitchFamily="2" charset="2"/>
              <a:buChar char="Ø"/>
            </a:pPr>
            <a:r>
              <a:rPr lang="en-US" sz="2400" b="0" i="0" dirty="0">
                <a:solidFill>
                  <a:srgbClr val="081C36"/>
                </a:solidFill>
                <a:effectLst/>
                <a:latin typeface="SegoeuiPc"/>
              </a:rPr>
              <a:t>Overall price strategy by top executives: the ranges of the product (market segments)</a:t>
            </a:r>
          </a:p>
          <a:p>
            <a:pPr marL="800100" lvl="1" indent="-342900">
              <a:buFont typeface="Wingdings" panose="05000000000000000000" pitchFamily="2" charset="2"/>
              <a:buChar char="Ø"/>
            </a:pPr>
            <a:r>
              <a:rPr lang="en-US" sz="2400" b="0" i="0" dirty="0">
                <a:solidFill>
                  <a:srgbClr val="081C36"/>
                </a:solidFill>
                <a:effectLst/>
                <a:latin typeface="SegoeuiPc"/>
              </a:rPr>
              <a:t>The actual mechanics of pricing are dealt with at lower levels in the firm and focus on individual product strategies.</a:t>
            </a:r>
            <a:endParaRPr lang="en-US" sz="2300" dirty="0"/>
          </a:p>
        </p:txBody>
      </p:sp>
    </p:spTree>
    <p:extLst>
      <p:ext uri="{BB962C8B-B14F-4D97-AF65-F5344CB8AC3E}">
        <p14:creationId xmlns:p14="http://schemas.microsoft.com/office/powerpoint/2010/main" val="1906181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4174595415"/>
              </p:ext>
            </p:extLst>
          </p:nvPr>
        </p:nvGraphicFramePr>
        <p:xfrm>
          <a:off x="544514" y="1339702"/>
          <a:ext cx="4240138" cy="4720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74EC4F0-8651-45F2-2670-961FAEF1BD5F}"/>
              </a:ext>
            </a:extLst>
          </p:cNvPr>
          <p:cNvSpPr txBox="1"/>
          <p:nvPr/>
        </p:nvSpPr>
        <p:spPr>
          <a:xfrm>
            <a:off x="5549523" y="2799989"/>
            <a:ext cx="5635242" cy="2769989"/>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Marketing mix</a:t>
            </a:r>
          </a:p>
          <a:p>
            <a:pPr marL="285750" indent="-285750">
              <a:buFont typeface="Arial" panose="020B0604020202020204" pitchFamily="34" charset="0"/>
              <a:buChar char="•"/>
            </a:pPr>
            <a:r>
              <a:rPr lang="en-US" sz="2400" b="0" i="0" dirty="0">
                <a:solidFill>
                  <a:srgbClr val="081C36"/>
                </a:solidFill>
                <a:effectLst/>
                <a:latin typeface="SegoeuiPc"/>
              </a:rPr>
              <a:t>Price is the important element of marketing mix.</a:t>
            </a:r>
          </a:p>
          <a:p>
            <a:pPr marL="285750" indent="-285750">
              <a:buFont typeface="Arial" panose="020B0604020202020204" pitchFamily="34" charset="0"/>
              <a:buChar char="•"/>
            </a:pPr>
            <a:r>
              <a:rPr lang="en-US" sz="2400" dirty="0">
                <a:solidFill>
                  <a:srgbClr val="081C36"/>
                </a:solidFill>
                <a:latin typeface="SegoeuiPc"/>
              </a:rPr>
              <a:t>The promotional activity also determines the price.</a:t>
            </a:r>
          </a:p>
          <a:p>
            <a:pPr marL="285750" indent="-285750">
              <a:buFont typeface="Arial" panose="020B0604020202020204" pitchFamily="34" charset="0"/>
              <a:buChar char="•"/>
            </a:pPr>
            <a:endParaRPr lang="en-US" sz="2400" b="0" i="0" dirty="0">
              <a:solidFill>
                <a:srgbClr val="081C36"/>
              </a:solidFill>
              <a:effectLst/>
              <a:latin typeface="SegoeuiPc"/>
            </a:endParaRPr>
          </a:p>
          <a:p>
            <a:pPr marL="285750" indent="-285750">
              <a:buFont typeface="Arial" panose="020B0604020202020204" pitchFamily="34" charset="0"/>
              <a:buChar char="•"/>
            </a:pPr>
            <a:endParaRPr lang="en-US" sz="2300" dirty="0"/>
          </a:p>
        </p:txBody>
      </p:sp>
    </p:spTree>
    <p:extLst>
      <p:ext uri="{BB962C8B-B14F-4D97-AF65-F5344CB8AC3E}">
        <p14:creationId xmlns:p14="http://schemas.microsoft.com/office/powerpoint/2010/main" val="2584956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2791538892"/>
              </p:ext>
            </p:extLst>
          </p:nvPr>
        </p:nvGraphicFramePr>
        <p:xfrm>
          <a:off x="544514" y="1339702"/>
          <a:ext cx="4240138" cy="4720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74EC4F0-8651-45F2-2670-961FAEF1BD5F}"/>
              </a:ext>
            </a:extLst>
          </p:cNvPr>
          <p:cNvSpPr txBox="1"/>
          <p:nvPr/>
        </p:nvSpPr>
        <p:spPr>
          <a:xfrm>
            <a:off x="5549523" y="2799989"/>
            <a:ext cx="5635242" cy="2785378"/>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Product differentiation</a:t>
            </a:r>
          </a:p>
          <a:p>
            <a:pPr marL="285750" indent="-285750">
              <a:buFont typeface="Arial" panose="020B0604020202020204" pitchFamily="34" charset="0"/>
              <a:buChar char="•"/>
            </a:pPr>
            <a:r>
              <a:rPr lang="en-US" sz="2400" b="0" i="0" dirty="0">
                <a:solidFill>
                  <a:srgbClr val="081C36"/>
                </a:solidFill>
                <a:effectLst/>
                <a:latin typeface="SegoeuiPc"/>
              </a:rPr>
              <a:t>Characteristics of the product (shape, color, size, packaging) attract the attention of the customers.</a:t>
            </a:r>
          </a:p>
          <a:p>
            <a:pPr marL="285750" indent="-285750">
              <a:buFont typeface="Arial" panose="020B0604020202020204" pitchFamily="34" charset="0"/>
              <a:buChar char="•"/>
            </a:pPr>
            <a:r>
              <a:rPr lang="en-US" sz="2400" b="0" i="0" dirty="0">
                <a:solidFill>
                  <a:srgbClr val="081C36"/>
                </a:solidFill>
                <a:effectLst/>
                <a:latin typeface="SegoeuiPc"/>
              </a:rPr>
              <a:t>Customers are willing to pay more if they like and value the characteristics of the product</a:t>
            </a:r>
          </a:p>
        </p:txBody>
      </p:sp>
    </p:spTree>
    <p:extLst>
      <p:ext uri="{BB962C8B-B14F-4D97-AF65-F5344CB8AC3E}">
        <p14:creationId xmlns:p14="http://schemas.microsoft.com/office/powerpoint/2010/main" val="1981769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3046247157"/>
              </p:ext>
            </p:extLst>
          </p:nvPr>
        </p:nvGraphicFramePr>
        <p:xfrm>
          <a:off x="6772268" y="1263650"/>
          <a:ext cx="4816758"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7C7B54-7B0E-1F34-D948-2EEA0E69B3D6}"/>
              </a:ext>
            </a:extLst>
          </p:cNvPr>
          <p:cNvSpPr txBox="1"/>
          <p:nvPr/>
        </p:nvSpPr>
        <p:spPr>
          <a:xfrm>
            <a:off x="602974" y="1997417"/>
            <a:ext cx="5635242" cy="3154710"/>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Demand</a:t>
            </a:r>
          </a:p>
          <a:p>
            <a:pPr marL="285750" indent="-285750">
              <a:buFont typeface="Arial" panose="020B0604020202020204" pitchFamily="34" charset="0"/>
              <a:buChar char="•"/>
            </a:pPr>
            <a:r>
              <a:rPr lang="en-US" sz="2400" b="0" i="0" dirty="0">
                <a:solidFill>
                  <a:srgbClr val="424142"/>
                </a:solidFill>
                <a:effectLst/>
                <a:latin typeface="Georgia" panose="02040502050405020303" pitchFamily="18" charset="0"/>
              </a:rPr>
              <a:t>The market demand for a product or service obviously has a big impact on pricing</a:t>
            </a:r>
          </a:p>
          <a:p>
            <a:pPr marL="285750" indent="-285750">
              <a:buFont typeface="Arial" panose="020B0604020202020204" pitchFamily="34" charset="0"/>
              <a:buChar char="•"/>
            </a:pPr>
            <a:r>
              <a:rPr lang="en-US" sz="2400" b="0" i="0" dirty="0">
                <a:solidFill>
                  <a:srgbClr val="424142"/>
                </a:solidFill>
                <a:effectLst/>
                <a:latin typeface="Georgia" panose="02040502050405020303" pitchFamily="18" charset="0"/>
              </a:rPr>
              <a:t>Demand is affected by number and size of competitors, the prospective buyers, their capacity and willingness to pay, their preference etc. </a:t>
            </a:r>
            <a:endParaRPr lang="en-US" sz="2400" b="0" i="0" dirty="0">
              <a:solidFill>
                <a:srgbClr val="081C36"/>
              </a:solidFill>
              <a:effectLst/>
              <a:latin typeface="SegoeuiPc"/>
            </a:endParaRPr>
          </a:p>
        </p:txBody>
      </p:sp>
    </p:spTree>
    <p:extLst>
      <p:ext uri="{BB962C8B-B14F-4D97-AF65-F5344CB8AC3E}">
        <p14:creationId xmlns:p14="http://schemas.microsoft.com/office/powerpoint/2010/main" val="663862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sp>
        <p:nvSpPr>
          <p:cNvPr id="3" name="TextBox 2">
            <a:extLst>
              <a:ext uri="{FF2B5EF4-FFF2-40B4-BE49-F238E27FC236}">
                <a16:creationId xmlns:a16="http://schemas.microsoft.com/office/drawing/2014/main" id="{1E7C7B54-7B0E-1F34-D948-2EEA0E69B3D6}"/>
              </a:ext>
            </a:extLst>
          </p:cNvPr>
          <p:cNvSpPr txBox="1"/>
          <p:nvPr/>
        </p:nvSpPr>
        <p:spPr>
          <a:xfrm>
            <a:off x="882374" y="1298917"/>
            <a:ext cx="2953026" cy="938719"/>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Demand</a:t>
            </a:r>
          </a:p>
          <a:p>
            <a:pPr marL="285750" indent="-285750">
              <a:buFont typeface="Arial" panose="020B0604020202020204" pitchFamily="34" charset="0"/>
              <a:buChar char="•"/>
            </a:pPr>
            <a:r>
              <a:rPr lang="en-US" sz="2400" dirty="0">
                <a:solidFill>
                  <a:srgbClr val="424142"/>
                </a:solidFill>
                <a:latin typeface="Georgia" panose="02040502050405020303" pitchFamily="18" charset="0"/>
              </a:rPr>
              <a:t>Price vs Quantity</a:t>
            </a:r>
            <a:endParaRPr lang="en-US" sz="2400" b="0" i="0" dirty="0">
              <a:solidFill>
                <a:srgbClr val="081C36"/>
              </a:solidFill>
              <a:effectLst/>
              <a:latin typeface="SegoeuiPc"/>
            </a:endParaRPr>
          </a:p>
        </p:txBody>
      </p:sp>
      <p:pic>
        <p:nvPicPr>
          <p:cNvPr id="4" name="Picture 3" descr="demand.jpg">
            <a:extLst>
              <a:ext uri="{FF2B5EF4-FFF2-40B4-BE49-F238E27FC236}">
                <a16:creationId xmlns:a16="http://schemas.microsoft.com/office/drawing/2014/main" id="{3B65D85F-28A5-1DD4-C413-3491EB288045}"/>
              </a:ext>
            </a:extLst>
          </p:cNvPr>
          <p:cNvPicPr>
            <a:picLocks noChangeAspect="1"/>
          </p:cNvPicPr>
          <p:nvPr/>
        </p:nvPicPr>
        <p:blipFill>
          <a:blip r:embed="rId3" cstate="print"/>
          <a:stretch>
            <a:fillRect/>
          </a:stretch>
        </p:blipFill>
        <p:spPr>
          <a:xfrm>
            <a:off x="425366" y="2393606"/>
            <a:ext cx="4390258" cy="4453517"/>
          </a:xfrm>
          <a:prstGeom prst="rect">
            <a:avLst/>
          </a:prstGeom>
        </p:spPr>
      </p:pic>
      <p:sp>
        <p:nvSpPr>
          <p:cNvPr id="8" name="TextBox 7">
            <a:extLst>
              <a:ext uri="{FF2B5EF4-FFF2-40B4-BE49-F238E27FC236}">
                <a16:creationId xmlns:a16="http://schemas.microsoft.com/office/drawing/2014/main" id="{D86A5152-C5F1-DA09-396E-83C769E0BBEA}"/>
              </a:ext>
            </a:extLst>
          </p:cNvPr>
          <p:cNvSpPr txBox="1"/>
          <p:nvPr/>
        </p:nvSpPr>
        <p:spPr>
          <a:xfrm>
            <a:off x="6737074" y="1323201"/>
            <a:ext cx="2953026" cy="892552"/>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Elasticity of Demand</a:t>
            </a:r>
            <a:endParaRPr lang="en-US" sz="2400" b="0" i="0" dirty="0">
              <a:solidFill>
                <a:srgbClr val="081C36"/>
              </a:solidFill>
              <a:effectLst/>
              <a:latin typeface="SegoeuiPc"/>
            </a:endParaRPr>
          </a:p>
        </p:txBody>
      </p:sp>
      <p:pic>
        <p:nvPicPr>
          <p:cNvPr id="9" name="Picture 8" descr="elasticity_of_demand.jpg">
            <a:extLst>
              <a:ext uri="{FF2B5EF4-FFF2-40B4-BE49-F238E27FC236}">
                <a16:creationId xmlns:a16="http://schemas.microsoft.com/office/drawing/2014/main" id="{2AB09421-0719-9FA2-F46F-9CF54525C7CA}"/>
              </a:ext>
            </a:extLst>
          </p:cNvPr>
          <p:cNvPicPr>
            <a:picLocks noChangeAspect="1"/>
          </p:cNvPicPr>
          <p:nvPr/>
        </p:nvPicPr>
        <p:blipFill rotWithShape="1">
          <a:blip r:embed="rId4" cstate="print"/>
          <a:srcRect l="6713" t="16726" r="-1620" b="20311"/>
          <a:stretch/>
        </p:blipFill>
        <p:spPr>
          <a:xfrm>
            <a:off x="5029200" y="2920621"/>
            <a:ext cx="7017878" cy="3491822"/>
          </a:xfrm>
          <a:prstGeom prst="rect">
            <a:avLst/>
          </a:prstGeom>
        </p:spPr>
      </p:pic>
    </p:spTree>
    <p:extLst>
      <p:ext uri="{BB962C8B-B14F-4D97-AF65-F5344CB8AC3E}">
        <p14:creationId xmlns:p14="http://schemas.microsoft.com/office/powerpoint/2010/main" val="3987924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1742753399"/>
              </p:ext>
            </p:extLst>
          </p:nvPr>
        </p:nvGraphicFramePr>
        <p:xfrm>
          <a:off x="6772268" y="1263650"/>
          <a:ext cx="4816758"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7C7B54-7B0E-1F34-D948-2EEA0E69B3D6}"/>
              </a:ext>
            </a:extLst>
          </p:cNvPr>
          <p:cNvSpPr txBox="1"/>
          <p:nvPr/>
        </p:nvSpPr>
        <p:spPr>
          <a:xfrm>
            <a:off x="544995" y="2378417"/>
            <a:ext cx="5635242" cy="2416046"/>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Competition</a:t>
            </a:r>
          </a:p>
          <a:p>
            <a:pPr marL="285750" indent="-285750">
              <a:buFont typeface="Arial" panose="020B0604020202020204" pitchFamily="34" charset="0"/>
              <a:buChar char="•"/>
            </a:pPr>
            <a:r>
              <a:rPr lang="en-US" sz="2400" b="0" i="0" dirty="0">
                <a:solidFill>
                  <a:srgbClr val="081C36"/>
                </a:solidFill>
                <a:effectLst/>
                <a:latin typeface="SegoeuiPc"/>
              </a:rPr>
              <a:t>Consider competitors' costs, prices, and possible reactions.</a:t>
            </a:r>
          </a:p>
          <a:p>
            <a:pPr marL="285750" indent="-285750">
              <a:buFont typeface="Arial" panose="020B0604020202020204" pitchFamily="34" charset="0"/>
              <a:buChar char="•"/>
            </a:pPr>
            <a:r>
              <a:rPr lang="en-US" sz="2400" b="0" i="0" dirty="0">
                <a:solidFill>
                  <a:srgbClr val="081C36"/>
                </a:solidFill>
                <a:effectLst/>
                <a:latin typeface="SegoeuiPc"/>
              </a:rPr>
              <a:t>High competition </a:t>
            </a:r>
            <a:r>
              <a:rPr lang="en-US" sz="2400" b="0" i="0" dirty="0">
                <a:solidFill>
                  <a:srgbClr val="081C36"/>
                </a:solidFill>
                <a:effectLst/>
                <a:latin typeface="SegoeuiPc"/>
                <a:sym typeface="Wingdings" panose="05000000000000000000" pitchFamily="2" charset="2"/>
              </a:rPr>
              <a:t> </a:t>
            </a:r>
            <a:r>
              <a:rPr lang="en-US" sz="2400" b="0" i="0" dirty="0">
                <a:solidFill>
                  <a:srgbClr val="081C36"/>
                </a:solidFill>
                <a:effectLst/>
                <a:latin typeface="SegoeuiPc"/>
              </a:rPr>
              <a:t>low prices</a:t>
            </a:r>
          </a:p>
          <a:p>
            <a:pPr marL="285750" indent="-285750">
              <a:buFont typeface="Arial" panose="020B0604020202020204" pitchFamily="34" charset="0"/>
              <a:buChar char="•"/>
            </a:pPr>
            <a:r>
              <a:rPr lang="en-US" sz="2400" dirty="0">
                <a:solidFill>
                  <a:srgbClr val="081C36"/>
                </a:solidFill>
                <a:latin typeface="SegoeuiPc"/>
              </a:rPr>
              <a:t>Low </a:t>
            </a:r>
            <a:r>
              <a:rPr lang="en-US" sz="2400" b="0" i="0" dirty="0">
                <a:solidFill>
                  <a:srgbClr val="081C36"/>
                </a:solidFill>
                <a:effectLst/>
                <a:latin typeface="SegoeuiPc"/>
              </a:rPr>
              <a:t>competition </a:t>
            </a:r>
            <a:r>
              <a:rPr lang="en-US" sz="2400" b="0" i="0" dirty="0">
                <a:solidFill>
                  <a:srgbClr val="081C36"/>
                </a:solidFill>
                <a:effectLst/>
                <a:latin typeface="SegoeuiPc"/>
                <a:sym typeface="Wingdings" panose="05000000000000000000" pitchFamily="2" charset="2"/>
              </a:rPr>
              <a:t></a:t>
            </a:r>
            <a:r>
              <a:rPr lang="en-US" sz="2400" b="0" i="0" dirty="0">
                <a:solidFill>
                  <a:srgbClr val="081C36"/>
                </a:solidFill>
                <a:effectLst/>
                <a:latin typeface="SegoeuiPc"/>
              </a:rPr>
              <a:t> high prices</a:t>
            </a:r>
          </a:p>
          <a:p>
            <a:endParaRPr lang="en-US" sz="2400" b="0" i="0" dirty="0">
              <a:solidFill>
                <a:srgbClr val="081C36"/>
              </a:solidFill>
              <a:effectLst/>
              <a:latin typeface="SegoeuiPc"/>
            </a:endParaRPr>
          </a:p>
        </p:txBody>
      </p:sp>
    </p:spTree>
    <p:extLst>
      <p:ext uri="{BB962C8B-B14F-4D97-AF65-F5344CB8AC3E}">
        <p14:creationId xmlns:p14="http://schemas.microsoft.com/office/powerpoint/2010/main" val="1114515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3123490511"/>
              </p:ext>
            </p:extLst>
          </p:nvPr>
        </p:nvGraphicFramePr>
        <p:xfrm>
          <a:off x="6772268" y="1263650"/>
          <a:ext cx="4816758"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7C7B54-7B0E-1F34-D948-2EEA0E69B3D6}"/>
              </a:ext>
            </a:extLst>
          </p:cNvPr>
          <p:cNvSpPr txBox="1"/>
          <p:nvPr/>
        </p:nvSpPr>
        <p:spPr>
          <a:xfrm>
            <a:off x="544995" y="2378417"/>
            <a:ext cx="5635242" cy="2416046"/>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Suppliers</a:t>
            </a:r>
          </a:p>
          <a:p>
            <a:pPr marL="285750" indent="-285750">
              <a:buFont typeface="Arial" panose="020B0604020202020204" pitchFamily="34" charset="0"/>
              <a:buChar char="•"/>
            </a:pPr>
            <a:r>
              <a:rPr lang="en-US" sz="2400" b="0" i="0" dirty="0">
                <a:solidFill>
                  <a:srgbClr val="081C36"/>
                </a:solidFill>
                <a:effectLst/>
                <a:latin typeface="SegoeuiPc"/>
              </a:rPr>
              <a:t>The price of a finished product is intimately linked up with the price of the raw materials from the suppliers.</a:t>
            </a:r>
          </a:p>
          <a:p>
            <a:pPr marL="285750" indent="-285750">
              <a:buFont typeface="Arial" panose="020B0604020202020204" pitchFamily="34" charset="0"/>
              <a:buChar char="•"/>
            </a:pPr>
            <a:r>
              <a:rPr lang="en-US" sz="2400" b="0" i="0" dirty="0">
                <a:solidFill>
                  <a:srgbClr val="081C36"/>
                </a:solidFill>
                <a:effectLst/>
                <a:latin typeface="SegoeuiPc"/>
              </a:rPr>
              <a:t>Scarcity or abundance of the raw materials also determines pricing.</a:t>
            </a:r>
          </a:p>
        </p:txBody>
      </p:sp>
    </p:spTree>
    <p:extLst>
      <p:ext uri="{BB962C8B-B14F-4D97-AF65-F5344CB8AC3E}">
        <p14:creationId xmlns:p14="http://schemas.microsoft.com/office/powerpoint/2010/main" val="432639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3537907040"/>
              </p:ext>
            </p:extLst>
          </p:nvPr>
        </p:nvGraphicFramePr>
        <p:xfrm>
          <a:off x="6772268" y="1263650"/>
          <a:ext cx="4816758"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7C7B54-7B0E-1F34-D948-2EEA0E69B3D6}"/>
              </a:ext>
            </a:extLst>
          </p:cNvPr>
          <p:cNvSpPr txBox="1"/>
          <p:nvPr/>
        </p:nvSpPr>
        <p:spPr>
          <a:xfrm>
            <a:off x="544995" y="2073617"/>
            <a:ext cx="5635242" cy="3524042"/>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Economic conditions</a:t>
            </a:r>
          </a:p>
          <a:p>
            <a:pPr marL="285750" indent="-285750">
              <a:buFont typeface="Arial" panose="020B0604020202020204" pitchFamily="34" charset="0"/>
              <a:buChar char="•"/>
            </a:pPr>
            <a:r>
              <a:rPr lang="en-US" sz="2400" b="0" i="0" dirty="0">
                <a:solidFill>
                  <a:srgbClr val="081C36"/>
                </a:solidFill>
                <a:effectLst/>
                <a:latin typeface="SegoeuiPc"/>
              </a:rPr>
              <a:t>The inflationary or deflationary tendency affects pricing.</a:t>
            </a:r>
          </a:p>
          <a:p>
            <a:pPr marL="285750" indent="-285750">
              <a:buFont typeface="Arial" panose="020B0604020202020204" pitchFamily="34" charset="0"/>
              <a:buChar char="•"/>
            </a:pPr>
            <a:r>
              <a:rPr lang="en-US" sz="2400" b="0" i="0" dirty="0">
                <a:solidFill>
                  <a:srgbClr val="081C36"/>
                </a:solidFill>
                <a:effectLst/>
                <a:latin typeface="SegoeuiPc"/>
              </a:rPr>
              <a:t>In recession (period, the prices are reduced to a sizeable extent to maintain the level of turnover. </a:t>
            </a:r>
          </a:p>
          <a:p>
            <a:pPr marL="285750" indent="-285750">
              <a:buFont typeface="Arial" panose="020B0604020202020204" pitchFamily="34" charset="0"/>
              <a:buChar char="•"/>
            </a:pPr>
            <a:r>
              <a:rPr lang="en-US" sz="2400" b="0" i="0" dirty="0">
                <a:solidFill>
                  <a:srgbClr val="081C36"/>
                </a:solidFill>
                <a:effectLst/>
                <a:latin typeface="SegoeuiPc"/>
              </a:rPr>
              <a:t>In boom period, the prices are increased to cover the increasing cost of production and distribution. </a:t>
            </a:r>
          </a:p>
        </p:txBody>
      </p:sp>
    </p:spTree>
    <p:extLst>
      <p:ext uri="{BB962C8B-B14F-4D97-AF65-F5344CB8AC3E}">
        <p14:creationId xmlns:p14="http://schemas.microsoft.com/office/powerpoint/2010/main" val="2814062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nvPr>
        </p:nvGraphicFramePr>
        <p:xfrm>
          <a:off x="6772268" y="1263650"/>
          <a:ext cx="4816758"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7C7B54-7B0E-1F34-D948-2EEA0E69B3D6}"/>
              </a:ext>
            </a:extLst>
          </p:cNvPr>
          <p:cNvSpPr txBox="1"/>
          <p:nvPr/>
        </p:nvSpPr>
        <p:spPr>
          <a:xfrm>
            <a:off x="544995" y="2073617"/>
            <a:ext cx="5635242" cy="3524042"/>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Economic conditions</a:t>
            </a:r>
          </a:p>
          <a:p>
            <a:pPr marL="285750" indent="-285750">
              <a:buFont typeface="Arial" panose="020B0604020202020204" pitchFamily="34" charset="0"/>
              <a:buChar char="•"/>
            </a:pPr>
            <a:r>
              <a:rPr lang="en-US" sz="2400" b="0" i="0" dirty="0">
                <a:solidFill>
                  <a:srgbClr val="081C36"/>
                </a:solidFill>
                <a:effectLst/>
                <a:latin typeface="SegoeuiPc"/>
              </a:rPr>
              <a:t>The inflationary or deflationary tendency affects pricing.</a:t>
            </a:r>
          </a:p>
          <a:p>
            <a:pPr marL="285750" indent="-285750">
              <a:buFont typeface="Arial" panose="020B0604020202020204" pitchFamily="34" charset="0"/>
              <a:buChar char="•"/>
            </a:pPr>
            <a:r>
              <a:rPr lang="en-US" sz="2400" b="0" i="0" dirty="0">
                <a:solidFill>
                  <a:srgbClr val="081C36"/>
                </a:solidFill>
                <a:effectLst/>
                <a:latin typeface="SegoeuiPc"/>
              </a:rPr>
              <a:t>In recession (period, the prices are reduced to a sizeable extent to maintain the level of turnover. </a:t>
            </a:r>
          </a:p>
          <a:p>
            <a:pPr marL="285750" indent="-285750">
              <a:buFont typeface="Arial" panose="020B0604020202020204" pitchFamily="34" charset="0"/>
              <a:buChar char="•"/>
            </a:pPr>
            <a:r>
              <a:rPr lang="en-US" sz="2400" b="0" i="0" dirty="0">
                <a:solidFill>
                  <a:srgbClr val="081C36"/>
                </a:solidFill>
                <a:effectLst/>
                <a:latin typeface="SegoeuiPc"/>
              </a:rPr>
              <a:t>In boom period, the prices are increased to cover the increasing cost of production and distribution. </a:t>
            </a:r>
          </a:p>
        </p:txBody>
      </p:sp>
    </p:spTree>
    <p:extLst>
      <p:ext uri="{BB962C8B-B14F-4D97-AF65-F5344CB8AC3E}">
        <p14:creationId xmlns:p14="http://schemas.microsoft.com/office/powerpoint/2010/main" val="4083615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2928971338"/>
              </p:ext>
            </p:extLst>
          </p:nvPr>
        </p:nvGraphicFramePr>
        <p:xfrm>
          <a:off x="6772268" y="1263650"/>
          <a:ext cx="4816758"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7C7B54-7B0E-1F34-D948-2EEA0E69B3D6}"/>
              </a:ext>
            </a:extLst>
          </p:cNvPr>
          <p:cNvSpPr txBox="1"/>
          <p:nvPr/>
        </p:nvSpPr>
        <p:spPr>
          <a:xfrm>
            <a:off x="544995" y="2073617"/>
            <a:ext cx="5635242" cy="2785378"/>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Consumers</a:t>
            </a:r>
          </a:p>
          <a:p>
            <a:pPr marL="285750" indent="-285750">
              <a:buFont typeface="Arial" panose="020B0604020202020204" pitchFamily="34" charset="0"/>
              <a:buChar char="•"/>
            </a:pPr>
            <a:r>
              <a:rPr lang="en-US" sz="2400" b="0" i="0" dirty="0">
                <a:solidFill>
                  <a:srgbClr val="081C36"/>
                </a:solidFill>
                <a:effectLst/>
                <a:latin typeface="SegoeuiPc"/>
              </a:rPr>
              <a:t>Consumers may have an influence in the pricing decision. </a:t>
            </a:r>
          </a:p>
          <a:p>
            <a:pPr marL="285750" indent="-285750">
              <a:buFont typeface="Arial" panose="020B0604020202020204" pitchFamily="34" charset="0"/>
              <a:buChar char="•"/>
            </a:pPr>
            <a:r>
              <a:rPr lang="en-US" sz="2400" b="0" i="0" dirty="0">
                <a:solidFill>
                  <a:srgbClr val="081C36"/>
                </a:solidFill>
                <a:effectLst/>
                <a:latin typeface="SegoeuiPc"/>
              </a:rPr>
              <a:t>Their nature and </a:t>
            </a:r>
            <a:r>
              <a:rPr lang="en-US" sz="2400" b="0" i="0" dirty="0" err="1">
                <a:solidFill>
                  <a:srgbClr val="081C36"/>
                </a:solidFill>
                <a:effectLst/>
                <a:latin typeface="SegoeuiPc"/>
              </a:rPr>
              <a:t>behaviour</a:t>
            </a:r>
            <a:r>
              <a:rPr lang="en-US" sz="2400" b="0" i="0" dirty="0">
                <a:solidFill>
                  <a:srgbClr val="081C36"/>
                </a:solidFill>
                <a:effectLst/>
                <a:latin typeface="SegoeuiPc"/>
              </a:rPr>
              <a:t> for the purchase of a particular product, brand or service etc. affect pricing when their number is large.</a:t>
            </a:r>
          </a:p>
        </p:txBody>
      </p:sp>
    </p:spTree>
    <p:extLst>
      <p:ext uri="{BB962C8B-B14F-4D97-AF65-F5344CB8AC3E}">
        <p14:creationId xmlns:p14="http://schemas.microsoft.com/office/powerpoint/2010/main" val="2467602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1234-042F-C99A-C3FF-7506F69E6318}"/>
              </a:ext>
            </a:extLst>
          </p:cNvPr>
          <p:cNvSpPr>
            <a:spLocks noGrp="1"/>
          </p:cNvSpPr>
          <p:nvPr>
            <p:ph type="title"/>
          </p:nvPr>
        </p:nvSpPr>
        <p:spPr/>
        <p:txBody>
          <a:bodyPr/>
          <a:lstStyle/>
          <a:p>
            <a:r>
              <a:rPr lang="en-US" dirty="0"/>
              <a:t>Factors affecting pricing</a:t>
            </a:r>
          </a:p>
        </p:txBody>
      </p:sp>
      <p:graphicFrame>
        <p:nvGraphicFramePr>
          <p:cNvPr id="5" name="Content Placeholder 4">
            <a:extLst>
              <a:ext uri="{FF2B5EF4-FFF2-40B4-BE49-F238E27FC236}">
                <a16:creationId xmlns:a16="http://schemas.microsoft.com/office/drawing/2014/main" id="{FF9C57D6-B863-2A10-D22B-09E154D03AEA}"/>
              </a:ext>
            </a:extLst>
          </p:cNvPr>
          <p:cNvGraphicFramePr>
            <a:graphicFrameLocks noGrp="1"/>
          </p:cNvGraphicFramePr>
          <p:nvPr>
            <p:ph idx="1"/>
            <p:extLst>
              <p:ext uri="{D42A27DB-BD31-4B8C-83A1-F6EECF244321}">
                <p14:modId xmlns:p14="http://schemas.microsoft.com/office/powerpoint/2010/main" val="4124168371"/>
              </p:ext>
            </p:extLst>
          </p:nvPr>
        </p:nvGraphicFramePr>
        <p:xfrm>
          <a:off x="6772268" y="1263650"/>
          <a:ext cx="4816758" cy="496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7C7B54-7B0E-1F34-D948-2EEA0E69B3D6}"/>
              </a:ext>
            </a:extLst>
          </p:cNvPr>
          <p:cNvSpPr txBox="1"/>
          <p:nvPr/>
        </p:nvSpPr>
        <p:spPr>
          <a:xfrm>
            <a:off x="544995" y="2590309"/>
            <a:ext cx="5635242" cy="1677382"/>
          </a:xfrm>
          <a:prstGeom prst="rect">
            <a:avLst/>
          </a:prstGeom>
          <a:solidFill>
            <a:schemeClr val="accent6">
              <a:lumMod val="60000"/>
              <a:lumOff val="40000"/>
            </a:schemeClr>
          </a:solidFill>
        </p:spPr>
        <p:txBody>
          <a:bodyPr wrap="square" rtlCol="0">
            <a:spAutoFit/>
          </a:bodyPr>
          <a:lstStyle/>
          <a:p>
            <a:pPr algn="ctr">
              <a:spcAft>
                <a:spcPts val="600"/>
              </a:spcAft>
            </a:pPr>
            <a:r>
              <a:rPr lang="en-US" sz="2600" b="1" i="0" dirty="0">
                <a:solidFill>
                  <a:srgbClr val="C00000"/>
                </a:solidFill>
                <a:effectLst/>
                <a:latin typeface="SegoeuiPc"/>
              </a:rPr>
              <a:t>Government</a:t>
            </a:r>
          </a:p>
          <a:p>
            <a:pPr marL="285750" indent="-285750">
              <a:buFont typeface="Arial" panose="020B0604020202020204" pitchFamily="34" charset="0"/>
              <a:buChar char="•"/>
            </a:pPr>
            <a:r>
              <a:rPr lang="en-US" sz="2400" b="0" i="0" dirty="0">
                <a:solidFill>
                  <a:srgbClr val="081C36"/>
                </a:solidFill>
                <a:effectLst/>
                <a:latin typeface="SegoeuiPc"/>
              </a:rPr>
              <a:t>Price discretion is also affected by the price-control by the government through enactment of legislation.</a:t>
            </a:r>
          </a:p>
        </p:txBody>
      </p:sp>
    </p:spTree>
    <p:extLst>
      <p:ext uri="{BB962C8B-B14F-4D97-AF65-F5344CB8AC3E}">
        <p14:creationId xmlns:p14="http://schemas.microsoft.com/office/powerpoint/2010/main" val="2591750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price</a:t>
            </a:r>
          </a:p>
        </p:txBody>
      </p:sp>
      <p:sp>
        <p:nvSpPr>
          <p:cNvPr id="3" name="Content Placeholder 2"/>
          <p:cNvSpPr>
            <a:spLocks noGrp="1"/>
          </p:cNvSpPr>
          <p:nvPr>
            <p:ph idx="1"/>
          </p:nvPr>
        </p:nvSpPr>
        <p:spPr/>
        <p:txBody>
          <a:bodyPr>
            <a:normAutofit/>
          </a:bodyPr>
          <a:lstStyle/>
          <a:p>
            <a:r>
              <a:rPr lang="en-US" dirty="0"/>
              <a:t>Game theory model</a:t>
            </a:r>
          </a:p>
          <a:p>
            <a:pPr lvl="1"/>
            <a:r>
              <a:rPr lang="en-US" dirty="0"/>
              <a:t>Consists of: players, strategies, payoffs</a:t>
            </a:r>
          </a:p>
          <a:p>
            <a:pPr lvl="1"/>
            <a:r>
              <a:rPr lang="en-US" dirty="0"/>
              <a:t>Prisoners' dilemma</a:t>
            </a:r>
          </a:p>
          <a:p>
            <a:pPr lvl="1"/>
            <a:endParaRPr lang="en-US" dirty="0"/>
          </a:p>
        </p:txBody>
      </p:sp>
      <p:pic>
        <p:nvPicPr>
          <p:cNvPr id="4" name="Picture 3" descr="prisoners_dilemma.jpg"/>
          <p:cNvPicPr>
            <a:picLocks noChangeAspect="1"/>
          </p:cNvPicPr>
          <p:nvPr/>
        </p:nvPicPr>
        <p:blipFill>
          <a:blip r:embed="rId3" cstate="print">
            <a:clrChange>
              <a:clrFrom>
                <a:srgbClr val="FFFFFF"/>
              </a:clrFrom>
              <a:clrTo>
                <a:srgbClr val="FFFFFF">
                  <a:alpha val="0"/>
                </a:srgbClr>
              </a:clrTo>
            </a:clrChange>
          </a:blip>
          <a:stretch>
            <a:fillRect/>
          </a:stretch>
        </p:blipFill>
        <p:spPr>
          <a:xfrm>
            <a:off x="3103241" y="1854201"/>
            <a:ext cx="6520775" cy="4322762"/>
          </a:xfrm>
          <a:prstGeom prst="rect">
            <a:avLst/>
          </a:prstGeom>
        </p:spPr>
      </p:pic>
    </p:spTree>
    <p:extLst>
      <p:ext uri="{BB962C8B-B14F-4D97-AF65-F5344CB8AC3E}">
        <p14:creationId xmlns:p14="http://schemas.microsoft.com/office/powerpoint/2010/main" val="3491816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price</a:t>
            </a:r>
          </a:p>
        </p:txBody>
      </p:sp>
      <p:sp>
        <p:nvSpPr>
          <p:cNvPr id="3" name="Content Placeholder 2"/>
          <p:cNvSpPr>
            <a:spLocks noGrp="1"/>
          </p:cNvSpPr>
          <p:nvPr>
            <p:ph idx="1"/>
          </p:nvPr>
        </p:nvSpPr>
        <p:spPr/>
        <p:txBody>
          <a:bodyPr/>
          <a:lstStyle/>
          <a:p>
            <a:r>
              <a:rPr lang="en-US" dirty="0"/>
              <a:t>Game theory model</a:t>
            </a:r>
          </a:p>
          <a:p>
            <a:pPr lvl="1"/>
            <a:r>
              <a:rPr lang="en-US" dirty="0"/>
              <a:t>A player’s </a:t>
            </a:r>
            <a:r>
              <a:rPr lang="en-US" b="1" dirty="0"/>
              <a:t>best response</a:t>
            </a:r>
            <a:r>
              <a:rPr lang="en-US" dirty="0"/>
              <a:t> is the strategy that maximizes the player’s payoff, given the strategies of the other players</a:t>
            </a:r>
          </a:p>
          <a:p>
            <a:pPr lvl="1"/>
            <a:r>
              <a:rPr lang="en-US" dirty="0"/>
              <a:t>A strategy is a </a:t>
            </a:r>
            <a:r>
              <a:rPr lang="en-US" b="1" dirty="0"/>
              <a:t>dominant strategy</a:t>
            </a:r>
            <a:r>
              <a:rPr lang="en-US" dirty="0"/>
              <a:t> for a firm if it is optimal, no matter what strategy is used by the other players</a:t>
            </a:r>
          </a:p>
          <a:p>
            <a:pPr lvl="1"/>
            <a:r>
              <a:rPr lang="en-US" dirty="0"/>
              <a:t>The firms are in a </a:t>
            </a:r>
            <a:r>
              <a:rPr lang="en-US" b="1" dirty="0"/>
              <a:t>Nash Equilibrium</a:t>
            </a:r>
            <a:r>
              <a:rPr lang="en-US" dirty="0"/>
              <a:t> if the strategy of each firm is the best response to the strategies of the other firms. Equivalently, in a Nash equilibrium, none of the firms have any incentive to unilaterally deviate from its strategy</a:t>
            </a:r>
          </a:p>
        </p:txBody>
      </p:sp>
    </p:spTree>
    <p:extLst>
      <p:ext uri="{BB962C8B-B14F-4D97-AF65-F5344CB8AC3E}">
        <p14:creationId xmlns:p14="http://schemas.microsoft.com/office/powerpoint/2010/main" val="3648878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price</a:t>
            </a:r>
          </a:p>
        </p:txBody>
      </p:sp>
      <p:sp>
        <p:nvSpPr>
          <p:cNvPr id="3" name="Content Placeholder 2"/>
          <p:cNvSpPr>
            <a:spLocks noGrp="1"/>
          </p:cNvSpPr>
          <p:nvPr>
            <p:ph idx="1"/>
          </p:nvPr>
        </p:nvSpPr>
        <p:spPr/>
        <p:txBody>
          <a:bodyPr/>
          <a:lstStyle/>
          <a:p>
            <a:r>
              <a:rPr lang="en-US" dirty="0"/>
              <a:t>Game theory model</a:t>
            </a:r>
          </a:p>
          <a:p>
            <a:pPr lvl="1"/>
            <a:r>
              <a:rPr lang="en-US" dirty="0"/>
              <a:t>Companies A and B both produce phones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What price companies A and B will set for their phones?</a:t>
            </a:r>
          </a:p>
        </p:txBody>
      </p:sp>
      <p:pic>
        <p:nvPicPr>
          <p:cNvPr id="4" name="Picture 3" descr="phone_table.jpg"/>
          <p:cNvPicPr>
            <a:picLocks noChangeAspect="1"/>
          </p:cNvPicPr>
          <p:nvPr/>
        </p:nvPicPr>
        <p:blipFill>
          <a:blip r:embed="rId3" cstate="print"/>
          <a:stretch>
            <a:fillRect/>
          </a:stretch>
        </p:blipFill>
        <p:spPr>
          <a:xfrm>
            <a:off x="2374901" y="2213942"/>
            <a:ext cx="6645853" cy="2862262"/>
          </a:xfrm>
          <a:prstGeom prst="rect">
            <a:avLst/>
          </a:prstGeom>
        </p:spPr>
      </p:pic>
    </p:spTree>
    <p:extLst>
      <p:ext uri="{BB962C8B-B14F-4D97-AF65-F5344CB8AC3E}">
        <p14:creationId xmlns:p14="http://schemas.microsoft.com/office/powerpoint/2010/main" val="3867763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price</a:t>
            </a:r>
          </a:p>
        </p:txBody>
      </p:sp>
      <p:sp>
        <p:nvSpPr>
          <p:cNvPr id="3" name="Content Placeholder 2"/>
          <p:cNvSpPr>
            <a:spLocks noGrp="1"/>
          </p:cNvSpPr>
          <p:nvPr>
            <p:ph idx="1"/>
          </p:nvPr>
        </p:nvSpPr>
        <p:spPr/>
        <p:txBody>
          <a:bodyPr/>
          <a:lstStyle/>
          <a:p>
            <a:r>
              <a:rPr lang="en-US" dirty="0"/>
              <a:t>Game theory model</a:t>
            </a:r>
          </a:p>
          <a:p>
            <a:pPr lvl="1"/>
            <a:r>
              <a:rPr lang="en-US" dirty="0"/>
              <a:t>Companies A and B both produce phones</a:t>
            </a:r>
          </a:p>
        </p:txBody>
      </p:sp>
      <p:pic>
        <p:nvPicPr>
          <p:cNvPr id="4" name="Picture 3" descr="phone_analysis.jpg"/>
          <p:cNvPicPr>
            <a:picLocks noChangeAspect="1"/>
          </p:cNvPicPr>
          <p:nvPr/>
        </p:nvPicPr>
        <p:blipFill>
          <a:blip r:embed="rId3" cstate="print"/>
          <a:stretch>
            <a:fillRect/>
          </a:stretch>
        </p:blipFill>
        <p:spPr>
          <a:xfrm>
            <a:off x="3035300" y="2210735"/>
            <a:ext cx="5334000" cy="4174948"/>
          </a:xfrm>
          <a:prstGeom prst="rect">
            <a:avLst/>
          </a:prstGeom>
        </p:spPr>
      </p:pic>
    </p:spTree>
    <p:extLst>
      <p:ext uri="{BB962C8B-B14F-4D97-AF65-F5344CB8AC3E}">
        <p14:creationId xmlns:p14="http://schemas.microsoft.com/office/powerpoint/2010/main" val="706095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pricing</a:t>
            </a:r>
          </a:p>
        </p:txBody>
      </p:sp>
      <p:sp>
        <p:nvSpPr>
          <p:cNvPr id="3" name="Content Placeholder 2"/>
          <p:cNvSpPr>
            <a:spLocks noGrp="1"/>
          </p:cNvSpPr>
          <p:nvPr>
            <p:ph idx="1"/>
          </p:nvPr>
        </p:nvSpPr>
        <p:spPr/>
        <p:txBody>
          <a:bodyPr/>
          <a:lstStyle/>
          <a:p>
            <a:r>
              <a:rPr lang="en-US" dirty="0"/>
              <a:t>Determining the right prices to charge a customer for a product or a service: complex task</a:t>
            </a:r>
          </a:p>
          <a:p>
            <a:r>
              <a:rPr lang="en-US" dirty="0"/>
              <a:t>Customers’ information is increasingly recorded with the advances of the Internet and e-commerce technologies</a:t>
            </a:r>
          </a:p>
          <a:p>
            <a:r>
              <a:rPr lang="en-US" dirty="0"/>
              <a:t>The cost of changing products’ prices: menu cost</a:t>
            </a:r>
          </a:p>
          <a:p>
            <a:pPr lvl="1"/>
            <a:r>
              <a:rPr lang="en-US" dirty="0"/>
              <a:t>Is very large for companies with many products and services</a:t>
            </a:r>
          </a:p>
          <a:p>
            <a:pPr lvl="1"/>
            <a:r>
              <a:rPr lang="en-US" dirty="0"/>
              <a:t>Reduced significantly in e-commerce</a:t>
            </a:r>
          </a:p>
          <a:p>
            <a:endParaRPr lang="en-US" dirty="0"/>
          </a:p>
        </p:txBody>
      </p:sp>
    </p:spTree>
    <p:extLst>
      <p:ext uri="{BB962C8B-B14F-4D97-AF65-F5344CB8AC3E}">
        <p14:creationId xmlns:p14="http://schemas.microsoft.com/office/powerpoint/2010/main" val="3843647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pricing</a:t>
            </a:r>
          </a:p>
        </p:txBody>
      </p:sp>
      <p:sp>
        <p:nvSpPr>
          <p:cNvPr id="3" name="Content Placeholder 2"/>
          <p:cNvSpPr>
            <a:spLocks noGrp="1"/>
          </p:cNvSpPr>
          <p:nvPr>
            <p:ph idx="1"/>
          </p:nvPr>
        </p:nvSpPr>
        <p:spPr/>
        <p:txBody>
          <a:bodyPr>
            <a:normAutofit/>
          </a:bodyPr>
          <a:lstStyle/>
          <a:p>
            <a:r>
              <a:rPr lang="en-US" dirty="0"/>
              <a:t>Definitions</a:t>
            </a:r>
          </a:p>
          <a:p>
            <a:pPr lvl="1"/>
            <a:r>
              <a:rPr lang="en-US" dirty="0"/>
              <a:t>Price dispersion</a:t>
            </a:r>
          </a:p>
          <a:p>
            <a:pPr lvl="1"/>
            <a:r>
              <a:rPr lang="en-US" dirty="0"/>
              <a:t>Price discrimination</a:t>
            </a:r>
          </a:p>
          <a:p>
            <a:r>
              <a:rPr lang="en-US" dirty="0"/>
              <a:t>Price dispersion</a:t>
            </a:r>
          </a:p>
          <a:p>
            <a:pPr lvl="1"/>
            <a:r>
              <a:rPr lang="en-US" dirty="0"/>
              <a:t>Spatial</a:t>
            </a:r>
          </a:p>
          <a:p>
            <a:pPr lvl="1"/>
            <a:r>
              <a:rPr lang="en-US" dirty="0"/>
              <a:t>Temporal</a:t>
            </a:r>
          </a:p>
          <a:p>
            <a:r>
              <a:rPr lang="en-US" dirty="0"/>
              <a:t>Price discrimination</a:t>
            </a:r>
          </a:p>
          <a:p>
            <a:pPr lvl="1"/>
            <a:r>
              <a:rPr lang="en-US" dirty="0"/>
              <a:t>First degree (perfect) differentiation: different prices for different units sold and people</a:t>
            </a:r>
          </a:p>
          <a:p>
            <a:pPr lvl="1"/>
            <a:r>
              <a:rPr lang="en-US" dirty="0"/>
              <a:t>Second degree price differentiation: different prices for different units sold</a:t>
            </a:r>
          </a:p>
          <a:p>
            <a:pPr lvl="1"/>
            <a:r>
              <a:rPr lang="en-US" dirty="0"/>
              <a:t>Third degree price differentiation: different prices for different people</a:t>
            </a:r>
          </a:p>
          <a:p>
            <a:endParaRPr lang="en-US" dirty="0"/>
          </a:p>
        </p:txBody>
      </p:sp>
    </p:spTree>
    <p:extLst>
      <p:ext uri="{BB962C8B-B14F-4D97-AF65-F5344CB8AC3E}">
        <p14:creationId xmlns:p14="http://schemas.microsoft.com/office/powerpoint/2010/main" val="421503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pricing</a:t>
            </a:r>
          </a:p>
        </p:txBody>
      </p:sp>
      <p:sp>
        <p:nvSpPr>
          <p:cNvPr id="3" name="Content Placeholder 2"/>
          <p:cNvSpPr>
            <a:spLocks noGrp="1"/>
          </p:cNvSpPr>
          <p:nvPr>
            <p:ph idx="1"/>
          </p:nvPr>
        </p:nvSpPr>
        <p:spPr/>
        <p:txBody>
          <a:bodyPr/>
          <a:lstStyle/>
          <a:p>
            <a:r>
              <a:rPr lang="en-US" dirty="0"/>
              <a:t>Price differentiation through product differentiation</a:t>
            </a:r>
          </a:p>
          <a:p>
            <a:pPr lvl="1"/>
            <a:r>
              <a:rPr lang="en-US" dirty="0"/>
              <a:t>Dell computer</a:t>
            </a:r>
          </a:p>
          <a:p>
            <a:r>
              <a:rPr lang="en-US" dirty="0"/>
              <a:t>Dynamic pricing methods</a:t>
            </a:r>
          </a:p>
          <a:p>
            <a:pPr lvl="1"/>
            <a:r>
              <a:rPr lang="en-US" dirty="0"/>
              <a:t>Posted price mechanism</a:t>
            </a:r>
          </a:p>
          <a:p>
            <a:pPr lvl="1"/>
            <a:r>
              <a:rPr lang="en-US" dirty="0"/>
              <a:t>Price discovery mechanism</a:t>
            </a:r>
          </a:p>
          <a:p>
            <a:r>
              <a:rPr lang="en-US" dirty="0"/>
              <a:t>Example of dynamic pricing: airline industry</a:t>
            </a:r>
          </a:p>
          <a:p>
            <a:pPr lvl="1"/>
            <a:r>
              <a:rPr lang="en-US" dirty="0"/>
              <a:t>Consumer segmentation</a:t>
            </a:r>
          </a:p>
          <a:p>
            <a:pPr lvl="2"/>
            <a:r>
              <a:rPr lang="en-US" dirty="0"/>
              <a:t>Business class: date and time are more important</a:t>
            </a:r>
          </a:p>
          <a:p>
            <a:pPr lvl="2"/>
            <a:r>
              <a:rPr lang="en-US" dirty="0"/>
              <a:t>Economy class: fare is more important</a:t>
            </a:r>
          </a:p>
          <a:p>
            <a:pPr lvl="1"/>
            <a:r>
              <a:rPr lang="en-US" dirty="0"/>
              <a:t>Available seats adjustment in specific periods</a:t>
            </a:r>
          </a:p>
          <a:p>
            <a:endParaRPr lang="en-US" dirty="0"/>
          </a:p>
        </p:txBody>
      </p:sp>
    </p:spTree>
    <p:extLst>
      <p:ext uri="{BB962C8B-B14F-4D97-AF65-F5344CB8AC3E}">
        <p14:creationId xmlns:p14="http://schemas.microsoft.com/office/powerpoint/2010/main" val="189123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From Babylon to the Roman Empire to Buddhists</a:t>
            </a:r>
          </a:p>
          <a:p>
            <a:r>
              <a:rPr lang="en-US" dirty="0"/>
              <a:t>Auction: seller offering item for sale </a:t>
            </a:r>
          </a:p>
          <a:p>
            <a:pPr lvl="1"/>
            <a:r>
              <a:rPr lang="en-US" b="1" dirty="0"/>
              <a:t>Bids:</a:t>
            </a:r>
            <a:r>
              <a:rPr lang="en-US" dirty="0"/>
              <a:t> price potential buyer willing to pay</a:t>
            </a:r>
          </a:p>
          <a:p>
            <a:pPr lvl="1"/>
            <a:r>
              <a:rPr lang="en-US" b="1" dirty="0"/>
              <a:t>Bidders:</a:t>
            </a:r>
            <a:r>
              <a:rPr lang="en-US" dirty="0"/>
              <a:t> potential buyers</a:t>
            </a:r>
          </a:p>
          <a:p>
            <a:pPr lvl="1"/>
            <a:r>
              <a:rPr lang="en-US" b="1" dirty="0"/>
              <a:t>Private valuations:</a:t>
            </a:r>
            <a:r>
              <a:rPr lang="en-US" dirty="0"/>
              <a:t> amounts bidders willing to pay</a:t>
            </a:r>
          </a:p>
          <a:p>
            <a:pPr lvl="1"/>
            <a:r>
              <a:rPr lang="en-US" b="1" dirty="0"/>
              <a:t>Auctioneer:</a:t>
            </a:r>
            <a:r>
              <a:rPr lang="en-US" dirty="0"/>
              <a:t> manages auction process</a:t>
            </a:r>
          </a:p>
          <a:p>
            <a:pPr lvl="1"/>
            <a:r>
              <a:rPr lang="en-US" b="1" dirty="0"/>
              <a:t>Shill bidders:</a:t>
            </a:r>
            <a:r>
              <a:rPr lang="en-US" dirty="0"/>
              <a:t> bidder who seller or auctioneer employees</a:t>
            </a:r>
          </a:p>
        </p:txBody>
      </p:sp>
    </p:spTree>
    <p:extLst>
      <p:ext uri="{BB962C8B-B14F-4D97-AF65-F5344CB8AC3E}">
        <p14:creationId xmlns:p14="http://schemas.microsoft.com/office/powerpoint/2010/main" val="2245541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English auctions</a:t>
            </a:r>
          </a:p>
          <a:p>
            <a:pPr lvl="1"/>
            <a:r>
              <a:rPr lang="en-US" dirty="0"/>
              <a:t>Bidders publicly announce their successive higher bids until no higher bid is forthcoming</a:t>
            </a:r>
          </a:p>
          <a:p>
            <a:pPr lvl="1"/>
            <a:r>
              <a:rPr lang="en-US" dirty="0"/>
              <a:t>The item sold to the highest bidder at that bidder’s price</a:t>
            </a:r>
          </a:p>
          <a:p>
            <a:pPr lvl="1"/>
            <a:r>
              <a:rPr lang="en-US" dirty="0"/>
              <a:t>Known as</a:t>
            </a:r>
          </a:p>
          <a:p>
            <a:pPr lvl="2"/>
            <a:r>
              <a:rPr lang="en-US" dirty="0"/>
              <a:t>Ascending-price auction</a:t>
            </a:r>
          </a:p>
          <a:p>
            <a:pPr lvl="2"/>
            <a:r>
              <a:rPr lang="en-US" dirty="0"/>
              <a:t>Open auction (open-outcry auction)</a:t>
            </a:r>
          </a:p>
          <a:p>
            <a:pPr lvl="1"/>
            <a:r>
              <a:rPr lang="en-US" dirty="0"/>
              <a:t>Minimum bid</a:t>
            </a:r>
          </a:p>
          <a:p>
            <a:pPr lvl="2"/>
            <a:r>
              <a:rPr lang="en-US" dirty="0"/>
              <a:t>The price at which an auction begins</a:t>
            </a:r>
          </a:p>
          <a:p>
            <a:pPr lvl="2"/>
            <a:r>
              <a:rPr lang="en-US" dirty="0"/>
              <a:t>If not met: item removed (not sold)</a:t>
            </a:r>
          </a:p>
        </p:txBody>
      </p:sp>
    </p:spTree>
    <p:extLst>
      <p:ext uri="{BB962C8B-B14F-4D97-AF65-F5344CB8AC3E}">
        <p14:creationId xmlns:p14="http://schemas.microsoft.com/office/powerpoint/2010/main" val="21650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English auctions</a:t>
            </a:r>
          </a:p>
          <a:p>
            <a:pPr lvl="1"/>
            <a:r>
              <a:rPr lang="en-US" dirty="0"/>
              <a:t>Reserve price</a:t>
            </a:r>
          </a:p>
          <a:p>
            <a:pPr lvl="2"/>
            <a:r>
              <a:rPr lang="en-US" dirty="0"/>
              <a:t>Seller’s minimum acceptable price</a:t>
            </a:r>
          </a:p>
          <a:p>
            <a:pPr lvl="2"/>
            <a:r>
              <a:rPr lang="en-US" dirty="0"/>
              <a:t>Not announced</a:t>
            </a:r>
          </a:p>
          <a:p>
            <a:pPr lvl="2"/>
            <a:r>
              <a:rPr lang="en-US" dirty="0"/>
              <a:t>If not exceeded: item withdrawn (not sold)</a:t>
            </a:r>
          </a:p>
          <a:p>
            <a:pPr lvl="1"/>
            <a:r>
              <a:rPr lang="en-US" dirty="0"/>
              <a:t>Yankee auctions</a:t>
            </a:r>
          </a:p>
          <a:p>
            <a:pPr lvl="2"/>
            <a:r>
              <a:rPr lang="en-US" dirty="0"/>
              <a:t>Multiple items are offered</a:t>
            </a:r>
          </a:p>
          <a:p>
            <a:pPr lvl="2">
              <a:lnSpc>
                <a:spcPct val="90000"/>
              </a:lnSpc>
            </a:pPr>
            <a:r>
              <a:rPr lang="en-US" dirty="0"/>
              <a:t>Highest bidder allotted bid quantity</a:t>
            </a:r>
          </a:p>
          <a:p>
            <a:pPr lvl="2">
              <a:lnSpc>
                <a:spcPct val="90000"/>
              </a:lnSpc>
            </a:pPr>
            <a:r>
              <a:rPr lang="en-US" dirty="0"/>
              <a:t>Remaining items allocated to next highest bidders until all items distributed</a:t>
            </a:r>
          </a:p>
          <a:p>
            <a:pPr lvl="2">
              <a:lnSpc>
                <a:spcPct val="90000"/>
              </a:lnSpc>
            </a:pPr>
            <a:r>
              <a:rPr lang="en-US" dirty="0"/>
              <a:t>Bidders pay lowest successful bidder price</a:t>
            </a:r>
          </a:p>
          <a:p>
            <a:endParaRPr lang="en-US" dirty="0"/>
          </a:p>
        </p:txBody>
      </p:sp>
    </p:spTree>
    <p:extLst>
      <p:ext uri="{BB962C8B-B14F-4D97-AF65-F5344CB8AC3E}">
        <p14:creationId xmlns:p14="http://schemas.microsoft.com/office/powerpoint/2010/main" val="3212666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English auctions</a:t>
            </a:r>
          </a:p>
          <a:p>
            <a:pPr lvl="1"/>
            <a:r>
              <a:rPr lang="en-US" dirty="0"/>
              <a:t>English auction seller drawback</a:t>
            </a:r>
          </a:p>
          <a:p>
            <a:pPr lvl="2"/>
            <a:r>
              <a:rPr lang="en-US" dirty="0"/>
              <a:t>May not obtain maximum possible price</a:t>
            </a:r>
          </a:p>
          <a:p>
            <a:pPr lvl="1"/>
            <a:r>
              <a:rPr lang="en-US" dirty="0"/>
              <a:t>English auction buyer drawback</a:t>
            </a:r>
          </a:p>
          <a:p>
            <a:pPr lvl="2"/>
            <a:r>
              <a:rPr lang="en-US" b="1" dirty="0"/>
              <a:t>Winner’s Curse</a:t>
            </a:r>
          </a:p>
          <a:p>
            <a:pPr lvl="3"/>
            <a:r>
              <a:rPr lang="en-US" dirty="0"/>
              <a:t>Psychological phenomenon</a:t>
            </a:r>
          </a:p>
          <a:p>
            <a:pPr lvl="3"/>
            <a:r>
              <a:rPr lang="en-US" dirty="0"/>
              <a:t>Caught up in competitive bidding excitement</a:t>
            </a:r>
          </a:p>
          <a:p>
            <a:pPr lvl="3"/>
            <a:r>
              <a:rPr lang="en-US" dirty="0"/>
              <a:t>Bidders risk bidding more than their private valuations</a:t>
            </a:r>
          </a:p>
          <a:p>
            <a:pPr lvl="1"/>
            <a:endParaRPr lang="en-US" dirty="0"/>
          </a:p>
        </p:txBody>
      </p:sp>
    </p:spTree>
    <p:extLst>
      <p:ext uri="{BB962C8B-B14F-4D97-AF65-F5344CB8AC3E}">
        <p14:creationId xmlns:p14="http://schemas.microsoft.com/office/powerpoint/2010/main" val="2979135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Dutch auctions</a:t>
            </a:r>
          </a:p>
          <a:p>
            <a:pPr lvl="1"/>
            <a:r>
              <a:rPr lang="en-US" dirty="0"/>
              <a:t>Open auction</a:t>
            </a:r>
          </a:p>
          <a:p>
            <a:pPr lvl="2"/>
            <a:r>
              <a:rPr lang="en-US" dirty="0"/>
              <a:t>Bidding starts at a high price</a:t>
            </a:r>
          </a:p>
          <a:p>
            <a:pPr lvl="2"/>
            <a:r>
              <a:rPr lang="en-US" dirty="0"/>
              <a:t>Drops until bidder accepts price</a:t>
            </a:r>
          </a:p>
          <a:p>
            <a:pPr lvl="1"/>
            <a:r>
              <a:rPr lang="en-US" dirty="0"/>
              <a:t>Also called descending-price auctions</a:t>
            </a:r>
          </a:p>
          <a:p>
            <a:pPr lvl="1"/>
            <a:r>
              <a:rPr lang="en-US" dirty="0"/>
              <a:t>Seller offers number of similar items for sale</a:t>
            </a:r>
          </a:p>
          <a:p>
            <a:pPr lvl="1"/>
            <a:r>
              <a:rPr lang="en-US" dirty="0"/>
              <a:t>Common implementation</a:t>
            </a:r>
          </a:p>
          <a:p>
            <a:pPr lvl="2"/>
            <a:r>
              <a:rPr lang="en-US" dirty="0"/>
              <a:t>Use a clock (price drops with each tick)</a:t>
            </a:r>
          </a:p>
          <a:p>
            <a:pPr lvl="2"/>
            <a:r>
              <a:rPr lang="en-US" dirty="0"/>
              <a:t>If items remain: clock restarted</a:t>
            </a:r>
          </a:p>
        </p:txBody>
      </p:sp>
    </p:spTree>
    <p:extLst>
      <p:ext uri="{BB962C8B-B14F-4D97-AF65-F5344CB8AC3E}">
        <p14:creationId xmlns:p14="http://schemas.microsoft.com/office/powerpoint/2010/main" val="1531917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Dutch auctions</a:t>
            </a:r>
          </a:p>
          <a:p>
            <a:pPr lvl="1"/>
            <a:r>
              <a:rPr lang="en-US" dirty="0"/>
              <a:t>Advantages</a:t>
            </a:r>
          </a:p>
          <a:p>
            <a:pPr lvl="2"/>
            <a:r>
              <a:rPr lang="en-US" dirty="0"/>
              <a:t>Seller obtains close to highest private valuation</a:t>
            </a:r>
          </a:p>
          <a:p>
            <a:pPr lvl="2"/>
            <a:r>
              <a:rPr lang="en-US" dirty="0"/>
              <a:t>Quickly move large numbers of commodity items</a:t>
            </a:r>
          </a:p>
          <a:p>
            <a:pPr lvl="1"/>
            <a:r>
              <a:rPr lang="en-US" dirty="0"/>
              <a:t>Disadvantages</a:t>
            </a:r>
          </a:p>
          <a:p>
            <a:pPr lvl="2"/>
            <a:r>
              <a:rPr lang="en-US" dirty="0"/>
              <a:t>Sales or product interest generated: does not justify cost of operation</a:t>
            </a:r>
          </a:p>
          <a:p>
            <a:pPr lvl="2"/>
            <a:r>
              <a:rPr lang="en-US" dirty="0"/>
              <a:t>Customer confusion</a:t>
            </a:r>
          </a:p>
          <a:p>
            <a:pPr lvl="1"/>
            <a:r>
              <a:rPr lang="en-US" dirty="0"/>
              <a:t>Successful examples</a:t>
            </a:r>
          </a:p>
          <a:p>
            <a:pPr lvl="2"/>
            <a:r>
              <a:rPr lang="en-US" dirty="0"/>
              <a:t>Google initial public offering stock sale (2004)</a:t>
            </a:r>
          </a:p>
        </p:txBody>
      </p:sp>
    </p:spTree>
    <p:extLst>
      <p:ext uri="{BB962C8B-B14F-4D97-AF65-F5344CB8AC3E}">
        <p14:creationId xmlns:p14="http://schemas.microsoft.com/office/powerpoint/2010/main" val="2775985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Sealed-bid auctions</a:t>
            </a:r>
          </a:p>
          <a:p>
            <a:pPr lvl="1"/>
            <a:r>
              <a:rPr lang="en-US" dirty="0"/>
              <a:t>Bidders submit bids independently</a:t>
            </a:r>
          </a:p>
          <a:p>
            <a:pPr lvl="1"/>
            <a:r>
              <a:rPr lang="en-US" dirty="0"/>
              <a:t>Prohibited from sharing information</a:t>
            </a:r>
          </a:p>
          <a:p>
            <a:r>
              <a:rPr lang="en-US" dirty="0"/>
              <a:t>First-price sealed-bid auction</a:t>
            </a:r>
          </a:p>
          <a:p>
            <a:pPr lvl="1"/>
            <a:r>
              <a:rPr lang="en-US" dirty="0"/>
              <a:t>Highest bidder wins</a:t>
            </a:r>
          </a:p>
          <a:p>
            <a:pPr lvl="1"/>
            <a:r>
              <a:rPr lang="en-US" dirty="0"/>
              <a:t>If multiple items auctioned: next highest bidders awarded remaining items at their bid price</a:t>
            </a:r>
          </a:p>
          <a:p>
            <a:r>
              <a:rPr lang="en-US" dirty="0"/>
              <a:t>Second-price sealed-bid auction (</a:t>
            </a:r>
            <a:r>
              <a:rPr lang="en-US" dirty="0" err="1"/>
              <a:t>Vickrey</a:t>
            </a:r>
            <a:r>
              <a:rPr lang="en-US" dirty="0"/>
              <a:t> auctions)</a:t>
            </a:r>
          </a:p>
          <a:p>
            <a:pPr lvl="1"/>
            <a:r>
              <a:rPr lang="en-US" dirty="0"/>
              <a:t>Highest bidder awarded item at second-highest bidder price</a:t>
            </a:r>
          </a:p>
          <a:p>
            <a:pPr lvl="1"/>
            <a:r>
              <a:rPr lang="en-US" dirty="0"/>
              <a:t>William </a:t>
            </a:r>
            <a:r>
              <a:rPr lang="en-US" dirty="0" err="1"/>
              <a:t>Vickrey</a:t>
            </a:r>
            <a:r>
              <a:rPr lang="en-US" dirty="0"/>
              <a:t>: 1996 Nobel Prize in Economics</a:t>
            </a:r>
          </a:p>
        </p:txBody>
      </p:sp>
    </p:spTree>
    <p:extLst>
      <p:ext uri="{BB962C8B-B14F-4D97-AF65-F5344CB8AC3E}">
        <p14:creationId xmlns:p14="http://schemas.microsoft.com/office/powerpoint/2010/main" val="3728208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Double Auctions</a:t>
            </a:r>
          </a:p>
          <a:p>
            <a:pPr lvl="1">
              <a:lnSpc>
                <a:spcPct val="90000"/>
              </a:lnSpc>
            </a:pPr>
            <a:r>
              <a:rPr lang="en-US" dirty="0"/>
              <a:t>Sealed bid or open outcry</a:t>
            </a:r>
          </a:p>
          <a:p>
            <a:pPr lvl="1">
              <a:lnSpc>
                <a:spcPct val="90000"/>
              </a:lnSpc>
            </a:pPr>
            <a:r>
              <a:rPr lang="en-US" dirty="0"/>
              <a:t>Good for: items of known quality traded in large quantities</a:t>
            </a:r>
          </a:p>
          <a:p>
            <a:pPr lvl="1">
              <a:lnSpc>
                <a:spcPct val="90000"/>
              </a:lnSpc>
            </a:pPr>
            <a:r>
              <a:rPr lang="en-US" dirty="0"/>
              <a:t>No item inspection before bidding</a:t>
            </a:r>
          </a:p>
          <a:p>
            <a:pPr lvl="1">
              <a:lnSpc>
                <a:spcPct val="90000"/>
              </a:lnSpc>
            </a:pPr>
            <a:r>
              <a:rPr lang="en-US" dirty="0"/>
              <a:t>Auctioneer</a:t>
            </a:r>
          </a:p>
          <a:p>
            <a:pPr lvl="2">
              <a:lnSpc>
                <a:spcPct val="90000"/>
              </a:lnSpc>
            </a:pPr>
            <a:r>
              <a:rPr lang="en-US" dirty="0"/>
              <a:t>Matches sellers’ offers starting with lowest price and then goes up</a:t>
            </a:r>
          </a:p>
          <a:p>
            <a:pPr lvl="2">
              <a:lnSpc>
                <a:spcPct val="90000"/>
              </a:lnSpc>
            </a:pPr>
            <a:r>
              <a:rPr lang="en-US" dirty="0"/>
              <a:t>To buyers’ offers starting with highest price and then goes down until all quantities offered are sold</a:t>
            </a:r>
          </a:p>
          <a:p>
            <a:pPr lvl="1">
              <a:lnSpc>
                <a:spcPct val="90000"/>
              </a:lnSpc>
            </a:pPr>
            <a:r>
              <a:rPr lang="en-US" dirty="0"/>
              <a:t>Example: New York Stock Exchange</a:t>
            </a:r>
          </a:p>
        </p:txBody>
      </p:sp>
    </p:spTree>
    <p:extLst>
      <p:ext uri="{BB962C8B-B14F-4D97-AF65-F5344CB8AC3E}">
        <p14:creationId xmlns:p14="http://schemas.microsoft.com/office/powerpoint/2010/main" val="3480657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sp>
        <p:nvSpPr>
          <p:cNvPr id="3" name="Content Placeholder 2"/>
          <p:cNvSpPr>
            <a:spLocks noGrp="1"/>
          </p:cNvSpPr>
          <p:nvPr>
            <p:ph idx="1"/>
          </p:nvPr>
        </p:nvSpPr>
        <p:spPr/>
        <p:txBody>
          <a:bodyPr/>
          <a:lstStyle/>
          <a:p>
            <a:r>
              <a:rPr lang="en-US" dirty="0"/>
              <a:t>Reverse (Seller Bid) Auctions</a:t>
            </a:r>
          </a:p>
          <a:p>
            <a:pPr lvl="1">
              <a:lnSpc>
                <a:spcPct val="90000"/>
              </a:lnSpc>
            </a:pPr>
            <a:r>
              <a:rPr lang="en-US" dirty="0"/>
              <a:t>Multiple sellers submit price bids</a:t>
            </a:r>
          </a:p>
          <a:p>
            <a:pPr lvl="2">
              <a:lnSpc>
                <a:spcPct val="90000"/>
              </a:lnSpc>
            </a:pPr>
            <a:r>
              <a:rPr lang="en-US" dirty="0"/>
              <a:t>Auctioneer represents single buyer</a:t>
            </a:r>
          </a:p>
          <a:p>
            <a:pPr lvl="1">
              <a:lnSpc>
                <a:spcPct val="90000"/>
              </a:lnSpc>
            </a:pPr>
            <a:r>
              <a:rPr lang="en-US" dirty="0"/>
              <a:t>Bids for given amount of specific item to purchase</a:t>
            </a:r>
          </a:p>
          <a:p>
            <a:pPr lvl="1">
              <a:lnSpc>
                <a:spcPct val="90000"/>
              </a:lnSpc>
            </a:pPr>
            <a:r>
              <a:rPr lang="en-US" dirty="0"/>
              <a:t>Prices go down as bidding continues</a:t>
            </a:r>
          </a:p>
          <a:p>
            <a:pPr lvl="2">
              <a:lnSpc>
                <a:spcPct val="90000"/>
              </a:lnSpc>
            </a:pPr>
            <a:r>
              <a:rPr lang="en-US" dirty="0"/>
              <a:t>Until no seller is willing to bid lower</a:t>
            </a:r>
          </a:p>
          <a:p>
            <a:pPr lvl="1">
              <a:lnSpc>
                <a:spcPct val="90000"/>
              </a:lnSpc>
            </a:pPr>
            <a:r>
              <a:rPr lang="en-US" dirty="0"/>
              <a:t>Used by consumers</a:t>
            </a:r>
          </a:p>
          <a:p>
            <a:pPr lvl="1">
              <a:lnSpc>
                <a:spcPct val="90000"/>
              </a:lnSpc>
            </a:pPr>
            <a:r>
              <a:rPr lang="en-US" dirty="0"/>
              <a:t>Largest dollar volume</a:t>
            </a:r>
          </a:p>
          <a:p>
            <a:pPr lvl="2">
              <a:lnSpc>
                <a:spcPct val="90000"/>
              </a:lnSpc>
            </a:pPr>
            <a:r>
              <a:rPr lang="en-US" dirty="0"/>
              <a:t>Businesses: both buyers and sellers</a:t>
            </a:r>
          </a:p>
          <a:p>
            <a:pPr lvl="3">
              <a:lnSpc>
                <a:spcPct val="90000"/>
              </a:lnSpc>
            </a:pPr>
            <a:r>
              <a:rPr lang="en-US" dirty="0"/>
              <a:t>Buyer acts as auctioneer</a:t>
            </a:r>
          </a:p>
          <a:p>
            <a:pPr lvl="3">
              <a:lnSpc>
                <a:spcPct val="90000"/>
              </a:lnSpc>
            </a:pPr>
            <a:r>
              <a:rPr lang="en-US" dirty="0"/>
              <a:t>Screens sellers before participation</a:t>
            </a:r>
          </a:p>
          <a:p>
            <a:endParaRPr lang="en-US" dirty="0"/>
          </a:p>
        </p:txBody>
      </p:sp>
    </p:spTree>
    <p:extLst>
      <p:ext uri="{BB962C8B-B14F-4D97-AF65-F5344CB8AC3E}">
        <p14:creationId xmlns:p14="http://schemas.microsoft.com/office/powerpoint/2010/main" val="1623352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Auctions</a:t>
            </a:r>
          </a:p>
        </p:txBody>
      </p:sp>
      <p:pic>
        <p:nvPicPr>
          <p:cNvPr id="4" name="Picture 5" descr="Fig06-01"/>
          <p:cNvPicPr>
            <a:picLocks noGrp="1" noChangeAspect="1" noChangeArrowheads="1"/>
          </p:cNvPicPr>
          <p:nvPr>
            <p:ph idx="1"/>
          </p:nvPr>
        </p:nvPicPr>
        <p:blipFill>
          <a:blip r:embed="rId3" cstate="print"/>
          <a:stretch>
            <a:fillRect/>
          </a:stretch>
        </p:blipFill>
        <p:spPr>
          <a:xfrm>
            <a:off x="3124200" y="1193934"/>
            <a:ext cx="5446761" cy="5526542"/>
          </a:xfrm>
          <a:noFill/>
        </p:spPr>
      </p:pic>
    </p:spTree>
    <p:extLst>
      <p:ext uri="{BB962C8B-B14F-4D97-AF65-F5344CB8AC3E}">
        <p14:creationId xmlns:p14="http://schemas.microsoft.com/office/powerpoint/2010/main" val="597399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Revenue models</a:t>
            </a:r>
          </a:p>
        </p:txBody>
      </p:sp>
      <p:sp>
        <p:nvSpPr>
          <p:cNvPr id="3" name="Content Placeholder 2"/>
          <p:cNvSpPr>
            <a:spLocks noGrp="1"/>
          </p:cNvSpPr>
          <p:nvPr>
            <p:ph idx="1"/>
          </p:nvPr>
        </p:nvSpPr>
        <p:spPr/>
        <p:txBody>
          <a:bodyPr/>
          <a:lstStyle/>
          <a:p>
            <a:r>
              <a:rPr lang="en-US" dirty="0"/>
              <a:t>Revenue model: how businesses generate revenue?</a:t>
            </a:r>
          </a:p>
          <a:p>
            <a:pPr lvl="1"/>
            <a:r>
              <a:rPr lang="en-US" dirty="0"/>
              <a:t>Web catalog</a:t>
            </a:r>
          </a:p>
          <a:p>
            <a:pPr lvl="1"/>
            <a:r>
              <a:rPr lang="en-US" dirty="0"/>
              <a:t>Digital content</a:t>
            </a:r>
          </a:p>
          <a:p>
            <a:pPr lvl="1"/>
            <a:r>
              <a:rPr lang="en-US" dirty="0"/>
              <a:t>Advertising-supported</a:t>
            </a:r>
          </a:p>
          <a:p>
            <a:pPr lvl="1"/>
            <a:r>
              <a:rPr lang="en-US" dirty="0"/>
              <a:t>Advertising-subscription mixed</a:t>
            </a:r>
          </a:p>
          <a:p>
            <a:pPr lvl="1"/>
            <a:r>
              <a:rPr lang="en-US" dirty="0"/>
              <a:t>Fee-for-transaction</a:t>
            </a:r>
          </a:p>
          <a:p>
            <a:pPr lvl="1"/>
            <a:r>
              <a:rPr lang="en-US" dirty="0"/>
              <a:t>Fee-for-service</a:t>
            </a:r>
          </a:p>
          <a:p>
            <a:r>
              <a:rPr lang="en-US" dirty="0"/>
              <a:t>These models are not exclusive and can combine together</a:t>
            </a:r>
          </a:p>
          <a:p>
            <a:r>
              <a:rPr lang="en-US" dirty="0"/>
              <a:t>Work for both B2B and B2C categories</a:t>
            </a:r>
          </a:p>
        </p:txBody>
      </p:sp>
    </p:spTree>
    <p:extLst>
      <p:ext uri="{BB962C8B-B14F-4D97-AF65-F5344CB8AC3E}">
        <p14:creationId xmlns:p14="http://schemas.microsoft.com/office/powerpoint/2010/main" val="970995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Revenue models</a:t>
            </a:r>
          </a:p>
        </p:txBody>
      </p:sp>
      <p:sp>
        <p:nvSpPr>
          <p:cNvPr id="3" name="Content Placeholder 2"/>
          <p:cNvSpPr>
            <a:spLocks noGrp="1"/>
          </p:cNvSpPr>
          <p:nvPr>
            <p:ph idx="1"/>
          </p:nvPr>
        </p:nvSpPr>
        <p:spPr/>
        <p:txBody>
          <a:bodyPr/>
          <a:lstStyle/>
          <a:p>
            <a:r>
              <a:rPr lang="en-US" dirty="0"/>
              <a:t>Web catalog</a:t>
            </a:r>
          </a:p>
          <a:p>
            <a:pPr lvl="1"/>
            <a:r>
              <a:rPr lang="en-US" dirty="0"/>
              <a:t>Adapted from traditional catalog-based model</a:t>
            </a:r>
          </a:p>
          <a:p>
            <a:pPr lvl="2"/>
            <a:r>
              <a:rPr lang="en-US" dirty="0"/>
              <a:t>Seller established brand image</a:t>
            </a:r>
          </a:p>
          <a:p>
            <a:pPr lvl="2"/>
            <a:r>
              <a:rPr lang="en-US" dirty="0"/>
              <a:t>Sold through printed information mailed to prospective buyers</a:t>
            </a:r>
          </a:p>
          <a:p>
            <a:pPr lvl="1"/>
            <a:r>
              <a:rPr lang="en-US" dirty="0"/>
              <a:t>Web sites expand traditional model</a:t>
            </a:r>
          </a:p>
          <a:p>
            <a:pPr lvl="2"/>
            <a:r>
              <a:rPr lang="en-US" dirty="0"/>
              <a:t>Replace or supplement print catalogs</a:t>
            </a:r>
          </a:p>
          <a:p>
            <a:pPr lvl="2"/>
            <a:r>
              <a:rPr lang="en-US" dirty="0"/>
              <a:t>Offer flexibility</a:t>
            </a:r>
          </a:p>
          <a:p>
            <a:pPr lvl="3"/>
            <a:r>
              <a:rPr lang="en-US" dirty="0"/>
              <a:t>Order through Web site or telephone</a:t>
            </a:r>
          </a:p>
          <a:p>
            <a:pPr lvl="3"/>
            <a:r>
              <a:rPr lang="en-US" dirty="0"/>
              <a:t>Payment though Web site, telephone, or mail</a:t>
            </a:r>
          </a:p>
          <a:p>
            <a:pPr lvl="1"/>
            <a:r>
              <a:rPr lang="en-US" dirty="0"/>
              <a:t>Creates additional sales outlet</a:t>
            </a:r>
          </a:p>
          <a:p>
            <a:pPr lvl="1"/>
            <a:r>
              <a:rPr lang="en-US" dirty="0"/>
              <a:t>Suitable for: computers and consumer electronics, books, music, videos, luxury goods, clothing retailers, etc.</a:t>
            </a:r>
          </a:p>
        </p:txBody>
      </p:sp>
    </p:spTree>
    <p:extLst>
      <p:ext uri="{BB962C8B-B14F-4D97-AF65-F5344CB8AC3E}">
        <p14:creationId xmlns:p14="http://schemas.microsoft.com/office/powerpoint/2010/main" val="2890459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Revenue models</a:t>
            </a:r>
          </a:p>
        </p:txBody>
      </p:sp>
      <p:sp>
        <p:nvSpPr>
          <p:cNvPr id="3" name="Content Placeholder 2"/>
          <p:cNvSpPr>
            <a:spLocks noGrp="1"/>
          </p:cNvSpPr>
          <p:nvPr>
            <p:ph idx="1"/>
          </p:nvPr>
        </p:nvSpPr>
        <p:spPr/>
        <p:txBody>
          <a:bodyPr/>
          <a:lstStyle/>
          <a:p>
            <a:r>
              <a:rPr lang="en-US" dirty="0"/>
              <a:t>Digital content</a:t>
            </a:r>
          </a:p>
          <a:p>
            <a:pPr lvl="1"/>
            <a:r>
              <a:rPr lang="en-US" dirty="0"/>
              <a:t>Sell subscriptions for access to the information</a:t>
            </a:r>
          </a:p>
          <a:p>
            <a:pPr lvl="1"/>
            <a:r>
              <a:rPr lang="en-US" dirty="0"/>
              <a:t>Most of these digital content providers specialize in legal, academic research, business, or technical material</a:t>
            </a:r>
          </a:p>
          <a:p>
            <a:r>
              <a:rPr lang="en-US" dirty="0"/>
              <a:t>Advertising-Supported</a:t>
            </a:r>
          </a:p>
          <a:p>
            <a:pPr lvl="1"/>
            <a:r>
              <a:rPr lang="en-US" dirty="0"/>
              <a:t>Free content with advertising messages</a:t>
            </a:r>
          </a:p>
          <a:p>
            <a:pPr lvl="1"/>
            <a:r>
              <a:rPr lang="en-US" dirty="0"/>
              <a:t>Stickiness</a:t>
            </a:r>
          </a:p>
          <a:p>
            <a:pPr lvl="2"/>
            <a:r>
              <a:rPr lang="en-US" dirty="0"/>
              <a:t>Keeping visitors at site and attracting repeat visitors</a:t>
            </a:r>
          </a:p>
          <a:p>
            <a:pPr lvl="2"/>
            <a:r>
              <a:rPr lang="en-US" dirty="0"/>
              <a:t>Exposed to more advertising in sticky site</a:t>
            </a:r>
          </a:p>
          <a:p>
            <a:pPr lvl="1"/>
            <a:r>
              <a:rPr lang="en-US" dirty="0"/>
              <a:t>Large visitors vs. targeted visitors (demographic information)</a:t>
            </a:r>
          </a:p>
          <a:p>
            <a:pPr lvl="1"/>
            <a:r>
              <a:rPr lang="en-US" dirty="0"/>
              <a:t>Web portal: Yahoo!</a:t>
            </a:r>
          </a:p>
        </p:txBody>
      </p:sp>
    </p:spTree>
    <p:extLst>
      <p:ext uri="{BB962C8B-B14F-4D97-AF65-F5344CB8AC3E}">
        <p14:creationId xmlns:p14="http://schemas.microsoft.com/office/powerpoint/2010/main" val="1992521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Revenue models</a:t>
            </a:r>
          </a:p>
        </p:txBody>
      </p:sp>
      <p:sp>
        <p:nvSpPr>
          <p:cNvPr id="3" name="Content Placeholder 2"/>
          <p:cNvSpPr>
            <a:spLocks noGrp="1"/>
          </p:cNvSpPr>
          <p:nvPr>
            <p:ph idx="1"/>
          </p:nvPr>
        </p:nvSpPr>
        <p:spPr/>
        <p:txBody>
          <a:bodyPr/>
          <a:lstStyle/>
          <a:p>
            <a:r>
              <a:rPr lang="en-US" dirty="0"/>
              <a:t>Advertising-subscription mixed</a:t>
            </a:r>
          </a:p>
          <a:p>
            <a:pPr lvl="1"/>
            <a:r>
              <a:rPr lang="en-US" dirty="0"/>
              <a:t>Used for many years by traditional print newspapers and magazines: subscribers pay a fee, but also accept some level of advertising</a:t>
            </a:r>
          </a:p>
          <a:p>
            <a:pPr lvl="1"/>
            <a:r>
              <a:rPr lang="en-US" dirty="0"/>
              <a:t>Subscribers: typically less advertising</a:t>
            </a:r>
          </a:p>
          <a:p>
            <a:pPr lvl="1"/>
            <a:r>
              <a:rPr lang="en-US" dirty="0"/>
              <a:t>Suitable for: newspapers and magazines sites</a:t>
            </a:r>
          </a:p>
          <a:p>
            <a:pPr lvl="1"/>
            <a:r>
              <a:rPr lang="en-US" dirty="0"/>
              <a:t>Variations: different levels of accesses</a:t>
            </a:r>
          </a:p>
          <a:p>
            <a:r>
              <a:rPr lang="en-US" dirty="0"/>
              <a:t>Fee-for-transaction</a:t>
            </a:r>
          </a:p>
          <a:p>
            <a:pPr lvl="1"/>
            <a:r>
              <a:rPr lang="en-US" dirty="0"/>
              <a:t>Service fee based on transaction number or size</a:t>
            </a:r>
          </a:p>
          <a:p>
            <a:pPr lvl="1"/>
            <a:r>
              <a:rPr lang="en-US" dirty="0"/>
              <a:t>Removal of an intermediary: disintermediation</a:t>
            </a:r>
          </a:p>
          <a:p>
            <a:pPr lvl="1"/>
            <a:r>
              <a:rPr lang="en-US" dirty="0"/>
              <a:t>New intermediary: </a:t>
            </a:r>
            <a:r>
              <a:rPr lang="en-US" dirty="0" err="1"/>
              <a:t>reintermediation</a:t>
            </a:r>
            <a:endParaRPr lang="en-US" dirty="0"/>
          </a:p>
          <a:p>
            <a:pPr lvl="1"/>
            <a:r>
              <a:rPr lang="en-US" dirty="0"/>
              <a:t>Used in: travel, automobile sales, event tickets, online banking, music, video, books, etc.</a:t>
            </a:r>
          </a:p>
        </p:txBody>
      </p:sp>
    </p:spTree>
    <p:extLst>
      <p:ext uri="{BB962C8B-B14F-4D97-AF65-F5344CB8AC3E}">
        <p14:creationId xmlns:p14="http://schemas.microsoft.com/office/powerpoint/2010/main" val="3986312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Revenue models</a:t>
            </a:r>
          </a:p>
        </p:txBody>
      </p:sp>
      <p:sp>
        <p:nvSpPr>
          <p:cNvPr id="3" name="Content Placeholder 2"/>
          <p:cNvSpPr>
            <a:spLocks noGrp="1"/>
          </p:cNvSpPr>
          <p:nvPr>
            <p:ph idx="1"/>
          </p:nvPr>
        </p:nvSpPr>
        <p:spPr/>
        <p:txBody>
          <a:bodyPr/>
          <a:lstStyle/>
          <a:p>
            <a:r>
              <a:rPr lang="en-US" dirty="0"/>
              <a:t>Fee-for-service</a:t>
            </a:r>
          </a:p>
          <a:p>
            <a:pPr lvl="1"/>
            <a:r>
              <a:rPr lang="en-US" dirty="0"/>
              <a:t>Fee based on service value</a:t>
            </a:r>
          </a:p>
          <a:p>
            <a:pPr lvl="1"/>
            <a:r>
              <a:rPr lang="en-US" dirty="0"/>
              <a:t>Used in: online games, professional services</a:t>
            </a:r>
          </a:p>
          <a:p>
            <a:r>
              <a:rPr lang="en-US" dirty="0"/>
              <a:t>Revenue Strategy Issues</a:t>
            </a:r>
          </a:p>
          <a:p>
            <a:pPr lvl="1"/>
            <a:r>
              <a:rPr lang="en-US" dirty="0"/>
              <a:t>Channel conflict and cannibalization</a:t>
            </a:r>
          </a:p>
          <a:p>
            <a:pPr lvl="2"/>
            <a:r>
              <a:rPr lang="en-US" dirty="0"/>
              <a:t>Company Web site sales activities interfere with existing sales outlets</a:t>
            </a:r>
          </a:p>
          <a:p>
            <a:pPr lvl="1"/>
            <a:r>
              <a:rPr lang="en-US" dirty="0"/>
              <a:t>Strategic alliances</a:t>
            </a:r>
          </a:p>
          <a:p>
            <a:pPr lvl="2">
              <a:lnSpc>
                <a:spcPct val="90000"/>
              </a:lnSpc>
            </a:pPr>
            <a:r>
              <a:rPr lang="en-US" dirty="0"/>
              <a:t>Two or more companies join forces undertake activity over long time period</a:t>
            </a:r>
          </a:p>
        </p:txBody>
      </p:sp>
    </p:spTree>
    <p:extLst>
      <p:ext uri="{BB962C8B-B14F-4D97-AF65-F5344CB8AC3E}">
        <p14:creationId xmlns:p14="http://schemas.microsoft.com/office/powerpoint/2010/main" val="3205203560"/>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Win32_MW_JS_SL_v2.potx" id="{230A82CA-9023-4220-9E5B-0E652CF31B20}" vid="{96196EC2-C392-482E-BF29-9BD12A6266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Geometric annual presentation</Template>
  <TotalTime>1453</TotalTime>
  <Words>4996</Words>
  <Application>Microsoft Office PowerPoint</Application>
  <PresentationFormat>Widescreen</PresentationFormat>
  <Paragraphs>513</Paragraphs>
  <Slides>39</Slides>
  <Notes>39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39</vt:i4>
      </vt:variant>
    </vt:vector>
  </HeadingPairs>
  <TitlesOfParts>
    <vt:vector size="51" baseType="lpstr">
      <vt:lpstr>-apple-system</vt:lpstr>
      <vt:lpstr>Arial</vt:lpstr>
      <vt:lpstr>Calibri</vt:lpstr>
      <vt:lpstr>Franklin Gothic Book</vt:lpstr>
      <vt:lpstr>Franklin Gothic Demi</vt:lpstr>
      <vt:lpstr>Georgia</vt:lpstr>
      <vt:lpstr>Roboto</vt:lpstr>
      <vt:lpstr>Roboto-Bold</vt:lpstr>
      <vt:lpstr>Roboto-Regular</vt:lpstr>
      <vt:lpstr>SegoeuiPc</vt:lpstr>
      <vt:lpstr>Wingdings</vt:lpstr>
      <vt:lpstr>Theme1</vt:lpstr>
      <vt:lpstr>Chapter 3:  Pricing &amp;  Revenue models</vt:lpstr>
      <vt:lpstr>Outline</vt:lpstr>
      <vt:lpstr>Price and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Factors affecting pricing</vt:lpstr>
      <vt:lpstr>Determining price</vt:lpstr>
      <vt:lpstr>Determining price</vt:lpstr>
      <vt:lpstr>Determining price</vt:lpstr>
      <vt:lpstr>Determining price</vt:lpstr>
      <vt:lpstr>Dynamic pricing</vt:lpstr>
      <vt:lpstr>Dynamic pricing</vt:lpstr>
      <vt:lpstr>Dynamic pricing</vt:lpstr>
      <vt:lpstr>Auctions</vt:lpstr>
      <vt:lpstr>Auctions</vt:lpstr>
      <vt:lpstr>Auctions</vt:lpstr>
      <vt:lpstr>Auctions</vt:lpstr>
      <vt:lpstr>Auctions</vt:lpstr>
      <vt:lpstr>Auctions</vt:lpstr>
      <vt:lpstr>Auctions</vt:lpstr>
      <vt:lpstr>Auctions</vt:lpstr>
      <vt:lpstr>Auctions</vt:lpstr>
      <vt:lpstr>Auctions</vt:lpstr>
      <vt:lpstr>Revenue models</vt:lpstr>
      <vt:lpstr>Revenue models</vt:lpstr>
      <vt:lpstr>Revenue models</vt:lpstr>
      <vt:lpstr>Revenue models</vt:lpstr>
      <vt:lpstr>Revenue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Pricing &amp; Revenue models</dc:title>
  <dc:creator>Quynh Chi Truong</dc:creator>
  <cp:lastModifiedBy>Quynh Chi Truong</cp:lastModifiedBy>
  <cp:revision>12</cp:revision>
  <dcterms:created xsi:type="dcterms:W3CDTF">2023-02-09T09:07:28Z</dcterms:created>
  <dcterms:modified xsi:type="dcterms:W3CDTF">2023-02-17T01:15:00Z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