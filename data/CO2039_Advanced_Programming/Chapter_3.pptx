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3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73" r:id="rId10"/>
    <p:sldId id="274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 type="screen16x9"/>
  <p:notesSz cx="6781800" cy="9918700"/>
  <p:embeddedFontLst>
    <p:embeddedFont>
      <p:font typeface="Anaheim" panose="020B0604020202020204" charset="0"/>
      <p:regular r:id="rId22"/>
      <p:bold r:id="rId23"/>
    </p:embeddedFont>
    <p:embeddedFont>
      <p:font typeface="Corbel" panose="020B0503020204020204" pitchFamily="34" charset="0"/>
      <p:regular r:id="rId24"/>
      <p:bold r:id="rId25"/>
      <p:italic r:id="rId26"/>
      <p:boldItalic r:id="rId27"/>
    </p:embeddedFont>
    <p:embeddedFont>
      <p:font typeface="Hanken Grotesk" pitchFamily="2" charset="0"/>
      <p:regular r:id="rId28"/>
      <p:bold r:id="rId29"/>
      <p:italic r:id="rId30"/>
      <p:boldItalic r:id="rId31"/>
    </p:embeddedFont>
    <p:embeddedFont>
      <p:font typeface="Nunito Light" pitchFamily="2" charset="0"/>
      <p:regular r:id="rId32"/>
      <p:italic r:id="rId33"/>
    </p:embeddedFont>
    <p:embeddedFont>
      <p:font typeface="Raleway Black" pitchFamily="2" charset="0"/>
      <p:bold r:id="rId34"/>
      <p:italic r:id="rId35"/>
      <p:boldItalic r:id="rId36"/>
    </p:embeddedFont>
    <p:embeddedFont>
      <p:font typeface="Raleway ExtraBold" pitchFamily="2" charset="0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  <p:embeddedFont>
      <p:font typeface="Tahoma" panose="020B0604030504040204" pitchFamily="34" charset="0"/>
      <p:regular r:id="rId44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80CA4A-79A9-4178-97B5-11A23160B3E0}">
  <a:tblStyle styleId="{FE80CA4A-79A9-4178-97B5-11A23160B3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9" autoAdjust="0"/>
    <p:restoredTop sz="94690"/>
  </p:normalViewPr>
  <p:slideViewPr>
    <p:cSldViewPr snapToGrid="0">
      <p:cViewPr varScale="1">
        <p:scale>
          <a:sx n="62" d="100"/>
          <a:sy n="62" d="100"/>
        </p:scale>
        <p:origin x="778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font" Target="fonts/font2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font" Target="fonts/font2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4" name="Google Shape;1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9" name="Google Shape;2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2e7afe791e_0_11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2e7afe791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e7afe791e_0_19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2e7afe791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885e2a979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9" name="Google Shape;239;g32885e2a979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2885e2a979_1_14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2885e2a97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29650096db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29650096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29650096db_0_25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329650096d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2885e2a979_1_22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2885e2a979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9650096db_0_13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29650096d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2885e2a979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8" name="Google Shape;288;g32885e2a979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2885e2a979_1_7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2885e2a979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:notes"/>
          <p:cNvSpPr txBox="1">
            <a:spLocks noGrp="1"/>
          </p:cNvSpPr>
          <p:nvPr>
            <p:ph type="sldNum" idx="12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39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9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3448" y="166398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4564" y="275911"/>
            <a:ext cx="1430753" cy="5078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0" y="1815704"/>
            <a:ext cx="1042988" cy="77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1_One column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 idx="3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 idx="4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 idx="5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6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 idx="7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6" name="Google Shape;56;p7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 sz="9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9435" y="100723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3406" y="1"/>
            <a:ext cx="1736028" cy="851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9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FFC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3608615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2"/>
          </p:nvPr>
        </p:nvSpPr>
        <p:spPr>
          <a:xfrm>
            <a:off x="4913268" y="1369218"/>
            <a:ext cx="3602083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6" name="Google Shape;96;p13"/>
          <p:cNvCxnSpPr/>
          <p:nvPr/>
        </p:nvCxnSpPr>
        <p:spPr>
          <a:xfrm>
            <a:off x="4585059" y="1369218"/>
            <a:ext cx="0" cy="3166859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629842" y="408216"/>
            <a:ext cx="3607424" cy="587828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2"/>
          </p:nvPr>
        </p:nvSpPr>
        <p:spPr>
          <a:xfrm>
            <a:off x="629842" y="1216478"/>
            <a:ext cx="3607424" cy="342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3"/>
          </p:nvPr>
        </p:nvSpPr>
        <p:spPr>
          <a:xfrm>
            <a:off x="4950823" y="408214"/>
            <a:ext cx="3598376" cy="587829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4"/>
          </p:nvPr>
        </p:nvSpPr>
        <p:spPr>
          <a:xfrm>
            <a:off x="4918165" y="1216478"/>
            <a:ext cx="3598376" cy="342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5" name="Google Shape;105;p14"/>
          <p:cNvCxnSpPr/>
          <p:nvPr/>
        </p:nvCxnSpPr>
        <p:spPr>
          <a:xfrm>
            <a:off x="4585059" y="408216"/>
            <a:ext cx="0" cy="4127863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3887391" y="0"/>
            <a:ext cx="525660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 sz="1800"/>
            </a:lvl1pPr>
            <a:lvl2pPr marL="914400" lvl="1" indent="-37861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363"/>
              <a:buChar char="•"/>
              <a:defRPr sz="1575"/>
            </a:lvl2pPr>
            <a:lvl3pPr marL="1371600" lvl="2" indent="-35718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025"/>
              <a:buChar char="•"/>
              <a:defRPr sz="1350"/>
            </a:lvl3pPr>
            <a:lvl4pPr marL="1828800" lvl="3" indent="-335756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4pPr>
            <a:lvl5pPr marL="2286000" lvl="4" indent="-335756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5pPr>
            <a:lvl6pPr marL="2743200" lvl="5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marL="3200400" lvl="6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marL="3657600" lvl="7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marL="4114800" lvl="8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cxnSp>
        <p:nvCxnSpPr>
          <p:cNvPr id="124" name="Google Shape;124;p18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>
            <a:spLocks noGrp="1"/>
          </p:cNvSpPr>
          <p:nvPr>
            <p:ph type="pic" idx="2"/>
          </p:nvPr>
        </p:nvSpPr>
        <p:spPr>
          <a:xfrm>
            <a:off x="3921920" y="0"/>
            <a:ext cx="5222081" cy="5143500"/>
          </a:xfrm>
          <a:prstGeom prst="rect">
            <a:avLst/>
          </a:prstGeom>
          <a:solidFill>
            <a:srgbClr val="1F3864"/>
          </a:solidFill>
          <a:ln w="952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9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72076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 rot="5400000">
            <a:off x="5350074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 rot="5400000">
            <a:off x="1349574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>
            <a:spLocks noGrp="1"/>
          </p:cNvSpPr>
          <p:nvPr>
            <p:ph type="pic" idx="2"/>
          </p:nvPr>
        </p:nvSpPr>
        <p:spPr>
          <a:xfrm>
            <a:off x="1204230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1381551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>
            <a:spLocks noGrp="1"/>
          </p:cNvSpPr>
          <p:nvPr>
            <p:ph type="pic" idx="3"/>
          </p:nvPr>
        </p:nvSpPr>
        <p:spPr>
          <a:xfrm>
            <a:off x="3650034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22"/>
          <p:cNvSpPr txBox="1">
            <a:spLocks noGrp="1"/>
          </p:cNvSpPr>
          <p:nvPr>
            <p:ph type="body" idx="4"/>
          </p:nvPr>
        </p:nvSpPr>
        <p:spPr>
          <a:xfrm>
            <a:off x="3785705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6054191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2"/>
          <p:cNvSpPr txBox="1">
            <a:spLocks noGrp="1"/>
          </p:cNvSpPr>
          <p:nvPr>
            <p:ph type="body" idx="6"/>
          </p:nvPr>
        </p:nvSpPr>
        <p:spPr>
          <a:xfrm>
            <a:off x="6189863" y="3650226"/>
            <a:ext cx="1786951" cy="835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3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sz="1800" b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2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i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3"/>
          <p:cNvSpPr>
            <a:spLocks noGrp="1"/>
          </p:cNvSpPr>
          <p:nvPr>
            <p:ph type="chart" idx="3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body" idx="4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4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sz="1800" b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2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i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>
            <a:spLocks noGrp="1"/>
          </p:cNvSpPr>
          <p:nvPr>
            <p:ph type="chart" idx="3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body" idx="4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>
            <a:spLocks noGrp="1"/>
          </p:cNvSpPr>
          <p:nvPr>
            <p:ph type="pic" idx="2"/>
          </p:nvPr>
        </p:nvSpPr>
        <p:spPr>
          <a:xfrm flipH="1">
            <a:off x="569046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0" name="Google Shape;170;p25"/>
          <p:cNvSpPr>
            <a:spLocks noGrp="1"/>
          </p:cNvSpPr>
          <p:nvPr>
            <p:ph type="pic" idx="3"/>
          </p:nvPr>
        </p:nvSpPr>
        <p:spPr>
          <a:xfrm flipH="1">
            <a:off x="2673352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1" name="Google Shape;171;p25"/>
          <p:cNvSpPr>
            <a:spLocks noGrp="1"/>
          </p:cNvSpPr>
          <p:nvPr>
            <p:ph type="pic" idx="4"/>
          </p:nvPr>
        </p:nvSpPr>
        <p:spPr>
          <a:xfrm flipH="1">
            <a:off x="4802151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2" name="Google Shape;172;p25"/>
          <p:cNvSpPr>
            <a:spLocks noGrp="1"/>
          </p:cNvSpPr>
          <p:nvPr>
            <p:ph type="pic" idx="5"/>
          </p:nvPr>
        </p:nvSpPr>
        <p:spPr>
          <a:xfrm flipH="1">
            <a:off x="6828076" y="872835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3" name="Google Shape;173;p25"/>
          <p:cNvSpPr txBox="1">
            <a:spLocks noGrp="1"/>
          </p:cNvSpPr>
          <p:nvPr>
            <p:ph type="body" idx="1"/>
          </p:nvPr>
        </p:nvSpPr>
        <p:spPr>
          <a:xfrm>
            <a:off x="56904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body" idx="6"/>
          </p:nvPr>
        </p:nvSpPr>
        <p:spPr>
          <a:xfrm>
            <a:off x="2723781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body" idx="7"/>
          </p:nvPr>
        </p:nvSpPr>
        <p:spPr>
          <a:xfrm>
            <a:off x="4852580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8"/>
          </p:nvPr>
        </p:nvSpPr>
        <p:spPr>
          <a:xfrm>
            <a:off x="692893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eet the team 3">
  <p:cSld name="1_Meet the team 3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8631714" y="221557"/>
            <a:ext cx="316640" cy="316642"/>
          </a:xfrm>
          <a:prstGeom prst="ellipse">
            <a:avLst/>
          </a:prstGeom>
          <a:solidFill>
            <a:srgbClr val="231D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8666038" y="258393"/>
            <a:ext cx="225709" cy="17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88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7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75"/>
              <a:buFont typeface="Calibri"/>
              <a:buNone/>
              <a:defRPr sz="2475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8618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718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575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08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08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991" y="0"/>
            <a:ext cx="9142021" cy="51435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rgbClr val="FFFFFF">
                  <a:alpha val="14901"/>
                </a:srgbClr>
              </a:gs>
              <a:gs pos="84000">
                <a:srgbClr val="E7E6E6">
                  <a:alpha val="29803"/>
                </a:srgbClr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>
            <a:spLocks noGrp="1"/>
          </p:cNvSpPr>
          <p:nvPr>
            <p:ph type="ctrTitle"/>
          </p:nvPr>
        </p:nvSpPr>
        <p:spPr>
          <a:xfrm>
            <a:off x="1400700" y="2795125"/>
            <a:ext cx="6342600" cy="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 sz="2400" b="0"/>
              <a:t>Chapter 3: Object Oriented Programming Revision - </a:t>
            </a:r>
            <a:r>
              <a:rPr lang="en-US" sz="2400"/>
              <a:t>Polymorphism</a:t>
            </a:r>
            <a:endParaRPr sz="2400">
              <a:solidFill>
                <a:srgbClr val="2E75B5"/>
              </a:solidFill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2252676" y="4804219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TP.HCM</a:t>
            </a:r>
            <a:r>
              <a:rPr lang="en-US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lang="en-US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ctrTitle"/>
          </p:nvPr>
        </p:nvSpPr>
        <p:spPr>
          <a:xfrm>
            <a:off x="3244200" y="1066425"/>
            <a:ext cx="4499100" cy="12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/>
              <a:t>Advanced Programming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 sz="2400" b="0"/>
              <a:t>CO2039</a:t>
            </a:r>
            <a:endParaRPr sz="2400"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1908549" y="520050"/>
            <a:ext cx="167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CONTENT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>
            <a:spLocks noGrp="1"/>
          </p:cNvSpPr>
          <p:nvPr>
            <p:ph type="title" idx="2"/>
          </p:nvPr>
        </p:nvSpPr>
        <p:spPr>
          <a:xfrm>
            <a:off x="1711310" y="165745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>
            <a:spLocks noGrp="1"/>
          </p:cNvSpPr>
          <p:nvPr>
            <p:ph type="title" idx="4"/>
          </p:nvPr>
        </p:nvSpPr>
        <p:spPr>
          <a:xfrm>
            <a:off x="1711310" y="2324848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>
            <a:spLocks noGrp="1"/>
          </p:cNvSpPr>
          <p:nvPr>
            <p:ph type="title" idx="6"/>
          </p:nvPr>
        </p:nvSpPr>
        <p:spPr>
          <a:xfrm>
            <a:off x="1711310" y="299224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>
            <a:spLocks noGrp="1"/>
          </p:cNvSpPr>
          <p:nvPr>
            <p:ph type="subTitle" idx="1"/>
          </p:nvPr>
        </p:nvSpPr>
        <p:spPr>
          <a:xfrm>
            <a:off x="2544907" y="1659263"/>
            <a:ext cx="54243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INTRODUCTION TO POLYMORPHISM</a:t>
            </a:r>
            <a:endParaRPr sz="24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>
            <a:spLocks noGrp="1"/>
          </p:cNvSpPr>
          <p:nvPr>
            <p:ph type="subTitle" idx="8"/>
          </p:nvPr>
        </p:nvSpPr>
        <p:spPr>
          <a:xfrm>
            <a:off x="2544897" y="2326625"/>
            <a:ext cx="54243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KEY CONCEPTS OF POLYMORPHISM</a:t>
            </a:r>
            <a:endParaRPr sz="2400"/>
          </a:p>
        </p:txBody>
      </p:sp>
      <p:sp>
        <p:nvSpPr>
          <p:cNvPr id="199" name="Google Shape;199;p28"/>
          <p:cNvSpPr txBox="1">
            <a:spLocks noGrp="1"/>
          </p:cNvSpPr>
          <p:nvPr>
            <p:ph type="subTitle" idx="9"/>
          </p:nvPr>
        </p:nvSpPr>
        <p:spPr>
          <a:xfrm>
            <a:off x="2544908" y="2994033"/>
            <a:ext cx="4071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400"/>
          </a:p>
        </p:txBody>
      </p:sp>
      <p:grpSp>
        <p:nvGrpSpPr>
          <p:cNvPr id="200" name="Google Shape;200;p28"/>
          <p:cNvGrpSpPr/>
          <p:nvPr/>
        </p:nvGrpSpPr>
        <p:grpSpPr>
          <a:xfrm>
            <a:off x="8024595" y="1680150"/>
            <a:ext cx="1193310" cy="3463350"/>
            <a:chOff x="472500" y="1762000"/>
            <a:chExt cx="1193310" cy="3463350"/>
          </a:xfrm>
        </p:grpSpPr>
        <p:grpSp>
          <p:nvGrpSpPr>
            <p:cNvPr id="201" name="Google Shape;201;p28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202" name="Google Shape;202;p2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2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28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28"/>
          <p:cNvSpPr/>
          <p:nvPr/>
        </p:nvSpPr>
        <p:spPr>
          <a:xfrm rot="-5400000">
            <a:off x="1695899" y="703475"/>
            <a:ext cx="228075" cy="197250"/>
          </a:xfrm>
          <a:prstGeom prst="flowChartMerge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INTRODUCTION TO POLYMORPHISM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What is Polymorphism?</a:t>
            </a:r>
            <a:endParaRPr/>
          </a:p>
        </p:txBody>
      </p:sp>
      <p:sp>
        <p:nvSpPr>
          <p:cNvPr id="219" name="Google Shape;219;p3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8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0">
                <a:solidFill>
                  <a:schemeClr val="dk1"/>
                </a:solidFill>
              </a:rPr>
              <a:t>In Java, polymorphism refers to the fact that you can have multiple methods with the same name in the same class.</a:t>
            </a:r>
            <a:endParaRPr sz="2000" b="0">
              <a:solidFill>
                <a:schemeClr val="dk1"/>
              </a:solidFill>
            </a:endParaRPr>
          </a:p>
        </p:txBody>
      </p:sp>
      <p:sp>
        <p:nvSpPr>
          <p:cNvPr id="220" name="Google Shape;220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21" name="Google Shape;221;p30"/>
          <p:cNvSpPr txBox="1"/>
          <p:nvPr/>
        </p:nvSpPr>
        <p:spPr>
          <a:xfrm>
            <a:off x="720000" y="1917425"/>
            <a:ext cx="7647300" cy="19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kinds of polymorphism: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Overloading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two or more methods with different signatures.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Overriding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replacing an inherited method with another having the same signature.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Polymorphism overview</a:t>
            </a:r>
            <a:endParaRPr/>
          </a:p>
        </p:txBody>
      </p:sp>
      <p:sp>
        <p:nvSpPr>
          <p:cNvPr id="227" name="Google Shape;227;p31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0">
                <a:solidFill>
                  <a:schemeClr val="dk1"/>
                </a:solidFill>
              </a:rPr>
              <a:t>Two methods have to differ in their names or in the number or types of their parameters.</a:t>
            </a:r>
            <a:endParaRPr sz="2000" b="0">
              <a:solidFill>
                <a:schemeClr val="dk1"/>
              </a:solidFill>
            </a:endParaRPr>
          </a:p>
        </p:txBody>
      </p:sp>
      <p:sp>
        <p:nvSpPr>
          <p:cNvPr id="228" name="Google Shape;228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29" name="Google Shape;229;p31"/>
          <p:cNvSpPr txBox="1"/>
          <p:nvPr/>
        </p:nvSpPr>
        <p:spPr>
          <a:xfrm>
            <a:off x="720000" y="1990025"/>
            <a:ext cx="7704000" cy="19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foo(int i)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foo(int i, int j)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different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foo(int i)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foo(int k)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the same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foo(int i, double d)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foo(double d, int i)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different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Overloading vs. Overriding</a:t>
            </a:r>
            <a:endParaRPr/>
          </a:p>
        </p:txBody>
      </p:sp>
      <p:sp>
        <p:nvSpPr>
          <p:cNvPr id="235" name="Google Shape;235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36" name="Google Shape;23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375" y="1119188"/>
            <a:ext cx="695325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CED085-041F-4E92-C862-BE492A1C9E50}"/>
              </a:ext>
            </a:extLst>
          </p:cNvPr>
          <p:cNvSpPr txBox="1"/>
          <p:nvPr/>
        </p:nvSpPr>
        <p:spPr>
          <a:xfrm>
            <a:off x="548640" y="802035"/>
            <a:ext cx="458275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#include &lt;iostream&gt;</a:t>
            </a:r>
          </a:p>
          <a:p>
            <a:endParaRPr lang="en-VN" dirty="0"/>
          </a:p>
          <a:p>
            <a:r>
              <a:rPr lang="en-VN" dirty="0"/>
              <a:t>class A</a:t>
            </a:r>
          </a:p>
          <a:p>
            <a:r>
              <a:rPr lang="en-VN" dirty="0"/>
              <a:t>{</a:t>
            </a:r>
          </a:p>
          <a:p>
            <a:r>
              <a:rPr lang="en-VN" dirty="0"/>
              <a:t>    public:</a:t>
            </a:r>
          </a:p>
          <a:p>
            <a:r>
              <a:rPr lang="en-VN" dirty="0"/>
              <a:t>    int n;</a:t>
            </a:r>
          </a:p>
          <a:p>
            <a:r>
              <a:rPr lang="en-VN" dirty="0"/>
              <a:t>    int f() {n++; return n;}</a:t>
            </a:r>
          </a:p>
          <a:p>
            <a:r>
              <a:rPr lang="en-VN" dirty="0"/>
              <a:t>    int f2() {f(); return n;}</a:t>
            </a:r>
          </a:p>
          <a:p>
            <a:r>
              <a:rPr lang="en-VN" dirty="0"/>
              <a:t>    </a:t>
            </a:r>
          </a:p>
          <a:p>
            <a:r>
              <a:rPr lang="en-VN" dirty="0"/>
              <a:t>};</a:t>
            </a:r>
          </a:p>
          <a:p>
            <a:endParaRPr lang="en-VN" dirty="0"/>
          </a:p>
          <a:p>
            <a:r>
              <a:rPr lang="en-VN" dirty="0"/>
              <a:t>class B: public A </a:t>
            </a:r>
          </a:p>
          <a:p>
            <a:r>
              <a:rPr lang="en-VN" dirty="0"/>
              <a:t>{</a:t>
            </a:r>
          </a:p>
          <a:p>
            <a:r>
              <a:rPr lang="en-VN" dirty="0"/>
              <a:t>    public:</a:t>
            </a:r>
          </a:p>
          <a:p>
            <a:r>
              <a:rPr lang="en-VN" dirty="0"/>
              <a:t>int f(){n--; return n;}</a:t>
            </a:r>
          </a:p>
          <a:p>
            <a:r>
              <a:rPr lang="en-VN" dirty="0"/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05744-A472-03C2-7D6C-2432BBD7338E}"/>
              </a:ext>
            </a:extLst>
          </p:cNvPr>
          <p:cNvSpPr txBox="1"/>
          <p:nvPr/>
        </p:nvSpPr>
        <p:spPr>
          <a:xfrm>
            <a:off x="4012602" y="673287"/>
            <a:ext cx="45827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int main()</a:t>
            </a:r>
          </a:p>
          <a:p>
            <a:r>
              <a:rPr lang="en-VN" dirty="0"/>
              <a:t>{</a:t>
            </a:r>
          </a:p>
          <a:p>
            <a:r>
              <a:rPr lang="en-VN" dirty="0"/>
              <a:t>    A a; B b;</a:t>
            </a:r>
          </a:p>
          <a:p>
            <a:r>
              <a:rPr lang="en-VN" dirty="0"/>
              <a:t>    a.n = 1; b.n = 2;</a:t>
            </a:r>
          </a:p>
          <a:p>
            <a:r>
              <a:rPr lang="en-VN" dirty="0"/>
              <a:t>    a.f2(); b.f2();</a:t>
            </a:r>
          </a:p>
          <a:p>
            <a:r>
              <a:rPr lang="en-VN" dirty="0"/>
              <a:t>    std::cout&lt;&lt;a.n &lt;&lt;" " &lt;&lt; b.n;</a:t>
            </a:r>
          </a:p>
          <a:p>
            <a:endParaRPr lang="en-VN" dirty="0"/>
          </a:p>
          <a:p>
            <a:r>
              <a:rPr lang="en-VN" dirty="0"/>
              <a:t>    return 0;</a:t>
            </a:r>
          </a:p>
          <a:p>
            <a:r>
              <a:rPr lang="en-V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0694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98EA46D-3A0C-26FF-79F7-7C33F40E876D}"/>
              </a:ext>
            </a:extLst>
          </p:cNvPr>
          <p:cNvSpPr txBox="1"/>
          <p:nvPr/>
        </p:nvSpPr>
        <p:spPr>
          <a:xfrm>
            <a:off x="677732" y="360880"/>
            <a:ext cx="45827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class A</a:t>
            </a:r>
          </a:p>
          <a:p>
            <a:r>
              <a:rPr lang="en-VN" dirty="0"/>
              <a:t>{</a:t>
            </a:r>
          </a:p>
          <a:p>
            <a:r>
              <a:rPr lang="en-VN" dirty="0"/>
              <a:t>    public int n;</a:t>
            </a:r>
          </a:p>
          <a:p>
            <a:r>
              <a:rPr lang="en-VN" dirty="0"/>
              <a:t>    public int f() {n++; return n;}</a:t>
            </a:r>
          </a:p>
          <a:p>
            <a:r>
              <a:rPr lang="en-VN" dirty="0"/>
              <a:t>    public int f2() {f(); return n;}</a:t>
            </a:r>
          </a:p>
          <a:p>
            <a:r>
              <a:rPr lang="en-VN" dirty="0"/>
              <a:t>    </a:t>
            </a:r>
          </a:p>
          <a:p>
            <a:r>
              <a:rPr lang="en-VN" dirty="0"/>
              <a:t>};</a:t>
            </a:r>
          </a:p>
          <a:p>
            <a:endParaRPr lang="en-VN" dirty="0"/>
          </a:p>
          <a:p>
            <a:r>
              <a:rPr lang="en-VN" dirty="0"/>
              <a:t>class B extends A </a:t>
            </a:r>
          </a:p>
          <a:p>
            <a:r>
              <a:rPr lang="en-VN" dirty="0"/>
              <a:t>{</a:t>
            </a:r>
          </a:p>
          <a:p>
            <a:r>
              <a:rPr lang="en-VN" dirty="0"/>
              <a:t>    public int f(){n--; return n;}</a:t>
            </a:r>
          </a:p>
          <a:p>
            <a:r>
              <a:rPr lang="en-VN" dirty="0"/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0E0DB-F761-76EE-792B-21A2C6B9B809}"/>
              </a:ext>
            </a:extLst>
          </p:cNvPr>
          <p:cNvSpPr txBox="1"/>
          <p:nvPr/>
        </p:nvSpPr>
        <p:spPr>
          <a:xfrm>
            <a:off x="3991087" y="360880"/>
            <a:ext cx="45827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public class Main</a:t>
            </a:r>
          </a:p>
          <a:p>
            <a:r>
              <a:rPr lang="en-VN" dirty="0"/>
              <a:t>{</a:t>
            </a:r>
          </a:p>
          <a:p>
            <a:r>
              <a:rPr lang="en-VN" dirty="0"/>
              <a:t>	public static void main(String[] args) {</a:t>
            </a:r>
          </a:p>
          <a:p>
            <a:r>
              <a:rPr lang="en-VN" dirty="0"/>
              <a:t>	    A a = new A(); B b = new B();</a:t>
            </a:r>
          </a:p>
          <a:p>
            <a:r>
              <a:rPr lang="en-VN" dirty="0"/>
              <a:t>	    a.n = 1; b.n = 2; a.f2(); b.f2();</a:t>
            </a:r>
          </a:p>
          <a:p>
            <a:r>
              <a:rPr lang="en-VN" dirty="0"/>
              <a:t>		System.out.println(a.n);</a:t>
            </a:r>
          </a:p>
          <a:p>
            <a:r>
              <a:rPr lang="en-VN" dirty="0"/>
              <a:t>		System.out.println(b.n);</a:t>
            </a:r>
          </a:p>
          <a:p>
            <a:r>
              <a:rPr lang="en-VN" dirty="0"/>
              <a:t>	}</a:t>
            </a:r>
          </a:p>
          <a:p>
            <a:r>
              <a:rPr lang="en-V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5262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2CBCE9-3A66-AC31-A7A2-4E18AB67A405}"/>
              </a:ext>
            </a:extLst>
          </p:cNvPr>
          <p:cNvSpPr txBox="1"/>
          <p:nvPr/>
        </p:nvSpPr>
        <p:spPr>
          <a:xfrm>
            <a:off x="527124" y="693785"/>
            <a:ext cx="458275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#include &lt;iostream&gt;</a:t>
            </a:r>
          </a:p>
          <a:p>
            <a:endParaRPr lang="en-VN" dirty="0"/>
          </a:p>
          <a:p>
            <a:r>
              <a:rPr lang="en-VN" dirty="0"/>
              <a:t>class A</a:t>
            </a:r>
          </a:p>
          <a:p>
            <a:r>
              <a:rPr lang="en-VN" dirty="0"/>
              <a:t>{</a:t>
            </a:r>
          </a:p>
          <a:p>
            <a:r>
              <a:rPr lang="en-VN" dirty="0"/>
              <a:t>    public:</a:t>
            </a:r>
          </a:p>
          <a:p>
            <a:r>
              <a:rPr lang="en-VN" dirty="0"/>
              <a:t>    int n;</a:t>
            </a:r>
          </a:p>
          <a:p>
            <a:r>
              <a:rPr lang="en-VN" dirty="0"/>
              <a:t>    virtual int f() {n++; return n;}</a:t>
            </a:r>
          </a:p>
          <a:p>
            <a:r>
              <a:rPr lang="en-VN" dirty="0"/>
              <a:t>    int f2() {f(); return n;}</a:t>
            </a:r>
          </a:p>
          <a:p>
            <a:r>
              <a:rPr lang="en-VN" dirty="0"/>
              <a:t>    </a:t>
            </a:r>
          </a:p>
          <a:p>
            <a:r>
              <a:rPr lang="en-VN" dirty="0"/>
              <a:t>};</a:t>
            </a:r>
          </a:p>
          <a:p>
            <a:endParaRPr lang="en-VN" dirty="0"/>
          </a:p>
          <a:p>
            <a:r>
              <a:rPr lang="en-VN" dirty="0"/>
              <a:t>class B: public A </a:t>
            </a:r>
          </a:p>
          <a:p>
            <a:r>
              <a:rPr lang="en-VN" dirty="0"/>
              <a:t>{</a:t>
            </a:r>
          </a:p>
          <a:p>
            <a:r>
              <a:rPr lang="en-VN" dirty="0"/>
              <a:t>    public:</a:t>
            </a:r>
          </a:p>
          <a:p>
            <a:r>
              <a:rPr lang="en-VN" dirty="0"/>
              <a:t>    virtual int f(){n--; return n;}</a:t>
            </a:r>
          </a:p>
          <a:p>
            <a:r>
              <a:rPr lang="en-VN" dirty="0"/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BE36FB-27D4-CC65-F871-008D338AADA2}"/>
              </a:ext>
            </a:extLst>
          </p:cNvPr>
          <p:cNvSpPr txBox="1"/>
          <p:nvPr/>
        </p:nvSpPr>
        <p:spPr>
          <a:xfrm>
            <a:off x="4384222" y="693785"/>
            <a:ext cx="45827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int main()</a:t>
            </a:r>
          </a:p>
          <a:p>
            <a:r>
              <a:rPr lang="en-VN" dirty="0"/>
              <a:t>{</a:t>
            </a:r>
          </a:p>
          <a:p>
            <a:r>
              <a:rPr lang="en-VN" dirty="0"/>
              <a:t>    A a; B b; </a:t>
            </a:r>
          </a:p>
          <a:p>
            <a:r>
              <a:rPr lang="en-VN" dirty="0"/>
              <a:t>    a=b;</a:t>
            </a:r>
          </a:p>
          <a:p>
            <a:r>
              <a:rPr lang="en-VN" dirty="0"/>
              <a:t>    a.n=1;</a:t>
            </a:r>
          </a:p>
          <a:p>
            <a:r>
              <a:rPr lang="en-VN" dirty="0"/>
              <a:t>    a.f2();</a:t>
            </a:r>
          </a:p>
          <a:p>
            <a:r>
              <a:rPr lang="en-VN" dirty="0"/>
              <a:t>    std::cout&lt;&lt;a.n;</a:t>
            </a:r>
          </a:p>
          <a:p>
            <a:endParaRPr lang="en-VN" dirty="0"/>
          </a:p>
          <a:p>
            <a:r>
              <a:rPr lang="en-VN" dirty="0"/>
              <a:t>    return 0;</a:t>
            </a:r>
          </a:p>
          <a:p>
            <a:r>
              <a:rPr lang="en-V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3495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4EB11-7B00-3A4D-08AC-67ED88D6B2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4B562-0D22-36D6-D0AD-00260A310ADC}"/>
              </a:ext>
            </a:extLst>
          </p:cNvPr>
          <p:cNvSpPr txBox="1"/>
          <p:nvPr/>
        </p:nvSpPr>
        <p:spPr>
          <a:xfrm>
            <a:off x="740091" y="693044"/>
            <a:ext cx="45827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class A</a:t>
            </a:r>
          </a:p>
          <a:p>
            <a:r>
              <a:rPr lang="en-VN" dirty="0"/>
              <a:t>{</a:t>
            </a:r>
          </a:p>
          <a:p>
            <a:r>
              <a:rPr lang="en-VN" dirty="0"/>
              <a:t>    public int n;</a:t>
            </a:r>
          </a:p>
          <a:p>
            <a:r>
              <a:rPr lang="en-VN" dirty="0"/>
              <a:t>    public int f() {n++; return n;}</a:t>
            </a:r>
          </a:p>
          <a:p>
            <a:r>
              <a:rPr lang="en-VN" dirty="0"/>
              <a:t>    public int f2() {f(); return n;}</a:t>
            </a:r>
          </a:p>
          <a:p>
            <a:r>
              <a:rPr lang="en-VN" dirty="0"/>
              <a:t>    </a:t>
            </a:r>
          </a:p>
          <a:p>
            <a:r>
              <a:rPr lang="en-VN" dirty="0"/>
              <a:t>};</a:t>
            </a:r>
          </a:p>
          <a:p>
            <a:endParaRPr lang="en-VN" dirty="0"/>
          </a:p>
          <a:p>
            <a:r>
              <a:rPr lang="en-VN" dirty="0"/>
              <a:t>class B extends A </a:t>
            </a:r>
          </a:p>
          <a:p>
            <a:r>
              <a:rPr lang="en-VN" dirty="0"/>
              <a:t>{</a:t>
            </a:r>
          </a:p>
          <a:p>
            <a:r>
              <a:rPr lang="en-VN" dirty="0"/>
              <a:t>    public int f(){n--; return n;}</a:t>
            </a:r>
          </a:p>
          <a:p>
            <a:r>
              <a:rPr lang="en-VN" dirty="0"/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04423A-565F-3846-FB05-3AF67DDAB087}"/>
              </a:ext>
            </a:extLst>
          </p:cNvPr>
          <p:cNvSpPr txBox="1"/>
          <p:nvPr/>
        </p:nvSpPr>
        <p:spPr>
          <a:xfrm>
            <a:off x="4248376" y="540425"/>
            <a:ext cx="45827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public class Main</a:t>
            </a:r>
          </a:p>
          <a:p>
            <a:r>
              <a:rPr lang="en-VN" dirty="0"/>
              <a:t>{</a:t>
            </a:r>
          </a:p>
          <a:p>
            <a:r>
              <a:rPr lang="en-VN" dirty="0"/>
              <a:t>	public static void main(String[] args) {</a:t>
            </a:r>
          </a:p>
          <a:p>
            <a:r>
              <a:rPr lang="en-VN" dirty="0"/>
              <a:t>	    A a = new A(); B b = new B(); a = b; </a:t>
            </a:r>
          </a:p>
          <a:p>
            <a:r>
              <a:rPr lang="en-VN" dirty="0"/>
              <a:t>	    a.n = 1; a.f2();</a:t>
            </a:r>
          </a:p>
          <a:p>
            <a:r>
              <a:rPr lang="en-VN" dirty="0"/>
              <a:t>		System.out.println(a.n);</a:t>
            </a:r>
          </a:p>
          <a:p>
            <a:r>
              <a:rPr lang="en-VN" dirty="0"/>
              <a:t>		//System.out.println(b.n);</a:t>
            </a:r>
          </a:p>
          <a:p>
            <a:r>
              <a:rPr lang="en-VN" dirty="0"/>
              <a:t>	}</a:t>
            </a:r>
          </a:p>
          <a:p>
            <a:r>
              <a:rPr lang="en-V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1259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KEY CONCEPTS OF POLYMORPHISM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3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Binding</a:t>
            </a:r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50" name="Google Shape;250;p34"/>
          <p:cNvSpPr txBox="1"/>
          <p:nvPr/>
        </p:nvSpPr>
        <p:spPr>
          <a:xfrm>
            <a:off x="720000" y="2308325"/>
            <a:ext cx="77040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Polymorphism requires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binding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720000" y="1017725"/>
            <a:ext cx="7647300" cy="12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Binding vs. Static Binding: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Binding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Determined at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compile-time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Binding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Determined at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runtime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7800" y="2835425"/>
            <a:ext cx="2988403" cy="200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Binding in OOP languages</a:t>
            </a:r>
            <a:endParaRPr/>
          </a:p>
        </p:txBody>
      </p:sp>
      <p:sp>
        <p:nvSpPr>
          <p:cNvPr id="258" name="Google Shape;258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59" name="Google Shape;259;p35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836900" cy="3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</a:rPr>
              <a:t>In C++: 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0">
                <a:solidFill>
                  <a:schemeClr val="dk1"/>
                </a:solidFill>
              </a:rPr>
              <a:t>Static binding (</a:t>
            </a:r>
            <a:r>
              <a:rPr lang="en-US" sz="2000">
                <a:solidFill>
                  <a:schemeClr val="dk1"/>
                </a:solidFill>
              </a:rPr>
              <a:t>default</a:t>
            </a:r>
            <a:r>
              <a:rPr lang="en-US" sz="2000" b="0">
                <a:solidFill>
                  <a:schemeClr val="dk1"/>
                </a:solidFill>
              </a:rPr>
              <a:t>): the function to be called is determined during compilation.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0">
                <a:solidFill>
                  <a:schemeClr val="dk1"/>
                </a:solidFill>
              </a:rPr>
              <a:t>Dynamic binding (using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</a:t>
            </a:r>
            <a:r>
              <a:rPr lang="en-US" sz="2000" b="0">
                <a:solidFill>
                  <a:schemeClr val="dk1"/>
                </a:solidFill>
              </a:rPr>
              <a:t>): enables polymorphism by resolving function calls at runtime.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</a:rPr>
              <a:t>In Java: 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0">
                <a:solidFill>
                  <a:schemeClr val="dk1"/>
                </a:solidFill>
              </a:rPr>
              <a:t>Java uses </a:t>
            </a:r>
            <a:r>
              <a:rPr lang="en-US" sz="2000">
                <a:solidFill>
                  <a:schemeClr val="dk1"/>
                </a:solidFill>
              </a:rPr>
              <a:t>dynamic binding by default</a:t>
            </a:r>
            <a:r>
              <a:rPr lang="en-US" sz="2000" b="0">
                <a:solidFill>
                  <a:schemeClr val="dk1"/>
                </a:solidFill>
              </a:rPr>
              <a:t> for method overriding. 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0">
                <a:solidFill>
                  <a:schemeClr val="dk1"/>
                </a:solidFill>
              </a:rPr>
              <a:t>The method invoked is determined at runtime based on the </a:t>
            </a:r>
            <a:r>
              <a:rPr lang="en-US" sz="2000">
                <a:solidFill>
                  <a:schemeClr val="dk1"/>
                </a:solidFill>
              </a:rPr>
              <a:t>actual object</a:t>
            </a:r>
            <a:r>
              <a:rPr lang="en-US" sz="2000" b="0">
                <a:solidFill>
                  <a:schemeClr val="dk1"/>
                </a:solidFill>
              </a:rPr>
              <a:t>, not the reference type.</a:t>
            </a:r>
            <a:endParaRPr sz="2000" b="0">
              <a:solidFill>
                <a:schemeClr val="dk1"/>
              </a:solidFill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6288525" y="4952675"/>
            <a:ext cx="28716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Hands-on exercise</a:t>
            </a:r>
            <a:endParaRPr sz="2450" b="0"/>
          </a:p>
        </p:txBody>
      </p:sp>
      <p:sp>
        <p:nvSpPr>
          <p:cNvPr id="266" name="Google Shape;266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67" name="Google Shape;267;p36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836900" cy="3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A {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f() { cout &lt;&lt; "A::f"; }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f2() { f(); }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B: public A {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f() { cout &lt;&lt; "B::f"; }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 {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A* a = new B();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a-&gt;f2();  // Output: ???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6288525" y="4952675"/>
            <a:ext cx="28716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4572000" y="1576650"/>
            <a:ext cx="3984900" cy="19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What is the output?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Is polymorphism used in this code?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it isn't, how can we implement it?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Can you rewrite the code in Python and Java?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Key differences: C++ vs. Java</a:t>
            </a:r>
            <a:endParaRPr/>
          </a:p>
        </p:txBody>
      </p:sp>
      <p:sp>
        <p:nvSpPr>
          <p:cNvPr id="275" name="Google Shape;275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76" name="Google Shape;276;p37"/>
          <p:cNvSpPr txBox="1"/>
          <p:nvPr/>
        </p:nvSpPr>
        <p:spPr>
          <a:xfrm>
            <a:off x="6288525" y="4952675"/>
            <a:ext cx="28716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7" name="Google Shape;277;p37"/>
          <p:cNvGraphicFramePr/>
          <p:nvPr/>
        </p:nvGraphicFramePr>
        <p:xfrm>
          <a:off x="952500" y="1154550"/>
          <a:ext cx="7239000" cy="3078330"/>
        </p:xfrm>
        <a:graphic>
          <a:graphicData uri="http://schemas.openxmlformats.org/drawingml/2006/table">
            <a:tbl>
              <a:tblPr>
                <a:noFill/>
                <a:tableStyleId>{FE80CA4A-79A9-4178-97B5-11A23160B3E0}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Features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C++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Java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 binding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 binding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Dynamic binding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Enabling dynamic binding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</a:t>
                      </a:r>
                      <a:r>
                        <a:rPr lang="en-U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virtual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keyword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Always enabled for overrides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Polymorphism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explicit </a:t>
                      </a:r>
                      <a:r>
                        <a:rPr lang="en-U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virtual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 behaviour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Behind the scenes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explicit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pointers</a:t>
                      </a:r>
                      <a:endParaRPr sz="1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Abstracted as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 references</a:t>
                      </a:r>
                      <a:endParaRPr sz="1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Why use pointers for dynamic binding in C++?</a:t>
            </a:r>
            <a:endParaRPr/>
          </a:p>
        </p:txBody>
      </p:sp>
      <p:sp>
        <p:nvSpPr>
          <p:cNvPr id="283" name="Google Shape;283;p38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Reason</a:t>
            </a:r>
            <a:r>
              <a:rPr lang="en-US" sz="1800" b="0">
                <a:solidFill>
                  <a:schemeClr val="dk1"/>
                </a:solidFill>
              </a:rPr>
              <a:t>: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In C++, the </a:t>
            </a:r>
            <a:r>
              <a:rPr lang="en-US" sz="1800">
                <a:solidFill>
                  <a:schemeClr val="dk1"/>
                </a:solidFill>
              </a:rPr>
              <a:t>vtable (virtual table)</a:t>
            </a:r>
            <a:r>
              <a:rPr lang="en-US" sz="1800" b="0">
                <a:solidFill>
                  <a:schemeClr val="dk1"/>
                </a:solidFill>
              </a:rPr>
              <a:t> is used to enable dynamic method resolution.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When using pointers or references, the program accesses the vtable of the actual object to determine the appropriate method.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Static Objects</a:t>
            </a:r>
            <a:r>
              <a:rPr lang="en-US" sz="1800" b="0">
                <a:solidFill>
                  <a:schemeClr val="dk1"/>
                </a:solidFill>
              </a:rPr>
              <a:t> (No Pointer):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Vtable lookup is skipped, leading to static binding.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Dynamic Objects</a:t>
            </a:r>
            <a:r>
              <a:rPr lang="en-US" sz="1800" b="0">
                <a:solidFill>
                  <a:schemeClr val="dk1"/>
                </a:solidFill>
              </a:rPr>
              <a:t> (Pointer/Reference):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Vtable is consulted, allowing polymorphism to work.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284" name="Google Shape;284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85" name="Google Shape;285;p38"/>
          <p:cNvSpPr txBox="1"/>
          <p:nvPr/>
        </p:nvSpPr>
        <p:spPr>
          <a:xfrm>
            <a:off x="6288525" y="4952675"/>
            <a:ext cx="28716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Polymorphism</a:t>
            </a:r>
            <a:r>
              <a:rPr lang="en-US" sz="2000" b="0">
                <a:solidFill>
                  <a:schemeClr val="dk1"/>
                </a:solidFill>
              </a:rPr>
              <a:t>:</a:t>
            </a:r>
            <a:endParaRPr sz="2000" b="0">
              <a:solidFill>
                <a:schemeClr val="dk1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key OOP feature that enables objects to behave differently based on their actual type.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Dynamic Binding</a:t>
            </a:r>
            <a:r>
              <a:rPr lang="en-US" sz="2000" b="0">
                <a:solidFill>
                  <a:schemeClr val="dk1"/>
                </a:solidFill>
              </a:rPr>
              <a:t>:</a:t>
            </a:r>
            <a:endParaRPr sz="2000" b="0">
              <a:solidFill>
                <a:schemeClr val="dk1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Required for polymorphism.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 in pure OOP languages like Java.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C++ vs. Java</a:t>
            </a:r>
            <a:r>
              <a:rPr lang="en-US" sz="2000" b="0">
                <a:solidFill>
                  <a:schemeClr val="dk1"/>
                </a:solidFill>
              </a:rPr>
              <a:t>:</a:t>
            </a:r>
            <a:endParaRPr sz="2000" b="0">
              <a:solidFill>
                <a:schemeClr val="dk1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C++: Static binding by default; use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dynamic binding.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Java: Always dynamic binding.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>
            <a:spLocks noGrp="1"/>
          </p:cNvSpPr>
          <p:nvPr>
            <p:ph type="ctrTitle"/>
          </p:nvPr>
        </p:nvSpPr>
        <p:spPr>
          <a:xfrm>
            <a:off x="1142991" y="1356714"/>
            <a:ext cx="68580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orbel"/>
              <a:buNone/>
            </a:pPr>
            <a:r>
              <a:rPr lang="en-US" sz="3600">
                <a:latin typeface="Corbel"/>
                <a:ea typeface="Corbel"/>
                <a:cs typeface="Corbel"/>
                <a:sym typeface="Corbel"/>
              </a:rPr>
              <a:t>Thank you for your attention!</a:t>
            </a:r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https://www.cse.hcmut.edu.vn</a:t>
            </a:r>
            <a:endParaRPr sz="1800" u="sng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CM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1042</Words>
  <Application>Microsoft Office PowerPoint</Application>
  <PresentationFormat>On-screen Show (16:9)</PresentationFormat>
  <Paragraphs>202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Corbel</vt:lpstr>
      <vt:lpstr>Anaheim</vt:lpstr>
      <vt:lpstr>Arial</vt:lpstr>
      <vt:lpstr>Tahoma</vt:lpstr>
      <vt:lpstr>Calibri</vt:lpstr>
      <vt:lpstr>Raleway ExtraBold</vt:lpstr>
      <vt:lpstr>Roboto</vt:lpstr>
      <vt:lpstr>Raleway Black</vt:lpstr>
      <vt:lpstr>Hanken Grotesk</vt:lpstr>
      <vt:lpstr>Nunito Light</vt:lpstr>
      <vt:lpstr>Courier New</vt:lpstr>
      <vt:lpstr>HCMUT</vt:lpstr>
      <vt:lpstr>Chapter 3: Object Oriented Programming Revision - Polymorphism</vt:lpstr>
      <vt:lpstr>CONTENT</vt:lpstr>
      <vt:lpstr>INTRODUCTION TO POLYMORPHISM</vt:lpstr>
      <vt:lpstr>What is Polymorphism?</vt:lpstr>
      <vt:lpstr>Polymorphism overview</vt:lpstr>
      <vt:lpstr>Overloading vs. Overriding</vt:lpstr>
      <vt:lpstr>PowerPoint Presentation</vt:lpstr>
      <vt:lpstr>PowerPoint Presentation</vt:lpstr>
      <vt:lpstr>PowerPoint Presentation</vt:lpstr>
      <vt:lpstr>PowerPoint Presentation</vt:lpstr>
      <vt:lpstr>KEY CONCEPTS OF POLYMORPHISM</vt:lpstr>
      <vt:lpstr>Binding</vt:lpstr>
      <vt:lpstr>Binding in OOP languages</vt:lpstr>
      <vt:lpstr>Hands-on exercise</vt:lpstr>
      <vt:lpstr>Key differences: C++ vs. Java</vt:lpstr>
      <vt:lpstr>Why use pointers for dynamic binding in C++?</vt:lpstr>
      <vt:lpstr>CONCLUSION</vt:lpstr>
      <vt:lpstr>Conclusion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Object Oriented Programming Revision - Polymorphism</dc:title>
  <dc:creator>Cong Nguyen</dc:creator>
  <cp:lastModifiedBy>Cong Nguyen</cp:lastModifiedBy>
  <cp:revision>2</cp:revision>
  <dcterms:modified xsi:type="dcterms:W3CDTF">2025-02-14T06:14:01Z</dcterms:modified>
</cp:coreProperties>
</file>