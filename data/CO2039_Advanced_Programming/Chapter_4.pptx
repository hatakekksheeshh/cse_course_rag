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781800" cy="9918700"/>
  <p:embeddedFontLst>
    <p:embeddedFont>
      <p:font typeface="Raleway ExtraBold"/>
      <p:bold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Anaheim"/>
      <p:regular r:id="rId34"/>
      <p:bold r:id="rId35"/>
    </p:embeddedFont>
    <p:embeddedFont>
      <p:font typeface="Corbel"/>
      <p:regular r:id="rId36"/>
      <p:bold r:id="rId37"/>
      <p:italic r:id="rId38"/>
      <p:boldItalic r:id="rId39"/>
    </p:embeddedFont>
    <p:embeddedFont>
      <p:font typeface="Tahoma"/>
      <p:regular r:id="rId40"/>
      <p:bold r:id="rId41"/>
    </p:embeddedFont>
    <p:embeddedFont>
      <p:font typeface="Raleway Black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9A8BF3-E4DD-4293-B6EB-79AA42E6A0A8}">
  <a:tblStyle styleId="{1C9A8BF3-E4DD-4293-B6EB-79AA42E6A0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regular.fntdata"/><Relationship Id="rId20" Type="http://schemas.openxmlformats.org/officeDocument/2006/relationships/slide" Target="slides/slide14.xml"/><Relationship Id="rId42" Type="http://schemas.openxmlformats.org/officeDocument/2006/relationships/font" Target="fonts/RalewayBlack-bold.fntdata"/><Relationship Id="rId41" Type="http://schemas.openxmlformats.org/officeDocument/2006/relationships/font" Target="fonts/Tahoma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alewayBlack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ExtraBold-bold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Extra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Anaheim-bold.fntdata"/><Relationship Id="rId12" Type="http://schemas.openxmlformats.org/officeDocument/2006/relationships/slide" Target="slides/slide6.xml"/><Relationship Id="rId34" Type="http://schemas.openxmlformats.org/officeDocument/2006/relationships/font" Target="fonts/Anaheim-regular.fntdata"/><Relationship Id="rId15" Type="http://schemas.openxmlformats.org/officeDocument/2006/relationships/slide" Target="slides/slide9.xml"/><Relationship Id="rId37" Type="http://schemas.openxmlformats.org/officeDocument/2006/relationships/font" Target="fonts/Corbel-bold.fntdata"/><Relationship Id="rId14" Type="http://schemas.openxmlformats.org/officeDocument/2006/relationships/slide" Target="slides/slide8.xml"/><Relationship Id="rId36" Type="http://schemas.openxmlformats.org/officeDocument/2006/relationships/font" Target="fonts/Corbel-regular.fntdata"/><Relationship Id="rId17" Type="http://schemas.openxmlformats.org/officeDocument/2006/relationships/slide" Target="slides/slide11.xml"/><Relationship Id="rId39" Type="http://schemas.openxmlformats.org/officeDocument/2006/relationships/font" Target="fonts/Corbel-boldItalic.fntdata"/><Relationship Id="rId16" Type="http://schemas.openxmlformats.org/officeDocument/2006/relationships/slide" Target="slides/slide10.xml"/><Relationship Id="rId38" Type="http://schemas.openxmlformats.org/officeDocument/2006/relationships/font" Target="fonts/Corbel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4" name="Google Shape;1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1" name="Google Shape;2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885e2a979_1_0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Subclasses must implement all abstract methods unless the subclass is also abstract.</a:t>
            </a:r>
            <a:endParaRPr/>
          </a:p>
        </p:txBody>
      </p:sp>
      <p:sp>
        <p:nvSpPr>
          <p:cNvPr id="225" name="Google Shape;225;g32885e2a979_1_0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9709612e3_2_1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29709612e3_2_1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9709612e3_2_9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If a class implements an interface, it should override all the abstract methods declared in the interface.</a:t>
            </a:r>
            <a:endParaRPr/>
          </a:p>
        </p:txBody>
      </p:sp>
      <p:sp>
        <p:nvSpPr>
          <p:cNvPr id="239" name="Google Shape;239;g329709612e3_2_9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9709612e3_2_22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Interfaces promote multiple inheritance in a structured way.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Find the hands-on exercise easy? </a:t>
            </a:r>
            <a:r>
              <a:rPr lang="en-US"/>
              <a:t>Implement</a:t>
            </a:r>
            <a:r>
              <a:rPr lang="en-US"/>
              <a:t> above code in C++.</a:t>
            </a:r>
            <a:endParaRPr/>
          </a:p>
        </p:txBody>
      </p:sp>
      <p:sp>
        <p:nvSpPr>
          <p:cNvPr id="247" name="Google Shape;247;g329709612e3_2_22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2885e2a979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5" name="Google Shape;255;g32885e2a97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9709612e3_2_30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29709612e3_2_30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29709612e3_2_55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Dynamic method resolution means that the actual method to be executed is determined at runtime, not at compile time. Because of this: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Calling code doesn't need to know the specific implementation: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The calling code only interacts with an interface reference (or a base class reference, in the case of abstract classes).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It doesn't matter which specific class implements the interface or inherits from the base class; the JVM will dynamically resolve and call the correct method implementation at runtime.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Why is this useful?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It decouples the calling code from the concrete implementations.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US"/>
              <a:t>You can add new classes or change implementations without altering the code that uses them, making the design more flexible and extensible.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29709612e3_2_55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9709612e3_2_61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29709612e3_2_61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9709612e3_2_36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29709612e3_2_36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9709612e3_2_42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Interfaces promote multiple inheritance in a structured way.</a:t>
            </a:r>
            <a:endParaRPr/>
          </a:p>
        </p:txBody>
      </p:sp>
      <p:sp>
        <p:nvSpPr>
          <p:cNvPr id="290" name="Google Shape;290;g329709612e3_2_42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2885e2a979_1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7" name="Google Shape;297;g32885e2a97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29709612e3_2_15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Interfaces promote multiple inheritance in a structured way.</a:t>
            </a:r>
            <a:endParaRPr/>
          </a:p>
        </p:txBody>
      </p:sp>
      <p:sp>
        <p:nvSpPr>
          <p:cNvPr id="304" name="Google Shape;304;g329709612e3_2_15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289233d6a8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1" name="Google Shape;311;g3289233d6a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289233d6a8_0_16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289233d6a8_0_16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89233d6a8_0_26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One interface can inherit another by use of the keyword extends. The syntax is the same as for inheriting classes.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When a class implements an interface that inherits another interface, it must provide implementations for all methods defined within the interface  inheritance chain.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289233d6a8_0_26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29709612e3_3_6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Marker Interface: An empty interface.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marker interface does not contain constants or methods, but it has a special meaning to the Java system. The Java system requires a class to implement the Cloneable interface to become cloneable.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29709612e3_3_6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:notes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9:notes"/>
          <p:cNvSpPr/>
          <p:nvPr>
            <p:ph idx="2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39:notes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i="0" sz="9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5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b="1" sz="9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</a:t>
            </a: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2" type="body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9" name="Google Shape;99;p14"/>
          <p:cNvSpPr txBox="1"/>
          <p:nvPr>
            <p:ph idx="2" type="body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" type="body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01" name="Google Shape;101;p14"/>
          <p:cNvSpPr txBox="1"/>
          <p:nvPr>
            <p:ph idx="4" type="body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7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indent="-37861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indent="-357187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indent="-335756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indent="-335756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30" name="Google Shape;130;p19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>
            <p:ph idx="2" type="pic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2"/>
          <p:cNvSpPr/>
          <p:nvPr>
            <p:ph idx="3" type="pic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2"/>
          <p:cNvSpPr txBox="1"/>
          <p:nvPr>
            <p:ph idx="4" type="body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2"/>
          <p:cNvSpPr/>
          <p:nvPr>
            <p:ph idx="5" type="pic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2"/>
          <p:cNvSpPr txBox="1"/>
          <p:nvPr>
            <p:ph idx="6" type="body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3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>
            <p:ph idx="2" type="pic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/>
          <p:nvPr>
            <p:ph idx="3" type="pic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/>
          <p:nvPr>
            <p:ph idx="4" type="pic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/>
          <p:nvPr>
            <p:ph idx="5" type="pic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6" type="body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7" type="body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8" type="body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eet the team 3">
  <p:cSld name="1_Meet the team 3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78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b="1" i="0" sz="2475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8618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7187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5756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5088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5088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ctrTitle"/>
          </p:nvPr>
        </p:nvSpPr>
        <p:spPr>
          <a:xfrm>
            <a:off x="1400700" y="27951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Chapter 4: Abstract class &amp; Interface</a:t>
            </a:r>
            <a:endParaRPr sz="2400">
              <a:solidFill>
                <a:srgbClr val="2E75B5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8" name="Google Shape;188;p27"/>
          <p:cNvSpPr txBox="1"/>
          <p:nvPr>
            <p:ph type="ctrTitle"/>
          </p:nvPr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/>
              <a:t>Advanced Programming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CO2039</a:t>
            </a:r>
            <a:endParaRPr b="0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190854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>
            <p:ph idx="2" type="title"/>
          </p:nvPr>
        </p:nvSpPr>
        <p:spPr>
          <a:xfrm>
            <a:off x="1711310" y="1443600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>
            <p:ph idx="4" type="title"/>
          </p:nvPr>
        </p:nvSpPr>
        <p:spPr>
          <a:xfrm>
            <a:off x="1711310" y="2011298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>
            <p:ph idx="5" type="title"/>
          </p:nvPr>
        </p:nvSpPr>
        <p:spPr>
          <a:xfrm>
            <a:off x="1711310" y="255954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2544900" y="1445413"/>
            <a:ext cx="54798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INTRODUCTION TO ABSTRACT CLASS &amp; INTERFACE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>
            <p:ph idx="8" type="subTitle"/>
          </p:nvPr>
        </p:nvSpPr>
        <p:spPr>
          <a:xfrm>
            <a:off x="2544908" y="2013085"/>
            <a:ext cx="40710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INTERFACE IN DEPTH</a:t>
            </a:r>
            <a:endParaRPr sz="2000"/>
          </a:p>
        </p:txBody>
      </p:sp>
      <p:sp>
        <p:nvSpPr>
          <p:cNvPr id="199" name="Google Shape;199;p28"/>
          <p:cNvSpPr txBox="1"/>
          <p:nvPr>
            <p:ph idx="14" type="subTitle"/>
          </p:nvPr>
        </p:nvSpPr>
        <p:spPr>
          <a:xfrm>
            <a:off x="2544900" y="2520088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  <p:grpSp>
        <p:nvGrpSpPr>
          <p:cNvPr id="200" name="Google Shape;200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201" name="Google Shape;201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2" name="Google Shape;202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28"/>
            <p:cNvSpPr/>
            <p:nvPr/>
          </p:nvSpPr>
          <p:spPr>
            <a:xfrm>
              <a:off x="472500" y="1762000"/>
              <a:ext cx="700000" cy="3463350"/>
            </a:xfrm>
            <a:custGeom>
              <a:rect b="b" l="l" r="r" t="t"/>
              <a:pathLst>
                <a:path extrusionOk="0" h="138534" w="2800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28"/>
          <p:cNvSpPr/>
          <p:nvPr/>
        </p:nvSpPr>
        <p:spPr>
          <a:xfrm rot="-5400000">
            <a:off x="169589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28"/>
          <p:cNvSpPr txBox="1"/>
          <p:nvPr>
            <p:ph idx="5" type="title"/>
          </p:nvPr>
        </p:nvSpPr>
        <p:spPr>
          <a:xfrm>
            <a:off x="1711310" y="316664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 txBox="1"/>
          <p:nvPr>
            <p:ph idx="14" type="subTitle"/>
          </p:nvPr>
        </p:nvSpPr>
        <p:spPr>
          <a:xfrm>
            <a:off x="2544900" y="3127188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ADVANCED SECTION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INTRODUCTION TO ABSTRACT CLASS &amp; INTERFACE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9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What is Abstract class?</a:t>
            </a:r>
            <a:endParaRPr/>
          </a:p>
        </p:txBody>
      </p:sp>
      <p:sp>
        <p:nvSpPr>
          <p:cNvPr id="221" name="Google Shape;221;p30"/>
          <p:cNvSpPr txBox="1"/>
          <p:nvPr>
            <p:ph type="title"/>
          </p:nvPr>
        </p:nvSpPr>
        <p:spPr>
          <a:xfrm>
            <a:off x="720000" y="1017725"/>
            <a:ext cx="7704000" cy="3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lang="en-US" sz="1800">
                <a:solidFill>
                  <a:schemeClr val="dk1"/>
                </a:solidFill>
              </a:rPr>
              <a:t>An abstract class is a class that </a:t>
            </a:r>
            <a:r>
              <a:rPr lang="en-US" sz="1800">
                <a:solidFill>
                  <a:schemeClr val="dk1"/>
                </a:solidFill>
              </a:rPr>
              <a:t>cannot be instantiated</a:t>
            </a:r>
            <a:r>
              <a:rPr b="0" lang="en-US" sz="1800">
                <a:solidFill>
                  <a:schemeClr val="dk1"/>
                </a:solidFill>
              </a:rPr>
              <a:t>. It serves as a blueprint for other classes.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800">
                <a:solidFill>
                  <a:schemeClr val="dk1"/>
                </a:solidFill>
              </a:rPr>
              <a:t>Key characteristics: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Can include </a:t>
            </a:r>
            <a:r>
              <a:rPr b="0" i="1" lang="en-US" sz="1800">
                <a:solidFill>
                  <a:schemeClr val="dk1"/>
                </a:solidFill>
              </a:rPr>
              <a:t>abstract</a:t>
            </a:r>
            <a:r>
              <a:rPr b="0" lang="en-US" sz="1800">
                <a:solidFill>
                  <a:schemeClr val="dk1"/>
                </a:solidFill>
              </a:rPr>
              <a:t> methods (methods without implementation).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May also include </a:t>
            </a:r>
            <a:r>
              <a:rPr b="0" i="1" lang="en-US" sz="1800">
                <a:solidFill>
                  <a:schemeClr val="dk1"/>
                </a:solidFill>
              </a:rPr>
              <a:t>concrete</a:t>
            </a:r>
            <a:r>
              <a:rPr b="0" lang="en-US" sz="1800">
                <a:solidFill>
                  <a:schemeClr val="dk1"/>
                </a:solidFill>
              </a:rPr>
              <a:t> methods (methods with implementation).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Used when classes share common behavior but also require customization in subclasses.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Supports </a:t>
            </a:r>
            <a:r>
              <a:rPr b="0" lang="en-US" sz="1800">
                <a:solidFill>
                  <a:srgbClr val="FF0000"/>
                </a:solidFill>
              </a:rPr>
              <a:t>inheritance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22" name="Google Shape;22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Example in Java</a:t>
            </a:r>
            <a:endParaRPr/>
          </a:p>
        </p:txBody>
      </p:sp>
      <p:sp>
        <p:nvSpPr>
          <p:cNvPr id="228" name="Google Shape;228;p31"/>
          <p:cNvSpPr txBox="1"/>
          <p:nvPr>
            <p:ph type="title"/>
          </p:nvPr>
        </p:nvSpPr>
        <p:spPr>
          <a:xfrm>
            <a:off x="720000" y="963275"/>
            <a:ext cx="77040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class Shape {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draw(); // Abstract method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void info() {         // Concrete method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System.out.println("This is a shape");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Circle extends Shape {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void draw() {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	System.out.println("Drawing Circle");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}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What is Interface?</a:t>
            </a:r>
            <a:endParaRPr/>
          </a:p>
        </p:txBody>
      </p:sp>
      <p:sp>
        <p:nvSpPr>
          <p:cNvPr id="235" name="Google Shape;235;p32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lang="en-US" sz="1800">
                <a:solidFill>
                  <a:schemeClr val="dk1"/>
                </a:solidFill>
              </a:rPr>
              <a:t>An interface is a classlike construct that contains </a:t>
            </a:r>
            <a:r>
              <a:rPr lang="en-US" sz="1800">
                <a:solidFill>
                  <a:schemeClr val="dk1"/>
                </a:solidFill>
              </a:rPr>
              <a:t>only constants</a:t>
            </a:r>
            <a:r>
              <a:rPr b="0" lang="en-US" sz="1800">
                <a:solidFill>
                  <a:schemeClr val="dk1"/>
                </a:solidFill>
              </a:rPr>
              <a:t> and </a:t>
            </a:r>
            <a:r>
              <a:rPr lang="en-US" sz="1800">
                <a:solidFill>
                  <a:schemeClr val="dk1"/>
                </a:solidFill>
              </a:rPr>
              <a:t>abstract methods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800">
                <a:solidFill>
                  <a:schemeClr val="dk1"/>
                </a:solidFill>
              </a:rPr>
              <a:t>Key characteristics: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Cannot be instantiated (only classes that implements interfaces can be instantiated)</a:t>
            </a:r>
            <a:r>
              <a:rPr b="0" lang="en-US" sz="1800">
                <a:solidFill>
                  <a:schemeClr val="dk1"/>
                </a:solidFill>
              </a:rPr>
              <a:t>.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Why not just use Abstract class? ⇒ Java does not permit multiple inheritance but allow a class can implement </a:t>
            </a:r>
            <a:r>
              <a:rPr b="0" lang="en-US" sz="1800">
                <a:solidFill>
                  <a:srgbClr val="FF0000"/>
                </a:solidFill>
              </a:rPr>
              <a:t>multiple interfaces</a:t>
            </a:r>
            <a:r>
              <a:rPr b="0" lang="en-US" sz="1800">
                <a:solidFill>
                  <a:schemeClr val="dk1"/>
                </a:solidFill>
              </a:rPr>
              <a:t>. </a:t>
            </a:r>
            <a:br>
              <a:rPr b="0" lang="en-US" sz="1800">
                <a:solidFill>
                  <a:schemeClr val="dk1"/>
                </a:solidFill>
              </a:rPr>
            </a:br>
            <a:r>
              <a:rPr b="0" lang="en-US" sz="1800">
                <a:solidFill>
                  <a:schemeClr val="dk1"/>
                </a:solidFill>
              </a:rPr>
              <a:t>Can an interface be implemented by </a:t>
            </a:r>
            <a:r>
              <a:rPr b="0" lang="en-US" sz="1800">
                <a:solidFill>
                  <a:schemeClr val="dk1"/>
                </a:solidFill>
              </a:rPr>
              <a:t>multiple</a:t>
            </a:r>
            <a:r>
              <a:rPr b="0" lang="en-US" sz="1800">
                <a:solidFill>
                  <a:schemeClr val="dk1"/>
                </a:solidFill>
              </a:rPr>
              <a:t> classes?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No instance variables; only constants allowed.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Creating an Interface</a:t>
            </a:r>
            <a:endParaRPr/>
          </a:p>
        </p:txBody>
      </p:sp>
      <p:sp>
        <p:nvSpPr>
          <p:cNvPr id="242" name="Google Shape;242;p33"/>
          <p:cNvSpPr txBox="1"/>
          <p:nvPr>
            <p:ph type="title"/>
          </p:nvPr>
        </p:nvSpPr>
        <p:spPr>
          <a:xfrm>
            <a:off x="720000" y="1194300"/>
            <a:ext cx="7704000" cy="3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File InterfaceName.java: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modifier interface InterfaceName { 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constants declarations;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	methods signatures;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File ClassName.java: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modifier Class ClassName implements InterfaceName {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methods implementation;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600">
              <a:solidFill>
                <a:schemeClr val="dk1"/>
              </a:solidFill>
            </a:endParaRPr>
          </a:p>
        </p:txBody>
      </p:sp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33"/>
          <p:cNvSpPr txBox="1"/>
          <p:nvPr/>
        </p:nvSpPr>
        <p:spPr>
          <a:xfrm>
            <a:off x="5053225" y="1383625"/>
            <a:ext cx="36096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modifier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not used.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Hands-on exercise</a:t>
            </a:r>
            <a:endParaRPr/>
          </a:p>
        </p:txBody>
      </p:sp>
      <p:sp>
        <p:nvSpPr>
          <p:cNvPr id="250" name="Google Shape;250;p34"/>
          <p:cNvSpPr txBox="1"/>
          <p:nvPr>
            <p:ph type="title"/>
          </p:nvPr>
        </p:nvSpPr>
        <p:spPr>
          <a:xfrm>
            <a:off x="720000" y="1194300"/>
            <a:ext cx="7704000" cy="27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Drawable {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draw();  // Abstract method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Rectangle </a:t>
            </a:r>
            <a:r>
              <a:rPr b="0"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Drawable {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draw() {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System.out.println("Drawing Rectangle");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34"/>
          <p:cNvSpPr txBox="1"/>
          <p:nvPr/>
        </p:nvSpPr>
        <p:spPr>
          <a:xfrm>
            <a:off x="720000" y="39492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new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interface Area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area of a shape and implement it in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to test.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INTERFACE IN DEPTH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5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More in </a:t>
            </a:r>
            <a:r>
              <a:rPr lang="en-US"/>
              <a:t>Interfaces (1)</a:t>
            </a:r>
            <a:endParaRPr/>
          </a:p>
        </p:txBody>
      </p:sp>
      <p:sp>
        <p:nvSpPr>
          <p:cNvPr id="265" name="Google Shape;265;p36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Compile-Time Dependency Problem</a:t>
            </a:r>
            <a:r>
              <a:rPr b="0" lang="en-US" sz="1600">
                <a:solidFill>
                  <a:schemeClr val="dk1"/>
                </a:solidFill>
              </a:rPr>
              <a:t>: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lang="en-US" sz="1600">
                <a:solidFill>
                  <a:schemeClr val="dk1"/>
                </a:solidFill>
              </a:rPr>
              <a:t>Normally, methods from one class to another need compile-time presence for signature checks.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lang="en-US" sz="1600">
                <a:solidFill>
                  <a:schemeClr val="dk1"/>
                </a:solidFill>
              </a:rPr>
              <a:t>This creates rigid inheritance hierarchies, pushing shared functionality higher in the class tree.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Interfaces to the Rescue</a:t>
            </a:r>
            <a:r>
              <a:rPr b="0" lang="en-US" sz="1600">
                <a:solidFill>
                  <a:schemeClr val="dk1"/>
                </a:solidFill>
              </a:rPr>
              <a:t>: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lang="en-US" sz="1600">
                <a:solidFill>
                  <a:schemeClr val="dk1"/>
                </a:solidFill>
              </a:rPr>
              <a:t>Allow </a:t>
            </a:r>
            <a:r>
              <a:rPr lang="en-US" sz="1600">
                <a:solidFill>
                  <a:schemeClr val="dk1"/>
                </a:solidFill>
              </a:rPr>
              <a:t>dynamic method resolution</a:t>
            </a:r>
            <a:r>
              <a:rPr b="0" lang="en-US" sz="1600">
                <a:solidFill>
                  <a:schemeClr val="dk1"/>
                </a:solidFill>
              </a:rPr>
              <a:t> at runtime.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lang="en-US" sz="1600">
                <a:solidFill>
                  <a:schemeClr val="dk1"/>
                </a:solidFill>
              </a:rPr>
              <a:t>Decouple method definitions from the class inheritance hierarchy.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lang="en-US" sz="1600">
                <a:solidFill>
                  <a:schemeClr val="dk1"/>
                </a:solidFill>
              </a:rPr>
              <a:t>Enable unrelated classes to implement the same interface.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Key Benefit</a:t>
            </a:r>
            <a:r>
              <a:rPr b="0" lang="en-US" sz="1600">
                <a:solidFill>
                  <a:schemeClr val="dk1"/>
                </a:solidFill>
              </a:rPr>
              <a:t>: Promote composition over inheritance and avoid the rigidity of deep class hierarchies.</a:t>
            </a:r>
            <a:endParaRPr b="0" sz="1600">
              <a:solidFill>
                <a:schemeClr val="dk1"/>
              </a:solidFill>
            </a:endParaRPr>
          </a:p>
        </p:txBody>
      </p:sp>
      <p:sp>
        <p:nvSpPr>
          <p:cNvPr id="266" name="Google Shape;26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More in Interfaces (2)</a:t>
            </a:r>
            <a:endParaRPr/>
          </a:p>
        </p:txBody>
      </p:sp>
      <p:sp>
        <p:nvSpPr>
          <p:cNvPr id="272" name="Google Shape;272;p37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Dynamic Method Resolution</a:t>
            </a:r>
            <a:r>
              <a:rPr b="0" lang="en-US" sz="2000">
                <a:solidFill>
                  <a:schemeClr val="dk1"/>
                </a:solidFill>
              </a:rPr>
              <a:t>: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The actual method is determined at </a:t>
            </a:r>
            <a:r>
              <a:rPr lang="en-US" sz="2000">
                <a:solidFill>
                  <a:schemeClr val="dk1"/>
                </a:solidFill>
              </a:rPr>
              <a:t>runtime</a:t>
            </a:r>
            <a:r>
              <a:rPr b="0" lang="en-US" sz="2000">
                <a:solidFill>
                  <a:schemeClr val="dk1"/>
                </a:solidFill>
              </a:rPr>
              <a:t>, not compile time.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Calling code interacts with an </a:t>
            </a:r>
            <a:r>
              <a:rPr lang="en-US" sz="2000">
                <a:solidFill>
                  <a:schemeClr val="dk1"/>
                </a:solidFill>
              </a:rPr>
              <a:t>interface</a:t>
            </a:r>
            <a:r>
              <a:rPr b="0" lang="en-US" sz="2000">
                <a:solidFill>
                  <a:schemeClr val="dk1"/>
                </a:solidFill>
              </a:rPr>
              <a:t> or </a:t>
            </a:r>
            <a:r>
              <a:rPr lang="en-US" sz="2000">
                <a:solidFill>
                  <a:schemeClr val="dk1"/>
                </a:solidFill>
              </a:rPr>
              <a:t>abstract class reference</a:t>
            </a:r>
            <a:r>
              <a:rPr b="0" lang="en-US" sz="2000">
                <a:solidFill>
                  <a:schemeClr val="dk1"/>
                </a:solidFill>
              </a:rPr>
              <a:t>, not specific implementations.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Benefit:</a:t>
            </a:r>
            <a:endParaRPr b="0"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Decouples calling code from concrete classes.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flexibility to add/change implementations without modifying the calling code.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More in Interfaces - Example</a:t>
            </a:r>
            <a:endParaRPr/>
          </a:p>
        </p:txBody>
      </p:sp>
      <p:sp>
        <p:nvSpPr>
          <p:cNvPr id="279" name="Google Shape;279;p38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interface Shape { void draw(); }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Circle implements Shape {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draw() { System.out.println("Drawing a Circle"); }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Square implements Shape {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draw() { System.out.println("Drawing a Square"); }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Main {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main(String[] args) {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shape = new Circle();  // Interface reference, dynamic resolution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shape.draw();  // Calls Circle's draw() method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shape = new Square();  // Switch to a different implementation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shape.draw();  // Calls Square's draw() method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" name="Google Shape;28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Does interface solve diamond </a:t>
            </a:r>
            <a:r>
              <a:rPr lang="en-US"/>
              <a:t>problem</a:t>
            </a:r>
            <a:r>
              <a:rPr lang="en-US"/>
              <a:t>?</a:t>
            </a:r>
            <a:endParaRPr/>
          </a:p>
        </p:txBody>
      </p:sp>
      <p:sp>
        <p:nvSpPr>
          <p:cNvPr id="286" name="Google Shape;286;p39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</a:rPr>
              <a:t>Interfaces help address the diamond problem in multiple inheritance, but indirectly: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0" lang="en-US" sz="1600">
                <a:solidFill>
                  <a:schemeClr val="dk1"/>
                </a:solidFill>
              </a:rPr>
              <a:t>The </a:t>
            </a:r>
            <a:r>
              <a:rPr lang="en-US" sz="1600">
                <a:solidFill>
                  <a:schemeClr val="dk1"/>
                </a:solidFill>
              </a:rPr>
              <a:t>diamond problem</a:t>
            </a:r>
            <a:r>
              <a:rPr b="0" lang="en-US" sz="1600">
                <a:solidFill>
                  <a:schemeClr val="dk1"/>
                </a:solidFill>
              </a:rPr>
              <a:t> arises when a class inherits from two parent classes that define methods with the same name and signature, leading to ambiguity.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0" lang="en-US" sz="1600">
                <a:solidFill>
                  <a:schemeClr val="dk1"/>
                </a:solidFill>
              </a:rPr>
              <a:t>In Java:</a:t>
            </a:r>
            <a:endParaRPr b="0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 do not support multiple inheritance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avoids this issue.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Interfaces support multiple inheritance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there’s no ambiguity because a class implementing multiple interfaces must explicitly define the methods it inherits.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default method in two interfaces clashes, the implementing class must override it to resolve the conflict explicitly.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Example: Interface in diamond problem</a:t>
            </a:r>
            <a:endParaRPr/>
          </a:p>
        </p:txBody>
      </p:sp>
      <p:sp>
        <p:nvSpPr>
          <p:cNvPr id="293" name="Google Shape;293;p40"/>
          <p:cNvSpPr txBox="1"/>
          <p:nvPr>
            <p:ph type="title"/>
          </p:nvPr>
        </p:nvSpPr>
        <p:spPr>
          <a:xfrm>
            <a:off x="720000" y="922425"/>
            <a:ext cx="7704000" cy="3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interface A {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default void show() { System.out.println("A"); 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interface B {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default void show() { System.out.println("B"); 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C implements A, B {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// Resolving the diamond problem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  <a:endParaRPr b="0" sz="14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show() {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A.super.show();</a:t>
            </a: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// Explicitly choose which interface method to call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4" name="Google Shape;29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1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Abstract class vs. Interface</a:t>
            </a:r>
            <a:endParaRPr/>
          </a:p>
        </p:txBody>
      </p:sp>
      <p:sp>
        <p:nvSpPr>
          <p:cNvPr id="307" name="Google Shape;30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08" name="Google Shape;308;p42"/>
          <p:cNvGraphicFramePr/>
          <p:nvPr/>
        </p:nvGraphicFramePr>
        <p:xfrm>
          <a:off x="952500" y="12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{1C9A8BF3-E4DD-4293-B6EB-79AA42E6A0A8}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Abstract class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Interface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Instantiation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Cannot be instantiated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Cannot be instantiated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have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abstract and concrete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abstract methods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have instance variables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constants allowed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Inheritance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Supports single inheritance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Supports multiple inheritance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Accessibility Modifiers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Methods can have any modifier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Methods are implicitly public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ADVANCED SECTION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3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Class diagram: Interface</a:t>
            </a:r>
            <a:endParaRPr/>
          </a:p>
        </p:txBody>
      </p:sp>
      <p:sp>
        <p:nvSpPr>
          <p:cNvPr id="321" name="Google Shape;321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44"/>
          <p:cNvSpPr/>
          <p:nvPr/>
        </p:nvSpPr>
        <p:spPr>
          <a:xfrm>
            <a:off x="2032349" y="226706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3" name="Google Shape;32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163" y="1249475"/>
            <a:ext cx="8915401" cy="2913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Classes &amp; Interfaces</a:t>
            </a:r>
            <a:endParaRPr/>
          </a:p>
        </p:txBody>
      </p:sp>
      <p:sp>
        <p:nvSpPr>
          <p:cNvPr id="329" name="Google Shape;32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p45"/>
          <p:cNvSpPr/>
          <p:nvPr/>
        </p:nvSpPr>
        <p:spPr>
          <a:xfrm>
            <a:off x="2555925" y="24544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1" name="Google Shape;3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475" y="1147150"/>
            <a:ext cx="7583049" cy="284919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5"/>
          <p:cNvSpPr txBox="1"/>
          <p:nvPr/>
        </p:nvSpPr>
        <p:spPr>
          <a:xfrm>
            <a:off x="780475" y="4125775"/>
            <a:ext cx="75831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Java pseudocode for the above diagram?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The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Cloneable</a:t>
            </a:r>
            <a:r>
              <a:rPr lang="en-US"/>
              <a:t> interface</a:t>
            </a:r>
            <a:endParaRPr/>
          </a:p>
        </p:txBody>
      </p:sp>
      <p:sp>
        <p:nvSpPr>
          <p:cNvPr id="338" name="Google Shape;338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46"/>
          <p:cNvSpPr txBox="1"/>
          <p:nvPr/>
        </p:nvSpPr>
        <p:spPr>
          <a:xfrm>
            <a:off x="813775" y="1366725"/>
            <a:ext cx="7543200" cy="28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6"/>
          <p:cNvSpPr txBox="1"/>
          <p:nvPr/>
        </p:nvSpPr>
        <p:spPr>
          <a:xfrm>
            <a:off x="457200" y="1014375"/>
            <a:ext cx="8229600" cy="3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public class Circle extends Shape implements Cloneable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private int x, y, radius;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	// Constructor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	</a:t>
            </a: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	// Clone method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	@Override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	public Object clone()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  	try { return super.clone(); } // Shallow copy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catch (CloneNotSupportedException ex) { return null; }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	}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Main function</a:t>
            </a: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  Circle c1 = new Circle(1, 2, 3); // Create an instance of Circle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  Circle c2 = (Circle) c1.clone(); // Clone c1 into c2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  System.out.println("Cloned Circle: " + c2); // Verify cloning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347" name="Google Shape;347;p4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