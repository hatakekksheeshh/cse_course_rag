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3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0" r:id="rId17"/>
    <p:sldId id="271" r:id="rId18"/>
    <p:sldId id="272" r:id="rId19"/>
  </p:sldIdLst>
  <p:sldSz cx="9144000" cy="5143500" type="screen16x9"/>
  <p:notesSz cx="6781800" cy="9918700"/>
  <p:embeddedFontLst>
    <p:embeddedFont>
      <p:font typeface="Anaheim" panose="020B0604020202020204" charset="0"/>
      <p:regular r:id="rId21"/>
      <p:bold r:id="rId22"/>
    </p:embeddedFont>
    <p:embeddedFont>
      <p:font typeface="Corbel" panose="020B0503020204020204" pitchFamily="34" charset="0"/>
      <p:regular r:id="rId23"/>
      <p:bold r:id="rId24"/>
      <p:italic r:id="rId25"/>
      <p:boldItalic r:id="rId26"/>
    </p:embeddedFont>
    <p:embeddedFont>
      <p:font typeface="Hanken Grotesk" pitchFamily="2" charset="0"/>
      <p:regular r:id="rId27"/>
      <p:bold r:id="rId28"/>
      <p:italic r:id="rId29"/>
      <p:boldItalic r:id="rId30"/>
    </p:embeddedFont>
    <p:embeddedFont>
      <p:font typeface="Nunito Light" pitchFamily="2" charset="0"/>
      <p:regular r:id="rId31"/>
    </p:embeddedFont>
    <p:embeddedFont>
      <p:font typeface="Raleway Black" pitchFamily="2" charset="0"/>
      <p:bold r:id="rId32"/>
      <p:boldItalic r:id="rId33"/>
    </p:embeddedFont>
    <p:embeddedFont>
      <p:font typeface="Raleway ExtraBold" pitchFamily="2" charset="0"/>
      <p:bold r:id="rId34"/>
      <p:boldItalic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  <p:embeddedFont>
      <p:font typeface="Tahoma" panose="020B0604030504040204" pitchFamily="3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20" Type="http://schemas.openxmlformats.org/officeDocument/2006/relationships/notesMaster" Target="notesMasters/notesMaster1.xml"/><Relationship Id="rId41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175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4" name="Google Shape;1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9" name="Google Shape;2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29709612e3_2_1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329709612e3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29709612e3_2_3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29709612e3_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38773d7844_0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38773d78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3e34c6aeb6_1_13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my_list = ['p', 'r', 'o', 'g', 'r', 'a', 'm']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my_list[2: 5] = ['o', 'g', 'r'] # get a list with items from index 2 to index 4 (index 5 is not included)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my_list[2: -2] = ['o', 'g', 'r'] # get a list with items from index 2 to index -3 (index -2 is not included)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my_list[0: 3] = ['p', 'r', 'o'] # get a list with items from index 0 to index 2 (index 3 is not included)</a:t>
            </a:r>
            <a:endParaRPr/>
          </a:p>
        </p:txBody>
      </p:sp>
      <p:sp>
        <p:nvSpPr>
          <p:cNvPr id="238" name="Google Shape;238;g33e34c6aeb6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3e34c6aeb6_1_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my_list[5: ] = ['a', 'm']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my_list[: -4] = ['p', 'r', 'o']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my_list[:] = ['p', 'r', 'o', 'g', 'r', 'a', 'm']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my_list[::2] = ['p', 'o', 'r', 'm']</a:t>
            </a:r>
            <a:endParaRPr/>
          </a:p>
        </p:txBody>
      </p:sp>
      <p:sp>
        <p:nvSpPr>
          <p:cNvPr id="245" name="Google Shape;245;g33e34c6aeb6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2885e2a979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2" name="Google Shape;252;g32885e2a979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38773d7844_0_16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Specified iterable can be list, tuple, dictionary or string.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fruits =  ['apple', 'banana', 'kiwi', 'orange', 'cherry', 'mango', 'lemon', 'pineapple']</a:t>
            </a:r>
            <a:endParaRPr/>
          </a:p>
        </p:txBody>
      </p:sp>
      <p:sp>
        <p:nvSpPr>
          <p:cNvPr id="259" name="Google Shape;259;g338773d784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3275d50d3c_0_5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3275d50d3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3275d50d3c_0_12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3275d50d3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3e34c6aeb6_1_2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33e34c6aeb6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3e34c6aeb6_1_26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33e34c6aeb6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3e34c6aeb6_1_26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33e34c6aeb6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44192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2885e2a979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95" name="Google Shape;295;g32885e2a979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3275d50d3c_0_13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33275d50d3c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:notes"/>
          <p:cNvSpPr txBox="1">
            <a:spLocks noGrp="1"/>
          </p:cNvSpPr>
          <p:nvPr>
            <p:ph type="sldNum" idx="12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39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7" name="Google Shape;17;p2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sz="900" b="1" i="0" u="none" strike="noStrike" cap="non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3448" y="166398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84564" y="275911"/>
            <a:ext cx="1430753" cy="5078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0" y="1815704"/>
            <a:ext cx="1042988" cy="77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1_One column 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title" idx="3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title" idx="4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 idx="5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 idx="6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 idx="7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title" idx="2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6" name="Google Shape;56;p7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 sz="9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9435" y="100723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3406" y="1"/>
            <a:ext cx="1736028" cy="8512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sz="9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9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Section Header">
  <p:cSld name="1_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FFC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3608615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body" idx="2"/>
          </p:nvPr>
        </p:nvSpPr>
        <p:spPr>
          <a:xfrm>
            <a:off x="4913268" y="1369218"/>
            <a:ext cx="3602083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6" name="Google Shape;96;p13"/>
          <p:cNvCxnSpPr/>
          <p:nvPr/>
        </p:nvCxnSpPr>
        <p:spPr>
          <a:xfrm>
            <a:off x="4585059" y="1369218"/>
            <a:ext cx="0" cy="3166859"/>
          </a:xfrm>
          <a:prstGeom prst="straightConnector1">
            <a:avLst/>
          </a:prstGeom>
          <a:noFill/>
          <a:ln w="19050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629842" y="408216"/>
            <a:ext cx="3607424" cy="587828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2"/>
          </p:nvPr>
        </p:nvSpPr>
        <p:spPr>
          <a:xfrm>
            <a:off x="629842" y="1216478"/>
            <a:ext cx="3607424" cy="342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3"/>
          </p:nvPr>
        </p:nvSpPr>
        <p:spPr>
          <a:xfrm>
            <a:off x="4950823" y="408214"/>
            <a:ext cx="3598376" cy="587829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body" idx="4"/>
          </p:nvPr>
        </p:nvSpPr>
        <p:spPr>
          <a:xfrm>
            <a:off x="4918165" y="1216478"/>
            <a:ext cx="3598376" cy="342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5" name="Google Shape;105;p14"/>
          <p:cNvCxnSpPr/>
          <p:nvPr/>
        </p:nvCxnSpPr>
        <p:spPr>
          <a:xfrm>
            <a:off x="4585059" y="408216"/>
            <a:ext cx="0" cy="4127863"/>
          </a:xfrm>
          <a:prstGeom prst="straightConnector1">
            <a:avLst/>
          </a:prstGeom>
          <a:noFill/>
          <a:ln w="19050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body" idx="1"/>
          </p:nvPr>
        </p:nvSpPr>
        <p:spPr>
          <a:xfrm>
            <a:off x="3887391" y="0"/>
            <a:ext cx="525660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 sz="1800"/>
            </a:lvl1pPr>
            <a:lvl2pPr marL="914400" lvl="1" indent="-37861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363"/>
              <a:buChar char="•"/>
              <a:defRPr sz="1575"/>
            </a:lvl2pPr>
            <a:lvl3pPr marL="1371600" lvl="2" indent="-35718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025"/>
              <a:buChar char="•"/>
              <a:defRPr sz="1350"/>
            </a:lvl3pPr>
            <a:lvl4pPr marL="1828800" lvl="3" indent="-335756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4pPr>
            <a:lvl5pPr marL="2286000" lvl="4" indent="-335756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5pPr>
            <a:lvl6pPr marL="2743200" lvl="5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marL="3200400" lvl="6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marL="3657600" lvl="7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marL="4114800" lvl="8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cxnSp>
        <p:nvCxnSpPr>
          <p:cNvPr id="124" name="Google Shape;124;p18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w="9525" cap="flat" cmpd="sng">
            <a:solidFill>
              <a:srgbClr val="637D9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>
            <a:spLocks noGrp="1"/>
          </p:cNvSpPr>
          <p:nvPr>
            <p:ph type="pic" idx="2"/>
          </p:nvPr>
        </p:nvSpPr>
        <p:spPr>
          <a:xfrm>
            <a:off x="3921920" y="0"/>
            <a:ext cx="5222081" cy="5143500"/>
          </a:xfrm>
          <a:prstGeom prst="rect">
            <a:avLst/>
          </a:prstGeom>
          <a:solidFill>
            <a:srgbClr val="1F3864"/>
          </a:solidFill>
          <a:ln w="9525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3" name="Google Shape;133;p19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w="9525" cap="flat" cmpd="sng">
            <a:solidFill>
              <a:srgbClr val="637D9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72076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>
            <a:spLocks noGrp="1"/>
          </p:cNvSpPr>
          <p:nvPr>
            <p:ph type="title"/>
          </p:nvPr>
        </p:nvSpPr>
        <p:spPr>
          <a:xfrm rot="5400000">
            <a:off x="5350074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body" idx="1"/>
          </p:nvPr>
        </p:nvSpPr>
        <p:spPr>
          <a:xfrm rot="5400000">
            <a:off x="1349574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>
            <a:spLocks noGrp="1"/>
          </p:cNvSpPr>
          <p:nvPr>
            <p:ph type="pic" idx="2"/>
          </p:nvPr>
        </p:nvSpPr>
        <p:spPr>
          <a:xfrm>
            <a:off x="1204230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22"/>
          <p:cNvSpPr txBox="1">
            <a:spLocks noGrp="1"/>
          </p:cNvSpPr>
          <p:nvPr>
            <p:ph type="body" idx="1"/>
          </p:nvPr>
        </p:nvSpPr>
        <p:spPr>
          <a:xfrm>
            <a:off x="1381551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22"/>
          <p:cNvSpPr>
            <a:spLocks noGrp="1"/>
          </p:cNvSpPr>
          <p:nvPr>
            <p:ph type="pic" idx="3"/>
          </p:nvPr>
        </p:nvSpPr>
        <p:spPr>
          <a:xfrm>
            <a:off x="3650034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22"/>
          <p:cNvSpPr txBox="1">
            <a:spLocks noGrp="1"/>
          </p:cNvSpPr>
          <p:nvPr>
            <p:ph type="body" idx="4"/>
          </p:nvPr>
        </p:nvSpPr>
        <p:spPr>
          <a:xfrm>
            <a:off x="3785705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6054191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2"/>
          <p:cNvSpPr txBox="1">
            <a:spLocks noGrp="1"/>
          </p:cNvSpPr>
          <p:nvPr>
            <p:ph type="body" idx="6"/>
          </p:nvPr>
        </p:nvSpPr>
        <p:spPr>
          <a:xfrm>
            <a:off x="6189863" y="3650226"/>
            <a:ext cx="1786951" cy="835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3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w="9525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23"/>
          <p:cNvSpPr txBox="1">
            <a:spLocks noGrp="1"/>
          </p:cNvSpPr>
          <p:nvPr>
            <p:ph type="body" idx="1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sz="1800" b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body" idx="2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i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3"/>
          <p:cNvSpPr>
            <a:spLocks noGrp="1"/>
          </p:cNvSpPr>
          <p:nvPr>
            <p:ph type="chart" idx="3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body" idx="4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24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w="9525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3" name="Google Shape;163;p24"/>
          <p:cNvSpPr txBox="1">
            <a:spLocks noGrp="1"/>
          </p:cNvSpPr>
          <p:nvPr>
            <p:ph type="body" idx="1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sz="1800" b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body" idx="2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i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4"/>
          <p:cNvSpPr>
            <a:spLocks noGrp="1"/>
          </p:cNvSpPr>
          <p:nvPr>
            <p:ph type="chart" idx="3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body" idx="4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>
            <a:spLocks noGrp="1"/>
          </p:cNvSpPr>
          <p:nvPr>
            <p:ph type="pic" idx="2"/>
          </p:nvPr>
        </p:nvSpPr>
        <p:spPr>
          <a:xfrm flipH="1">
            <a:off x="569046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0" name="Google Shape;170;p25"/>
          <p:cNvSpPr>
            <a:spLocks noGrp="1"/>
          </p:cNvSpPr>
          <p:nvPr>
            <p:ph type="pic" idx="3"/>
          </p:nvPr>
        </p:nvSpPr>
        <p:spPr>
          <a:xfrm flipH="1">
            <a:off x="2673352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1" name="Google Shape;171;p25"/>
          <p:cNvSpPr>
            <a:spLocks noGrp="1"/>
          </p:cNvSpPr>
          <p:nvPr>
            <p:ph type="pic" idx="4"/>
          </p:nvPr>
        </p:nvSpPr>
        <p:spPr>
          <a:xfrm flipH="1">
            <a:off x="4802151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2" name="Google Shape;172;p25"/>
          <p:cNvSpPr>
            <a:spLocks noGrp="1"/>
          </p:cNvSpPr>
          <p:nvPr>
            <p:ph type="pic" idx="5"/>
          </p:nvPr>
        </p:nvSpPr>
        <p:spPr>
          <a:xfrm flipH="1">
            <a:off x="6828076" y="872835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3" name="Google Shape;173;p25"/>
          <p:cNvSpPr txBox="1">
            <a:spLocks noGrp="1"/>
          </p:cNvSpPr>
          <p:nvPr>
            <p:ph type="body" idx="1"/>
          </p:nvPr>
        </p:nvSpPr>
        <p:spPr>
          <a:xfrm>
            <a:off x="56904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body" idx="6"/>
          </p:nvPr>
        </p:nvSpPr>
        <p:spPr>
          <a:xfrm>
            <a:off x="2723781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body" idx="7"/>
          </p:nvPr>
        </p:nvSpPr>
        <p:spPr>
          <a:xfrm>
            <a:off x="4852580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body" idx="8"/>
          </p:nvPr>
        </p:nvSpPr>
        <p:spPr>
          <a:xfrm>
            <a:off x="692893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eet the team 3">
  <p:cSld name="1_Meet the team 3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/>
          <p:nvPr/>
        </p:nvSpPr>
        <p:spPr>
          <a:xfrm>
            <a:off x="8631714" y="221557"/>
            <a:ext cx="316640" cy="316642"/>
          </a:xfrm>
          <a:prstGeom prst="ellipse">
            <a:avLst/>
          </a:prstGeom>
          <a:solidFill>
            <a:srgbClr val="231D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8666038" y="258393"/>
            <a:ext cx="225709" cy="17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88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7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475"/>
              <a:buFont typeface="Calibri"/>
              <a:buNone/>
              <a:defRPr sz="2475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8618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718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575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08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08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991" y="0"/>
            <a:ext cx="9142021" cy="5143500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38000">
                <a:srgbClr val="FFFFFF">
                  <a:alpha val="14901"/>
                </a:srgbClr>
              </a:gs>
              <a:gs pos="84000">
                <a:srgbClr val="E7E6E6">
                  <a:alpha val="29803"/>
                </a:srgbClr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/>
        </p:nvSpPr>
        <p:spPr>
          <a:xfrm>
            <a:off x="2252676" y="4804219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anken Grotesk"/>
              <a:buNone/>
            </a:pPr>
            <a:r>
              <a:rPr lang="en-US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TP.HCM</a:t>
            </a:r>
            <a:r>
              <a:rPr lang="en-US"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r>
              <a:rPr lang="en-US"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/0</a:t>
            </a:r>
            <a:r>
              <a:rPr lang="en-US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/202</a:t>
            </a:r>
            <a:r>
              <a:rPr lang="en-US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7" name="Google Shape;187;p27"/>
          <p:cNvSpPr txBox="1"/>
          <p:nvPr/>
        </p:nvSpPr>
        <p:spPr>
          <a:xfrm>
            <a:off x="3244200" y="1066425"/>
            <a:ext cx="4499100" cy="12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Advanced Programming</a:t>
            </a:r>
            <a:endParaRPr sz="3375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CO2039</a:t>
            </a:r>
            <a:endParaRPr sz="24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1400700" y="2722425"/>
            <a:ext cx="6342600" cy="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Chapter 3: List comprehension</a:t>
            </a:r>
            <a:br>
              <a:rPr lang="en-US" sz="24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i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Part of the Functional Programming paradigm</a:t>
            </a:r>
            <a:endParaRPr sz="1600" b="1" i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>
            <a:spLocks noGrp="1"/>
          </p:cNvSpPr>
          <p:nvPr>
            <p:ph type="title"/>
          </p:nvPr>
        </p:nvSpPr>
        <p:spPr>
          <a:xfrm>
            <a:off x="1290199" y="520050"/>
            <a:ext cx="1671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CONTENT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>
            <a:spLocks noGrp="1"/>
          </p:cNvSpPr>
          <p:nvPr>
            <p:ph type="title" idx="4"/>
          </p:nvPr>
        </p:nvSpPr>
        <p:spPr>
          <a:xfrm>
            <a:off x="1092960" y="1737322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>
            <a:spLocks noGrp="1"/>
          </p:cNvSpPr>
          <p:nvPr>
            <p:ph type="title" idx="5"/>
          </p:nvPr>
        </p:nvSpPr>
        <p:spPr>
          <a:xfrm>
            <a:off x="1092960" y="23946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>
            <a:spLocks noGrp="1"/>
          </p:cNvSpPr>
          <p:nvPr>
            <p:ph type="subTitle" idx="8"/>
          </p:nvPr>
        </p:nvSpPr>
        <p:spPr>
          <a:xfrm>
            <a:off x="1926546" y="1739100"/>
            <a:ext cx="61245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INTRODUCTION TO PYTHON LISTS: CREATION, ACCESS, SLICING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>
            <a:spLocks noGrp="1"/>
          </p:cNvSpPr>
          <p:nvPr>
            <p:ph type="subTitle" idx="14"/>
          </p:nvPr>
        </p:nvSpPr>
        <p:spPr>
          <a:xfrm>
            <a:off x="1926550" y="2355163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MODIFYING AND ITERATING THROUGH LISTS</a:t>
            </a:r>
            <a:endParaRPr sz="2000"/>
          </a:p>
        </p:txBody>
      </p:sp>
      <p:grpSp>
        <p:nvGrpSpPr>
          <p:cNvPr id="198" name="Google Shape;198;p28"/>
          <p:cNvGrpSpPr/>
          <p:nvPr/>
        </p:nvGrpSpPr>
        <p:grpSpPr>
          <a:xfrm>
            <a:off x="8024595" y="1680150"/>
            <a:ext cx="1193310" cy="3463350"/>
            <a:chOff x="472500" y="1762000"/>
            <a:chExt cx="1193310" cy="3463350"/>
          </a:xfrm>
        </p:grpSpPr>
        <p:grpSp>
          <p:nvGrpSpPr>
            <p:cNvPr id="199" name="Google Shape;199;p28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3" cy="1266614"/>
            </a:xfrm>
          </p:grpSpPr>
          <p:sp>
            <p:nvSpPr>
              <p:cNvPr id="200" name="Google Shape;200;p2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2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2" name="Google Shape;202;p28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28"/>
          <p:cNvSpPr/>
          <p:nvPr/>
        </p:nvSpPr>
        <p:spPr>
          <a:xfrm rot="-5400000">
            <a:off x="1077549" y="703475"/>
            <a:ext cx="228075" cy="197250"/>
          </a:xfrm>
          <a:prstGeom prst="flowChartMerge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05" name="Google Shape;205;p28"/>
          <p:cNvSpPr txBox="1">
            <a:spLocks noGrp="1"/>
          </p:cNvSpPr>
          <p:nvPr>
            <p:ph type="title" idx="5"/>
          </p:nvPr>
        </p:nvSpPr>
        <p:spPr>
          <a:xfrm>
            <a:off x="1092960" y="309319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8"/>
          <p:cNvSpPr txBox="1">
            <a:spLocks noGrp="1"/>
          </p:cNvSpPr>
          <p:nvPr>
            <p:ph type="subTitle" idx="14"/>
          </p:nvPr>
        </p:nvSpPr>
        <p:spPr>
          <a:xfrm>
            <a:off x="1926550" y="3053738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INTRODUCTION TO PYTHON LISTS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Creating a Python List</a:t>
            </a:r>
            <a:endParaRPr/>
          </a:p>
        </p:txBody>
      </p:sp>
      <p:sp>
        <p:nvSpPr>
          <p:cNvPr id="219" name="Google Shape;219;p30"/>
          <p:cNvSpPr txBox="1">
            <a:spLocks noGrp="1"/>
          </p:cNvSpPr>
          <p:nvPr>
            <p:ph type="title"/>
          </p:nvPr>
        </p:nvSpPr>
        <p:spPr>
          <a:xfrm>
            <a:off x="720000" y="1335775"/>
            <a:ext cx="7704000" cy="30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Create a list by placing elements inside square brackets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-US" sz="1800" b="0">
                <a:solidFill>
                  <a:schemeClr val="dk1"/>
                </a:solidFill>
              </a:rPr>
              <a:t>, separated by commas.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Can also store data of </a:t>
            </a:r>
            <a:r>
              <a:rPr lang="en-US" sz="1800" i="1">
                <a:solidFill>
                  <a:schemeClr val="dk1"/>
                </a:solidFill>
              </a:rPr>
              <a:t>different data types</a:t>
            </a:r>
            <a:r>
              <a:rPr lang="en-US" sz="1800" b="0">
                <a:solidFill>
                  <a:schemeClr val="dk1"/>
                </a:solidFill>
              </a:rPr>
              <a:t> in a list.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In Python, lists are:</a:t>
            </a:r>
            <a:endParaRPr sz="1800" b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Ordered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They maintain the order of elements.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Mutable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Items can be changed after creation.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 duplicates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They can contain duplicate values.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Access List Elements</a:t>
            </a:r>
            <a:endParaRPr/>
          </a:p>
        </p:txBody>
      </p:sp>
      <p:sp>
        <p:nvSpPr>
          <p:cNvPr id="226" name="Google Shape;226;p31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20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The index of </a:t>
            </a:r>
            <a:r>
              <a:rPr lang="en-US" sz="1800">
                <a:solidFill>
                  <a:schemeClr val="dk1"/>
                </a:solidFill>
              </a:rPr>
              <a:t>first item</a:t>
            </a:r>
            <a:r>
              <a:rPr lang="en-US" sz="1800" b="0">
                <a:solidFill>
                  <a:schemeClr val="dk1"/>
                </a:solidFill>
              </a:rPr>
              <a:t> is </a:t>
            </a:r>
            <a:r>
              <a:rPr lang="en-US" sz="1800">
                <a:solidFill>
                  <a:schemeClr val="dk1"/>
                </a:solidFill>
              </a:rPr>
              <a:t>0</a:t>
            </a:r>
            <a:r>
              <a:rPr lang="en-US" sz="1800" b="0">
                <a:solidFill>
                  <a:schemeClr val="dk1"/>
                </a:solidFill>
              </a:rPr>
              <a:t>, the index of second item is 1, and so on.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Can also have </a:t>
            </a:r>
            <a:r>
              <a:rPr lang="en-US" sz="1800" i="1">
                <a:solidFill>
                  <a:schemeClr val="dk1"/>
                </a:solidFill>
              </a:rPr>
              <a:t>negative indices</a:t>
            </a:r>
            <a:r>
              <a:rPr lang="en-US" sz="1800" b="0">
                <a:solidFill>
                  <a:schemeClr val="dk1"/>
                </a:solidFill>
              </a:rPr>
              <a:t>.</a:t>
            </a:r>
            <a:endParaRPr sz="1800" b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⇒ The index of the </a:t>
            </a:r>
            <a:r>
              <a:rPr lang="en-US" sz="1800">
                <a:solidFill>
                  <a:schemeClr val="dk1"/>
                </a:solidFill>
              </a:rPr>
              <a:t>last element</a:t>
            </a:r>
            <a:r>
              <a:rPr lang="en-US" sz="1800" b="0">
                <a:solidFill>
                  <a:schemeClr val="dk1"/>
                </a:solidFill>
              </a:rPr>
              <a:t> is </a:t>
            </a:r>
            <a:r>
              <a:rPr lang="en-US" sz="1800">
                <a:solidFill>
                  <a:schemeClr val="dk1"/>
                </a:solidFill>
              </a:rPr>
              <a:t>-1</a:t>
            </a:r>
            <a:r>
              <a:rPr lang="en-US" sz="1800" b="0">
                <a:solidFill>
                  <a:schemeClr val="dk1"/>
                </a:solidFill>
              </a:rPr>
              <a:t>, the second last element is -2 and so on.</a:t>
            </a:r>
            <a:endParaRPr sz="1800" b="0">
              <a:solidFill>
                <a:schemeClr val="dk1"/>
              </a:solidFill>
            </a:endParaRPr>
          </a:p>
        </p:txBody>
      </p:sp>
      <p:sp>
        <p:nvSpPr>
          <p:cNvPr id="227" name="Google Shape;227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28" name="Google Shape;22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00" y="2887725"/>
            <a:ext cx="701040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Slicing of a List in Python (1)</a:t>
            </a:r>
            <a:endParaRPr/>
          </a:p>
        </p:txBody>
      </p:sp>
      <p:sp>
        <p:nvSpPr>
          <p:cNvPr id="234" name="Google Shape;234;p32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The format for list slicing is 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list_name[start: stop: step]</a:t>
            </a:r>
            <a:r>
              <a:rPr lang="en-US" sz="1800" b="0">
                <a:solidFill>
                  <a:schemeClr val="dk1"/>
                </a:solidFill>
              </a:rPr>
              <a:t>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en-US" sz="1800" b="0">
                <a:solidFill>
                  <a:schemeClr val="dk1"/>
                </a:solidFill>
              </a:rPr>
              <a:t> is the index of the list where slicing starts.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stop</a:t>
            </a:r>
            <a:r>
              <a:rPr lang="en-US" sz="1800" b="0">
                <a:solidFill>
                  <a:schemeClr val="dk1"/>
                </a:solidFill>
              </a:rPr>
              <a:t> is the index of the list where slicing ends.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step</a:t>
            </a:r>
            <a:r>
              <a:rPr lang="en-US" sz="1800" b="0">
                <a:solidFill>
                  <a:schemeClr val="dk1"/>
                </a:solidFill>
              </a:rPr>
              <a:t> allows you to select nth item within the range start to stop.</a:t>
            </a:r>
            <a:endParaRPr sz="1800" b="0">
              <a:solidFill>
                <a:schemeClr val="dk1"/>
              </a:solidFill>
            </a:endParaRPr>
          </a:p>
        </p:txBody>
      </p:sp>
      <p:sp>
        <p:nvSpPr>
          <p:cNvPr id="235" name="Google Shape;235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Slicing of a List in Python (2)</a:t>
            </a:r>
            <a:endParaRPr/>
          </a:p>
        </p:txBody>
      </p:sp>
      <p:sp>
        <p:nvSpPr>
          <p:cNvPr id="241" name="Google Shape;241;p33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</a:rPr>
              <a:t>Example:</a:t>
            </a:r>
            <a:endParaRPr sz="1800" b="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['p', 'r', 'o', 'g', 'r', 'a', 'm']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=", 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=&gt; full list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[2:5] =", 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[2:5])  =&gt; o, g, r  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[2:-2] =", 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[2:-2])  =&gt; o, g, r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[0:3] =", 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[0:3])=&gt; p, r, o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2" name="Google Shape;242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Omitting Start and End Indices in Slicing</a:t>
            </a:r>
            <a:endParaRPr/>
          </a:p>
        </p:txBody>
      </p:sp>
      <p:sp>
        <p:nvSpPr>
          <p:cNvPr id="248" name="Google Shape;248;p34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If you omit the start index, the slicing starts from the first element. 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If you omit the last index, the slicing ends at the last element.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Example: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['p', 'r', 'o', 'g', 'r', 'a', 'm']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[5: ] =", 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[5: ]) =&gt; a, m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[:-4] =", 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[:-4]) =&gt; p, r, o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[:] =", 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[:])=&gt; full list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[::2] =", 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[::2]) =&gt; p , o, r, m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9" name="Google Shape;249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>
            <a:spLocks noGrp="1"/>
          </p:cNvSpPr>
          <p:nvPr>
            <p:ph type="title"/>
          </p:nvPr>
        </p:nvSpPr>
        <p:spPr>
          <a:xfrm>
            <a:off x="3510425" y="2078100"/>
            <a:ext cx="47172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MODIFYING AND ITERATING THROUGH LISTS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5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Add Elements to a Python List</a:t>
            </a:r>
            <a:endParaRPr/>
          </a:p>
        </p:txBody>
      </p:sp>
      <p:sp>
        <p:nvSpPr>
          <p:cNvPr id="262" name="Google Shape;262;p36"/>
          <p:cNvSpPr txBox="1">
            <a:spLocks noGrp="1"/>
          </p:cNvSpPr>
          <p:nvPr>
            <p:ph type="title"/>
          </p:nvPr>
        </p:nvSpPr>
        <p:spPr>
          <a:xfrm>
            <a:off x="720000" y="1199450"/>
            <a:ext cx="7704000" cy="3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Add an item to the end of a list ⇒ 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append()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Insert an element at the specified index to a list ⇒ 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insert()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Add all the items of the specified </a:t>
            </a:r>
            <a:r>
              <a:rPr lang="en-US" sz="1800" b="0" dirty="0" err="1">
                <a:solidFill>
                  <a:schemeClr val="dk1"/>
                </a:solidFill>
              </a:rPr>
              <a:t>iterable</a:t>
            </a:r>
            <a:r>
              <a:rPr lang="en-US" sz="1800" b="0" dirty="0">
                <a:solidFill>
                  <a:schemeClr val="dk1"/>
                </a:solidFill>
              </a:rPr>
              <a:t> to the end of a list ⇒ 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extend()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Example: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fruits = ['apple', 'banana', 'orange']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fruits.append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('cherry')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fruits.insert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(2, 'kiwi')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favorite_fruits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['mango', 'lemon', 'pineapple']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fruits.extend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favorite_fruits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3" name="Google Shape;263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Modify elements in a Python List</a:t>
            </a:r>
            <a:endParaRPr/>
          </a:p>
        </p:txBody>
      </p:sp>
      <p:sp>
        <p:nvSpPr>
          <p:cNvPr id="269" name="Google Shape;269;p37"/>
          <p:cNvSpPr txBox="1">
            <a:spLocks noGrp="1"/>
          </p:cNvSpPr>
          <p:nvPr>
            <p:ph type="title"/>
          </p:nvPr>
        </p:nvSpPr>
        <p:spPr>
          <a:xfrm>
            <a:off x="720000" y="887400"/>
            <a:ext cx="7704000" cy="38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Change the items of a list by assigning new values ⇒ 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800" b="0" dirty="0">
                <a:solidFill>
                  <a:schemeClr val="dk1"/>
                </a:solidFill>
              </a:rPr>
              <a:t> operator.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Remove the specified item from a list ⇒ 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remove()</a:t>
            </a:r>
            <a:r>
              <a:rPr lang="en-US" sz="1800" b="0" dirty="0">
                <a:solidFill>
                  <a:schemeClr val="dk1"/>
                </a:solidFill>
              </a:rPr>
              <a:t> 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Can also delete an item from a list ⇒ 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</a:t>
            </a:r>
            <a:r>
              <a:rPr lang="en-US" sz="1800" b="0" dirty="0">
                <a:solidFill>
                  <a:schemeClr val="dk1"/>
                </a:solidFill>
              </a:rPr>
              <a:t> statement 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</a:rPr>
              <a:t>→ 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</a:t>
            </a:r>
            <a:r>
              <a:rPr lang="en-US" sz="1800" b="0" dirty="0">
                <a:solidFill>
                  <a:schemeClr val="dk1"/>
                </a:solidFill>
              </a:rPr>
              <a:t> can also be used to delete multiple elements or even the entire list.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Example: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names = ['John', 'Eva', 'Laura', 'Nick', 'Jack']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names.remove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('Laura')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 names[1]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 names[1:3]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 names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0" name="Google Shape;270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450"/>
              <a:t>Iterating Through a List</a:t>
            </a:r>
            <a:endParaRPr sz="2450"/>
          </a:p>
        </p:txBody>
      </p:sp>
      <p:sp>
        <p:nvSpPr>
          <p:cNvPr id="276" name="Google Shape;276;p38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Find the number of elements (length) of a list ⇒ built-in 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len()</a:t>
            </a:r>
            <a:r>
              <a:rPr lang="en-US" sz="1800" b="0">
                <a:solidFill>
                  <a:schemeClr val="dk1"/>
                </a:solidFill>
              </a:rPr>
              <a:t> 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We can use a 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800" b="0">
                <a:solidFill>
                  <a:schemeClr val="dk1"/>
                </a:solidFill>
              </a:rPr>
              <a:t> loop to iterate over the elements of a list.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Example:</a:t>
            </a:r>
            <a:endParaRPr sz="1800" b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fruits = ['apple', 'banana', 'orange']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fruit in fruits: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print(fruit)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7" name="Google Shape;277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450"/>
              <a:t>Python List Comprehension (1)</a:t>
            </a:r>
            <a:endParaRPr sz="2450"/>
          </a:p>
        </p:txBody>
      </p:sp>
      <p:sp>
        <p:nvSpPr>
          <p:cNvPr id="283" name="Google Shape;283;p39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List comprehension offers a concise way to create a new list based on the values of an existing list.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Syntax: 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[expression </a:t>
            </a:r>
            <a:r>
              <a:rPr lang="en-US" sz="1600" b="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item </a:t>
            </a:r>
            <a:r>
              <a:rPr lang="en-US" sz="1600" b="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list </a:t>
            </a:r>
            <a:r>
              <a:rPr lang="en-US" sz="1600" b="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condition == </a:t>
            </a:r>
            <a:r>
              <a:rPr lang="en-US" sz="1600" b="0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every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item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execute the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expression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statement in list comprehension is optional.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450"/>
              <a:t>Python List Comprehension (2)</a:t>
            </a:r>
            <a:endParaRPr sz="2450"/>
          </a:p>
        </p:txBody>
      </p:sp>
      <p:sp>
        <p:nvSpPr>
          <p:cNvPr id="290" name="Google Shape;290;p40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20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</a:rPr>
              <a:t>Example:</a:t>
            </a:r>
            <a:endParaRPr sz="1800" b="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numbers = [1, 2, 3, 4]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doubled_numbers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[num * 2 for num in numbers]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doubled_numbers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# Output: [2, 4, 6, 8]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1" name="Google Shape;291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92" name="Google Shape;29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00" y="3029825"/>
            <a:ext cx="7010400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450"/>
              <a:t>Python List Comprehension (2)</a:t>
            </a:r>
            <a:endParaRPr sz="2450"/>
          </a:p>
        </p:txBody>
      </p:sp>
      <p:sp>
        <p:nvSpPr>
          <p:cNvPr id="290" name="Google Shape;290;p40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20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</a:rPr>
              <a:t>Example:</a:t>
            </a:r>
            <a:endParaRPr sz="1800" b="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numbers = [1, 2, 3, 4]</a:t>
            </a:r>
            <a:b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doubled_evens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[num * 2 for num in numbers if num % 2 == 0]</a:t>
            </a:r>
            <a:b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</a:t>
            </a:r>
            <a:r>
              <a:rPr lang="en-US" sz="1600" b="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doubled_evens</a:t>
            </a:r>
            <a:r>
              <a:rPr lang="en-US" sz="1600" b="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 # Output: [4, 8]</a:t>
            </a:r>
            <a:endParaRPr sz="1600" b="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1" name="Google Shape;291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92" name="Google Shape;29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00" y="3029825"/>
            <a:ext cx="7010400" cy="1533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0369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1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CONCLUSION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1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05" name="Google Shape;305;p42"/>
          <p:cNvSpPr txBox="1">
            <a:spLocks noGrp="1"/>
          </p:cNvSpPr>
          <p:nvPr>
            <p:ph type="title"/>
          </p:nvPr>
        </p:nvSpPr>
        <p:spPr>
          <a:xfrm>
            <a:off x="720000" y="887400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Lists in Python are </a:t>
            </a:r>
            <a:r>
              <a:rPr lang="en-US" sz="1800">
                <a:solidFill>
                  <a:schemeClr val="dk1"/>
                </a:solidFill>
              </a:rPr>
              <a:t>versatile</a:t>
            </a:r>
            <a:r>
              <a:rPr lang="en-US" sz="1800" b="0">
                <a:solidFill>
                  <a:schemeClr val="dk1"/>
                </a:solidFill>
              </a:rPr>
              <a:t> and </a:t>
            </a:r>
            <a:r>
              <a:rPr lang="en-US" sz="1800">
                <a:solidFill>
                  <a:schemeClr val="dk1"/>
                </a:solidFill>
              </a:rPr>
              <a:t>mutable</a:t>
            </a:r>
            <a:r>
              <a:rPr lang="en-US" sz="1800" b="0">
                <a:solidFill>
                  <a:schemeClr val="dk1"/>
                </a:solidFill>
              </a:rPr>
              <a:t>, making them essential for data manipulation.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You can </a:t>
            </a:r>
            <a:r>
              <a:rPr lang="en-US" sz="1800">
                <a:solidFill>
                  <a:schemeClr val="dk1"/>
                </a:solidFill>
              </a:rPr>
              <a:t>create</a:t>
            </a:r>
            <a:r>
              <a:rPr lang="en-US" sz="1800" b="0">
                <a:solidFill>
                  <a:schemeClr val="dk1"/>
                </a:solidFill>
              </a:rPr>
              <a:t>, </a:t>
            </a:r>
            <a:r>
              <a:rPr lang="en-US" sz="1800">
                <a:solidFill>
                  <a:schemeClr val="dk1"/>
                </a:solidFill>
              </a:rPr>
              <a:t>access</a:t>
            </a:r>
            <a:r>
              <a:rPr lang="en-US" sz="1800" b="0">
                <a:solidFill>
                  <a:schemeClr val="dk1"/>
                </a:solidFill>
              </a:rPr>
              <a:t>, and </a:t>
            </a:r>
            <a:r>
              <a:rPr lang="en-US" sz="1800">
                <a:solidFill>
                  <a:schemeClr val="dk1"/>
                </a:solidFill>
              </a:rPr>
              <a:t>slice</a:t>
            </a:r>
            <a:r>
              <a:rPr lang="en-US" sz="1800" b="0">
                <a:solidFill>
                  <a:schemeClr val="dk1"/>
                </a:solidFill>
              </a:rPr>
              <a:t> lists efficiently.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Lists allow </a:t>
            </a:r>
            <a:r>
              <a:rPr lang="en-US" sz="1800">
                <a:solidFill>
                  <a:schemeClr val="dk1"/>
                </a:solidFill>
              </a:rPr>
              <a:t>adding</a:t>
            </a:r>
            <a:r>
              <a:rPr lang="en-US" sz="1800" b="0">
                <a:solidFill>
                  <a:schemeClr val="dk1"/>
                </a:solidFill>
              </a:rPr>
              <a:t>, </a:t>
            </a:r>
            <a:r>
              <a:rPr lang="en-US" sz="1800">
                <a:solidFill>
                  <a:schemeClr val="dk1"/>
                </a:solidFill>
              </a:rPr>
              <a:t>removing</a:t>
            </a:r>
            <a:r>
              <a:rPr lang="en-US" sz="1800" b="0">
                <a:solidFill>
                  <a:schemeClr val="dk1"/>
                </a:solidFill>
              </a:rPr>
              <a:t>, and </a:t>
            </a:r>
            <a:r>
              <a:rPr lang="en-US" sz="1800">
                <a:solidFill>
                  <a:schemeClr val="dk1"/>
                </a:solidFill>
              </a:rPr>
              <a:t>modifying</a:t>
            </a:r>
            <a:r>
              <a:rPr lang="en-US" sz="1800" b="0">
                <a:solidFill>
                  <a:schemeClr val="dk1"/>
                </a:solidFill>
              </a:rPr>
              <a:t> elements dynamically.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Iteration techniques, including </a:t>
            </a:r>
            <a:r>
              <a:rPr lang="en-US" sz="1800">
                <a:solidFill>
                  <a:schemeClr val="dk1"/>
                </a:solidFill>
              </a:rPr>
              <a:t>loops</a:t>
            </a:r>
            <a:r>
              <a:rPr lang="en-US" sz="1800" b="0">
                <a:solidFill>
                  <a:schemeClr val="dk1"/>
                </a:solidFill>
              </a:rPr>
              <a:t> and </a:t>
            </a:r>
            <a:r>
              <a:rPr lang="en-US" sz="1800">
                <a:solidFill>
                  <a:schemeClr val="dk1"/>
                </a:solidFill>
              </a:rPr>
              <a:t>list comprehensions</a:t>
            </a:r>
            <a:r>
              <a:rPr lang="en-US" sz="1800" b="0">
                <a:solidFill>
                  <a:schemeClr val="dk1"/>
                </a:solidFill>
              </a:rPr>
              <a:t>, provide powerful ways to process data.</a:t>
            </a:r>
            <a:endParaRPr sz="1800" b="0">
              <a:solidFill>
                <a:schemeClr val="dk1"/>
              </a:solidFill>
            </a:endParaRPr>
          </a:p>
        </p:txBody>
      </p:sp>
      <p:sp>
        <p:nvSpPr>
          <p:cNvPr id="306" name="Google Shape;306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"/>
          <p:cNvSpPr txBox="1">
            <a:spLocks noGrp="1"/>
          </p:cNvSpPr>
          <p:nvPr>
            <p:ph type="ctrTitle"/>
          </p:nvPr>
        </p:nvSpPr>
        <p:spPr>
          <a:xfrm>
            <a:off x="1142991" y="1356714"/>
            <a:ext cx="68580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orbel"/>
              <a:buNone/>
            </a:pPr>
            <a:r>
              <a:rPr lang="en-US" sz="3600">
                <a:latin typeface="Corbel"/>
                <a:ea typeface="Corbel"/>
                <a:cs typeface="Corbel"/>
                <a:sym typeface="Corbel"/>
              </a:rPr>
              <a:t>Thank you for your attention!</a:t>
            </a:r>
            <a:endParaRPr/>
          </a:p>
        </p:txBody>
      </p:sp>
      <p:sp>
        <p:nvSpPr>
          <p:cNvPr id="313" name="Google Shape;313;p4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https://www.cse.hcmut.edu.vn</a:t>
            </a:r>
            <a:endParaRPr sz="1800" u="sng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CMU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1186</Words>
  <Application>Microsoft Office PowerPoint</Application>
  <PresentationFormat>On-screen Show (16:9)</PresentationFormat>
  <Paragraphs>124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Raleway ExtraBold</vt:lpstr>
      <vt:lpstr>Courier New</vt:lpstr>
      <vt:lpstr>Hanken Grotesk</vt:lpstr>
      <vt:lpstr>Corbel</vt:lpstr>
      <vt:lpstr>Arial</vt:lpstr>
      <vt:lpstr>Raleway Black</vt:lpstr>
      <vt:lpstr>Tahoma</vt:lpstr>
      <vt:lpstr>Calibri</vt:lpstr>
      <vt:lpstr>Nunito Light</vt:lpstr>
      <vt:lpstr>Roboto</vt:lpstr>
      <vt:lpstr>Anaheim</vt:lpstr>
      <vt:lpstr>HCMUT</vt:lpstr>
      <vt:lpstr>PowerPoint Presentation</vt:lpstr>
      <vt:lpstr>CONTENT</vt:lpstr>
      <vt:lpstr>INTRODUCTION TO PYTHON LISTS</vt:lpstr>
      <vt:lpstr>Creating a Python List</vt:lpstr>
      <vt:lpstr>Access List Elements</vt:lpstr>
      <vt:lpstr>Slicing of a List in Python (1)</vt:lpstr>
      <vt:lpstr>Slicing of a List in Python (2)</vt:lpstr>
      <vt:lpstr>Omitting Start and End Indices in Slicing</vt:lpstr>
      <vt:lpstr>MODIFYING AND ITERATING THROUGH LISTS</vt:lpstr>
      <vt:lpstr>Add Elements to a Python List</vt:lpstr>
      <vt:lpstr>Modify elements in a Python List</vt:lpstr>
      <vt:lpstr>Iterating Through a List</vt:lpstr>
      <vt:lpstr>Python List Comprehension (1)</vt:lpstr>
      <vt:lpstr>Python List Comprehension (2)</vt:lpstr>
      <vt:lpstr>Python List Comprehension (2)</vt:lpstr>
      <vt:lpstr>CONCLUSION</vt:lpstr>
      <vt:lpstr>Conclusion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Cong Nguyen</cp:lastModifiedBy>
  <cp:revision>3</cp:revision>
  <dcterms:modified xsi:type="dcterms:W3CDTF">2025-04-15T03:28:17Z</dcterms:modified>
</cp:coreProperties>
</file>