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3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6781800" cy="9918700"/>
  <p:embeddedFontLst>
    <p:embeddedFont>
      <p:font typeface="Anaheim" panose="020B0604020202020204" charset="0"/>
      <p:regular r:id="rId24"/>
      <p:bold r:id="rId25"/>
    </p:embeddedFont>
    <p:embeddedFont>
      <p:font typeface="Corbel" panose="020B0503020204020204" pitchFamily="34" charset="0"/>
      <p:regular r:id="rId26"/>
      <p:bold r:id="rId27"/>
      <p:italic r:id="rId28"/>
      <p:boldItalic r:id="rId29"/>
    </p:embeddedFont>
    <p:embeddedFont>
      <p:font typeface="Hanken Grotesk" pitchFamily="2" charset="0"/>
      <p:regular r:id="rId30"/>
      <p:bold r:id="rId31"/>
      <p:italic r:id="rId32"/>
      <p:boldItalic r:id="rId33"/>
    </p:embeddedFont>
    <p:embeddedFont>
      <p:font typeface="Nunito Light" pitchFamily="2" charset="0"/>
      <p:regular r:id="rId34"/>
    </p:embeddedFont>
    <p:embeddedFont>
      <p:font typeface="Raleway Black" pitchFamily="2" charset="0"/>
      <p:bold r:id="rId35"/>
      <p:boldItalic r:id="rId36"/>
    </p:embeddedFont>
    <p:embeddedFont>
      <p:font typeface="Raleway ExtraBold" pitchFamily="2" charset="0"/>
      <p:bold r:id="rId37"/>
      <p:boldItalic r:id="rId38"/>
    </p:embeddedFont>
    <p:embeddedFont>
      <p:font typeface="Roboto" panose="02000000000000000000" pitchFamily="2" charset="0"/>
      <p:regular r:id="rId39"/>
      <p:bold r:id="rId40"/>
      <p:italic r:id="rId41"/>
      <p:boldItalic r:id="rId42"/>
    </p:embeddedFont>
    <p:embeddedFont>
      <p:font typeface="Tahoma" panose="020B0604030504040204" pitchFamily="34" charset="0"/>
      <p:regular r:id="rId43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175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4" name="Google Shape;1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1" name="Google Shape;2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b5f682a23_0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4b5f682a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4b856fb403_0_1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Python code: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 = lambda x: x + 2 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f(5)</a:t>
            </a:r>
            <a:endParaRPr/>
          </a:p>
        </p:txBody>
      </p:sp>
      <p:sp>
        <p:nvSpPr>
          <p:cNvPr id="225" name="Google Shape;225;g34b856fb40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885e2a979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2" name="Google Shape;232;g32885e2a979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8773d7844_0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38773d78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4b856fb403_0_1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Main limitations of Python lambdas:</a:t>
            </a:r>
            <a:br>
              <a:rPr lang="en-US"/>
            </a:br>
            <a:r>
              <a:rPr lang="en-US"/>
              <a:t>- Only single expressions allowed</a:t>
            </a:r>
            <a:br>
              <a:rPr lang="en-US"/>
            </a:br>
            <a:r>
              <a:rPr lang="en-US"/>
              <a:t>- No statements</a:t>
            </a:r>
            <a:br>
              <a:rPr lang="en-US"/>
            </a:br>
            <a:r>
              <a:rPr lang="en-US"/>
              <a:t>- Can't use annotations</a:t>
            </a:r>
            <a:endParaRPr/>
          </a:p>
        </p:txBody>
      </p:sp>
      <p:sp>
        <p:nvSpPr>
          <p:cNvPr id="246" name="Google Shape;246;g34b856fb40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493c57b167_0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3493c57b1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4b9fa59963_0_1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This list is returned from filter in versions of Python under 3.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 Python 3, filter returns an iterator which must be cast to type list with list().</a:t>
            </a:r>
            <a:endParaRPr/>
          </a:p>
        </p:txBody>
      </p:sp>
      <p:sp>
        <p:nvSpPr>
          <p:cNvPr id="260" name="Google Shape;260;g34b9fa5996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b9fa59963_0_9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Unfortunately in Python 3 reduce() requires an import statement: from functools import reduce</a:t>
            </a:r>
            <a:endParaRPr/>
          </a:p>
        </p:txBody>
      </p:sp>
      <p:sp>
        <p:nvSpPr>
          <p:cNvPr id="267" name="Google Shape;267;g34b9fa5996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ea9117a40_1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34ea9117a4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500" cy="3719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ea9117a40_1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34ea9117a4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94838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493c57b167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2" name="Google Shape;282;g3493c57b167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3e34c6aeb6_1_13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33e34c6aeb6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4b9fa59963_0_1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OUTPUT: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6 6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24 24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60 60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120 120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210 210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336 336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504 504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720 720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990 990</a:t>
            </a:r>
            <a:endParaRPr/>
          </a:p>
        </p:txBody>
      </p:sp>
      <p:sp>
        <p:nvSpPr>
          <p:cNvPr id="296" name="Google Shape;296;g34b9fa5996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4b9fa59963_0_3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To run above example, remember to import necessary package: from functools import partial</a:t>
            </a:r>
            <a:endParaRPr/>
          </a:p>
        </p:txBody>
      </p:sp>
      <p:sp>
        <p:nvSpPr>
          <p:cNvPr id="303" name="Google Shape;303;g34b9fa5996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4b9fa59963_0_36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 following Python function curry is a higher-order function that transforms a regular function into a curried function. The curried function returns a new function for each argument provided, and you can apply these functions one at a time, which can be useful in various scenarios. Inside the curry function, a nested function curried is defined. It accepts a variable number of arguments using *args. This allows the curried function to accept any number of arguments.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print(f'{args}'): simply prints the current arguments to the console. It's not necessary for the functionality of course, it's included for debugging and illustration purposes.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if len(args) == func.__code__.co_argcount: This condition checks whether the number of arguments provided (len(args)) matches the number of arguments that the original function func expects. The co_argcount attribute is used to retrieve the number of arguments of the func function.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return func(*args): If the number of arguments matches, the original function func is called with the provided arguments, and the result is returned.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else: return lambda x: curried(*(args + (x,))) If the number of arguments doesn't match, a new lambda function is returned. This lambda function takes a single argument x, and it calls the curried function with the existing args and the new argument x appended. This effectively allows you to build up (accumulate) the arguments one by one and create a chain of unary functions.</a:t>
            </a:r>
            <a:endParaRPr/>
          </a:p>
        </p:txBody>
      </p:sp>
      <p:sp>
        <p:nvSpPr>
          <p:cNvPr id="310" name="Google Shape;310;g34b9fa59963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2885e2a979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7" name="Google Shape;317;g32885e2a979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3275d50d3c_0_13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33275d50d3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:notes"/>
          <p:cNvSpPr txBox="1">
            <a:spLocks noGrp="1"/>
          </p:cNvSpPr>
          <p:nvPr>
            <p:ph type="sldNum" idx="12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39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sz="9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3448" y="166398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4564" y="275911"/>
            <a:ext cx="1430753" cy="5078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0" y="1815704"/>
            <a:ext cx="1042988" cy="77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1_One column 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 idx="3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 idx="4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 idx="5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6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 idx="7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6" name="Google Shape;56;p7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 sz="9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9435" y="100723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3406" y="1"/>
            <a:ext cx="1736028" cy="8512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sz="9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9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FFC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3608615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2"/>
          </p:nvPr>
        </p:nvSpPr>
        <p:spPr>
          <a:xfrm>
            <a:off x="4913268" y="1369218"/>
            <a:ext cx="3602083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6" name="Google Shape;96;p13"/>
          <p:cNvCxnSpPr/>
          <p:nvPr/>
        </p:nvCxnSpPr>
        <p:spPr>
          <a:xfrm>
            <a:off x="4585059" y="1369218"/>
            <a:ext cx="0" cy="3166859"/>
          </a:xfrm>
          <a:prstGeom prst="straightConnector1">
            <a:avLst/>
          </a:prstGeom>
          <a:noFill/>
          <a:ln w="19050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629842" y="408216"/>
            <a:ext cx="3607424" cy="587828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2"/>
          </p:nvPr>
        </p:nvSpPr>
        <p:spPr>
          <a:xfrm>
            <a:off x="629842" y="1216478"/>
            <a:ext cx="3607424" cy="342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3"/>
          </p:nvPr>
        </p:nvSpPr>
        <p:spPr>
          <a:xfrm>
            <a:off x="4950823" y="408214"/>
            <a:ext cx="3598376" cy="587829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4"/>
          </p:nvPr>
        </p:nvSpPr>
        <p:spPr>
          <a:xfrm>
            <a:off x="4918165" y="1216478"/>
            <a:ext cx="3598376" cy="342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5" name="Google Shape;105;p14"/>
          <p:cNvCxnSpPr/>
          <p:nvPr/>
        </p:nvCxnSpPr>
        <p:spPr>
          <a:xfrm>
            <a:off x="4585059" y="408216"/>
            <a:ext cx="0" cy="4127863"/>
          </a:xfrm>
          <a:prstGeom prst="straightConnector1">
            <a:avLst/>
          </a:prstGeom>
          <a:noFill/>
          <a:ln w="19050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body" idx="1"/>
          </p:nvPr>
        </p:nvSpPr>
        <p:spPr>
          <a:xfrm>
            <a:off x="3887391" y="0"/>
            <a:ext cx="525660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 sz="1800"/>
            </a:lvl1pPr>
            <a:lvl2pPr marL="914400" lvl="1" indent="-37861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363"/>
              <a:buChar char="•"/>
              <a:defRPr sz="1575"/>
            </a:lvl2pPr>
            <a:lvl3pPr marL="1371600" lvl="2" indent="-35718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025"/>
              <a:buChar char="•"/>
              <a:defRPr sz="1350"/>
            </a:lvl3pPr>
            <a:lvl4pPr marL="1828800" lvl="3" indent="-335756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4pPr>
            <a:lvl5pPr marL="2286000" lvl="4" indent="-335756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5pPr>
            <a:lvl6pPr marL="2743200" lvl="5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marL="3200400" lvl="6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marL="3657600" lvl="7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marL="4114800" lvl="8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cxnSp>
        <p:nvCxnSpPr>
          <p:cNvPr id="124" name="Google Shape;124;p18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>
            <a:spLocks noGrp="1"/>
          </p:cNvSpPr>
          <p:nvPr>
            <p:ph type="pic" idx="2"/>
          </p:nvPr>
        </p:nvSpPr>
        <p:spPr>
          <a:xfrm>
            <a:off x="3921920" y="0"/>
            <a:ext cx="5222081" cy="5143500"/>
          </a:xfrm>
          <a:prstGeom prst="rect">
            <a:avLst/>
          </a:prstGeom>
          <a:solidFill>
            <a:srgbClr val="1F3864"/>
          </a:solidFill>
          <a:ln w="9525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19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72076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title"/>
          </p:nvPr>
        </p:nvSpPr>
        <p:spPr>
          <a:xfrm rot="5400000">
            <a:off x="5350074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body" idx="1"/>
          </p:nvPr>
        </p:nvSpPr>
        <p:spPr>
          <a:xfrm rot="5400000">
            <a:off x="1349574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>
            <a:spLocks noGrp="1"/>
          </p:cNvSpPr>
          <p:nvPr>
            <p:ph type="pic" idx="2"/>
          </p:nvPr>
        </p:nvSpPr>
        <p:spPr>
          <a:xfrm>
            <a:off x="1204230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1381551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>
            <a:spLocks noGrp="1"/>
          </p:cNvSpPr>
          <p:nvPr>
            <p:ph type="pic" idx="3"/>
          </p:nvPr>
        </p:nvSpPr>
        <p:spPr>
          <a:xfrm>
            <a:off x="3650034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22"/>
          <p:cNvSpPr txBox="1">
            <a:spLocks noGrp="1"/>
          </p:cNvSpPr>
          <p:nvPr>
            <p:ph type="body" idx="4"/>
          </p:nvPr>
        </p:nvSpPr>
        <p:spPr>
          <a:xfrm>
            <a:off x="3785705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6054191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2"/>
          <p:cNvSpPr txBox="1">
            <a:spLocks noGrp="1"/>
          </p:cNvSpPr>
          <p:nvPr>
            <p:ph type="body" idx="6"/>
          </p:nvPr>
        </p:nvSpPr>
        <p:spPr>
          <a:xfrm>
            <a:off x="6189863" y="3650226"/>
            <a:ext cx="1786951" cy="835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3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w="9525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23"/>
          <p:cNvSpPr txBox="1">
            <a:spLocks noGrp="1"/>
          </p:cNvSpPr>
          <p:nvPr>
            <p:ph type="body" idx="1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sz="1800" b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body" idx="2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i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3"/>
          <p:cNvSpPr>
            <a:spLocks noGrp="1"/>
          </p:cNvSpPr>
          <p:nvPr>
            <p:ph type="chart" idx="3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body" idx="4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4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w="9525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" name="Google Shape;163;p24"/>
          <p:cNvSpPr txBox="1">
            <a:spLocks noGrp="1"/>
          </p:cNvSpPr>
          <p:nvPr>
            <p:ph type="body" idx="1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sz="1800" b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2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i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4"/>
          <p:cNvSpPr>
            <a:spLocks noGrp="1"/>
          </p:cNvSpPr>
          <p:nvPr>
            <p:ph type="chart" idx="3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body" idx="4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>
            <a:spLocks noGrp="1"/>
          </p:cNvSpPr>
          <p:nvPr>
            <p:ph type="pic" idx="2"/>
          </p:nvPr>
        </p:nvSpPr>
        <p:spPr>
          <a:xfrm flipH="1">
            <a:off x="569046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0" name="Google Shape;170;p25"/>
          <p:cNvSpPr>
            <a:spLocks noGrp="1"/>
          </p:cNvSpPr>
          <p:nvPr>
            <p:ph type="pic" idx="3"/>
          </p:nvPr>
        </p:nvSpPr>
        <p:spPr>
          <a:xfrm flipH="1">
            <a:off x="2673352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1" name="Google Shape;171;p25"/>
          <p:cNvSpPr>
            <a:spLocks noGrp="1"/>
          </p:cNvSpPr>
          <p:nvPr>
            <p:ph type="pic" idx="4"/>
          </p:nvPr>
        </p:nvSpPr>
        <p:spPr>
          <a:xfrm flipH="1">
            <a:off x="4802151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2" name="Google Shape;172;p25"/>
          <p:cNvSpPr>
            <a:spLocks noGrp="1"/>
          </p:cNvSpPr>
          <p:nvPr>
            <p:ph type="pic" idx="5"/>
          </p:nvPr>
        </p:nvSpPr>
        <p:spPr>
          <a:xfrm flipH="1">
            <a:off x="6828076" y="872835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3" name="Google Shape;173;p25"/>
          <p:cNvSpPr txBox="1">
            <a:spLocks noGrp="1"/>
          </p:cNvSpPr>
          <p:nvPr>
            <p:ph type="body" idx="1"/>
          </p:nvPr>
        </p:nvSpPr>
        <p:spPr>
          <a:xfrm>
            <a:off x="56904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body" idx="6"/>
          </p:nvPr>
        </p:nvSpPr>
        <p:spPr>
          <a:xfrm>
            <a:off x="2723781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body" idx="7"/>
          </p:nvPr>
        </p:nvSpPr>
        <p:spPr>
          <a:xfrm>
            <a:off x="4852580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body" idx="8"/>
          </p:nvPr>
        </p:nvSpPr>
        <p:spPr>
          <a:xfrm>
            <a:off x="692893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eet the team 3">
  <p:cSld name="1_Meet the team 3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8631714" y="221557"/>
            <a:ext cx="316640" cy="316642"/>
          </a:xfrm>
          <a:prstGeom prst="ellipse">
            <a:avLst/>
          </a:prstGeom>
          <a:solidFill>
            <a:srgbClr val="231D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8666038" y="258393"/>
            <a:ext cx="225709" cy="17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88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7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475"/>
              <a:buFont typeface="Calibri"/>
              <a:buNone/>
              <a:defRPr sz="2475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8618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718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575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08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08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991" y="0"/>
            <a:ext cx="9142021" cy="5143500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38000">
                <a:srgbClr val="FFFFFF">
                  <a:alpha val="14901"/>
                </a:srgbClr>
              </a:gs>
              <a:gs pos="84000">
                <a:srgbClr val="E7E6E6">
                  <a:alpha val="29803"/>
                </a:srgbClr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/>
        </p:nvSpPr>
        <p:spPr>
          <a:xfrm>
            <a:off x="2252676" y="4804219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anken Grotesk"/>
              <a:buNone/>
            </a:pPr>
            <a:r>
              <a:rPr lang="en-US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TP.HCM</a:t>
            </a:r>
            <a:r>
              <a:rPr lang="en-US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lang="en-US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/0</a:t>
            </a:r>
            <a:r>
              <a:rPr lang="en-US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/202</a:t>
            </a:r>
            <a:r>
              <a:rPr lang="en-US" sz="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3244200" y="1066425"/>
            <a:ext cx="4499100" cy="12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Advanced Programming</a:t>
            </a:r>
            <a:endParaRPr sz="3375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CO2039</a:t>
            </a:r>
            <a:endParaRPr sz="24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1400700" y="2399100"/>
            <a:ext cx="6342600" cy="13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Chapter 5: Functions as First-Class Citizens - Lambda, Higher-Order, Currying</a:t>
            </a:r>
            <a:br>
              <a:rPr lang="en-US" sz="2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i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Part of the Functional Programming paradigm</a:t>
            </a:r>
            <a:endParaRPr sz="1600" b="1" i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>
            <a:off x="1290199" y="520050"/>
            <a:ext cx="1671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CONTENT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>
            <a:spLocks noGrp="1"/>
          </p:cNvSpPr>
          <p:nvPr>
            <p:ph type="title" idx="4"/>
          </p:nvPr>
        </p:nvSpPr>
        <p:spPr>
          <a:xfrm>
            <a:off x="1092960" y="1558597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>
            <a:spLocks noGrp="1"/>
          </p:cNvSpPr>
          <p:nvPr>
            <p:ph type="title" idx="5"/>
          </p:nvPr>
        </p:nvSpPr>
        <p:spPr>
          <a:xfrm>
            <a:off x="1092960" y="221589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>
            <a:spLocks noGrp="1"/>
          </p:cNvSpPr>
          <p:nvPr>
            <p:ph type="subTitle" idx="8"/>
          </p:nvPr>
        </p:nvSpPr>
        <p:spPr>
          <a:xfrm>
            <a:off x="1926546" y="1560375"/>
            <a:ext cx="61245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LAMBDA FUNCTION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>
            <a:spLocks noGrp="1"/>
          </p:cNvSpPr>
          <p:nvPr>
            <p:ph type="subTitle" idx="14"/>
          </p:nvPr>
        </p:nvSpPr>
        <p:spPr>
          <a:xfrm>
            <a:off x="1926550" y="2176438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HIGHER-ORDER FUNCTION</a:t>
            </a:r>
            <a:endParaRPr sz="2000"/>
          </a:p>
        </p:txBody>
      </p:sp>
      <p:grpSp>
        <p:nvGrpSpPr>
          <p:cNvPr id="198" name="Google Shape;198;p28"/>
          <p:cNvGrpSpPr/>
          <p:nvPr/>
        </p:nvGrpSpPr>
        <p:grpSpPr>
          <a:xfrm>
            <a:off x="8024595" y="1680150"/>
            <a:ext cx="1193310" cy="3463350"/>
            <a:chOff x="472500" y="1762000"/>
            <a:chExt cx="1193310" cy="3463350"/>
          </a:xfrm>
        </p:grpSpPr>
        <p:grpSp>
          <p:nvGrpSpPr>
            <p:cNvPr id="199" name="Google Shape;199;p28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3" cy="1266614"/>
            </a:xfrm>
          </p:grpSpPr>
          <p:sp>
            <p:nvSpPr>
              <p:cNvPr id="200" name="Google Shape;200;p2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2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2" name="Google Shape;202;p28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28"/>
          <p:cNvSpPr/>
          <p:nvPr/>
        </p:nvSpPr>
        <p:spPr>
          <a:xfrm rot="-5400000">
            <a:off x="1077549" y="703475"/>
            <a:ext cx="228075" cy="197250"/>
          </a:xfrm>
          <a:prstGeom prst="flowChartMerge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title" idx="5"/>
          </p:nvPr>
        </p:nvSpPr>
        <p:spPr>
          <a:xfrm>
            <a:off x="1092960" y="291446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 txBox="1">
            <a:spLocks noGrp="1"/>
          </p:cNvSpPr>
          <p:nvPr>
            <p:ph type="subTitle" idx="14"/>
          </p:nvPr>
        </p:nvSpPr>
        <p:spPr>
          <a:xfrm>
            <a:off x="1926550" y="2875013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CURRYING</a:t>
            </a:r>
            <a:endParaRPr sz="2000"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5"/>
          </p:nvPr>
        </p:nvSpPr>
        <p:spPr>
          <a:xfrm>
            <a:off x="1092960" y="361304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8"/>
          <p:cNvSpPr txBox="1">
            <a:spLocks noGrp="1"/>
          </p:cNvSpPr>
          <p:nvPr>
            <p:ph type="subTitle" idx="14"/>
          </p:nvPr>
        </p:nvSpPr>
        <p:spPr>
          <a:xfrm>
            <a:off x="1926550" y="3573588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3510425" y="2078100"/>
            <a:ext cx="37776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LAMBDA FUNCTION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Lambda Function</a:t>
            </a:r>
            <a:endParaRPr/>
          </a:p>
        </p:txBody>
      </p:sp>
      <p:sp>
        <p:nvSpPr>
          <p:cNvPr id="221" name="Google Shape;221;p30"/>
          <p:cNvSpPr txBox="1">
            <a:spLocks noGrp="1"/>
          </p:cNvSpPr>
          <p:nvPr>
            <p:ph type="title"/>
          </p:nvPr>
        </p:nvSpPr>
        <p:spPr>
          <a:xfrm>
            <a:off x="720000" y="1208625"/>
            <a:ext cx="7704000" cy="29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Also called </a:t>
            </a:r>
            <a:r>
              <a:rPr lang="en-US" sz="1800" i="1">
                <a:solidFill>
                  <a:schemeClr val="dk1"/>
                </a:solidFill>
              </a:rPr>
              <a:t>anonymous function</a:t>
            </a:r>
            <a:r>
              <a:rPr lang="en-US" sz="1800" b="0">
                <a:solidFill>
                  <a:schemeClr val="dk1"/>
                </a:solidFill>
              </a:rPr>
              <a:t> - function defined without a name.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No need to use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1800" b="0">
                <a:solidFill>
                  <a:schemeClr val="dk1"/>
                </a:solidFill>
              </a:rPr>
              <a:t> keyword ⇒ use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lang="en-US" sz="1800" b="0">
                <a:solidFill>
                  <a:schemeClr val="dk1"/>
                </a:solidFill>
              </a:rPr>
              <a:t> to define the functions.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Have its own local namespace &amp; cannot access variables other than those in its parameter list and those in the global namespace.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Syntax</a:t>
            </a:r>
            <a:r>
              <a:rPr lang="en-US" sz="1800" b="0">
                <a:solidFill>
                  <a:schemeClr val="dk1"/>
                </a:solidFill>
              </a:rPr>
              <a:t>: </a:t>
            </a:r>
            <a:endParaRPr sz="1800" b="0">
              <a:solidFill>
                <a:schemeClr val="dk1"/>
              </a:solidFill>
            </a:endParaRPr>
          </a:p>
          <a:p>
            <a:pPr marL="4572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lambda [arg</a:t>
            </a:r>
            <a:r>
              <a:rPr lang="en-US" sz="18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[, arg</a:t>
            </a:r>
            <a:r>
              <a:rPr lang="en-US" sz="18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…, arg</a:t>
            </a:r>
            <a:r>
              <a:rPr lang="en-US" sz="18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]]: expression</a:t>
            </a:r>
            <a:r>
              <a:rPr lang="en-US" sz="1800" b="0">
                <a:solidFill>
                  <a:schemeClr val="dk1"/>
                </a:solidFill>
              </a:rPr>
              <a:t>				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28" name="Google Shape;228;p31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Lambda calculus</a:t>
            </a:r>
            <a:r>
              <a:rPr lang="en-US" sz="1800" b="0">
                <a:solidFill>
                  <a:schemeClr val="dk1"/>
                </a:solidFill>
              </a:rPr>
              <a:t>: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λx.λy.+ x y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Python</a:t>
            </a:r>
            <a:r>
              <a:rPr lang="en-US" sz="1800" b="0">
                <a:solidFill>
                  <a:schemeClr val="dk1"/>
                </a:solidFill>
              </a:rPr>
              <a:t>: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 = lambda arg1, arg2: arg1 + arg2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print("Value of total : ", sum(10, 20))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print("Value of total : ", sum(20, 20))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</a:rPr>
              <a:t>Q</a:t>
            </a:r>
            <a:r>
              <a:rPr lang="en-US" sz="1800" b="0">
                <a:solidFill>
                  <a:schemeClr val="dk1"/>
                </a:solidFill>
              </a:rPr>
              <a:t>: Given a lambda expression as follows: 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(λf.f(5)) (λx.+ x 2)</a:t>
            </a:r>
            <a:r>
              <a:rPr lang="en-US" sz="1800" b="0">
                <a:solidFill>
                  <a:schemeClr val="dk1"/>
                </a:solidFill>
              </a:rPr>
              <a:t> 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</a:rPr>
              <a:t>Write the corresponding Python code.</a:t>
            </a:r>
            <a:endParaRPr sz="1800" b="0">
              <a:solidFill>
                <a:schemeClr val="dk1"/>
              </a:solidFill>
            </a:endParaRPr>
          </a:p>
        </p:txBody>
      </p:sp>
      <p:sp>
        <p:nvSpPr>
          <p:cNvPr id="229" name="Google Shape;229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>
            <a:spLocks noGrp="1"/>
          </p:cNvSpPr>
          <p:nvPr>
            <p:ph type="title"/>
          </p:nvPr>
        </p:nvSpPr>
        <p:spPr>
          <a:xfrm>
            <a:off x="3510425" y="2078100"/>
            <a:ext cx="47172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HIGHER-ORDER FUNCTION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2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Higher-order Function (1)</a:t>
            </a:r>
            <a:endParaRPr/>
          </a:p>
        </p:txBody>
      </p:sp>
      <p:sp>
        <p:nvSpPr>
          <p:cNvPr id="242" name="Google Shape;242;p33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1800" b="0">
                <a:solidFill>
                  <a:schemeClr val="dk1"/>
                </a:solidFill>
              </a:rPr>
              <a:t>Given function</a:t>
            </a:r>
            <a:r>
              <a:rPr lang="en-US" sz="2400" b="0">
                <a:solidFill>
                  <a:schemeClr val="dk1"/>
                </a:solidFill>
              </a:rPr>
              <a:t>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800" b="0">
                <a:solidFill>
                  <a:schemeClr val="dk1"/>
                </a:solidFill>
              </a:rPr>
              <a:t>, return function</a:t>
            </a:r>
            <a:r>
              <a:rPr lang="en-US" sz="2400" b="0">
                <a:solidFill>
                  <a:schemeClr val="dk1"/>
                </a:solidFill>
              </a:rPr>
              <a:t>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 ∘ f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λf.λx.f (f x)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1800" b="0">
                <a:solidFill>
                  <a:schemeClr val="dk1"/>
                </a:solidFill>
              </a:rPr>
              <a:t>How does this work?</a:t>
            </a:r>
            <a:r>
              <a:rPr lang="en-US" sz="2400" b="0">
                <a:solidFill>
                  <a:schemeClr val="dk1"/>
                </a:solidFill>
              </a:rPr>
              <a:t> </a:t>
            </a:r>
            <a:endParaRPr sz="2400" b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(λf.λx.f (f x)) (λy.+ y 1)	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λx.(λy.+ y 1) ((λy.+ y 1) x) 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λx.(λy.+ y 1) (+ x 1) 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λx.+ (+ x 1) 1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3" name="Google Shape;243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Higher-order Function (2)</a:t>
            </a:r>
            <a:endParaRPr/>
          </a:p>
        </p:txBody>
      </p:sp>
      <p:sp>
        <p:nvSpPr>
          <p:cNvPr id="249" name="Google Shape;249;p34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Function that takes another function as a parameter.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“Higher-order” because it is a function of a function.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Examples:</a:t>
            </a:r>
            <a:endParaRPr sz="1800" b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○"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○"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reduce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○"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Lambda works great as a parameter to higher-order functions if you can deal with its limitations ⇒ What are those limitations?</a:t>
            </a:r>
            <a:endParaRPr sz="1800" b="0">
              <a:solidFill>
                <a:schemeClr val="dk1"/>
              </a:solidFill>
            </a:endParaRPr>
          </a:p>
        </p:txBody>
      </p:sp>
      <p:sp>
        <p:nvSpPr>
          <p:cNvPr id="250" name="Google Shape;250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Map</a:t>
            </a:r>
            <a:endParaRPr/>
          </a:p>
        </p:txBody>
      </p:sp>
      <p:sp>
        <p:nvSpPr>
          <p:cNvPr id="256" name="Google Shape;256;p35"/>
          <p:cNvSpPr txBox="1">
            <a:spLocks noGrp="1"/>
          </p:cNvSpPr>
          <p:nvPr>
            <p:ph type="title"/>
          </p:nvPr>
        </p:nvSpPr>
        <p:spPr>
          <a:xfrm>
            <a:off x="720000" y="878650"/>
            <a:ext cx="7704000" cy="38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map(function, iterable, …)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Map applies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US" sz="1800" b="0">
                <a:solidFill>
                  <a:schemeClr val="dk1"/>
                </a:solidFill>
              </a:rPr>
              <a:t> to each element of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iterable</a:t>
            </a:r>
            <a:r>
              <a:rPr lang="en-US" sz="1800" b="0">
                <a:solidFill>
                  <a:schemeClr val="dk1"/>
                </a:solidFill>
              </a:rPr>
              <a:t> and creates a list of the results.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You can optionally provide more iterables as parameters to map and it will place tuples in the result list.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Map returns an iterator which can be cast to list.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Example:</a:t>
            </a:r>
            <a:endParaRPr sz="1800" b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nums = [0, 4, 7, 2, 1, 0 , 9 , 3, 5, 6, 8, 0, 3]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nums = list(map(lambda x : x % 5, nums))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print(nums) </a:t>
            </a:r>
            <a:r>
              <a:rPr lang="en-US" sz="1600" b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#[0, 4, 2, 2, 1, 0, 4, 3, 0, 1, 3, 0, 3]</a:t>
            </a:r>
            <a:endParaRPr sz="1600" b="0">
              <a:solidFill>
                <a:schemeClr val="dk1"/>
              </a:solidFill>
            </a:endParaRPr>
          </a:p>
        </p:txBody>
      </p:sp>
      <p:sp>
        <p:nvSpPr>
          <p:cNvPr id="257" name="Google Shape;257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Filter</a:t>
            </a:r>
            <a:endParaRPr/>
          </a:p>
        </p:txBody>
      </p:sp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720000" y="878650"/>
            <a:ext cx="7704000" cy="38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filter(function, iterable)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The filter runs through each element of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iterable</a:t>
            </a:r>
            <a:r>
              <a:rPr lang="en-US" sz="1800" b="0">
                <a:solidFill>
                  <a:schemeClr val="dk1"/>
                </a:solidFill>
              </a:rPr>
              <a:t> (any iterable object such as a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-US" sz="1800" b="0">
                <a:solidFill>
                  <a:schemeClr val="dk1"/>
                </a:solidFill>
              </a:rPr>
              <a:t> or another collection).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It applies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US" sz="1800" b="0">
                <a:solidFill>
                  <a:schemeClr val="dk1"/>
                </a:solidFill>
              </a:rPr>
              <a:t> to each element of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iterable</a:t>
            </a:r>
            <a:r>
              <a:rPr lang="en-US" sz="1800" b="0">
                <a:solidFill>
                  <a:schemeClr val="dk1"/>
                </a:solidFill>
              </a:rPr>
              <a:t>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If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US" sz="1800" b="0">
                <a:solidFill>
                  <a:schemeClr val="dk1"/>
                </a:solidFill>
              </a:rPr>
              <a:t> returns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800" b="0">
                <a:solidFill>
                  <a:schemeClr val="dk1"/>
                </a:solidFill>
              </a:rPr>
              <a:t> for that element then the element is put into a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-US" sz="1800" b="0">
                <a:solidFill>
                  <a:schemeClr val="dk1"/>
                </a:solidFill>
              </a:rPr>
              <a:t>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Example:</a:t>
            </a:r>
            <a:endParaRPr sz="1800" b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nums = [0, 4, 7, 2, 1, 0 , 9 , 3, 5, 6, 8, 0, 3]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nums = list(filter(lambda x : x != 0, nums))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print(nums) </a:t>
            </a:r>
            <a:r>
              <a:rPr lang="en-US" sz="1600" b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#[4, 7, 2, 1, 9, 3, 5, 6, 8, 3]</a:t>
            </a:r>
            <a:endParaRPr sz="1600" b="0">
              <a:solidFill>
                <a:schemeClr val="dk1"/>
              </a:solidFill>
            </a:endParaRPr>
          </a:p>
        </p:txBody>
      </p:sp>
      <p:sp>
        <p:nvSpPr>
          <p:cNvPr id="264" name="Google Shape;264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Reduce</a:t>
            </a:r>
            <a:endParaRPr/>
          </a:p>
        </p:txBody>
      </p:sp>
      <p:sp>
        <p:nvSpPr>
          <p:cNvPr id="270" name="Google Shape;270;p37"/>
          <p:cNvSpPr txBox="1">
            <a:spLocks noGrp="1"/>
          </p:cNvSpPr>
          <p:nvPr>
            <p:ph type="title"/>
          </p:nvPr>
        </p:nvSpPr>
        <p:spPr>
          <a:xfrm>
            <a:off x="720000" y="878650"/>
            <a:ext cx="7704000" cy="38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reduce(function, iterable[, initializer])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Reduce will apply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US" sz="1800" b="0">
                <a:solidFill>
                  <a:schemeClr val="dk1"/>
                </a:solidFill>
              </a:rPr>
              <a:t> to each element in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iterable</a:t>
            </a:r>
            <a:r>
              <a:rPr lang="en-US" sz="1800" b="0">
                <a:solidFill>
                  <a:schemeClr val="dk1"/>
                </a:solidFill>
              </a:rPr>
              <a:t> along with the sum so far and create a cumulative sum of the results.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US" sz="1800" b="0">
                <a:solidFill>
                  <a:schemeClr val="dk1"/>
                </a:solidFill>
              </a:rPr>
              <a:t> must take two parameters.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If initializer is provided, initializer will stand as the first argument in the sum.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Example:</a:t>
            </a:r>
            <a:endParaRPr sz="1800" b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nums = [1, 2, 3, 4, 5, 6, 7, 8]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nums = list(reduce(lambda x, y : (x, y), nums))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print(nums) </a:t>
            </a:r>
            <a:r>
              <a:rPr lang="en-US" sz="1600" b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#(((((((1, 2), 3), 4), 5), 6), 7), 8)</a:t>
            </a:r>
            <a:endParaRPr sz="1600" b="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1" name="Google Shape;271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Another example</a:t>
            </a:r>
            <a:endParaRPr/>
          </a:p>
        </p:txBody>
      </p:sp>
      <p:sp>
        <p:nvSpPr>
          <p:cNvPr id="277" name="Google Shape;277;p38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4146900" cy="31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reduce(lambda acc, e: acc - e, 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[1, 2, 3, 4], 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0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)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# Output: -10</a:t>
            </a:r>
            <a:endParaRPr sz="1600" b="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8" name="Google Shape;278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79" name="Google Shape;279;p38" title="Ảnh màn hình 2025-04-14 lúc 13.16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6900" y="849750"/>
            <a:ext cx="3948001" cy="344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dirty="0"/>
              <a:t>Zip</a:t>
            </a:r>
            <a:endParaRPr dirty="0"/>
          </a:p>
        </p:txBody>
      </p:sp>
      <p:sp>
        <p:nvSpPr>
          <p:cNvPr id="277" name="Google Shape;277;p38"/>
          <p:cNvSpPr txBox="1">
            <a:spLocks noGrp="1"/>
          </p:cNvSpPr>
          <p:nvPr>
            <p:ph type="title"/>
          </p:nvPr>
        </p:nvSpPr>
        <p:spPr>
          <a:xfrm>
            <a:off x="720000" y="1646651"/>
            <a:ext cx="8424000" cy="31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zip(iterable1, iterable2, ...)</a:t>
            </a:r>
            <a:b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ourier New"/>
              </a:rPr>
              <a:t>Combine multiple </a:t>
            </a:r>
            <a:r>
              <a:rPr lang="en-US" sz="16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ourier New"/>
              </a:rPr>
              <a:t>iterables</a:t>
            </a:r>
            <a:r>
              <a:rPr lang="en-US" sz="16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ourier New"/>
              </a:rPr>
              <a:t> (like lists or tuples) into a single </a:t>
            </a:r>
            <a:r>
              <a:rPr lang="en-US" sz="16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ourier New"/>
              </a:rPr>
              <a:t>iterable</a:t>
            </a:r>
            <a:r>
              <a:rPr lang="en-US" sz="16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ourier New"/>
              </a:rPr>
              <a:t> of tuples. Each tuple contains elements from the input </a:t>
            </a:r>
            <a:r>
              <a:rPr lang="en-US" sz="1600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ourier New"/>
              </a:rPr>
              <a:t>iterables</a:t>
            </a:r>
            <a:r>
              <a:rPr lang="en-US" sz="16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ourier New"/>
              </a:rPr>
              <a:t> that are at the same position (index).</a:t>
            </a:r>
            <a:b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ourier New"/>
              </a:rPr>
              <a:t>Example:</a:t>
            </a:r>
            <a:b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names = ["Alice", "Bob", "Charlie"]</a:t>
            </a:r>
            <a:b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ages = [25, 30, 35]</a:t>
            </a:r>
            <a:b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combined = zip(names, ages)</a:t>
            </a:r>
            <a:b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print(list(combined)) </a:t>
            </a:r>
            <a:b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ourier New"/>
              </a:rPr>
              <a:t>Results:</a:t>
            </a:r>
            <a:b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[('Alice', 25), ('Bob', 30), ('Charlie', 35)]</a:t>
            </a:r>
            <a:br>
              <a:rPr lang="en-US" sz="1600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1600" b="0" dirty="0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8" name="Google Shape;278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2842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>
            <a:spLocks noGrp="1"/>
          </p:cNvSpPr>
          <p:nvPr>
            <p:ph type="title"/>
          </p:nvPr>
        </p:nvSpPr>
        <p:spPr>
          <a:xfrm>
            <a:off x="3510425" y="2078100"/>
            <a:ext cx="47172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CURRYING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9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Currying Function</a:t>
            </a:r>
            <a:endParaRPr/>
          </a:p>
        </p:txBody>
      </p:sp>
      <p:sp>
        <p:nvSpPr>
          <p:cNvPr id="292" name="Google Shape;292;p4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9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Currying is the technique of </a:t>
            </a:r>
            <a:r>
              <a:rPr lang="en-US" sz="1600">
                <a:solidFill>
                  <a:schemeClr val="dk1"/>
                </a:solidFill>
              </a:rPr>
              <a:t>breaking down</a:t>
            </a:r>
            <a:r>
              <a:rPr lang="en-US" sz="1600" b="0">
                <a:solidFill>
                  <a:schemeClr val="dk1"/>
                </a:solidFill>
              </a:rPr>
              <a:t> the evaluation of a function that takes </a:t>
            </a:r>
            <a:r>
              <a:rPr lang="en-US" sz="1600">
                <a:solidFill>
                  <a:schemeClr val="dk1"/>
                </a:solidFill>
              </a:rPr>
              <a:t>multiple arguments</a:t>
            </a:r>
            <a:r>
              <a:rPr lang="en-US" sz="1600" b="0">
                <a:solidFill>
                  <a:schemeClr val="dk1"/>
                </a:solidFill>
              </a:rPr>
              <a:t> into evaluating a sequence of </a:t>
            </a:r>
            <a:r>
              <a:rPr lang="en-US" sz="1600">
                <a:solidFill>
                  <a:schemeClr val="dk1"/>
                </a:solidFill>
              </a:rPr>
              <a:t>single-argument</a:t>
            </a:r>
            <a:r>
              <a:rPr lang="en-US" sz="1600" b="0">
                <a:solidFill>
                  <a:schemeClr val="dk1"/>
                </a:solidFill>
              </a:rPr>
              <a:t> functions.</a:t>
            </a:r>
            <a:endParaRPr sz="16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In mathematical notation it looks like this: If we have a function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600" b="0">
                <a:solidFill>
                  <a:schemeClr val="dk1"/>
                </a:solidFill>
              </a:rPr>
              <a:t> which takes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600" b="0">
                <a:solidFill>
                  <a:schemeClr val="dk1"/>
                </a:solidFill>
              </a:rPr>
              <a:t> arguments, we can “replace” it by a composition of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600" b="0">
                <a:solidFill>
                  <a:schemeClr val="dk1"/>
                </a:solidFill>
              </a:rPr>
              <a:t> functions 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6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f</a:t>
            </a:r>
            <a:r>
              <a:rPr lang="en-US" sz="16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… f</a:t>
            </a:r>
            <a:r>
              <a:rPr lang="en-US" sz="16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1600" b="0">
                <a:solidFill>
                  <a:schemeClr val="dk1"/>
                </a:solidFill>
              </a:rPr>
              <a:t> where each takes only one argument: </a:t>
            </a:r>
            <a:endParaRPr sz="16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let x = f(a</a:t>
            </a:r>
            <a:r>
              <a:rPr lang="en-US" sz="16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a</a:t>
            </a:r>
            <a:r>
              <a:rPr lang="en-US" sz="16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a</a:t>
            </a:r>
            <a:r>
              <a:rPr lang="en-US" sz="16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we will get the same value x as if we call: </a:t>
            </a:r>
            <a:endParaRPr sz="16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6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f</a:t>
            </a:r>
            <a:r>
              <a:rPr lang="en-US" sz="16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</a:t>
            </a:r>
            <a:r>
              <a:rPr lang="en-US" sz="16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6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f</a:t>
            </a:r>
            <a:r>
              <a:rPr lang="en-US" sz="16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</a:t>
            </a:r>
            <a:r>
              <a:rPr lang="en-US" sz="16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</a:rPr>
              <a:t>and </a:t>
            </a:r>
            <a:endParaRPr sz="16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f</a:t>
            </a:r>
            <a:r>
              <a:rPr lang="en-US" sz="16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</a:t>
            </a:r>
            <a:r>
              <a:rPr lang="en-US" sz="1600" b="0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3" name="Google Shape;293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99" name="Google Shape;299;p41"/>
          <p:cNvSpPr txBox="1">
            <a:spLocks noGrp="1"/>
          </p:cNvSpPr>
          <p:nvPr>
            <p:ph type="title"/>
          </p:nvPr>
        </p:nvSpPr>
        <p:spPr>
          <a:xfrm>
            <a:off x="720000" y="878650"/>
            <a:ext cx="7704000" cy="38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f(a1, a2, a3):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a1 * a2 * a3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f1(a1):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def f2(a2):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def f3(a3):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f(a1, a2, a3)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f3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f2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range(1, 10):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print(f(i, i+1, i+2), f1(i)(i+1)(i+2)) # What is the output?</a:t>
            </a:r>
            <a:endParaRPr sz="14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0" name="Google Shape;300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Partially Applied Function</a:t>
            </a:r>
            <a:endParaRPr/>
          </a:p>
        </p:txBody>
      </p:sp>
      <p:sp>
        <p:nvSpPr>
          <p:cNvPr id="306" name="Google Shape;306;p42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A partially applied function is a new function that is derived from an existing function by fixing a certain number of arguments in advance. 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The result is a function that can be called with the remaining arguments. We can use it for the composition of functions.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Example:</a:t>
            </a:r>
            <a:endParaRPr sz="1800" b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f(a1, a2):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a1 * a2 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partial(f, 3)(4) # Output: 12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7" name="Google Shape;307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Decorator for Currying</a:t>
            </a:r>
            <a:endParaRPr/>
          </a:p>
        </p:txBody>
      </p:sp>
      <p:sp>
        <p:nvSpPr>
          <p:cNvPr id="313" name="Google Shape;313;p43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curry(func):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def curried(*args):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len(args) == func.__code__.co_argcount: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func(*args)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else: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lambda x: curried(*(args + (x,)))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curried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@curry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prod3(x, y, z):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x + y + z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print(prod3(1)(2)(3))  # Output: 6</a:t>
            </a:r>
            <a:endParaRPr sz="16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4" name="Google Shape;314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CONCLUSION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4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27" name="Google Shape;327;p45"/>
          <p:cNvSpPr txBox="1">
            <a:spLocks noGrp="1"/>
          </p:cNvSpPr>
          <p:nvPr>
            <p:ph type="title"/>
          </p:nvPr>
        </p:nvSpPr>
        <p:spPr>
          <a:xfrm>
            <a:off x="720000" y="887400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Lambda Function</a:t>
            </a:r>
            <a:r>
              <a:rPr lang="en-US" sz="1800" b="0">
                <a:solidFill>
                  <a:schemeClr val="dk1"/>
                </a:solidFill>
              </a:rPr>
              <a:t>: Anonymous, inline functions using lambda keyword</a:t>
            </a:r>
            <a:endParaRPr sz="1800" b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Higher-Order Function</a:t>
            </a:r>
            <a:r>
              <a:rPr lang="en-US" sz="1800" b="0">
                <a:solidFill>
                  <a:schemeClr val="dk1"/>
                </a:solidFill>
              </a:rPr>
              <a:t>: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Accept other functions as arguments or return them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Examples: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map()</a:t>
            </a:r>
            <a:r>
              <a:rPr lang="en-US" sz="1800" b="0">
                <a:solidFill>
                  <a:schemeClr val="dk1"/>
                </a:solidFill>
              </a:rPr>
              <a:t>,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filter()</a:t>
            </a:r>
            <a:r>
              <a:rPr lang="en-US" sz="1800" b="0">
                <a:solidFill>
                  <a:schemeClr val="dk1"/>
                </a:solidFill>
              </a:rPr>
              <a:t>, </a:t>
            </a:r>
            <a:r>
              <a:rPr lang="en-US" sz="1800" b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reduce()</a:t>
            </a:r>
            <a:endParaRPr sz="1800" b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Currying</a:t>
            </a:r>
            <a:r>
              <a:rPr lang="en-US" sz="1800" b="0">
                <a:solidFill>
                  <a:schemeClr val="dk1"/>
                </a:solidFill>
              </a:rPr>
              <a:t>: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Convert multi-arg functions into chained single-arg functions</a:t>
            </a:r>
            <a:endParaRPr sz="1800" b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</a:rPr>
              <a:t>Enables partial application</a:t>
            </a:r>
            <a:endParaRPr sz="1800" b="0">
              <a:solidFill>
                <a:schemeClr val="dk1"/>
              </a:solidFill>
            </a:endParaRPr>
          </a:p>
        </p:txBody>
      </p:sp>
      <p:sp>
        <p:nvSpPr>
          <p:cNvPr id="328" name="Google Shape;328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6"/>
          <p:cNvSpPr txBox="1">
            <a:spLocks noGrp="1"/>
          </p:cNvSpPr>
          <p:nvPr>
            <p:ph type="ctrTitle"/>
          </p:nvPr>
        </p:nvSpPr>
        <p:spPr>
          <a:xfrm>
            <a:off x="1142991" y="1356714"/>
            <a:ext cx="68580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orbel"/>
              <a:buNone/>
            </a:pPr>
            <a:r>
              <a:rPr lang="en-US" sz="3600">
                <a:latin typeface="Corbel"/>
                <a:ea typeface="Corbel"/>
                <a:cs typeface="Corbel"/>
                <a:sym typeface="Corbel"/>
              </a:rPr>
              <a:t>Thank you for your attention!</a:t>
            </a:r>
            <a:endParaRPr/>
          </a:p>
        </p:txBody>
      </p:sp>
      <p:sp>
        <p:nvSpPr>
          <p:cNvPr id="335" name="Google Shape;335;p4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https://www.cse.hcmut.edu.vn</a:t>
            </a:r>
            <a:endParaRPr sz="1800" u="sng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CMU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1671</Words>
  <Application>Microsoft Office PowerPoint</Application>
  <PresentationFormat>On-screen Show (16:9)</PresentationFormat>
  <Paragraphs>183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Arial</vt:lpstr>
      <vt:lpstr>Courier New</vt:lpstr>
      <vt:lpstr>Tahoma</vt:lpstr>
      <vt:lpstr>Anaheim</vt:lpstr>
      <vt:lpstr>Corbel</vt:lpstr>
      <vt:lpstr>Raleway ExtraBold</vt:lpstr>
      <vt:lpstr>Roboto</vt:lpstr>
      <vt:lpstr>Calibri</vt:lpstr>
      <vt:lpstr>Raleway Black</vt:lpstr>
      <vt:lpstr>Hanken Grotesk</vt:lpstr>
      <vt:lpstr>Nunito Light</vt:lpstr>
      <vt:lpstr>HCMUT</vt:lpstr>
      <vt:lpstr>PowerPoint Presentation</vt:lpstr>
      <vt:lpstr>CONTENT</vt:lpstr>
      <vt:lpstr>LAMBDA FUNCTION</vt:lpstr>
      <vt:lpstr>Lambda Function</vt:lpstr>
      <vt:lpstr>Example</vt:lpstr>
      <vt:lpstr>HIGHER-ORDER FUNCTION</vt:lpstr>
      <vt:lpstr>Higher-order Function (1)</vt:lpstr>
      <vt:lpstr>Higher-order Function (2)</vt:lpstr>
      <vt:lpstr>Map</vt:lpstr>
      <vt:lpstr>Filter</vt:lpstr>
      <vt:lpstr>Reduce</vt:lpstr>
      <vt:lpstr>Another example</vt:lpstr>
      <vt:lpstr>Zip</vt:lpstr>
      <vt:lpstr>CURRYING</vt:lpstr>
      <vt:lpstr>Currying Function</vt:lpstr>
      <vt:lpstr>Example</vt:lpstr>
      <vt:lpstr>Partially Applied Function</vt:lpstr>
      <vt:lpstr>Decorator for Currying</vt:lpstr>
      <vt:lpstr>CONCLUSION</vt:lpstr>
      <vt:lpstr>Conclusion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Cong Nguyen</cp:lastModifiedBy>
  <cp:revision>1</cp:revision>
  <dcterms:modified xsi:type="dcterms:W3CDTF">2025-05-07T02:05:00Z</dcterms:modified>
</cp:coreProperties>
</file>