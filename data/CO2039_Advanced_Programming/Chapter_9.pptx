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781800" cy="9918700"/>
  <p:embeddedFontLst>
    <p:embeddedFont>
      <p:font typeface="Anaheim" panose="020B0604020202020204" charset="0"/>
      <p:regular r:id="rId33"/>
      <p:bold r:id="rId34"/>
    </p:embeddedFont>
    <p:embeddedFont>
      <p:font typeface="Corbel" panose="020B0503020204020204" pitchFamily="34" charset="0"/>
      <p:regular r:id="rId35"/>
      <p:bold r:id="rId36"/>
      <p:italic r:id="rId37"/>
      <p:boldItalic r:id="rId38"/>
    </p:embeddedFont>
    <p:embeddedFont>
      <p:font typeface="Hanken Grotesk" pitchFamily="2" charset="0"/>
      <p:regular r:id="rId39"/>
      <p:bold r:id="rId40"/>
      <p:italic r:id="rId41"/>
      <p:boldItalic r:id="rId42"/>
    </p:embeddedFont>
    <p:embeddedFont>
      <p:font typeface="Nunito Light" pitchFamily="2" charset="0"/>
      <p:regular r:id="rId43"/>
    </p:embeddedFont>
    <p:embeddedFont>
      <p:font typeface="Raleway" pitchFamily="2" charset="0"/>
      <p:regular r:id="rId44"/>
    </p:embeddedFont>
    <p:embeddedFont>
      <p:font typeface="Raleway Black" pitchFamily="2" charset="0"/>
      <p:bold r:id="rId45"/>
      <p:boldItalic r:id="rId46"/>
    </p:embeddedFont>
    <p:embeddedFont>
      <p:font typeface="Raleway ExtraBold" pitchFamily="2" charset="0"/>
      <p:bold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Tahoma" panose="020B0604030504040204" pitchFamily="3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9709612e3_2_1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29709612e3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b5f682a23_0_8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1937: Turing proves TMs ≡ lambda calculus</a:t>
            </a:r>
            <a:endParaRPr/>
          </a:p>
        </p:txBody>
      </p:sp>
      <p:sp>
        <p:nvSpPr>
          <p:cNvPr id="220" name="Google Shape;220;g34b5f682a2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7" name="Google Shape;2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b5f682a23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4b5f682a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9709612e3_2_3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29709612e3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8773d7844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38773d78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93c57b167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493c57b1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8773d7844_0_1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38773d784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be3926fbb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4be3926f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2885e2a97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2" name="Google Shape;282;g32885e2a97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275d50d3c_0_5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CBV - Called by value</a:t>
            </a:r>
            <a:endParaRPr/>
          </a:p>
        </p:txBody>
      </p:sp>
      <p:sp>
        <p:nvSpPr>
          <p:cNvPr id="289" name="Google Shape;289;g33275d50d3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275d50d3c_0_12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3275d50d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e34c6aeb6_1_2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3e34c6aeb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e8fb58a40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4e8fb58a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3e34c6aeb6_1_2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3e34c6aeb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be3926fbb_1_4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4be3926fbb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493c57b167_0_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493c57b16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93c57b16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2" name="Google Shape;342;g3493c57b167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be3926fbb_6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4be3926fbb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be3926fbb_6_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4be3926fbb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4be3926fbb_6_13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4be3926fbb_6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93c57b167_0_2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Pair encoding (Church Pair)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Trong lambda calculus, ta có thể định nghĩa một cặp như sau: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PAIR = \lambda a. \lambda b. \lambda p. p a b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PAIR(a, b) là một hàm nhận một </a:t>
            </a:r>
            <a:r>
              <a:rPr lang="en-US" sz="1100" b="1"/>
              <a:t>hàm truy cập</a:t>
            </a:r>
            <a:r>
              <a:rPr lang="en-US" sz="1100"/>
              <a:t> p và cho phép lấy giá trị a hoặc b.</a:t>
            </a:r>
            <a:br>
              <a:rPr lang="en-US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Hàm lấy giá trị đầu tiên</a:t>
            </a:r>
            <a:r>
              <a:rPr lang="en-US" sz="1100"/>
              <a:t>:</a:t>
            </a:r>
            <a:br>
              <a:rPr lang="en-US" sz="1100"/>
            </a:br>
            <a:br>
              <a:rPr lang="en-US" sz="1100"/>
            </a:br>
            <a:r>
              <a:rPr lang="en-US" sz="1100"/>
              <a:t> FIRST = \lambda p. p (\lambda a. \lambda b. a)</a:t>
            </a:r>
            <a:br>
              <a:rPr lang="en-US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Hàm lấy giá trị thứ hai</a:t>
            </a:r>
            <a:r>
              <a:rPr lang="en-US" sz="1100"/>
              <a:t>:</a:t>
            </a:r>
            <a:br>
              <a:rPr lang="en-US" sz="1100"/>
            </a:br>
            <a:br>
              <a:rPr lang="en-US" sz="1100"/>
            </a:br>
            <a:r>
              <a:rPr lang="en-US" sz="1100"/>
              <a:t> SECOND = \lambda p. p (\lambda a. \lambda b. b)</a:t>
            </a: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/>
              <a:t>Triển khai PRED bằng cặp giá trị</a:t>
            </a: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Hàm PRED có thể được định nghĩa như sau: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PRED = \lambda n. \lambda f. \lambda x. SECOND (n (\lambda p. PAIR (f (FIRST p)) (FIRST p)) (PAIR x x))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/>
              <a:t>Cách hoạt động: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/>
              <a:t>Khởi tạo một cặp </a:t>
            </a:r>
            <a:r>
              <a:rPr lang="en-US" sz="1100"/>
              <a:t>(x, x), trong đó giá trị thứ hai luôn giữ số trước đó.</a:t>
            </a:r>
            <a:br>
              <a:rPr lang="en-US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/>
              <a:t>Lặp lại </a:t>
            </a:r>
            <a:r>
              <a:rPr lang="en-US" sz="1100"/>
              <a:t>n</a:t>
            </a:r>
            <a:r>
              <a:rPr lang="en-US" sz="1100" b="1"/>
              <a:t> lần</a:t>
            </a:r>
            <a:r>
              <a:rPr lang="en-US" sz="1100"/>
              <a:t>:</a:t>
            </a:r>
            <a:br>
              <a:rPr lang="en-US" sz="1100"/>
            </a:b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/>
              <a:t>Giá trị đầu tiên được cập nhật thành f của giá trị thứ nhất.</a:t>
            </a:r>
            <a:br>
              <a:rPr lang="en-US" sz="1100"/>
            </a:b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/>
              <a:t>Giá trị thứ hai giữ giá trị đầu tiên trước khi cập nhật.</a:t>
            </a:r>
            <a:br>
              <a:rPr lang="en-US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/>
              <a:t>Lấy giá trị thứ hai của cặp kết quả</a:t>
            </a:r>
            <a:r>
              <a:rPr lang="en-US" sz="1100"/>
              <a:t> làm đầu ra.</a:t>
            </a:r>
            <a:br>
              <a:rPr lang="en-US" sz="1100"/>
            </a:b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493c57b16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93c57b167_0_34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493c57b16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493c57b167_0_4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So, for example, we can build the list [0,1,2] as follows: PAIR 0 (PAIR 1 (PAIR 2 NIL))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Expanding our shorthand into pure lambda calculus, this is: λf.f (λf.λx.x) (λf.f (λf.λx. f x) (λf.f (λf.λx.f (f x)) (λx.λz.λy.z)))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493c57b16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493c57b167_0_4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493c57b16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885e2a97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8" name="Google Shape;398;g32885e2a97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275d50d3c_0_13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3275d50d3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:notes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3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sz="9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2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3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marL="914400" lvl="1" indent="-37861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marL="1371600" lvl="2" indent="-35718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marL="1828800" lvl="3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marL="2286000" lvl="4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marL="2743200" lvl="5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marL="3200400" lvl="6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marL="3657600" lvl="7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marL="4114800" lvl="8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>
            <a:spLocks noGrp="1"/>
          </p:cNvSpPr>
          <p:nvPr>
            <p:ph type="pic" idx="2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>
            <a:spLocks noGrp="1"/>
          </p:cNvSpPr>
          <p:nvPr>
            <p:ph type="pic" idx="3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2"/>
          <p:cNvSpPr txBox="1">
            <a:spLocks noGrp="1"/>
          </p:cNvSpPr>
          <p:nvPr>
            <p:ph type="body" idx="4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2"/>
          <p:cNvSpPr txBox="1">
            <a:spLocks noGrp="1"/>
          </p:cNvSpPr>
          <p:nvPr>
            <p:ph type="body" idx="6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>
            <a:spLocks noGrp="1"/>
          </p:cNvSpPr>
          <p:nvPr>
            <p:ph type="pic" idx="2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>
            <a:spLocks noGrp="1"/>
          </p:cNvSpPr>
          <p:nvPr>
            <p:ph type="pic" idx="3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>
            <a:spLocks noGrp="1"/>
          </p:cNvSpPr>
          <p:nvPr>
            <p:ph type="pic" idx="4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>
            <a:spLocks noGrp="1"/>
          </p:cNvSpPr>
          <p:nvPr>
            <p:ph type="pic" idx="5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6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7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8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eet the team 3">
  <p:cSld name="1_Meet the team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88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sz="2475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8618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718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575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Advanced Programming</a:t>
            </a:r>
            <a:endParaRPr sz="3375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CO2039</a:t>
            </a:r>
            <a:endParaRPr sz="2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400700" y="27224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Chapter 4: Lambda calculus</a:t>
            </a:r>
            <a:b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i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Part of the Functional Programming paradigm</a:t>
            </a:r>
            <a:endParaRPr sz="1600" b="1" i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129019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 idx="4"/>
          </p:nvPr>
        </p:nvSpPr>
        <p:spPr>
          <a:xfrm>
            <a:off x="1092960" y="1737322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5"/>
          </p:nvPr>
        </p:nvSpPr>
        <p:spPr>
          <a:xfrm>
            <a:off x="1092960" y="23946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subTitle" idx="8"/>
          </p:nvPr>
        </p:nvSpPr>
        <p:spPr>
          <a:xfrm>
            <a:off x="1926546" y="1739100"/>
            <a:ext cx="61245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CALCULATING WITH LAMBDA CALCULUS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4"/>
          </p:nvPr>
        </p:nvSpPr>
        <p:spPr>
          <a:xfrm>
            <a:off x="1926550" y="235516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REDUCTION</a:t>
            </a:r>
            <a:endParaRPr sz="2000"/>
          </a:p>
        </p:txBody>
      </p:sp>
      <p:grpSp>
        <p:nvGrpSpPr>
          <p:cNvPr id="198" name="Google Shape;198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199" name="Google Shape;199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0" name="Google Shape;200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8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8"/>
          <p:cNvSpPr/>
          <p:nvPr/>
        </p:nvSpPr>
        <p:spPr>
          <a:xfrm rot="-5400000">
            <a:off x="107754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 idx="5"/>
          </p:nvPr>
        </p:nvSpPr>
        <p:spPr>
          <a:xfrm>
            <a:off x="1092960" y="309319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14"/>
          </p:nvPr>
        </p:nvSpPr>
        <p:spPr>
          <a:xfrm>
            <a:off x="1926550" y="305373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IMPLEMENTING BUILT-IN CONSTANTS &amp; FUNCTIONS</a:t>
            </a:r>
            <a:endParaRPr sz="2000"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5"/>
          </p:nvPr>
        </p:nvSpPr>
        <p:spPr>
          <a:xfrm>
            <a:off x="1092960" y="379176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4"/>
          </p:nvPr>
        </p:nvSpPr>
        <p:spPr>
          <a:xfrm>
            <a:off x="1926550" y="375231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Brief History</a:t>
            </a:r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720000" y="1335775"/>
            <a:ext cx="7704000" cy="30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Origin: formal theory of substitution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first-order logic, etc.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More successful with computable functions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Substitution → symbolic computation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Church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Turing thesis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Influenced design of Lisp, ML, other languages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Important part of CS history and foundations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513" y="758163"/>
            <a:ext cx="2238375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9"/>
          <p:cNvSpPr txBox="1"/>
          <p:nvPr/>
        </p:nvSpPr>
        <p:spPr>
          <a:xfrm>
            <a:off x="5950063" y="3812638"/>
            <a:ext cx="269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Alonzo Church invented lambda calculus in 1936.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Church-Turing Test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title"/>
          </p:nvPr>
        </p:nvSpPr>
        <p:spPr>
          <a:xfrm>
            <a:off x="720000" y="1335775"/>
            <a:ext cx="7704000" cy="25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>
                <a:solidFill>
                  <a:schemeClr val="dk1"/>
                </a:solidFill>
              </a:rPr>
              <a:t>Any natural / reasonable notion of computation realizable in the physical world can be simulated by a TM (or equivalently, by lambda calculus).</a:t>
            </a:r>
            <a:endParaRPr sz="2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37776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CALCULATING WITH LAMBDA CALCULUS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Functional Language?</a:t>
            </a:r>
            <a:endParaRPr/>
          </a:p>
        </p:txBody>
      </p:sp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720000" y="1335775"/>
            <a:ext cx="7704000" cy="30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0">
                <a:solidFill>
                  <a:schemeClr val="dk1"/>
                </a:solidFill>
              </a:rPr>
              <a:t>“No side effects”</a:t>
            </a:r>
            <a:endParaRPr sz="2400" b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0">
                <a:solidFill>
                  <a:schemeClr val="dk1"/>
                </a:solidFill>
              </a:rPr>
              <a:t> Pure functional language: a language with functions, but without side effects or other imperative features</a:t>
            </a:r>
            <a:endParaRPr sz="2400" b="0">
              <a:solidFill>
                <a:schemeClr val="dk1"/>
              </a:solidFill>
            </a:endParaRPr>
          </a:p>
        </p:txBody>
      </p:sp>
      <p:sp>
        <p:nvSpPr>
          <p:cNvPr id="238" name="Google Shape;238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No-Side-Effects Language Test</a:t>
            </a:r>
            <a:endParaRPr/>
          </a:p>
        </p:txBody>
      </p:sp>
      <p:sp>
        <p:nvSpPr>
          <p:cNvPr id="244" name="Google Shape;244;p33"/>
          <p:cNvSpPr txBox="1">
            <a:spLocks noGrp="1"/>
          </p:cNvSpPr>
          <p:nvPr>
            <p:ph type="title"/>
          </p:nvPr>
        </p:nvSpPr>
        <p:spPr>
          <a:xfrm>
            <a:off x="720000" y="1290425"/>
            <a:ext cx="77040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Within the scope of specific declarations of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x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…, x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800" b="0">
                <a:solidFill>
                  <a:schemeClr val="dk1"/>
                </a:solidFill>
              </a:rPr>
              <a:t>, all occurrences of an expression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1800" b="0">
                <a:solidFill>
                  <a:schemeClr val="dk1"/>
                </a:solidFill>
              </a:rPr>
              <a:t> containing only variables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x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…, x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800" b="0">
                <a:solidFill>
                  <a:schemeClr val="dk1"/>
                </a:solidFill>
              </a:rPr>
              <a:t>, must have the same value.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integer x=3; integer y=4;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5*(x+y)-3   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   // no new declaration of x or y //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4*(x+y)+1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Expressions and Functions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Expressions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+ y             x + 2*y + z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Functions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λx.(x+y)         λz.(x+2*y+z)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Application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(λx.(x+y)) 3         =  3 + y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(λz.(x+2*y+z)) 5     =  x + 2*y + 5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Parsing: 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λx.f (f x) = λx.(f (f(x)))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title"/>
          </p:nvPr>
        </p:nvSpPr>
        <p:spPr>
          <a:xfrm>
            <a:off x="720000" y="1063163"/>
            <a:ext cx="7704000" cy="29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●"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λx.t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●"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λx.x y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cxnSp>
        <p:nvCxnSpPr>
          <p:cNvPr id="260" name="Google Shape;260;p35"/>
          <p:cNvCxnSpPr/>
          <p:nvPr/>
        </p:nvCxnSpPr>
        <p:spPr>
          <a:xfrm rot="10800000">
            <a:off x="1853900" y="1909595"/>
            <a:ext cx="972300" cy="39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1" name="Google Shape;261;p35"/>
          <p:cNvSpPr txBox="1"/>
          <p:nvPr/>
        </p:nvSpPr>
        <p:spPr>
          <a:xfrm>
            <a:off x="2826200" y="2066258"/>
            <a:ext cx="2699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x is the term 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35"/>
          <p:cNvCxnSpPr/>
          <p:nvPr/>
        </p:nvCxnSpPr>
        <p:spPr>
          <a:xfrm rot="10800000" flipH="1">
            <a:off x="1732875" y="3520662"/>
            <a:ext cx="12900" cy="36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3" name="Google Shape;263;p35"/>
          <p:cNvSpPr txBox="1"/>
          <p:nvPr/>
        </p:nvSpPr>
        <p:spPr>
          <a:xfrm>
            <a:off x="418000" y="4010828"/>
            <a:ext cx="26991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bound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term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λx.x 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35"/>
          <p:cNvCxnSpPr/>
          <p:nvPr/>
        </p:nvCxnSpPr>
        <p:spPr>
          <a:xfrm rot="10800000">
            <a:off x="2144900" y="3414754"/>
            <a:ext cx="1399200" cy="20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5" name="Google Shape;265;p35"/>
          <p:cNvSpPr txBox="1"/>
          <p:nvPr/>
        </p:nvSpPr>
        <p:spPr>
          <a:xfrm>
            <a:off x="3544100" y="3484668"/>
            <a:ext cx="21447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term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λx.x 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Free &amp; Bound Variables (1)</a:t>
            </a:r>
            <a:endParaRPr/>
          </a:p>
        </p:txBody>
      </p:sp>
      <p:sp>
        <p:nvSpPr>
          <p:cNvPr id="271" name="Google Shape;271;p36"/>
          <p:cNvSpPr txBox="1">
            <a:spLocks noGrp="1"/>
          </p:cNvSpPr>
          <p:nvPr>
            <p:ph type="title"/>
          </p:nvPr>
        </p:nvSpPr>
        <p:spPr>
          <a:xfrm>
            <a:off x="720000" y="1199450"/>
            <a:ext cx="7704000" cy="31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Bound variable is a “placeholder”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bound in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x+y)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x.(x+y)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same function as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z.(z+y)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Name of free (i.e., unbound) variable matters!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free in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x.(x+y)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x.(x+y)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same as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x.(x+z)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Occurrences: y is </a:t>
            </a:r>
            <a:r>
              <a:rPr lang="en-US" sz="1800" b="0">
                <a:solidFill>
                  <a:srgbClr val="2E75B5"/>
                </a:solidFill>
              </a:rPr>
              <a:t>free</a:t>
            </a:r>
            <a:r>
              <a:rPr lang="en-US" sz="1800" b="0">
                <a:solidFill>
                  <a:schemeClr val="dk1"/>
                </a:solidFill>
              </a:rPr>
              <a:t> and </a:t>
            </a:r>
            <a:r>
              <a:rPr lang="en-US" sz="1800" b="0">
                <a:solidFill>
                  <a:schemeClr val="accent6"/>
                </a:solidFill>
              </a:rPr>
              <a:t>bound</a:t>
            </a:r>
            <a:r>
              <a:rPr lang="en-US" sz="1800" b="0">
                <a:solidFill>
                  <a:schemeClr val="dk1"/>
                </a:solidFill>
              </a:rPr>
              <a:t> in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.((λ</a:t>
            </a:r>
            <a:r>
              <a:rPr lang="en-US" sz="1800" b="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.y+2) x) + y</a:t>
            </a:r>
            <a:r>
              <a:rPr lang="en-US" sz="1800" b="0">
                <a:solidFill>
                  <a:schemeClr val="dk1"/>
                </a:solidFill>
              </a:rPr>
              <a:t>  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72" name="Google Shape;27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Free &amp; Bound Variables (2)</a:t>
            </a:r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title"/>
          </p:nvPr>
        </p:nvSpPr>
        <p:spPr>
          <a:xfrm>
            <a:off x="720000" y="1199450"/>
            <a:ext cx="7704000" cy="31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In λ Calculus all </a:t>
            </a:r>
            <a:r>
              <a:rPr lang="en-US" sz="1800" b="0" i="1">
                <a:solidFill>
                  <a:schemeClr val="dk1"/>
                </a:solidFill>
              </a:rPr>
              <a:t>variables</a:t>
            </a:r>
            <a:r>
              <a:rPr lang="en-US" sz="1800" b="0">
                <a:solidFill>
                  <a:schemeClr val="dk1"/>
                </a:solidFill>
              </a:rPr>
              <a:t> are local to function definitions.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Examples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λx.xy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bound, while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free;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(λx.x)(λy.yx)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bound in the first function, but free in the second function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λx.(λy.yx)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both bound variables. (it can be abbreviated as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λxy.yx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REDUCTION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8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CBV Operational Semantics</a:t>
            </a:r>
            <a:endParaRPr/>
          </a:p>
        </p:txBody>
      </p:sp>
      <p:sp>
        <p:nvSpPr>
          <p:cNvPr id="292" name="Google Shape;292;p39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0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Single-step, call-by-value OS: </a:t>
            </a:r>
            <a:r>
              <a:rPr lang="en-US" sz="18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 → t’</a:t>
            </a:r>
            <a:endParaRPr sz="18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are: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 ::= λx.t 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rule (β-reduction): (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λx.t)v → t[v/x]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dirty="0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t[v/x]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term in which all occurrences of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replaced with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replacement operation is called </a:t>
            </a:r>
            <a:r>
              <a:rPr lang="en-US" dirty="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substitution</a:t>
            </a:r>
            <a:endParaRPr dirty="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Examples</a:t>
            </a:r>
            <a:endParaRPr sz="2450"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Example 1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(λx.x x)(λy.y) 		→ x x [λy.y/x]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	== (λy.y)(λy.y)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	→ y [λy.y/y]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43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	== λy.y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Example 2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(λx.x x)(λx.x x) 		→ x x [λx.x x/x]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576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 (λx.x x)(λx.x x)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Higher-order Functions</a:t>
            </a:r>
            <a:endParaRPr sz="2450"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/>
          </p:nvPr>
        </p:nvSpPr>
        <p:spPr>
          <a:xfrm>
            <a:off x="796200" y="1017725"/>
            <a:ext cx="7704000" cy="3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Given function f, return function f ￮ f: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λf.λx.f (f x)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How does this work?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(λf.λx.f (f x))(λy.y+1)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 λx.(λy.y+1)((λy.y+1)x)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 λx.(λy.y+1)(x+1)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 λx.(x+1)+1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7" name="Google Shape;307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Declaration of “Syntactic Sugar”</a:t>
            </a:r>
            <a:endParaRPr sz="2450"/>
          </a:p>
        </p:txBody>
      </p:sp>
      <p:sp>
        <p:nvSpPr>
          <p:cNvPr id="313" name="Google Shape;313;p42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f(x):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x + 2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print(f(5))  # Output: 7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(λf.f(5))(λx.x+2)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chemeClr val="dk1"/>
              </a:solidFill>
            </a:endParaRPr>
          </a:p>
        </p:txBody>
      </p:sp>
      <p:sp>
        <p:nvSpPr>
          <p:cNvPr id="314" name="Google Shape;314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15" name="Google Shape;3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4825" y="3278600"/>
            <a:ext cx="1301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6425" y="3278600"/>
            <a:ext cx="1301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2"/>
          <p:cNvSpPr txBox="1"/>
          <p:nvPr/>
        </p:nvSpPr>
        <p:spPr>
          <a:xfrm>
            <a:off x="3279525" y="3571375"/>
            <a:ext cx="1372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body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4522625" y="3571375"/>
            <a:ext cx="1489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declared func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Rules</a:t>
            </a:r>
            <a:endParaRPr sz="2450"/>
          </a:p>
        </p:txBody>
      </p:sp>
      <p:sp>
        <p:nvSpPr>
          <p:cNvPr id="324" name="Google Shape;324;p4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1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α-reduction		(renaming)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y.M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⇒</a:t>
            </a:r>
            <a:r>
              <a:rPr lang="en-US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α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v.(M [y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v])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where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-US" sz="1800" b="0">
                <a:solidFill>
                  <a:schemeClr val="dk1"/>
                </a:solidFill>
              </a:rPr>
              <a:t> does not occur in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1800" b="0">
                <a:solidFill>
                  <a:schemeClr val="dk1"/>
                </a:solidFill>
              </a:rPr>
              <a:t>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β-reduction		(substitution)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x.M) N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⇒</a:t>
            </a:r>
            <a:r>
              <a:rPr lang="en-US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β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 [x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N]	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Attention</a:t>
            </a:r>
            <a:endParaRPr sz="2450"/>
          </a:p>
        </p:txBody>
      </p:sp>
      <p:sp>
        <p:nvSpPr>
          <p:cNvPr id="331" name="Google Shape;331;p4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Some λ-calculus terms can be β-reduced forever!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Example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Let D be this expression: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(λx.x x)</a:t>
            </a:r>
            <a:r>
              <a:rPr lang="en-US" sz="1800" b="0">
                <a:solidFill>
                  <a:schemeClr val="dk1"/>
                </a:solidFill>
              </a:rPr>
              <a:t>. 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What is the value of this expression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 D)</a:t>
            </a:r>
            <a:r>
              <a:rPr lang="en-US" sz="1800" b="0">
                <a:solidFill>
                  <a:schemeClr val="dk1"/>
                </a:solidFill>
              </a:rPr>
              <a:t>?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 D) = (λx.x x) (λx.x x) ➞ (λx.x x) (λx.x x) ➞ …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⇒ It </a:t>
            </a:r>
            <a:r>
              <a:rPr lang="en-US" sz="1800">
                <a:solidFill>
                  <a:schemeClr val="dk1"/>
                </a:solidFill>
              </a:rPr>
              <a:t>NEVER</a:t>
            </a:r>
            <a:r>
              <a:rPr lang="en-US" sz="1800" b="0">
                <a:solidFill>
                  <a:schemeClr val="dk1"/>
                </a:solidFill>
              </a:rPr>
              <a:t> terminates!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The order in which you choose to do the reductions might change the result!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332" name="Google Shape;332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Attention (cont.)</a:t>
            </a:r>
            <a:endParaRPr sz="2450"/>
          </a:p>
        </p:txBody>
      </p:sp>
      <p:sp>
        <p:nvSpPr>
          <p:cNvPr id="338" name="Google Shape;338;p45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Now consider this expression: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(λx.3) (D D)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i="1">
                <a:solidFill>
                  <a:schemeClr val="dk1"/>
                </a:solidFill>
              </a:rPr>
              <a:t>Lazy Evaluation</a:t>
            </a:r>
            <a:r>
              <a:rPr lang="en-US" sz="1800" b="0">
                <a:solidFill>
                  <a:schemeClr val="dk1"/>
                </a:solidFill>
              </a:rPr>
              <a:t> (Call-by-name): Only evaluate the argument if it’s needed.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⇒ No need to evaluate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 D)</a:t>
            </a:r>
            <a:r>
              <a:rPr lang="en-US" sz="1800" b="0">
                <a:solidFill>
                  <a:schemeClr val="dk1"/>
                </a:solidFill>
              </a:rPr>
              <a:t> because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 b="0">
                <a:solidFill>
                  <a:schemeClr val="dk1"/>
                </a:solidFill>
              </a:rPr>
              <a:t> is not used inside the body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>
                <a:solidFill>
                  <a:schemeClr val="dk1"/>
                </a:solidFill>
              </a:rPr>
              <a:t> </a:t>
            </a:r>
            <a:br>
              <a:rPr lang="en-US" sz="1800" b="0">
                <a:solidFill>
                  <a:schemeClr val="dk1"/>
                </a:solidFill>
              </a:rPr>
            </a:br>
            <a:r>
              <a:rPr lang="en-US" sz="1800" b="0">
                <a:solidFill>
                  <a:schemeClr val="dk1"/>
                </a:solidFill>
              </a:rPr>
              <a:t>⇒ Skip evaluating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D</a:t>
            </a:r>
            <a:r>
              <a:rPr lang="en-US" sz="1800" b="0">
                <a:solidFill>
                  <a:schemeClr val="dk1"/>
                </a:solidFill>
              </a:rPr>
              <a:t> entirely and return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>
                <a:solidFill>
                  <a:schemeClr val="dk1"/>
                </a:solidFill>
              </a:rPr>
              <a:t> immediately.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i="1">
                <a:solidFill>
                  <a:schemeClr val="dk1"/>
                </a:solidFill>
              </a:rPr>
              <a:t>Eager Evaluation</a:t>
            </a:r>
            <a:r>
              <a:rPr lang="en-US" sz="1800" b="0">
                <a:solidFill>
                  <a:schemeClr val="dk1"/>
                </a:solidFill>
              </a:rPr>
              <a:t> (Call-by-value): Evaluate the argument before calling the function </a:t>
            </a:r>
            <a:br>
              <a:rPr lang="en-US" sz="1800" b="0">
                <a:solidFill>
                  <a:schemeClr val="dk1"/>
                </a:solidFill>
              </a:rPr>
            </a:br>
            <a:r>
              <a:rPr lang="en-US" sz="1800" b="0">
                <a:solidFill>
                  <a:schemeClr val="dk1"/>
                </a:solidFill>
              </a:rPr>
              <a:t>⇒ Before applying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(λx.3)</a:t>
            </a:r>
            <a:r>
              <a:rPr lang="en-US" sz="1800" b="0">
                <a:solidFill>
                  <a:schemeClr val="dk1"/>
                </a:solidFill>
              </a:rPr>
              <a:t> to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 D)</a:t>
            </a:r>
            <a:r>
              <a:rPr lang="en-US" sz="1800" b="0">
                <a:solidFill>
                  <a:schemeClr val="dk1"/>
                </a:solidFill>
              </a:rPr>
              <a:t>, we try to compute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 D)</a:t>
            </a:r>
            <a:r>
              <a:rPr lang="en-US" sz="1800" b="0">
                <a:solidFill>
                  <a:schemeClr val="dk1"/>
                </a:solidFill>
              </a:rPr>
              <a:t>...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339" name="Google Shape;33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IMPLEMENTING BUILT-IN CONSTANTS &amp; FUNCTIONS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6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Building in Constants and Functions (1)</a:t>
            </a:r>
            <a:endParaRPr sz="2450"/>
          </a:p>
        </p:txBody>
      </p:sp>
      <p:sp>
        <p:nvSpPr>
          <p:cNvPr id="352" name="Google Shape;352;p47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We can represent things, like for example, numbers and booleans using λ-abstractions.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Example</a:t>
            </a:r>
            <a:r>
              <a:rPr lang="en-US" sz="1600" b="0">
                <a:solidFill>
                  <a:schemeClr val="dk1"/>
                </a:solidFill>
              </a:rPr>
              <a:t>: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We can encode booleans, consider representing </a:t>
            </a:r>
            <a:r>
              <a:rPr lang="en-US" sz="1600" b="0">
                <a:solidFill>
                  <a:srgbClr val="2E75B5"/>
                </a:solidFill>
              </a:rPr>
              <a:t>“true”</a:t>
            </a:r>
            <a:r>
              <a:rPr lang="en-US" sz="1600" b="0">
                <a:solidFill>
                  <a:schemeClr val="dk1"/>
                </a:solidFill>
              </a:rPr>
              <a:t> and </a:t>
            </a:r>
            <a:r>
              <a:rPr lang="en-US" sz="1600" b="0">
                <a:solidFill>
                  <a:srgbClr val="2E75B5"/>
                </a:solidFill>
              </a:rPr>
              <a:t>“false”</a:t>
            </a:r>
            <a:r>
              <a:rPr lang="en-US" sz="1600" b="0">
                <a:solidFill>
                  <a:schemeClr val="dk1"/>
                </a:solidFill>
              </a:rPr>
              <a:t> as functions named </a:t>
            </a:r>
            <a:r>
              <a:rPr lang="en-US" sz="1600" b="0">
                <a:solidFill>
                  <a:srgbClr val="2E75B5"/>
                </a:solidFill>
              </a:rPr>
              <a:t>“tru”</a:t>
            </a:r>
            <a:r>
              <a:rPr lang="en-US" sz="1600" b="0">
                <a:solidFill>
                  <a:schemeClr val="dk1"/>
                </a:solidFill>
              </a:rPr>
              <a:t> and </a:t>
            </a:r>
            <a:r>
              <a:rPr lang="en-US" sz="1600" b="0">
                <a:solidFill>
                  <a:srgbClr val="2E75B5"/>
                </a:solidFill>
              </a:rPr>
              <a:t>“fls”</a:t>
            </a:r>
            <a:endParaRPr sz="1600" b="0">
              <a:solidFill>
                <a:srgbClr val="2E75B5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How do we define these functions? Think about how </a:t>
            </a:r>
            <a:r>
              <a:rPr lang="en-US" sz="1600" b="0">
                <a:solidFill>
                  <a:srgbClr val="2E75B5"/>
                </a:solidFill>
              </a:rPr>
              <a:t>“true”</a:t>
            </a:r>
            <a:r>
              <a:rPr lang="en-US" sz="1600" b="0">
                <a:solidFill>
                  <a:schemeClr val="dk1"/>
                </a:solidFill>
              </a:rPr>
              <a:t> and </a:t>
            </a:r>
            <a:r>
              <a:rPr lang="en-US" sz="1600" b="0">
                <a:solidFill>
                  <a:srgbClr val="2E75B5"/>
                </a:solidFill>
              </a:rPr>
              <a:t>“false”</a:t>
            </a:r>
            <a:r>
              <a:rPr lang="en-US" sz="1600" b="0">
                <a:solidFill>
                  <a:schemeClr val="dk1"/>
                </a:solidFill>
              </a:rPr>
              <a:t> can be used.</a:t>
            </a:r>
            <a:endParaRPr sz="1600" b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0">
                <a:solidFill>
                  <a:schemeClr val="dk1"/>
                </a:solidFill>
              </a:rPr>
              <a:t>They can be used by a testing function:</a:t>
            </a:r>
            <a:endParaRPr sz="1600" b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</a:pP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“test b then else”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returns </a:t>
            </a: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“then”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b is true and returns </a:t>
            </a: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“else”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b is false.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only thing the implementation of </a:t>
            </a: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do with </a:t>
            </a: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to apply it.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functions </a:t>
            </a: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“tru”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“fls”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distinguish themselves when they are applied.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Building in Constants and Functions (2)</a:t>
            </a:r>
            <a:endParaRPr sz="2450"/>
          </a:p>
        </p:txBody>
      </p:sp>
      <p:sp>
        <p:nvSpPr>
          <p:cNvPr id="359" name="Google Shape;359;p48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The encoding: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 =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f.t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fls =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f.f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 =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then.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else.x then else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Example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 tru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x.t1)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x.t2)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→*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f.t)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x.t1)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x.t2)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→*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x.t1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0" name="Google Shape;360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Building in Constants and Functions (3)</a:t>
            </a:r>
            <a:endParaRPr sz="2450"/>
          </a:p>
        </p:txBody>
      </p:sp>
      <p:sp>
        <p:nvSpPr>
          <p:cNvPr id="366" name="Google Shape;366;p49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 =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f.t			fls =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f.f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=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b.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c.b c fls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tru tru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→* tru tru fls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→* tru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fls fls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→* fls tru fls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→* fls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7" name="Google Shape;367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Numbers</a:t>
            </a:r>
            <a:endParaRPr sz="2450"/>
          </a:p>
        </p:txBody>
      </p:sp>
      <p:sp>
        <p:nvSpPr>
          <p:cNvPr id="373" name="Google Shape;373;p5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:= λf.λx.x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:= λf.λx.f x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:= λf.λx.f (f x)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:= λf.λx.f (f (f x))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:= λf.λx.f (f (f (f x)))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 := λm.λn.λf.λx.m f (n f x)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PROD := λm.λn.λf.λx.m (n f) x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SUBTRACT := λm.λn.n PRED m </a:t>
            </a:r>
            <a:br>
              <a:rPr lang="en-US" sz="1600" b="0">
                <a:solidFill>
                  <a:schemeClr val="dk1"/>
                </a:solidFill>
              </a:rPr>
            </a:br>
            <a:r>
              <a:rPr lang="en-US" sz="1600" b="0">
                <a:solidFill>
                  <a:schemeClr val="dk1"/>
                </a:solidFill>
              </a:rPr>
              <a:t>⇒ Apply the predecessor function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</a:t>
            </a:r>
            <a:r>
              <a:rPr lang="en-US" sz="1600" b="0">
                <a:solidFill>
                  <a:schemeClr val="dk1"/>
                </a:solidFill>
              </a:rPr>
              <a:t>)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600" b="0">
                <a:solidFill>
                  <a:schemeClr val="dk1"/>
                </a:solidFill>
              </a:rPr>
              <a:t> times to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1600" b="0">
                <a:solidFill>
                  <a:schemeClr val="dk1"/>
                </a:solidFill>
              </a:rPr>
              <a:t> 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⇒ How to compute predecessor? Can implement using </a:t>
            </a:r>
            <a:r>
              <a:rPr lang="en-US" sz="1600">
                <a:solidFill>
                  <a:schemeClr val="dk1"/>
                </a:solidFill>
              </a:rPr>
              <a:t>pairs</a:t>
            </a:r>
            <a:r>
              <a:rPr lang="en-US" sz="1600" b="0">
                <a:solidFill>
                  <a:schemeClr val="dk1"/>
                </a:solidFill>
              </a:rPr>
              <a:t>!</a:t>
            </a:r>
            <a:endParaRPr sz="1600" b="0">
              <a:solidFill>
                <a:schemeClr val="dk1"/>
              </a:solidFill>
            </a:endParaRPr>
          </a:p>
        </p:txBody>
      </p:sp>
      <p:sp>
        <p:nvSpPr>
          <p:cNvPr id="374" name="Google Shape;374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Data Structures - Pair</a:t>
            </a:r>
            <a:endParaRPr sz="2450"/>
          </a:p>
        </p:txBody>
      </p:sp>
      <p:sp>
        <p:nvSpPr>
          <p:cNvPr id="380" name="Google Shape;380;p51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Let E, F be arbitrary normal form expressions.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A pair (E, F) can be represented as the normal form lambda expression: </a:t>
            </a:r>
            <a:br>
              <a:rPr lang="en-US" sz="1800" b="0">
                <a:solidFill>
                  <a:schemeClr val="dk1"/>
                </a:solidFill>
              </a:rPr>
            </a:b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λf.f E F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The function to construct a pair is then: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PAIR := λx.λy.λf.f x y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If p is a pair (E, F), i.e.,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λf.f E F</a:t>
            </a:r>
            <a:r>
              <a:rPr lang="en-US" sz="1800" b="0">
                <a:solidFill>
                  <a:schemeClr val="dk1"/>
                </a:solidFill>
              </a:rPr>
              <a:t> then how do we get its parts?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⇒ p TRUE gives us E, and p FALSE gives us F.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FIRST := λp.p TRUE		SECOND := λp.p FALSE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Data Structures - List</a:t>
            </a:r>
            <a:endParaRPr sz="2450"/>
          </a:p>
        </p:txBody>
      </p:sp>
      <p:sp>
        <p:nvSpPr>
          <p:cNvPr id="387" name="Google Shape;387;p52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Can turn our method of pairing arbitrary normal form expressions into building up lists.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All we need is a way to mark the end of the list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-US" sz="1600" b="0">
                <a:solidFill>
                  <a:schemeClr val="dk1"/>
                </a:solidFill>
              </a:rPr>
              <a:t>) and a way to tell if we’re at the end of the list (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ISEMPTY</a:t>
            </a:r>
            <a:r>
              <a:rPr lang="en-US" sz="1600" b="0">
                <a:solidFill>
                  <a:schemeClr val="dk1"/>
                </a:solidFill>
              </a:rPr>
              <a:t>).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NIL := λx.TRUE			ISEMPTY := λp.p (λx.λy.FALSE)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ISEMPTY NIL = (λp.p (λx.λy.FALSE)) (λx.TRUE) 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➞ (λx.TRUE) (λx.λy.FALSE) ➞ TRUE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ISEMPTY (PAIR E F) = (λp.p (λx.λy.FALSE)) (λf.f E F) 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➞ (λf.f E F) (λx.λy.FALSE) ➞ (λx.λy.FALSE) E F ➞ FALSE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8" name="Google Shape;388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Predecessor</a:t>
            </a:r>
            <a:endParaRPr sz="2450"/>
          </a:p>
        </p:txBody>
      </p:sp>
      <p:sp>
        <p:nvSpPr>
          <p:cNvPr id="394" name="Google Shape;394;p5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To compute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m-n</a:t>
            </a:r>
            <a:r>
              <a:rPr lang="en-US" sz="1800" b="0">
                <a:solidFill>
                  <a:schemeClr val="dk1"/>
                </a:solidFill>
              </a:rPr>
              <a:t>, apply the predecessor function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800" b="0">
                <a:solidFill>
                  <a:schemeClr val="dk1"/>
                </a:solidFill>
              </a:rPr>
              <a:t> times to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1800" b="0">
                <a:solidFill>
                  <a:schemeClr val="dk1"/>
                </a:solidFill>
              </a:rPr>
              <a:t>.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SUBTRACT := λm.λn.n PRED m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Predecessor using pairs: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 := λn.FIRST (n NEXT (PAIR 0 0))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NEXT := λp.PAIR (SECOND p) (SUM 1 (SECOND p))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5" name="Google Shape;395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4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08" name="Google Shape;408;p55"/>
          <p:cNvSpPr txBox="1">
            <a:spLocks noGrp="1"/>
          </p:cNvSpPr>
          <p:nvPr>
            <p:ph type="title"/>
          </p:nvPr>
        </p:nvSpPr>
        <p:spPr>
          <a:xfrm>
            <a:off x="720000" y="887400"/>
            <a:ext cx="7704000" cy="3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Lambda calculus is a minimal yet powerful model of computation.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Encodes numbers, booleans, data structures, and even control flow.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In lambda calculus, some expressions can lead to infinite loops.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409" name="Google Shape;409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>
            <a:spLocks noGrp="1"/>
          </p:cNvSpPr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416" name="Google Shape;416;p5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2185</Words>
  <Application>Microsoft Office PowerPoint</Application>
  <PresentationFormat>On-screen Show (16:9)</PresentationFormat>
  <Paragraphs>234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Hanken Grotesk</vt:lpstr>
      <vt:lpstr>Raleway</vt:lpstr>
      <vt:lpstr>Tahoma</vt:lpstr>
      <vt:lpstr>Calibri</vt:lpstr>
      <vt:lpstr>Raleway Black</vt:lpstr>
      <vt:lpstr>Nunito Light</vt:lpstr>
      <vt:lpstr>Anaheim</vt:lpstr>
      <vt:lpstr>Courier New</vt:lpstr>
      <vt:lpstr>Corbel</vt:lpstr>
      <vt:lpstr>Raleway ExtraBold</vt:lpstr>
      <vt:lpstr>Roboto</vt:lpstr>
      <vt:lpstr>Arial</vt:lpstr>
      <vt:lpstr>HCMUT</vt:lpstr>
      <vt:lpstr>PowerPoint Presentation</vt:lpstr>
      <vt:lpstr>CONTENT</vt:lpstr>
      <vt:lpstr>Brief History</vt:lpstr>
      <vt:lpstr>Church-Turing Test</vt:lpstr>
      <vt:lpstr>CALCULATING WITH LAMBDA CALCULUS</vt:lpstr>
      <vt:lpstr>What is Functional Language?</vt:lpstr>
      <vt:lpstr>No-Side-Effects Language Test</vt:lpstr>
      <vt:lpstr>Expressions and Functions</vt:lpstr>
      <vt:lpstr>Terminology</vt:lpstr>
      <vt:lpstr>Free &amp; Bound Variables (1)</vt:lpstr>
      <vt:lpstr>Free &amp; Bound Variables (2)</vt:lpstr>
      <vt:lpstr>REDUCTION</vt:lpstr>
      <vt:lpstr>CBV Operational Semantics</vt:lpstr>
      <vt:lpstr>Examples</vt:lpstr>
      <vt:lpstr>Higher-order Functions</vt:lpstr>
      <vt:lpstr>Declaration of “Syntactic Sugar”</vt:lpstr>
      <vt:lpstr>Rules</vt:lpstr>
      <vt:lpstr>Attention</vt:lpstr>
      <vt:lpstr>Attention (cont.)</vt:lpstr>
      <vt:lpstr>IMPLEMENTING BUILT-IN CONSTANTS &amp; FUNCTIONS</vt:lpstr>
      <vt:lpstr>Building in Constants and Functions (1)</vt:lpstr>
      <vt:lpstr>Building in Constants and Functions (2)</vt:lpstr>
      <vt:lpstr>Building in Constants and Functions (3)</vt:lpstr>
      <vt:lpstr>Numbers</vt:lpstr>
      <vt:lpstr>Data Structures - Pair</vt:lpstr>
      <vt:lpstr>Data Structures - List</vt:lpstr>
      <vt:lpstr>Predecessor</vt:lpstr>
      <vt:lpstr>CONCLUSION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Cong Nguyen</cp:lastModifiedBy>
  <cp:revision>1</cp:revision>
  <dcterms:modified xsi:type="dcterms:W3CDTF">2025-04-22T03:38:22Z</dcterms:modified>
</cp:coreProperties>
</file>