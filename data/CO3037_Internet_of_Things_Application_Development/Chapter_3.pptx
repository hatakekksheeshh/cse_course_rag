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6858000" cx="9144000"/>
  <p:notesSz cx="7102475" cy="10233025"/>
  <p:embeddedFontLst>
    <p:embeddedFont>
      <p:font typeface="Tahoma"/>
      <p:regular r:id="rId46"/>
      <p:bold r:id="rId47"/>
    </p:embeddedFont>
    <p:embeddedFont>
      <p:font typeface="Roboto Mono"/>
      <p:regular r:id="rId48"/>
      <p:bold r:id="rId49"/>
      <p:italic r:id="rId50"/>
      <p:boldItalic r:id="rId51"/>
    </p:embeddedFont>
    <p:embeddedFont>
      <p:font typeface="JetBrains Mono"/>
      <p:regular r:id="rId52"/>
      <p:bold r:id="rId53"/>
      <p:italic r:id="rId54"/>
      <p:boldItalic r:id="rId55"/>
    </p:embeddedFont>
    <p:embeddedFont>
      <p:font typeface="Century Gothic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7296">
          <p15:clr>
            <a:srgbClr val="A4A3A4"/>
          </p15:clr>
        </p15:guide>
        <p15:guide id="4" orient="horz" pos="4128">
          <p15:clr>
            <a:srgbClr val="A4A3A4"/>
          </p15:clr>
        </p15:guide>
        <p15:guide id="5" pos="2880">
          <p15:clr>
            <a:srgbClr val="A4A3A4"/>
          </p15:clr>
        </p15:guide>
        <p15:guide id="6" pos="5472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60" roundtripDataSignature="AMtx7mjMbVVBrxk3Nzn0ftnhsw6OEDCL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15D23A-6FE6-4AE7-8B94-DBFBE3D2F022}">
  <a:tblStyle styleId="{0C15D23A-6FE6-4AE7-8B94-DBFBE3D2F02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FF6E7"/>
          </a:solidFill>
        </a:fill>
      </a:tcStyle>
    </a:wholeTbl>
    <a:band1H>
      <a:tcTxStyle/>
      <a:tcStyle>
        <a:fill>
          <a:solidFill>
            <a:srgbClr val="DDECCC"/>
          </a:solidFill>
        </a:fill>
      </a:tcStyle>
    </a:band1H>
    <a:band2H>
      <a:tcTxStyle/>
    </a:band2H>
    <a:band1V>
      <a:tcTxStyle/>
      <a:tcStyle>
        <a:fill>
          <a:solidFill>
            <a:srgbClr val="DDECCC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7296"/>
        <p:guide pos="4128" orient="horz"/>
        <p:guide pos="2880"/>
        <p:guide pos="54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Tahoma-regular.fntdata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Mono-regular.fntdata"/><Relationship Id="rId47" Type="http://schemas.openxmlformats.org/officeDocument/2006/relationships/font" Target="fonts/Tahoma-bold.fntdata"/><Relationship Id="rId49" Type="http://schemas.openxmlformats.org/officeDocument/2006/relationships/font" Target="fonts/RobotoMon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customschemas.google.com/relationships/presentationmetadata" Target="meta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-boldItalic.fntdata"/><Relationship Id="rId50" Type="http://schemas.openxmlformats.org/officeDocument/2006/relationships/font" Target="fonts/RobotoMono-italic.fntdata"/><Relationship Id="rId53" Type="http://schemas.openxmlformats.org/officeDocument/2006/relationships/font" Target="fonts/JetBrainsMono-bold.fntdata"/><Relationship Id="rId52" Type="http://schemas.openxmlformats.org/officeDocument/2006/relationships/font" Target="fonts/JetBrainsMono-regular.fntdata"/><Relationship Id="rId11" Type="http://schemas.openxmlformats.org/officeDocument/2006/relationships/slide" Target="slides/slide5.xml"/><Relationship Id="rId55" Type="http://schemas.openxmlformats.org/officeDocument/2006/relationships/font" Target="fonts/JetBrainsMono-boldItalic.fntdata"/><Relationship Id="rId10" Type="http://schemas.openxmlformats.org/officeDocument/2006/relationships/slide" Target="slides/slide4.xml"/><Relationship Id="rId54" Type="http://schemas.openxmlformats.org/officeDocument/2006/relationships/font" Target="fonts/JetBrainsMono-italic.fntdata"/><Relationship Id="rId13" Type="http://schemas.openxmlformats.org/officeDocument/2006/relationships/slide" Target="slides/slide7.xml"/><Relationship Id="rId57" Type="http://schemas.openxmlformats.org/officeDocument/2006/relationships/font" Target="fonts/CenturyGothic-bold.fntdata"/><Relationship Id="rId12" Type="http://schemas.openxmlformats.org/officeDocument/2006/relationships/slide" Target="slides/slide6.xml"/><Relationship Id="rId56" Type="http://schemas.openxmlformats.org/officeDocument/2006/relationships/font" Target="fonts/CenturyGothic-regular.fntdata"/><Relationship Id="rId15" Type="http://schemas.openxmlformats.org/officeDocument/2006/relationships/slide" Target="slides/slide9.xml"/><Relationship Id="rId59" Type="http://schemas.openxmlformats.org/officeDocument/2006/relationships/font" Target="fonts/CenturyGothic-boldItalic.fntdata"/><Relationship Id="rId14" Type="http://schemas.openxmlformats.org/officeDocument/2006/relationships/slide" Target="slides/slide8.xml"/><Relationship Id="rId58" Type="http://schemas.openxmlformats.org/officeDocument/2006/relationships/font" Target="fonts/CenturyGothic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5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8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9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9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f29171e8d3_0_17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1f29171e8d3_0_17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f29171e8d3_0_23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1f29171e8d3_0_23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f29171e8d3_0_29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1f29171e8d3_0_29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f29171e8d3_0_35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1f29171e8d3_0_35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1f29171e8d3_0_35:notes"/>
          <p:cNvSpPr txBox="1"/>
          <p:nvPr>
            <p:ph idx="12" type="sldNum"/>
          </p:nvPr>
        </p:nvSpPr>
        <p:spPr>
          <a:xfrm>
            <a:off x="4023092" y="9719598"/>
            <a:ext cx="30777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f29171e8d3_0_41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1f29171e8d3_0_41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f29171e8d3_0_46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1f29171e8d3_0_46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f29171e8d3_0_52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1f29171e8d3_0_52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0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5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5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f29171e8d3_0_152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1f29171e8d3_0_152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1f29171e8d3_0_152:notes"/>
          <p:cNvSpPr txBox="1"/>
          <p:nvPr>
            <p:ph idx="12" type="sldNum"/>
          </p:nvPr>
        </p:nvSpPr>
        <p:spPr>
          <a:xfrm>
            <a:off x="4023092" y="9719598"/>
            <a:ext cx="3077700" cy="51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f29171e8d3_0_159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1f29171e8d3_0_159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f29171e8d3_0_165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1f29171e8d3_0_165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1f29171e8d3_0_171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1f29171e8d3_0_171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f29171e8d3_0_177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1f29171e8d3_0_177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f29171e8d3_0_183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1f29171e8d3_0_183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f29171e8d3_0_189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1f29171e8d3_0_189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f29171e8d3_0_195:notes"/>
          <p:cNvSpPr txBox="1"/>
          <p:nvPr>
            <p:ph idx="1" type="body"/>
          </p:nvPr>
        </p:nvSpPr>
        <p:spPr>
          <a:xfrm>
            <a:off x="710248" y="4924643"/>
            <a:ext cx="5682000" cy="4029300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1f29171e8d3_0_195:notes"/>
          <p:cNvSpPr/>
          <p:nvPr>
            <p:ph idx="2" type="sldImg"/>
          </p:nvPr>
        </p:nvSpPr>
        <p:spPr>
          <a:xfrm>
            <a:off x="1249363" y="1279525"/>
            <a:ext cx="4603800" cy="345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/>
          <p:nvPr/>
        </p:nvSpPr>
        <p:spPr>
          <a:xfrm flipH="1" rot="10800000">
            <a:off x="5410184" y="3810004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8"/>
          <p:cNvSpPr/>
          <p:nvPr/>
        </p:nvSpPr>
        <p:spPr>
          <a:xfrm flipH="1" rot="10800000">
            <a:off x="5410202" y="3897010"/>
            <a:ext cx="3733801" cy="192024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8"/>
          <p:cNvSpPr/>
          <p:nvPr/>
        </p:nvSpPr>
        <p:spPr>
          <a:xfrm flipH="1" rot="10800000">
            <a:off x="5410202" y="4115167"/>
            <a:ext cx="3733801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8"/>
          <p:cNvSpPr/>
          <p:nvPr/>
        </p:nvSpPr>
        <p:spPr>
          <a:xfrm flipH="1" rot="10800000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8"/>
          <p:cNvSpPr/>
          <p:nvPr/>
        </p:nvSpPr>
        <p:spPr>
          <a:xfrm flipH="1" rot="10800000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8"/>
          <p:cNvSpPr/>
          <p:nvPr/>
        </p:nvSpPr>
        <p:spPr>
          <a:xfrm>
            <a:off x="5410200" y="3962400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8"/>
          <p:cNvSpPr/>
          <p:nvPr/>
        </p:nvSpPr>
        <p:spPr>
          <a:xfrm>
            <a:off x="7376507" y="406098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8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8"/>
          <p:cNvSpPr/>
          <p:nvPr/>
        </p:nvSpPr>
        <p:spPr>
          <a:xfrm>
            <a:off x="2" y="3675531"/>
            <a:ext cx="9144001" cy="1406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8"/>
          <p:cNvSpPr/>
          <p:nvPr/>
        </p:nvSpPr>
        <p:spPr>
          <a:xfrm flipH="1" rot="10800000">
            <a:off x="6414051" y="3643090"/>
            <a:ext cx="2729950" cy="248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8"/>
          <p:cNvSpPr txBox="1"/>
          <p:nvPr>
            <p:ph idx="1" type="subTitle"/>
          </p:nvPr>
        </p:nvSpPr>
        <p:spPr>
          <a:xfrm>
            <a:off x="449495" y="3889662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" name="Google Shape;41;p28"/>
          <p:cNvSpPr txBox="1"/>
          <p:nvPr>
            <p:ph type="ctrTitle"/>
          </p:nvPr>
        </p:nvSpPr>
        <p:spPr>
          <a:xfrm>
            <a:off x="426378" y="2401891"/>
            <a:ext cx="8458200" cy="10813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Impact"/>
              <a:buNone/>
              <a:defRPr sz="4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9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3700" lvl="0" marL="45720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81000" lvl="1" marL="914400" algn="just">
              <a:spcBef>
                <a:spcPts val="300"/>
              </a:spcBef>
              <a:spcAft>
                <a:spcPts val="0"/>
              </a:spcAft>
              <a:buSzPts val="2400"/>
              <a:buChar char="▫"/>
              <a:def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algn="l">
              <a:spcBef>
                <a:spcPts val="300"/>
              </a:spcBef>
              <a:spcAft>
                <a:spcPts val="0"/>
              </a:spcAft>
              <a:buSzPts val="22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4" name="Google Shape;44;p29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  <a:defRPr b="1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9"/>
          <p:cNvSpPr txBox="1"/>
          <p:nvPr/>
        </p:nvSpPr>
        <p:spPr>
          <a:xfrm>
            <a:off x="0" y="16778"/>
            <a:ext cx="58657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CO3037 – </a:t>
            </a:r>
            <a:r>
              <a:rPr b="1" i="1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Lecture 2: Programming Platform for Internet of Things Applications</a:t>
            </a:r>
            <a:endParaRPr b="1" i="1"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" name="Google Shape;46;p29"/>
          <p:cNvSpPr txBox="1"/>
          <p:nvPr/>
        </p:nvSpPr>
        <p:spPr>
          <a:xfrm>
            <a:off x="8810625" y="6591300"/>
            <a:ext cx="3513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rgbClr val="08A5E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sz="1200">
              <a:solidFill>
                <a:srgbClr val="08A5E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0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0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30"/>
          <p:cNvSpPr txBox="1"/>
          <p:nvPr>
            <p:ph idx="1" type="body"/>
          </p:nvPr>
        </p:nvSpPr>
        <p:spPr>
          <a:xfrm>
            <a:off x="722313" y="3367088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2100"/>
              <a:buNone/>
              <a:defRPr b="0" sz="21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type="title"/>
          </p:nvPr>
        </p:nvSpPr>
        <p:spPr>
          <a:xfrm>
            <a:off x="722313" y="1981204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Calibri"/>
              <a:buNone/>
              <a:defRPr b="1" sz="4300" cap="none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1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31"/>
          <p:cNvSpPr txBox="1"/>
          <p:nvPr>
            <p:ph idx="1" type="body"/>
          </p:nvPr>
        </p:nvSpPr>
        <p:spPr>
          <a:xfrm>
            <a:off x="4648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8" name="Google Shape;58;p31"/>
          <p:cNvSpPr txBox="1"/>
          <p:nvPr>
            <p:ph idx="2" type="body"/>
          </p:nvPr>
        </p:nvSpPr>
        <p:spPr>
          <a:xfrm>
            <a:off x="457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2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2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32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4718306" y="2708519"/>
            <a:ext cx="4041775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5" name="Google Shape;65;p32"/>
          <p:cNvSpPr txBox="1"/>
          <p:nvPr>
            <p:ph idx="2" type="body"/>
          </p:nvPr>
        </p:nvSpPr>
        <p:spPr>
          <a:xfrm>
            <a:off x="4721227" y="2244970"/>
            <a:ext cx="4041775" cy="457200"/>
          </a:xfrm>
          <a:prstGeom prst="rect">
            <a:avLst/>
          </a:prstGeom>
          <a:solidFill>
            <a:srgbClr val="9ED47A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3" type="body"/>
          </p:nvPr>
        </p:nvSpPr>
        <p:spPr>
          <a:xfrm>
            <a:off x="381000" y="2708519"/>
            <a:ext cx="4041648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4" type="body"/>
          </p:nvPr>
        </p:nvSpPr>
        <p:spPr>
          <a:xfrm>
            <a:off x="381000" y="2244970"/>
            <a:ext cx="4041648" cy="457200"/>
          </a:xfrm>
          <a:prstGeom prst="rect">
            <a:avLst/>
          </a:prstGeom>
          <a:solidFill>
            <a:srgbClr val="9ED47A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8" name="Google Shape;68;p32"/>
          <p:cNvSpPr txBox="1"/>
          <p:nvPr>
            <p:ph type="title"/>
          </p:nvPr>
        </p:nvSpPr>
        <p:spPr>
          <a:xfrm>
            <a:off x="381000" y="1143000"/>
            <a:ext cx="83820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3"/>
          <p:cNvSpPr txBox="1"/>
          <p:nvPr>
            <p:ph idx="10" type="dt"/>
          </p:nvPr>
        </p:nvSpPr>
        <p:spPr>
          <a:xfrm>
            <a:off x="6583680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33"/>
          <p:cNvSpPr txBox="1"/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35"/>
          <p:cNvSpPr txBox="1"/>
          <p:nvPr>
            <p:ph idx="1" type="body"/>
          </p:nvPr>
        </p:nvSpPr>
        <p:spPr>
          <a:xfrm>
            <a:off x="152400" y="776290"/>
            <a:ext cx="5102352" cy="5805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3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300"/>
              </a:spcBef>
              <a:spcAft>
                <a:spcPts val="0"/>
              </a:spcAft>
              <a:buSzPts val="2800"/>
              <a:buChar char="▫"/>
              <a:defRPr sz="2800"/>
            </a:lvl2pPr>
            <a:lvl3pPr indent="-381000" lvl="2" marL="13716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2" type="body"/>
          </p:nvPr>
        </p:nvSpPr>
        <p:spPr>
          <a:xfrm>
            <a:off x="5353496" y="2010730"/>
            <a:ext cx="3383280" cy="458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4" name="Google Shape;84;p35"/>
          <p:cNvSpPr txBox="1"/>
          <p:nvPr>
            <p:ph type="title"/>
          </p:nvPr>
        </p:nvSpPr>
        <p:spPr>
          <a:xfrm>
            <a:off x="5353496" y="1101970"/>
            <a:ext cx="33832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6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6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6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36"/>
          <p:cNvSpPr/>
          <p:nvPr>
            <p:ph idx="2" type="pic"/>
          </p:nvPr>
        </p:nvSpPr>
        <p:spPr>
          <a:xfrm>
            <a:off x="403671" y="1143000"/>
            <a:ext cx="4572000" cy="4572000"/>
          </a:xfrm>
          <a:prstGeom prst="rect">
            <a:avLst/>
          </a:prstGeom>
          <a:solidFill>
            <a:srgbClr val="EAEAEA"/>
          </a:solidFill>
          <a:ln cap="flat" cmpd="sng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l" dir="4800000" dist="31750">
              <a:srgbClr val="000000">
                <a:alpha val="24705"/>
              </a:srgbClr>
            </a:outerShdw>
          </a:effectLst>
        </p:spPr>
      </p:sp>
      <p:sp>
        <p:nvSpPr>
          <p:cNvPr id="90" name="Google Shape;90;p36"/>
          <p:cNvSpPr txBox="1"/>
          <p:nvPr>
            <p:ph idx="1" type="body"/>
          </p:nvPr>
        </p:nvSpPr>
        <p:spPr>
          <a:xfrm>
            <a:off x="6088443" y="3274312"/>
            <a:ext cx="2590800" cy="2516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None/>
              <a:defRPr sz="13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Font typeface="Calibri"/>
              <a:buNone/>
              <a:defRPr sz="10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1" name="Google Shape;91;p36"/>
          <p:cNvSpPr txBox="1"/>
          <p:nvPr>
            <p:ph type="title"/>
          </p:nvPr>
        </p:nvSpPr>
        <p:spPr>
          <a:xfrm rot="-5400000">
            <a:off x="3393019" y="3156579"/>
            <a:ext cx="4681637" cy="58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7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7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7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37"/>
          <p:cNvSpPr txBox="1"/>
          <p:nvPr>
            <p:ph idx="1" type="body"/>
          </p:nvPr>
        </p:nvSpPr>
        <p:spPr>
          <a:xfrm rot="5400000">
            <a:off x="2409444" y="297180"/>
            <a:ext cx="432511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37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8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8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8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38"/>
          <p:cNvSpPr txBox="1"/>
          <p:nvPr>
            <p:ph idx="1" type="body"/>
          </p:nvPr>
        </p:nvSpPr>
        <p:spPr>
          <a:xfrm rot="5400000">
            <a:off x="857250" y="742950"/>
            <a:ext cx="54483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3" name="Google Shape;103;p38"/>
          <p:cNvSpPr txBox="1"/>
          <p:nvPr>
            <p:ph type="title"/>
          </p:nvPr>
        </p:nvSpPr>
        <p:spPr>
          <a:xfrm rot="5400000">
            <a:off x="5010150" y="2914650"/>
            <a:ext cx="54483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1" y="366822"/>
            <a:ext cx="9144000" cy="8440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7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7"/>
          <p:cNvSpPr/>
          <p:nvPr/>
        </p:nvSpPr>
        <p:spPr>
          <a:xfrm>
            <a:off x="2" y="308280"/>
            <a:ext cx="9144001" cy="914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7"/>
          <p:cNvSpPr/>
          <p:nvPr/>
        </p:nvSpPr>
        <p:spPr>
          <a:xfrm flipH="1" rot="10800000">
            <a:off x="5410184" y="360250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7"/>
          <p:cNvSpPr/>
          <p:nvPr/>
        </p:nvSpPr>
        <p:spPr>
          <a:xfrm flipH="1" rot="10800000">
            <a:off x="5410202" y="440116"/>
            <a:ext cx="3733801" cy="18003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7"/>
          <p:cNvSpPr/>
          <p:nvPr/>
        </p:nvSpPr>
        <p:spPr>
          <a:xfrm>
            <a:off x="5407339" y="497504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7"/>
          <p:cNvSpPr/>
          <p:nvPr/>
        </p:nvSpPr>
        <p:spPr>
          <a:xfrm>
            <a:off x="7373646" y="58894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7"/>
          <p:cNvSpPr/>
          <p:nvPr/>
        </p:nvSpPr>
        <p:spPr>
          <a:xfrm>
            <a:off x="9084967" y="-2001"/>
            <a:ext cx="57626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7"/>
          <p:cNvSpPr/>
          <p:nvPr/>
        </p:nvSpPr>
        <p:spPr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7"/>
          <p:cNvSpPr/>
          <p:nvPr/>
        </p:nvSpPr>
        <p:spPr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7"/>
          <p:cNvSpPr/>
          <p:nvPr/>
        </p:nvSpPr>
        <p:spPr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7"/>
          <p:cNvSpPr/>
          <p:nvPr/>
        </p:nvSpPr>
        <p:spPr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7"/>
          <p:cNvSpPr/>
          <p:nvPr/>
        </p:nvSpPr>
        <p:spPr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7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27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27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27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b="0" i="0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b="0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27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3.jpg"/><Relationship Id="rId6" Type="http://schemas.openxmlformats.org/officeDocument/2006/relationships/image" Target="../media/image2.jpg"/><Relationship Id="rId7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3.jpg"/><Relationship Id="rId5" Type="http://schemas.openxmlformats.org/officeDocument/2006/relationships/image" Target="../media/image2.jpg"/><Relationship Id="rId6" Type="http://schemas.openxmlformats.org/officeDocument/2006/relationships/image" Target="../media/image1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en.wikipedia.org/wiki/Model_of_computation" TargetMode="External"/><Relationship Id="rId4" Type="http://schemas.openxmlformats.org/officeDocument/2006/relationships/image" Target="../media/image8.jp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Relationship Id="rId4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jpg"/><Relationship Id="rId4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framework7.io/react/" TargetMode="External"/><Relationship Id="rId4" Type="http://schemas.openxmlformats.org/officeDocument/2006/relationships/image" Target="../media/image3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assetstore.unity.com/templates" TargetMode="External"/><Relationship Id="rId4" Type="http://schemas.openxmlformats.org/officeDocument/2006/relationships/hyperlink" Target="https://www.youtube.com/watch?v=uZaFHx1daLU" TargetMode="External"/><Relationship Id="rId5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233797" y="971550"/>
            <a:ext cx="8650783" cy="2511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>
                <a:solidFill>
                  <a:srgbClr val="FFFF00"/>
                </a:solidFill>
              </a:rPr>
              <a:t>Programming Platform for Internet of Things (IoTs) Applications</a:t>
            </a:r>
            <a:endParaRPr/>
          </a:p>
        </p:txBody>
      </p:sp>
      <p:pic>
        <p:nvPicPr>
          <p:cNvPr id="110" name="Google Shape;110;p1"/>
          <p:cNvPicPr preferRelativeResize="0"/>
          <p:nvPr/>
        </p:nvPicPr>
        <p:blipFill rotWithShape="1">
          <a:blip r:embed="rId3">
            <a:alphaModFix/>
          </a:blip>
          <a:srcRect b="15690" l="3844" r="6226" t="16590"/>
          <a:stretch/>
        </p:blipFill>
        <p:spPr>
          <a:xfrm>
            <a:off x="6184871" y="6068254"/>
            <a:ext cx="2926471" cy="758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11" name="Google Shape;11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499" y="4005898"/>
            <a:ext cx="2635885" cy="26358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cro controller platforms for IoT" id="112" name="Google Shape;112;p1"/>
          <p:cNvPicPr preferRelativeResize="0"/>
          <p:nvPr/>
        </p:nvPicPr>
        <p:blipFill rotWithShape="1">
          <a:blip r:embed="rId5">
            <a:alphaModFix/>
          </a:blip>
          <a:srcRect b="12889" l="16478" r="27877" t="6756"/>
          <a:stretch/>
        </p:blipFill>
        <p:spPr>
          <a:xfrm>
            <a:off x="3416188" y="4165892"/>
            <a:ext cx="2286000" cy="2475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13" name="Google Shape;11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10992" y="4307840"/>
            <a:ext cx="1460005" cy="14600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crochip IoT platform" id="114" name="Google Shape;114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12696" y="4307840"/>
            <a:ext cx="971884" cy="1460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 txBox="1"/>
          <p:nvPr>
            <p:ph idx="1" type="body"/>
          </p:nvPr>
        </p:nvSpPr>
        <p:spPr>
          <a:xfrm>
            <a:off x="133779" y="1652186"/>
            <a:ext cx="5139261" cy="1989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b="1" lang="en-US"/>
              <a:t>Micro-Controller Unit </a:t>
            </a:r>
            <a:r>
              <a:rPr lang="en-US"/>
              <a:t>(MCU) contains RAM, ROM and IO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b="1" lang="en-US"/>
              <a:t>Micro-Processor Unit </a:t>
            </a:r>
            <a:r>
              <a:rPr lang="en-US"/>
              <a:t>(MPU) only contains the CPU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b="1" lang="en-US"/>
              <a:t>System on Chip</a:t>
            </a:r>
            <a:r>
              <a:rPr lang="en-US"/>
              <a:t> (SoC) refers to MCUs with a greater number of onboard peripherals and functionality</a:t>
            </a:r>
            <a:endParaRPr/>
          </a:p>
        </p:txBody>
      </p:sp>
      <p:sp>
        <p:nvSpPr>
          <p:cNvPr id="120" name="Google Shape;120;p2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Micro-Controller Platform</a:t>
            </a:r>
            <a:endParaRPr/>
          </a:p>
        </p:txBody>
      </p:sp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 b="47334" l="55167" r="15166" t="25110"/>
          <a:stretch/>
        </p:blipFill>
        <p:spPr>
          <a:xfrm>
            <a:off x="5273040" y="1652186"/>
            <a:ext cx="3807489" cy="1989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cro controller platforms for IoT" id="122" name="Google Shape;122;p2"/>
          <p:cNvPicPr preferRelativeResize="0"/>
          <p:nvPr/>
        </p:nvPicPr>
        <p:blipFill rotWithShape="1">
          <a:blip r:embed="rId4">
            <a:alphaModFix/>
          </a:blip>
          <a:srcRect b="12889" l="16478" r="27877" t="6756"/>
          <a:stretch/>
        </p:blipFill>
        <p:spPr>
          <a:xfrm>
            <a:off x="629920" y="3952240"/>
            <a:ext cx="2286000" cy="2475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23" name="Google Shape;12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42347" y="3952240"/>
            <a:ext cx="2428240" cy="2428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Microchip IoT platform" id="124" name="Google Shape;124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36087" y="3952240"/>
            <a:ext cx="1616410" cy="242824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"/>
          <p:cNvSpPr txBox="1"/>
          <p:nvPr/>
        </p:nvSpPr>
        <p:spPr>
          <a:xfrm>
            <a:off x="6798392" y="6444239"/>
            <a:ext cx="18918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http://www.microchip.com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3892632" y="6434549"/>
            <a:ext cx="13571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http://www.ti.com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986872" y="6471568"/>
            <a:ext cx="151105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http://theairboard.cc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C Language: Header and C++ Files 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420711" y="2371531"/>
            <a:ext cx="3226729" cy="3970318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#ifndef  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__LED_H_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#define </a:t>
            </a: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__LED_H_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&lt;system_lib.h&gt;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“user_lib.h”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“UserFolder/lib.h”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 int T_on;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extern int T_off;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setOn(long duration);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setoff(long duration);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#endif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5199844" y="2233031"/>
            <a:ext cx="3226729" cy="4247317"/>
          </a:xfrm>
          <a:prstGeom prst="rect">
            <a:avLst/>
          </a:prstGeom>
          <a:noFill/>
          <a:ln cap="flat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“led.h”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T_on;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T_off;  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counter;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setOn(long duration){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//TODO: set LED on here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setoff(long duration){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//TODO: set LED off here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delay(long duration){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//TODO: set delay here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pic>
        <p:nvPicPr>
          <p:cNvPr descr="Image result for C header file and cpp icon" id="135" name="Google Shape;13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015" y="1300163"/>
            <a:ext cx="985837" cy="985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ated image" id="136" name="Google Shape;13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6068" y="1183481"/>
            <a:ext cx="1219200" cy="12192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3"/>
          <p:cNvCxnSpPr/>
          <p:nvPr/>
        </p:nvCxnSpPr>
        <p:spPr>
          <a:xfrm flipH="1" rot="10800000">
            <a:off x="2286000" y="3129200"/>
            <a:ext cx="2913900" cy="1544400"/>
          </a:xfrm>
          <a:prstGeom prst="bentConnector3">
            <a:avLst>
              <a:gd fmla="val 62203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8" name="Google Shape;138;p3"/>
          <p:cNvCxnSpPr/>
          <p:nvPr/>
        </p:nvCxnSpPr>
        <p:spPr>
          <a:xfrm flipH="1" rot="10800000">
            <a:off x="2987040" y="4084240"/>
            <a:ext cx="2212800" cy="1239600"/>
          </a:xfrm>
          <a:prstGeom prst="bentConnector3">
            <a:avLst>
              <a:gd fmla="val 61020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9" name="Google Shape;139;p3"/>
          <p:cNvCxnSpPr/>
          <p:nvPr/>
        </p:nvCxnSpPr>
        <p:spPr>
          <a:xfrm flipH="1" rot="10800000">
            <a:off x="2987040" y="4887942"/>
            <a:ext cx="2212800" cy="740700"/>
          </a:xfrm>
          <a:prstGeom prst="bentConnector3">
            <a:avLst>
              <a:gd fmla="val 71580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C Language: Main File</a:t>
            </a:r>
            <a:endParaRPr/>
          </a:p>
        </p:txBody>
      </p:sp>
      <p:pic>
        <p:nvPicPr>
          <p:cNvPr descr="Image result for C header file and cpp icon" id="145" name="Google Shape;14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944" y="1633867"/>
            <a:ext cx="706189" cy="7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"/>
          <p:cNvSpPr/>
          <p:nvPr/>
        </p:nvSpPr>
        <p:spPr>
          <a:xfrm>
            <a:off x="253779" y="1569721"/>
            <a:ext cx="822992" cy="164935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lated image" id="147" name="Google Shape;1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944" y="2360122"/>
            <a:ext cx="686398" cy="686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 header file and cpp icon" id="148" name="Google Shape;14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9101" y="2458544"/>
            <a:ext cx="706189" cy="7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/>
          <p:nvPr/>
        </p:nvSpPr>
        <p:spPr>
          <a:xfrm>
            <a:off x="1122936" y="2394398"/>
            <a:ext cx="822992" cy="164935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lated image" id="150" name="Google Shape;15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9101" y="3184799"/>
            <a:ext cx="686398" cy="686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 header file and cpp icon" id="151" name="Google Shape;1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8258" y="3486880"/>
            <a:ext cx="706189" cy="7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4"/>
          <p:cNvSpPr/>
          <p:nvPr/>
        </p:nvSpPr>
        <p:spPr>
          <a:xfrm>
            <a:off x="1992093" y="3422734"/>
            <a:ext cx="822992" cy="164935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lated image" id="153" name="Google Shape;15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8258" y="4213135"/>
            <a:ext cx="686398" cy="6863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C header file and cpp icon" id="154" name="Google Shape;15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7415" y="4311557"/>
            <a:ext cx="706189" cy="70619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4"/>
          <p:cNvSpPr/>
          <p:nvPr/>
        </p:nvSpPr>
        <p:spPr>
          <a:xfrm>
            <a:off x="2861250" y="4247411"/>
            <a:ext cx="822992" cy="1649355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lated image" id="156" name="Google Shape;15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7415" y="5037812"/>
            <a:ext cx="686398" cy="68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4"/>
          <p:cNvSpPr/>
          <p:nvPr/>
        </p:nvSpPr>
        <p:spPr>
          <a:xfrm>
            <a:off x="3840815" y="1338985"/>
            <a:ext cx="2397616" cy="5284006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 txBox="1"/>
          <p:nvPr/>
        </p:nvSpPr>
        <p:spPr>
          <a:xfrm>
            <a:off x="4111514" y="1478495"/>
            <a:ext cx="3093578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“led.h”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“timer.h”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“gpio.h”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“button.h”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main(){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initGPIO();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initTimer();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initButton();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initLED();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….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….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while(1){};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void timer_isr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void ext_isr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359798" y="3269447"/>
            <a:ext cx="53732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1110597" y="4063818"/>
            <a:ext cx="788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2038258" y="5057113"/>
            <a:ext cx="6591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GPIO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2861250" y="5896766"/>
            <a:ext cx="9795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BUTTON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>
            <p:ph idx="1" type="body"/>
          </p:nvPr>
        </p:nvSpPr>
        <p:spPr>
          <a:xfrm>
            <a:off x="6357857" y="5566672"/>
            <a:ext cx="2600465" cy="9024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System operations are implemented in </a:t>
            </a:r>
            <a:r>
              <a:rPr b="1" lang="en-US">
                <a:solidFill>
                  <a:srgbClr val="FF0000"/>
                </a:solidFill>
              </a:rPr>
              <a:t>interrupt functions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6357856" y="1562658"/>
            <a:ext cx="2600465" cy="789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56025" lvl="0" marL="365751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Modules/ Libraries are included</a:t>
            </a:r>
            <a:endParaRPr sz="2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6357855" y="3219075"/>
            <a:ext cx="2600465" cy="789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56025" lvl="0" marL="365751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Modules/ Libraries are initiated</a:t>
            </a:r>
            <a:endParaRPr sz="2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 txBox="1"/>
          <p:nvPr>
            <p:ph idx="1" type="body"/>
          </p:nvPr>
        </p:nvSpPr>
        <p:spPr>
          <a:xfrm>
            <a:off x="38529" y="1283517"/>
            <a:ext cx="9010221" cy="1271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Finite-State Machine</a:t>
            </a:r>
            <a:r>
              <a:rPr lang="en-US"/>
              <a:t> (</a:t>
            </a:r>
            <a:r>
              <a:rPr b="1" lang="en-US"/>
              <a:t>FSM</a:t>
            </a:r>
            <a:r>
              <a:rPr lang="en-US"/>
              <a:t>) or </a:t>
            </a:r>
            <a:r>
              <a:rPr b="1" lang="en-US"/>
              <a:t>Deterministic</a:t>
            </a:r>
            <a:r>
              <a:rPr lang="en-US"/>
              <a:t> </a:t>
            </a:r>
            <a:r>
              <a:rPr b="1" lang="en-US"/>
              <a:t>Finite Automata</a:t>
            </a:r>
            <a:r>
              <a:rPr lang="en-US"/>
              <a:t> (</a:t>
            </a:r>
            <a:r>
              <a:rPr b="1" lang="en-US"/>
              <a:t>DFA</a:t>
            </a:r>
            <a:r>
              <a:rPr lang="en-US"/>
              <a:t>), </a:t>
            </a:r>
            <a:r>
              <a:rPr b="1" lang="en-US"/>
              <a:t>finite automaton</a:t>
            </a:r>
            <a:r>
              <a:rPr lang="en-US"/>
              <a:t>, or simply a </a:t>
            </a:r>
            <a:r>
              <a:rPr b="1" lang="en-US"/>
              <a:t>state machine</a:t>
            </a:r>
            <a:r>
              <a:rPr lang="en-US"/>
              <a:t>, is a mathematical </a:t>
            </a:r>
            <a:r>
              <a:rPr lang="en-US" u="sng">
                <a:solidFill>
                  <a:schemeClr val="hlink"/>
                </a:solidFill>
                <a:hlinkClick r:id="rId3"/>
              </a:rPr>
              <a:t>model of computation</a:t>
            </a:r>
            <a:endParaRPr/>
          </a:p>
        </p:txBody>
      </p:sp>
      <p:sp>
        <p:nvSpPr>
          <p:cNvPr id="171" name="Google Shape;171;p5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Finite State Machine (FSM)</a:t>
            </a:r>
            <a:endParaRPr/>
          </a:p>
        </p:txBody>
      </p:sp>
      <p:pic>
        <p:nvPicPr>
          <p:cNvPr descr="https://upload.wikimedia.org/wikipedia/commons/9/97/Torniqueterevolution.jpg" id="172" name="Google Shape;17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6079" y="2752769"/>
            <a:ext cx="1307745" cy="198807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5"/>
          <p:cNvSpPr txBox="1"/>
          <p:nvPr/>
        </p:nvSpPr>
        <p:spPr>
          <a:xfrm>
            <a:off x="7254910" y="4219622"/>
            <a:ext cx="11978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turnstile</a:t>
            </a:r>
            <a:endParaRPr/>
          </a:p>
        </p:txBody>
      </p:sp>
      <p:graphicFrame>
        <p:nvGraphicFramePr>
          <p:cNvPr id="174" name="Google Shape;174;p5"/>
          <p:cNvGraphicFramePr/>
          <p:nvPr/>
        </p:nvGraphicFramePr>
        <p:xfrm>
          <a:off x="648857" y="26544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{0C15D23A-6FE6-4AE7-8B94-DBFBE3D2F022}</a:tableStyleId>
              </a:tblPr>
              <a:tblGrid>
                <a:gridCol w="1545850"/>
                <a:gridCol w="1032975"/>
                <a:gridCol w="20587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Current State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Input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Next</a:t>
                      </a:r>
                      <a:r>
                        <a:rPr lang="en-US" sz="1800"/>
                        <a:t> State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Locked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Coin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Unlocked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Push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Locked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Unlocked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Coin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Unlocked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Push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Locked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descr="File:Turnstile state machine colored.svg" id="175" name="Google Shape;175;p5"/>
          <p:cNvPicPr preferRelativeResize="0"/>
          <p:nvPr/>
        </p:nvPicPr>
        <p:blipFill rotWithShape="1">
          <a:blip r:embed="rId5">
            <a:alphaModFix/>
          </a:blip>
          <a:srcRect b="12318" l="5896" r="5657" t="12574"/>
          <a:stretch/>
        </p:blipFill>
        <p:spPr>
          <a:xfrm>
            <a:off x="1956122" y="4938421"/>
            <a:ext cx="4919241" cy="1813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 txBox="1"/>
          <p:nvPr>
            <p:ph idx="1" type="body"/>
          </p:nvPr>
        </p:nvSpPr>
        <p:spPr>
          <a:xfrm>
            <a:off x="38529" y="1283517"/>
            <a:ext cx="835344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109725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(1){</a:t>
            </a:r>
            <a:endParaRPr/>
          </a:p>
          <a:p>
            <a:pPr indent="0" lvl="1" marL="402326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switch(status){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LOCKED: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lock_turnstile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(); //operation in a state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if(Coin == true)  //transition condition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status = UNLOCKED; //next state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UNLOCKED: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unlock_turnstile</a:t>
            </a: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();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//operation in a state</a:t>
            </a:r>
            <a:endParaRPr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if(Push == true)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//transition condition</a:t>
            </a:r>
            <a:endParaRPr>
              <a:solidFill>
                <a:srgbClr val="7030A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status = LOCKED; //next state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1" name="Google Shape;181;p6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Finite State Machine Programming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365751" rtl="0" algn="l">
              <a:spcBef>
                <a:spcPts val="0"/>
              </a:spcBef>
              <a:spcAft>
                <a:spcPts val="0"/>
              </a:spcAft>
              <a:buSzPts val="4400"/>
              <a:buFont typeface="Noto Sans Symbols"/>
              <a:buChar char="▪"/>
            </a:pPr>
            <a:r>
              <a:rPr lang="en-US" sz="4400"/>
              <a:t>Cửa mở thì loa sẽ kêu</a:t>
            </a:r>
            <a:endParaRPr sz="4400"/>
          </a:p>
          <a:p>
            <a:pPr indent="-279400" lvl="0" marL="365751" rtl="0" algn="l">
              <a:spcBef>
                <a:spcPts val="300"/>
              </a:spcBef>
              <a:spcAft>
                <a:spcPts val="0"/>
              </a:spcAft>
              <a:buSzPts val="4400"/>
              <a:buFont typeface="Noto Sans Symbols"/>
              <a:buChar char="▪"/>
            </a:pPr>
            <a:r>
              <a:rPr lang="en-US" sz="4400"/>
              <a:t>Cửa đóng thì loa sẽ không kêu</a:t>
            </a:r>
            <a:endParaRPr sz="4400"/>
          </a:p>
          <a:p>
            <a:pPr indent="-279400" lvl="0" marL="365751" rtl="0" algn="l">
              <a:spcBef>
                <a:spcPts val="300"/>
              </a:spcBef>
              <a:spcAft>
                <a:spcPts val="0"/>
              </a:spcAft>
              <a:buSzPts val="4400"/>
              <a:buFont typeface="Noto Sans Symbols"/>
              <a:buChar char="▪"/>
            </a:pPr>
            <a:r>
              <a:rPr lang="en-US" sz="4400"/>
              <a:t>Tuy nhiên, nếu cửa mở quá 3 giây, thì loa cũng không kêu</a:t>
            </a:r>
            <a:endParaRPr sz="4400"/>
          </a:p>
        </p:txBody>
      </p:sp>
      <p:sp>
        <p:nvSpPr>
          <p:cNvPr id="187" name="Google Shape;187;p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Bài toán mở cửa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Given an LED turns on for </a:t>
            </a:r>
            <a:r>
              <a:rPr b="1" lang="en-US"/>
              <a:t>T_on</a:t>
            </a:r>
            <a:r>
              <a:rPr lang="en-US"/>
              <a:t> and then turns off for </a:t>
            </a:r>
            <a:r>
              <a:rPr b="1" lang="en-US"/>
              <a:t>T_off</a:t>
            </a:r>
            <a:r>
              <a:rPr lang="en-US"/>
              <a:t>.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Design an DFA for this LED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Implement the DFA in Arduino</a:t>
            </a:r>
            <a:endParaRPr/>
          </a:p>
          <a:p>
            <a:pPr indent="-944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digitalWrite(13, HIGH)</a:t>
            </a:r>
            <a:r>
              <a:rPr lang="en-US"/>
              <a:t>: turn on the LED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digitalWrite(13, LOW): </a:t>
            </a:r>
            <a:r>
              <a:rPr lang="en-US"/>
              <a:t>turn off the LED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setTime(duration): </a:t>
            </a:r>
            <a:r>
              <a:rPr lang="en-US"/>
              <a:t>set a clock (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timer_flag = 0</a:t>
            </a:r>
            <a:r>
              <a:rPr lang="en-US"/>
              <a:t>), when the clock is expired,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timer_flag = 1</a:t>
            </a:r>
            <a:r>
              <a:rPr lang="en-US"/>
              <a:t>; duration is in mili-seconds.</a:t>
            </a:r>
            <a:endParaRPr/>
          </a:p>
        </p:txBody>
      </p:sp>
      <p:sp>
        <p:nvSpPr>
          <p:cNvPr id="193" name="Google Shape;193;p8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Example 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 txBox="1"/>
          <p:nvPr>
            <p:ph idx="1" type="body"/>
          </p:nvPr>
        </p:nvSpPr>
        <p:spPr>
          <a:xfrm>
            <a:off x="0" y="4039293"/>
            <a:ext cx="9010221" cy="1934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INIT: Set pin 13 to OUTPUT mode, set timer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LED_ON: Turn on the LED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LED_OFF: Turn off the LED </a:t>
            </a:r>
            <a:endParaRPr/>
          </a:p>
        </p:txBody>
      </p:sp>
      <p:sp>
        <p:nvSpPr>
          <p:cNvPr id="199" name="Google Shape;199;p9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Answer</a:t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883920" y="2031876"/>
            <a:ext cx="1280160" cy="1075751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3415880" y="2033208"/>
            <a:ext cx="2255520" cy="1075751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LED_ON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6286500" y="2094168"/>
            <a:ext cx="2255520" cy="1075751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LED_OFF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" name="Google Shape;203;p9"/>
          <p:cNvCxnSpPr>
            <a:stCxn id="200" idx="6"/>
            <a:endCxn id="201" idx="2"/>
          </p:cNvCxnSpPr>
          <p:nvPr/>
        </p:nvCxnSpPr>
        <p:spPr>
          <a:xfrm>
            <a:off x="2164080" y="2569752"/>
            <a:ext cx="1251900" cy="1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4" name="Google Shape;204;p9"/>
          <p:cNvCxnSpPr>
            <a:stCxn id="201" idx="0"/>
            <a:endCxn id="202" idx="0"/>
          </p:cNvCxnSpPr>
          <p:nvPr/>
        </p:nvCxnSpPr>
        <p:spPr>
          <a:xfrm flipH="1" rot="-5400000">
            <a:off x="5948540" y="628308"/>
            <a:ext cx="60900" cy="2870700"/>
          </a:xfrm>
          <a:prstGeom prst="bentConnector3">
            <a:avLst>
              <a:gd fmla="val -813300" name="adj1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5" name="Google Shape;205;p9"/>
          <p:cNvCxnSpPr>
            <a:stCxn id="202" idx="4"/>
            <a:endCxn id="201" idx="4"/>
          </p:cNvCxnSpPr>
          <p:nvPr/>
        </p:nvCxnSpPr>
        <p:spPr>
          <a:xfrm flipH="1" rot="5400000">
            <a:off x="5948460" y="1704119"/>
            <a:ext cx="60900" cy="2870700"/>
          </a:xfrm>
          <a:prstGeom prst="bentConnector3">
            <a:avLst>
              <a:gd fmla="val -763251" name="adj1"/>
            </a:avLst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6" name="Google Shape;206;p9"/>
          <p:cNvSpPr txBox="1"/>
          <p:nvPr/>
        </p:nvSpPr>
        <p:spPr>
          <a:xfrm>
            <a:off x="5250850" y="1135963"/>
            <a:ext cx="1606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timer_flag ==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5175685" y="3236872"/>
            <a:ext cx="16065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timer_flag == 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Answer (Arduino Code)</a:t>
            </a:r>
            <a:endParaRPr/>
          </a:p>
        </p:txBody>
      </p:sp>
      <p:sp>
        <p:nvSpPr>
          <p:cNvPr id="213" name="Google Shape;213;p10"/>
          <p:cNvSpPr txBox="1"/>
          <p:nvPr>
            <p:ph idx="1" type="body"/>
          </p:nvPr>
        </p:nvSpPr>
        <p:spPr>
          <a:xfrm>
            <a:off x="38529" y="1283517"/>
            <a:ext cx="416009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109725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void loop()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1" marL="402326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switch(status){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INIT: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pinMode(13, OUTPUT);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setTimer(T_on);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status = LED_ON;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	digitalWrite(13, HIGH);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LED_ON: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if(timer_flag == 1){</a:t>
            </a:r>
            <a:endParaRPr/>
          </a:p>
          <a:p>
            <a:pPr indent="0" lvl="1" marL="402326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	   	status = LED_OFF;</a:t>
            </a:r>
            <a:endParaRPr/>
          </a:p>
          <a:p>
            <a:pPr indent="0" lvl="1" marL="402326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	   	setTimer(T_off);</a:t>
            </a:r>
            <a:endParaRPr/>
          </a:p>
          <a:p>
            <a:pPr indent="0" lvl="1" marL="402326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       	digitalWrite(13, LOW);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LED_OFF: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if(timer_flag == 1){</a:t>
            </a:r>
            <a:endParaRPr/>
          </a:p>
          <a:p>
            <a:pPr indent="0" lvl="1" marL="402326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	   	status = LED_ON;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02326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	   	setTimer(T_on);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02326" rtl="0" algn="just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       	digitalWrite(13, HIGH);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	break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2" marL="66749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delay(10);</a:t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ct val="100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4" name="Google Shape;214;p10"/>
          <p:cNvSpPr txBox="1"/>
          <p:nvPr/>
        </p:nvSpPr>
        <p:spPr>
          <a:xfrm>
            <a:off x="4663869" y="1421242"/>
            <a:ext cx="416009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09725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void timer_run()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109725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if(timer_counter &gt; 0)</a:t>
            </a:r>
            <a:endParaRPr/>
          </a:p>
          <a:p>
            <a:pPr indent="0" lvl="0" marL="109725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timer_counter--;</a:t>
            </a:r>
            <a:endParaRPr/>
          </a:p>
          <a:p>
            <a:pPr indent="0" lvl="0" marL="109725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if(counter_timer == 0)</a:t>
            </a:r>
            <a:endParaRPr/>
          </a:p>
          <a:p>
            <a:pPr indent="0" lvl="0" marL="109725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timer_flag =1;</a:t>
            </a:r>
            <a:endParaRPr/>
          </a:p>
          <a:p>
            <a:pPr indent="0" lvl="0" marL="109725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109725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rgbClr val="7030A0"/>
                </a:solidFill>
                <a:latin typeface="Courier New"/>
                <a:ea typeface="Courier New"/>
                <a:cs typeface="Courier New"/>
                <a:sym typeface="Courier New"/>
              </a:rPr>
              <a:t>void setTimer</a:t>
            </a: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(long duration){</a:t>
            </a:r>
            <a:endParaRPr/>
          </a:p>
          <a:p>
            <a:pPr indent="0" lvl="0" marL="109725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timer_counter = duration;</a:t>
            </a:r>
            <a:endParaRPr/>
          </a:p>
          <a:p>
            <a:pPr indent="0" lvl="0" marL="109725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timer_flag = 0;</a:t>
            </a:r>
            <a:endParaRPr/>
          </a:p>
          <a:p>
            <a:pPr indent="0" lvl="0" marL="109725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en-US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"/>
          <p:cNvSpPr txBox="1"/>
          <p:nvPr>
            <p:ph idx="1" type="body"/>
          </p:nvPr>
        </p:nvSpPr>
        <p:spPr>
          <a:xfrm>
            <a:off x="38529" y="1283517"/>
            <a:ext cx="9010221" cy="1581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Design a smart lock which accepts 4 digits as a secrete code. However, there is a time-out for each digit (e.g. T_out = 5s). After this period, the system is reset</a:t>
            </a:r>
            <a:endParaRPr/>
          </a:p>
        </p:txBody>
      </p:sp>
      <p:sp>
        <p:nvSpPr>
          <p:cNvPr id="220" name="Google Shape;220;p11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Example 2</a:t>
            </a:r>
            <a:endParaRPr/>
          </a:p>
        </p:txBody>
      </p:sp>
      <p:pic>
        <p:nvPicPr>
          <p:cNvPr descr="Image result for secret code door" id="221" name="Google Shape;2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2895" y="2923843"/>
            <a:ext cx="5362575" cy="336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Embedded means </a:t>
            </a:r>
            <a:r>
              <a:rPr b="1" lang="en-US"/>
              <a:t>something that is attached </a:t>
            </a:r>
            <a:r>
              <a:rPr lang="en-US"/>
              <a:t>to another thing.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“Any sort of device which includes a programmable computer but itself is not intended to be a general-purpose computer” [Marilyn Wolf]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Embedded system has three components: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Hardware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Real Time Operating System (RTOS) 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Software</a:t>
            </a:r>
            <a:endParaRPr/>
          </a:p>
        </p:txBody>
      </p:sp>
      <p:sp>
        <p:nvSpPr>
          <p:cNvPr id="227" name="Google Shape;227;p12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entury Gothic"/>
              <a:buNone/>
            </a:pPr>
            <a:r>
              <a:rPr lang="en-US" sz="2800"/>
              <a:t>Embedded Platform based on Operating System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 txBox="1"/>
          <p:nvPr>
            <p:ph idx="1" type="body"/>
          </p:nvPr>
        </p:nvSpPr>
        <p:spPr>
          <a:xfrm>
            <a:off x="361639" y="4434840"/>
            <a:ext cx="2762544" cy="1249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Small Scale</a:t>
            </a:r>
            <a:endParaRPr/>
          </a:p>
        </p:txBody>
      </p:sp>
      <p:sp>
        <p:nvSpPr>
          <p:cNvPr id="233" name="Google Shape;233;p1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Classification of Embedded System</a:t>
            </a:r>
            <a:endParaRPr/>
          </a:p>
        </p:txBody>
      </p:sp>
      <p:pic>
        <p:nvPicPr>
          <p:cNvPr id="234" name="Google Shape;234;p13"/>
          <p:cNvPicPr preferRelativeResize="0"/>
          <p:nvPr/>
        </p:nvPicPr>
        <p:blipFill rotWithShape="1">
          <a:blip r:embed="rId3">
            <a:alphaModFix/>
          </a:blip>
          <a:srcRect b="35925" l="65750" r="19250" t="42741"/>
          <a:stretch/>
        </p:blipFill>
        <p:spPr>
          <a:xfrm>
            <a:off x="3144774" y="1996439"/>
            <a:ext cx="30480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3"/>
          <p:cNvPicPr preferRelativeResize="0"/>
          <p:nvPr/>
        </p:nvPicPr>
        <p:blipFill rotWithShape="1">
          <a:blip r:embed="rId3">
            <a:alphaModFix/>
          </a:blip>
          <a:srcRect b="16222" l="67375" r="20750" t="67333"/>
          <a:stretch/>
        </p:blipFill>
        <p:spPr>
          <a:xfrm>
            <a:off x="6406877" y="2333574"/>
            <a:ext cx="2171700" cy="1691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atmega328" id="236" name="Google Shape;23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9908" y="2529600"/>
            <a:ext cx="2926006" cy="159045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3"/>
          <p:cNvSpPr txBox="1"/>
          <p:nvPr/>
        </p:nvSpPr>
        <p:spPr>
          <a:xfrm>
            <a:off x="3144774" y="4434839"/>
            <a:ext cx="2675819" cy="1249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Medium Scale</a:t>
            </a:r>
            <a:endParaRPr/>
          </a:p>
        </p:txBody>
      </p:sp>
      <p:sp>
        <p:nvSpPr>
          <p:cNvPr id="238" name="Google Shape;238;p13"/>
          <p:cNvSpPr txBox="1"/>
          <p:nvPr/>
        </p:nvSpPr>
        <p:spPr>
          <a:xfrm>
            <a:off x="5667565" y="4426012"/>
            <a:ext cx="3650324" cy="6333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Sophisticated Scale</a:t>
            </a:r>
            <a:endParaRPr sz="2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Processor is the heart of the Embedded Syste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General Purpose processor (GPP) 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Microprocessor 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Microcontroller 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Embedded Processor 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Digital Signal Processor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Application Specific System Processor (ASSP)</a:t>
            </a:r>
            <a:endParaRPr/>
          </a:p>
          <a:p>
            <a:pPr indent="0" lvl="0" marL="109725" rtl="0" algn="l">
              <a:spcBef>
                <a:spcPts val="3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Multi Processor System using GPPs</a:t>
            </a:r>
            <a:endParaRPr/>
          </a:p>
        </p:txBody>
      </p:sp>
      <p:sp>
        <p:nvSpPr>
          <p:cNvPr id="244" name="Google Shape;244;p14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Processor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Connectivity and UI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Two powerful operating systems used in most of the embedded systems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Wireless connectivity and graphics interface: </a:t>
            </a:r>
            <a:r>
              <a:rPr b="1" lang="en-US"/>
              <a:t>Android OS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Linux comes with a complex flow and it might be difficult for a beginner to understand it</a:t>
            </a:r>
            <a:endParaRPr b="1"/>
          </a:p>
          <a:p>
            <a:pPr indent="-944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Power management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Android and Linux supports effective power management compared to real time operating systems</a:t>
            </a:r>
            <a:endParaRPr/>
          </a:p>
          <a:p>
            <a:pPr indent="-944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Responsiveness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Cost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50" name="Google Shape;250;p15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entury Gothic"/>
              <a:buNone/>
            </a:pPr>
            <a:r>
              <a:rPr lang="en-US"/>
              <a:t>Operating System: Linux and Android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entury Gothic"/>
              <a:buNone/>
            </a:pPr>
            <a:r>
              <a:rPr lang="en-US"/>
              <a:t>Android Operating System Component</a:t>
            </a:r>
            <a:endParaRPr/>
          </a:p>
        </p:txBody>
      </p:sp>
      <p:pic>
        <p:nvPicPr>
          <p:cNvPr id="256" name="Google Shape;256;p16"/>
          <p:cNvPicPr preferRelativeResize="0"/>
          <p:nvPr/>
        </p:nvPicPr>
        <p:blipFill rotWithShape="1">
          <a:blip r:embed="rId3">
            <a:alphaModFix/>
          </a:blip>
          <a:srcRect b="54443" l="16125" r="44748" t="22889"/>
          <a:stretch/>
        </p:blipFill>
        <p:spPr>
          <a:xfrm>
            <a:off x="194413" y="1851660"/>
            <a:ext cx="8698454" cy="2834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Android Boot File</a:t>
            </a:r>
            <a:endParaRPr/>
          </a:p>
        </p:txBody>
      </p:sp>
      <p:sp>
        <p:nvSpPr>
          <p:cNvPr id="262" name="Google Shape;262;p17"/>
          <p:cNvSpPr txBox="1"/>
          <p:nvPr/>
        </p:nvSpPr>
        <p:spPr>
          <a:xfrm>
            <a:off x="602752" y="1473457"/>
            <a:ext cx="6956288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mkdir /system    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mkdir /data 0771 system system    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mkdir /cache 0770 system cache    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mkdir /config 0500 root root    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mkdir /metadata 0770 root root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service yunos_preinstall </a:t>
            </a: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/system/bin/yunos_preinstall.sh    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 root    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group root    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main    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disabled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oneshot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Android Resource File</a:t>
            </a:r>
            <a:endParaRPr/>
          </a:p>
        </p:txBody>
      </p:sp>
      <p:pic>
        <p:nvPicPr>
          <p:cNvPr id="268" name="Google Shape;268;p18"/>
          <p:cNvPicPr preferRelativeResize="0"/>
          <p:nvPr/>
        </p:nvPicPr>
        <p:blipFill rotWithShape="1">
          <a:blip r:embed="rId3">
            <a:alphaModFix/>
          </a:blip>
          <a:srcRect b="52221" l="49114" r="35563" t="20444"/>
          <a:stretch/>
        </p:blipFill>
        <p:spPr>
          <a:xfrm>
            <a:off x="556260" y="4523362"/>
            <a:ext cx="1874521" cy="1880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8"/>
          <p:cNvPicPr preferRelativeResize="0"/>
          <p:nvPr/>
        </p:nvPicPr>
        <p:blipFill rotWithShape="1">
          <a:blip r:embed="rId3">
            <a:alphaModFix/>
          </a:blip>
          <a:srcRect b="52222" l="16250" r="68798" t="29649"/>
          <a:stretch/>
        </p:blipFill>
        <p:spPr>
          <a:xfrm>
            <a:off x="396241" y="1475362"/>
            <a:ext cx="2156460" cy="1470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8"/>
          <p:cNvPicPr preferRelativeResize="0"/>
          <p:nvPr/>
        </p:nvPicPr>
        <p:blipFill rotWithShape="1">
          <a:blip r:embed="rId3">
            <a:alphaModFix/>
          </a:blip>
          <a:srcRect b="52222" l="33369" r="53368" t="30682"/>
          <a:stretch/>
        </p:blipFill>
        <p:spPr>
          <a:xfrm>
            <a:off x="518161" y="2946022"/>
            <a:ext cx="1912620" cy="1386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8"/>
          <p:cNvPicPr preferRelativeResize="0"/>
          <p:nvPr/>
        </p:nvPicPr>
        <p:blipFill rotWithShape="1">
          <a:blip r:embed="rId4">
            <a:alphaModFix/>
          </a:blip>
          <a:srcRect b="7630" l="4250" r="45417" t="37258"/>
          <a:stretch/>
        </p:blipFill>
        <p:spPr>
          <a:xfrm>
            <a:off x="2981607" y="2594291"/>
            <a:ext cx="6067144" cy="373671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8"/>
          <p:cNvSpPr txBox="1"/>
          <p:nvPr/>
        </p:nvSpPr>
        <p:spPr>
          <a:xfrm>
            <a:off x="4460905" y="1777525"/>
            <a:ext cx="283802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IR Remote Data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"/>
          <p:cNvSpPr txBox="1"/>
          <p:nvPr>
            <p:ph idx="1" type="body"/>
          </p:nvPr>
        </p:nvSpPr>
        <p:spPr>
          <a:xfrm>
            <a:off x="38529" y="1584959"/>
            <a:ext cx="2674191" cy="513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System apps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User apps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Launcher apps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Preinstall apps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Libs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KeyLayout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…</a:t>
            </a:r>
            <a:endParaRPr/>
          </a:p>
        </p:txBody>
      </p:sp>
      <p:sp>
        <p:nvSpPr>
          <p:cNvPr id="278" name="Google Shape;278;p19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Android System File</a:t>
            </a:r>
            <a:endParaRPr/>
          </a:p>
        </p:txBody>
      </p:sp>
      <p:pic>
        <p:nvPicPr>
          <p:cNvPr id="279" name="Google Shape;279;p19"/>
          <p:cNvPicPr preferRelativeResize="0"/>
          <p:nvPr/>
        </p:nvPicPr>
        <p:blipFill rotWithShape="1">
          <a:blip r:embed="rId3">
            <a:alphaModFix/>
          </a:blip>
          <a:srcRect b="27777" l="16166" r="53333" t="23778"/>
          <a:stretch/>
        </p:blipFill>
        <p:spPr>
          <a:xfrm>
            <a:off x="3139440" y="1510156"/>
            <a:ext cx="5577840" cy="4983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f29171e8d3_0_17"/>
          <p:cNvSpPr txBox="1"/>
          <p:nvPr>
            <p:ph idx="1" type="body"/>
          </p:nvPr>
        </p:nvSpPr>
        <p:spPr>
          <a:xfrm>
            <a:off x="122770" y="6091203"/>
            <a:ext cx="82461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AI, Data science and Deep Learning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Interpreter programing language</a:t>
            </a:r>
            <a:endParaRPr/>
          </a:p>
        </p:txBody>
      </p:sp>
      <p:sp>
        <p:nvSpPr>
          <p:cNvPr id="285" name="Google Shape;285;g1f29171e8d3_0_17"/>
          <p:cNvSpPr txBox="1"/>
          <p:nvPr>
            <p:ph type="title"/>
          </p:nvPr>
        </p:nvSpPr>
        <p:spPr>
          <a:xfrm>
            <a:off x="38529" y="475180"/>
            <a:ext cx="9010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lang="en-US"/>
              <a:t>Python Programing Language</a:t>
            </a:r>
            <a:endParaRPr/>
          </a:p>
        </p:txBody>
      </p:sp>
      <p:pic>
        <p:nvPicPr>
          <p:cNvPr descr="Features of Python | Top 10 Features of Python programming | Edureka" id="286" name="Google Shape;286;g1f29171e8d3_0_17"/>
          <p:cNvPicPr preferRelativeResize="0"/>
          <p:nvPr/>
        </p:nvPicPr>
        <p:blipFill rotWithShape="1">
          <a:blip r:embed="rId3">
            <a:alphaModFix/>
          </a:blip>
          <a:srcRect b="0" l="32831" r="0" t="29408"/>
          <a:stretch/>
        </p:blipFill>
        <p:spPr>
          <a:xfrm>
            <a:off x="718399" y="1224794"/>
            <a:ext cx="7650482" cy="4690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f29171e8d3_0_23"/>
          <p:cNvSpPr txBox="1"/>
          <p:nvPr>
            <p:ph idx="1" type="body"/>
          </p:nvPr>
        </p:nvSpPr>
        <p:spPr>
          <a:xfrm>
            <a:off x="38529" y="5608319"/>
            <a:ext cx="90102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Flexible and high level approach</a:t>
            </a:r>
            <a:endParaRPr/>
          </a:p>
        </p:txBody>
      </p:sp>
      <p:sp>
        <p:nvSpPr>
          <p:cNvPr id="292" name="Google Shape;292;g1f29171e8d3_0_23"/>
          <p:cNvSpPr txBox="1"/>
          <p:nvPr>
            <p:ph type="title"/>
          </p:nvPr>
        </p:nvSpPr>
        <p:spPr>
          <a:xfrm>
            <a:off x="38529" y="475180"/>
            <a:ext cx="9010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lang="en-US"/>
              <a:t>Class in Python</a:t>
            </a:r>
            <a:endParaRPr/>
          </a:p>
        </p:txBody>
      </p:sp>
      <p:sp>
        <p:nvSpPr>
          <p:cNvPr id="293" name="Google Shape;293;g1f29171e8d3_0_23"/>
          <p:cNvSpPr/>
          <p:nvPr/>
        </p:nvSpPr>
        <p:spPr>
          <a:xfrm>
            <a:off x="1686560" y="1499108"/>
            <a:ext cx="4855800" cy="304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2400"/>
              <a:buFont typeface="JetBrains Mono"/>
              <a:buNone/>
            </a:pPr>
            <a:r>
              <a:rPr b="0" i="0" lang="en-US" sz="2400" u="none" cap="none" strike="noStrik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Student</a:t>
            </a:r>
            <a: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b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i="0" lang="en-US" sz="2400" u="none" cap="none" strike="noStrik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</a:t>
            </a:r>
            <a:r>
              <a:rPr b="0" i="0" lang="en-US" sz="2400" u="none" cap="none" strike="noStrike">
                <a:solidFill>
                  <a:srgbClr val="B200B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__init__</a:t>
            </a:r>
            <a: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2400" u="none" cap="none" strike="noStrike">
                <a:solidFill>
                  <a:srgbClr val="9455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self</a:t>
            </a:r>
            <a: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_name, _age):</a:t>
            </a:r>
            <a:b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b="0" i="0" lang="en-US" sz="2400" u="none" cap="none" strike="noStrike">
                <a:solidFill>
                  <a:srgbClr val="9455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self</a:t>
            </a:r>
            <a: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.name = _name</a:t>
            </a:r>
            <a:b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b="0" i="0" lang="en-US" sz="2400" u="none" cap="none" strike="noStrike">
                <a:solidFill>
                  <a:srgbClr val="9455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self</a:t>
            </a:r>
            <a: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.age = _age</a:t>
            </a:r>
            <a:b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i="0" lang="en-US" sz="2400" u="none" cap="none" strike="noStrik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</a:t>
            </a:r>
            <a:r>
              <a:rPr b="0" i="0" lang="en-US" sz="2400" u="none" cap="none" strike="noStrik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setName</a:t>
            </a:r>
            <a: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2400" u="none" cap="none" strike="noStrike">
                <a:solidFill>
                  <a:srgbClr val="9455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self</a:t>
            </a:r>
            <a: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_name):</a:t>
            </a:r>
            <a:b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b="0" i="0" lang="en-US" sz="2400" u="none" cap="none" strike="noStrike">
                <a:solidFill>
                  <a:srgbClr val="9455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self</a:t>
            </a:r>
            <a:r>
              <a:rPr b="0" i="0" lang="en-US" sz="24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.name = _name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f29171e8d3_0_29"/>
          <p:cNvSpPr txBox="1"/>
          <p:nvPr>
            <p:ph idx="1" type="body"/>
          </p:nvPr>
        </p:nvSpPr>
        <p:spPr>
          <a:xfrm>
            <a:off x="38529" y="5923279"/>
            <a:ext cx="90102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A pattern for OOP program</a:t>
            </a:r>
            <a:endParaRPr/>
          </a:p>
        </p:txBody>
      </p:sp>
      <p:sp>
        <p:nvSpPr>
          <p:cNvPr id="299" name="Google Shape;299;g1f29171e8d3_0_29"/>
          <p:cNvSpPr txBox="1"/>
          <p:nvPr>
            <p:ph type="title"/>
          </p:nvPr>
        </p:nvSpPr>
        <p:spPr>
          <a:xfrm>
            <a:off x="38529" y="475180"/>
            <a:ext cx="9010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lang="en-US"/>
              <a:t>Model View Controller</a:t>
            </a:r>
            <a:endParaRPr/>
          </a:p>
        </p:txBody>
      </p:sp>
      <p:pic>
        <p:nvPicPr>
          <p:cNvPr descr="What is Model-View-Controller?. Over the last year and a half (and… | by  Jesse Tyner-Bryan | CloudBoost" id="300" name="Google Shape;300;g1f29171e8d3_0_29"/>
          <p:cNvPicPr preferRelativeResize="0"/>
          <p:nvPr/>
        </p:nvPicPr>
        <p:blipFill rotWithShape="1">
          <a:blip r:embed="rId3">
            <a:alphaModFix/>
          </a:blip>
          <a:srcRect b="13698" l="11008" r="10077" t="19151"/>
          <a:stretch/>
        </p:blipFill>
        <p:spPr>
          <a:xfrm>
            <a:off x="965922" y="1402296"/>
            <a:ext cx="7426239" cy="3555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f29171e8d3_0_35"/>
          <p:cNvSpPr txBox="1"/>
          <p:nvPr>
            <p:ph type="ctrTitle"/>
          </p:nvPr>
        </p:nvSpPr>
        <p:spPr>
          <a:xfrm>
            <a:off x="233797" y="971550"/>
            <a:ext cx="8650800" cy="25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Impact"/>
              <a:buNone/>
            </a:pPr>
            <a:r>
              <a:rPr lang="en-US"/>
              <a:t>MVC using Python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VC (Model-View-Controller) Definition" id="307" name="Google Shape;307;g1f29171e8d3_0_35"/>
          <p:cNvPicPr preferRelativeResize="0"/>
          <p:nvPr/>
        </p:nvPicPr>
        <p:blipFill rotWithShape="1">
          <a:blip r:embed="rId3">
            <a:alphaModFix/>
          </a:blip>
          <a:srcRect b="10265" l="0" r="0" t="0"/>
          <a:stretch/>
        </p:blipFill>
        <p:spPr>
          <a:xfrm>
            <a:off x="882958" y="4104332"/>
            <a:ext cx="7352462" cy="2753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f29171e8d3_0_41"/>
          <p:cNvSpPr txBox="1"/>
          <p:nvPr>
            <p:ph idx="1" type="body"/>
          </p:nvPr>
        </p:nvSpPr>
        <p:spPr>
          <a:xfrm>
            <a:off x="38529" y="1283517"/>
            <a:ext cx="9010200" cy="54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Create Model folder:</a:t>
            </a:r>
            <a:endParaRPr/>
          </a:p>
          <a:p>
            <a:pPr indent="-246881" lvl="1" marL="658351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Student.py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Create Controller folder:</a:t>
            </a:r>
            <a:endParaRPr/>
          </a:p>
          <a:p>
            <a:pPr indent="-246881" lvl="1" marL="658351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StudentController.py</a:t>
            </a:r>
            <a:endParaRPr/>
          </a:p>
          <a:p>
            <a:pPr indent="-94481" lvl="1" marL="658351" rtl="0" algn="just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The main.py is the View of the project</a:t>
            </a:r>
            <a:endParaRPr/>
          </a:p>
        </p:txBody>
      </p:sp>
      <p:sp>
        <p:nvSpPr>
          <p:cNvPr id="313" name="Google Shape;313;g1f29171e8d3_0_41"/>
          <p:cNvSpPr txBox="1"/>
          <p:nvPr>
            <p:ph type="title"/>
          </p:nvPr>
        </p:nvSpPr>
        <p:spPr>
          <a:xfrm>
            <a:off x="38529" y="475180"/>
            <a:ext cx="9010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Arial"/>
              <a:buNone/>
            </a:pPr>
            <a:r>
              <a:rPr lang="en-US"/>
              <a:t>Step 1: Create a new project in Python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f29171e8d3_0_46"/>
          <p:cNvSpPr txBox="1"/>
          <p:nvPr>
            <p:ph idx="1" type="body"/>
          </p:nvPr>
        </p:nvSpPr>
        <p:spPr>
          <a:xfrm>
            <a:off x="167640" y="6172200"/>
            <a:ext cx="88812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The fields are </a:t>
            </a:r>
            <a:r>
              <a:rPr b="1" lang="en-US"/>
              <a:t>highly related to the database properties</a:t>
            </a:r>
            <a:endParaRPr b="1"/>
          </a:p>
        </p:txBody>
      </p:sp>
      <p:sp>
        <p:nvSpPr>
          <p:cNvPr id="319" name="Google Shape;319;g1f29171e8d3_0_46"/>
          <p:cNvSpPr txBox="1"/>
          <p:nvPr>
            <p:ph type="title"/>
          </p:nvPr>
        </p:nvSpPr>
        <p:spPr>
          <a:xfrm>
            <a:off x="38529" y="475180"/>
            <a:ext cx="9010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lang="en-US"/>
              <a:t>Step 2: Implement the Student Class</a:t>
            </a:r>
            <a:endParaRPr/>
          </a:p>
        </p:txBody>
      </p:sp>
      <p:sp>
        <p:nvSpPr>
          <p:cNvPr id="320" name="Google Shape;320;g1f29171e8d3_0_46"/>
          <p:cNvSpPr/>
          <p:nvPr/>
        </p:nvSpPr>
        <p:spPr>
          <a:xfrm>
            <a:off x="1524000" y="1224794"/>
            <a:ext cx="4328100" cy="470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2000"/>
              <a:buFont typeface="JetBrains Mono"/>
              <a:buNone/>
            </a:pPr>
            <a:r>
              <a:rPr b="0" i="0" lang="en-US" sz="2000" u="none" cap="none" strike="noStrik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Student</a:t>
            </a: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b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i="0" lang="en-US" sz="2000" u="none" cap="none" strike="noStrik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</a:t>
            </a:r>
            <a:r>
              <a:rPr b="0" i="0" lang="en-US" sz="2000" u="none" cap="none" strike="noStrike">
                <a:solidFill>
                  <a:srgbClr val="B200B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__init__</a:t>
            </a: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2000" u="none" cap="none" strike="noStrike">
                <a:solidFill>
                  <a:srgbClr val="9455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self</a:t>
            </a: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_name, _age):</a:t>
            </a:r>
            <a:b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b="0" i="0" lang="en-US" sz="2000" u="none" cap="none" strike="noStrike">
                <a:solidFill>
                  <a:srgbClr val="9455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self</a:t>
            </a: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.name = _name</a:t>
            </a:r>
            <a:b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b="0" i="0" lang="en-US" sz="2000" u="none" cap="none" strike="noStrike">
                <a:solidFill>
                  <a:srgbClr val="9455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self</a:t>
            </a: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.age = _age</a:t>
            </a:r>
            <a:b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i="0" lang="en-US" sz="2000" u="none" cap="none" strike="noStrik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</a:t>
            </a:r>
            <a:r>
              <a:rPr b="0" i="0" lang="en-US" sz="2000" u="none" cap="none" strike="noStrik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setName</a:t>
            </a: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2000" u="none" cap="none" strike="noStrike">
                <a:solidFill>
                  <a:srgbClr val="9455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self</a:t>
            </a: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_name):</a:t>
            </a:r>
            <a:b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b="0" i="0" lang="en-US" sz="2000" u="none" cap="none" strike="noStrike">
                <a:solidFill>
                  <a:srgbClr val="9455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self</a:t>
            </a: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.name = _name</a:t>
            </a:r>
            <a:b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i="0" lang="en-US" sz="2000" u="none" cap="none" strike="noStrik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</a:t>
            </a:r>
            <a:r>
              <a:rPr b="0" i="0" lang="en-US" sz="2000" u="none" cap="none" strike="noStrik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getName</a:t>
            </a: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2000" u="none" cap="none" strike="noStrike">
                <a:solidFill>
                  <a:srgbClr val="9455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self</a:t>
            </a: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):</a:t>
            </a:r>
            <a:b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b="0" i="0" lang="en-US" sz="2000" u="none" cap="none" strike="noStrik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b="0" i="0" lang="en-US" sz="2000" u="none" cap="none" strike="noStrike">
                <a:solidFill>
                  <a:srgbClr val="9455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self</a:t>
            </a: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.name</a:t>
            </a:r>
            <a:b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i="0" lang="en-US" sz="2000" u="none" cap="none" strike="noStrik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</a:t>
            </a:r>
            <a:r>
              <a:rPr b="0" i="0" lang="en-US" sz="2000" u="none" cap="none" strike="noStrik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setAge</a:t>
            </a: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2000" u="none" cap="none" strike="noStrike">
                <a:solidFill>
                  <a:srgbClr val="9455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self</a:t>
            </a: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_age):</a:t>
            </a:r>
            <a:b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b="0" i="0" lang="en-US" sz="2000" u="none" cap="none" strike="noStrike">
                <a:solidFill>
                  <a:srgbClr val="9455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self</a:t>
            </a: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.age = _age</a:t>
            </a:r>
            <a:b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i="0" lang="en-US" sz="2000" u="none" cap="none" strike="noStrik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</a:t>
            </a:r>
            <a:r>
              <a:rPr b="0" i="0" lang="en-US" sz="2000" u="none" cap="none" strike="noStrik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getAge</a:t>
            </a: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2000" u="none" cap="none" strike="noStrike">
                <a:solidFill>
                  <a:srgbClr val="9455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self</a:t>
            </a: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):</a:t>
            </a:r>
            <a:b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b="0" i="0" lang="en-US" sz="2000" u="none" cap="none" strike="noStrik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 </a:t>
            </a:r>
            <a:r>
              <a:rPr b="0" i="0" lang="en-US" sz="2000" u="none" cap="none" strike="noStrike">
                <a:solidFill>
                  <a:srgbClr val="9455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self</a:t>
            </a:r>
            <a:r>
              <a:rPr b="0" i="0" lang="en-US" sz="20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.age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f29171e8d3_0_52"/>
          <p:cNvSpPr txBox="1"/>
          <p:nvPr>
            <p:ph idx="1" type="body"/>
          </p:nvPr>
        </p:nvSpPr>
        <p:spPr>
          <a:xfrm>
            <a:off x="38529" y="5501639"/>
            <a:ext cx="9010200" cy="12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Data manipulation: insert, update or delete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Data storage: database or file management system</a:t>
            </a:r>
            <a:endParaRPr/>
          </a:p>
        </p:txBody>
      </p:sp>
      <p:sp>
        <p:nvSpPr>
          <p:cNvPr id="326" name="Google Shape;326;g1f29171e8d3_0_52"/>
          <p:cNvSpPr txBox="1"/>
          <p:nvPr>
            <p:ph type="title"/>
          </p:nvPr>
        </p:nvSpPr>
        <p:spPr>
          <a:xfrm>
            <a:off x="38529" y="475180"/>
            <a:ext cx="9010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lang="en-US"/>
              <a:t>Step 3: Implement the Controller</a:t>
            </a:r>
            <a:endParaRPr/>
          </a:p>
        </p:txBody>
      </p:sp>
      <p:sp>
        <p:nvSpPr>
          <p:cNvPr id="327" name="Google Shape;327;g1f29171e8d3_0_52"/>
          <p:cNvSpPr/>
          <p:nvPr/>
        </p:nvSpPr>
        <p:spPr>
          <a:xfrm>
            <a:off x="1036910" y="1803591"/>
            <a:ext cx="7013400" cy="206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B3"/>
              </a:buClr>
              <a:buSzPts val="3200"/>
              <a:buFont typeface="JetBrains Mono"/>
              <a:buNone/>
            </a:pPr>
            <a:r>
              <a:rPr b="0" i="0" lang="en-US" sz="3200" u="none" cap="none" strike="noStrik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StudentController</a:t>
            </a:r>
            <a:r>
              <a:rPr b="0" i="0" lang="en-US" sz="32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br>
              <a:rPr b="0" i="0" lang="en-US" sz="32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br>
              <a:rPr b="0" i="0" lang="en-US" sz="32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32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b="0" i="0" lang="en-US" sz="3200" u="none" cap="none" strike="noStrike">
                <a:solidFill>
                  <a:srgbClr val="0033B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 </a:t>
            </a:r>
            <a:r>
              <a:rPr b="0" i="0" lang="en-US" sz="3200" u="none" cap="none" strike="noStrike">
                <a:solidFill>
                  <a:srgbClr val="00627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insertStudent</a:t>
            </a:r>
            <a:r>
              <a:rPr b="0" i="0" lang="en-US" sz="32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3200" u="none" cap="none" strike="noStrike">
                <a:solidFill>
                  <a:srgbClr val="94558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self</a:t>
            </a:r>
            <a:r>
              <a:rPr b="0" i="0" lang="en-US" sz="32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student):</a:t>
            </a:r>
            <a:br>
              <a:rPr b="0" i="0" lang="en-US" sz="32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b="0" i="0" lang="en-US" sz="32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b="0" i="0" lang="en-US" sz="3200" u="none" cap="none" strike="noStrike">
                <a:solidFill>
                  <a:srgbClr val="0000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print</a:t>
            </a:r>
            <a:r>
              <a:rPr b="0" i="0" lang="en-US" sz="3200" u="none" cap="none" strike="noStrike">
                <a:solidFill>
                  <a:srgbClr val="08080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(student.name, student.age)</a:t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Lab 2: LED Blinky on Android Things</a:t>
            </a:r>
            <a:endParaRPr/>
          </a:p>
        </p:txBody>
      </p:sp>
      <p:pic>
        <p:nvPicPr>
          <p:cNvPr descr="https://hackster.imgix.net/uploads/attachments/392503/buttonthings_-_part_1_led_blink_bb_qF9oBVNUnN.png?auto=compress%2Cformat&amp;w=740&amp;h=555&amp;fit=max" id="333" name="Google Shape;33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069" y="2045073"/>
            <a:ext cx="704850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0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Hardware connection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1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Create an Android Things Project</a:t>
            </a:r>
            <a:endParaRPr/>
          </a:p>
        </p:txBody>
      </p:sp>
      <p:sp>
        <p:nvSpPr>
          <p:cNvPr id="340" name="Google Shape;340;p21"/>
          <p:cNvSpPr/>
          <p:nvPr/>
        </p:nvSpPr>
        <p:spPr>
          <a:xfrm>
            <a:off x="284480" y="-365760"/>
            <a:ext cx="9144000" cy="4572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anchorCtr="0" anchor="ctr" bIns="101550" lIns="0" spcFirstLastPara="1" rIns="0" wrap="square" tIns="101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474F"/>
              </a:buClr>
              <a:buSzPts val="1000"/>
              <a:buFont typeface="Roboto Mono"/>
              <a:buNone/>
            </a:pP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dependencies {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...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    compileOnly </a:t>
            </a:r>
            <a:r>
              <a:rPr b="0" i="0" lang="en-US" sz="1000" u="none" cap="none" strike="noStrike">
                <a:solidFill>
                  <a:srgbClr val="0D904F"/>
                </a:solidFill>
                <a:latin typeface="Roboto Mono"/>
                <a:ea typeface="Roboto Mono"/>
                <a:cs typeface="Roboto Mono"/>
                <a:sym typeface="Roboto Mono"/>
              </a:rPr>
              <a:t>'com.google.android.things:androidthings:+'</a:t>
            </a:r>
            <a:b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0" i="0" lang="en-US" sz="1000" u="none" cap="none" strike="noStrike">
                <a:solidFill>
                  <a:srgbClr val="37474F"/>
                </a:solidFill>
                <a:latin typeface="Roboto Mono"/>
                <a:ea typeface="Roboto Mono"/>
                <a:cs typeface="Roboto Mono"/>
                <a:sym typeface="Roboto Mono"/>
              </a:rPr>
              <a:t>    }</a:t>
            </a:r>
            <a:r>
              <a:rPr b="0" i="0" lang="en-US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21"/>
          <p:cNvPicPr preferRelativeResize="0"/>
          <p:nvPr/>
        </p:nvPicPr>
        <p:blipFill rotWithShape="1">
          <a:blip r:embed="rId3">
            <a:alphaModFix/>
          </a:blip>
          <a:srcRect b="20443" l="26750" r="26625" t="19111"/>
          <a:stretch/>
        </p:blipFill>
        <p:spPr>
          <a:xfrm>
            <a:off x="1780545" y="1440180"/>
            <a:ext cx="5526190" cy="4029823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1"/>
          <p:cNvSpPr/>
          <p:nvPr/>
        </p:nvSpPr>
        <p:spPr>
          <a:xfrm>
            <a:off x="1615155" y="4358355"/>
            <a:ext cx="675118" cy="19655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6F942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3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Step 1: Declare a pin name wired to LED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private static final String LED_PIN_NAME = "BCM26"; </a:t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Step 2: Implement initGPIO function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Step 3: Call initGPIO() on OnCreate()</a:t>
            </a:r>
            <a:endParaRPr/>
          </a:p>
        </p:txBody>
      </p:sp>
      <p:sp>
        <p:nvSpPr>
          <p:cNvPr id="348" name="Google Shape;348;p2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MainActivity.java</a:t>
            </a:r>
            <a:endParaRPr/>
          </a:p>
        </p:txBody>
      </p:sp>
      <p:pic>
        <p:nvPicPr>
          <p:cNvPr id="349" name="Google Shape;349;p23"/>
          <p:cNvPicPr preferRelativeResize="0"/>
          <p:nvPr/>
        </p:nvPicPr>
        <p:blipFill rotWithShape="1">
          <a:blip r:embed="rId3">
            <a:alphaModFix/>
          </a:blip>
          <a:srcRect b="53407" l="5999" r="16083" t="11037"/>
          <a:stretch/>
        </p:blipFill>
        <p:spPr>
          <a:xfrm>
            <a:off x="594360" y="2941320"/>
            <a:ext cx="7757160" cy="1991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4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Step 4: Release the pin when the app is closed</a:t>
            </a:r>
            <a:endParaRPr/>
          </a:p>
        </p:txBody>
      </p:sp>
      <p:sp>
        <p:nvSpPr>
          <p:cNvPr id="355" name="Google Shape;355;p24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MainActivity.java</a:t>
            </a:r>
            <a:endParaRPr/>
          </a:p>
        </p:txBody>
      </p:sp>
      <p:pic>
        <p:nvPicPr>
          <p:cNvPr id="356" name="Google Shape;356;p24"/>
          <p:cNvPicPr preferRelativeResize="0"/>
          <p:nvPr/>
        </p:nvPicPr>
        <p:blipFill rotWithShape="1">
          <a:blip r:embed="rId3">
            <a:alphaModFix/>
          </a:blip>
          <a:srcRect b="8963" l="5833" r="44500" t="49556"/>
          <a:stretch/>
        </p:blipFill>
        <p:spPr>
          <a:xfrm>
            <a:off x="670560" y="2225040"/>
            <a:ext cx="7528560" cy="353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5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Step 5: Create a Timer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Step 6: Call this function on OnCreate()</a:t>
            </a:r>
            <a:endParaRPr/>
          </a:p>
        </p:txBody>
      </p:sp>
      <p:sp>
        <p:nvSpPr>
          <p:cNvPr id="362" name="Google Shape;362;p25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MainActivity.java</a:t>
            </a:r>
            <a:endParaRPr/>
          </a:p>
        </p:txBody>
      </p:sp>
      <p:pic>
        <p:nvPicPr>
          <p:cNvPr id="363" name="Google Shape;363;p25"/>
          <p:cNvPicPr preferRelativeResize="0"/>
          <p:nvPr/>
        </p:nvPicPr>
        <p:blipFill rotWithShape="1">
          <a:blip r:embed="rId3">
            <a:alphaModFix/>
          </a:blip>
          <a:srcRect b="12962" l="5749" r="24667" t="33111"/>
          <a:stretch/>
        </p:blipFill>
        <p:spPr>
          <a:xfrm>
            <a:off x="487680" y="2042160"/>
            <a:ext cx="7935896" cy="3459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f29171e8d3_0_152"/>
          <p:cNvSpPr txBox="1"/>
          <p:nvPr>
            <p:ph type="ctrTitle"/>
          </p:nvPr>
        </p:nvSpPr>
        <p:spPr>
          <a:xfrm>
            <a:off x="233797" y="971550"/>
            <a:ext cx="8650800" cy="25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Impact"/>
              <a:buNone/>
            </a:pPr>
            <a:r>
              <a:rPr lang="en-US"/>
              <a:t>Software Development Framework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run Manglick - Technical View: .NET Ecosystem - .NET Core / Framework /  Standard" id="370" name="Google Shape;370;g1f29171e8d3_0_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797" y="4303674"/>
            <a:ext cx="4752763" cy="23104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lutter: A Google UI Framework Reaches More Platforms | Linux Addicts" id="371" name="Google Shape;371;g1f29171e8d3_0_1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5227" y="4540498"/>
            <a:ext cx="3709353" cy="2073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f29171e8d3_0_159"/>
          <p:cNvSpPr txBox="1"/>
          <p:nvPr>
            <p:ph idx="1" type="body"/>
          </p:nvPr>
        </p:nvSpPr>
        <p:spPr>
          <a:xfrm>
            <a:off x="38529" y="5379721"/>
            <a:ext cx="9010200" cy="1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Supported libraries, SDK, programming languages for software development and deployment</a:t>
            </a:r>
            <a:endParaRPr/>
          </a:p>
        </p:txBody>
      </p:sp>
      <p:sp>
        <p:nvSpPr>
          <p:cNvPr id="377" name="Google Shape;377;g1f29171e8d3_0_159"/>
          <p:cNvSpPr txBox="1"/>
          <p:nvPr>
            <p:ph type="title"/>
          </p:nvPr>
        </p:nvSpPr>
        <p:spPr>
          <a:xfrm>
            <a:off x="38529" y="475180"/>
            <a:ext cx="9010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None/>
            </a:pPr>
            <a:r>
              <a:rPr lang="en-US" sz="3200"/>
              <a:t>What is Software Development Framework?</a:t>
            </a:r>
            <a:endParaRPr sz="3200"/>
          </a:p>
        </p:txBody>
      </p:sp>
      <p:pic>
        <p:nvPicPr>
          <p:cNvPr descr="What is Framework in Software Engineering? | Altamira Softworks" id="378" name="Google Shape;378;g1f29171e8d3_0_159"/>
          <p:cNvPicPr preferRelativeResize="0"/>
          <p:nvPr/>
        </p:nvPicPr>
        <p:blipFill rotWithShape="1">
          <a:blip r:embed="rId3">
            <a:alphaModFix/>
          </a:blip>
          <a:srcRect b="14190" l="11374" r="10822" t="25579"/>
          <a:stretch/>
        </p:blipFill>
        <p:spPr>
          <a:xfrm>
            <a:off x="243838" y="1816356"/>
            <a:ext cx="8544830" cy="2877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1f29171e8d3_0_165"/>
          <p:cNvSpPr txBox="1"/>
          <p:nvPr>
            <p:ph idx="1" type="body"/>
          </p:nvPr>
        </p:nvSpPr>
        <p:spPr>
          <a:xfrm>
            <a:off x="38529" y="5266479"/>
            <a:ext cx="90102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Unify framework for </a:t>
            </a:r>
            <a:r>
              <a:rPr b="1" lang="en-US"/>
              <a:t>Desktop Applications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b="1" lang="en-US"/>
              <a:t>C, C++ and C# </a:t>
            </a:r>
            <a:r>
              <a:rPr lang="en-US"/>
              <a:t>are the most popular languages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Visual studio IDE: Drag and Drop!!!</a:t>
            </a:r>
            <a:endParaRPr/>
          </a:p>
        </p:txBody>
      </p:sp>
      <p:sp>
        <p:nvSpPr>
          <p:cNvPr id="384" name="Google Shape;384;g1f29171e8d3_0_165"/>
          <p:cNvSpPr txBox="1"/>
          <p:nvPr>
            <p:ph type="title"/>
          </p:nvPr>
        </p:nvSpPr>
        <p:spPr>
          <a:xfrm>
            <a:off x="38529" y="475180"/>
            <a:ext cx="9010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lang="en-US"/>
              <a:t>Dot Net Framework</a:t>
            </a:r>
            <a:endParaRPr/>
          </a:p>
        </p:txBody>
      </p:sp>
      <p:pic>
        <p:nvPicPr>
          <p:cNvPr descr="Introducing .NET 5 - .NET Blog" id="385" name="Google Shape;385;g1f29171e8d3_0_165"/>
          <p:cNvPicPr preferRelativeResize="0"/>
          <p:nvPr/>
        </p:nvPicPr>
        <p:blipFill rotWithShape="1">
          <a:blip r:embed="rId3">
            <a:alphaModFix/>
          </a:blip>
          <a:srcRect b="0" l="0" r="0" t="19762"/>
          <a:stretch/>
        </p:blipFill>
        <p:spPr>
          <a:xfrm>
            <a:off x="38529" y="1305816"/>
            <a:ext cx="9073072" cy="3879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f29171e8d3_0_171"/>
          <p:cNvSpPr txBox="1"/>
          <p:nvPr>
            <p:ph idx="1" type="body"/>
          </p:nvPr>
        </p:nvSpPr>
        <p:spPr>
          <a:xfrm>
            <a:off x="38529" y="1283517"/>
            <a:ext cx="9010200" cy="54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https://framework7.io/react/</a:t>
            </a:r>
            <a:endParaRPr/>
          </a:p>
          <a:p>
            <a:pPr indent="-90925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91" name="Google Shape;391;g1f29171e8d3_0_171"/>
          <p:cNvSpPr txBox="1"/>
          <p:nvPr>
            <p:ph type="title"/>
          </p:nvPr>
        </p:nvSpPr>
        <p:spPr>
          <a:xfrm>
            <a:off x="38529" y="475180"/>
            <a:ext cx="9010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lang="en-US"/>
              <a:t>Framework 7 – React JS</a:t>
            </a:r>
            <a:endParaRPr/>
          </a:p>
        </p:txBody>
      </p:sp>
      <p:pic>
        <p:nvPicPr>
          <p:cNvPr descr="Framework7 - Full Featured Mobile HTML Framework For Building iOS &amp; Android  Apps" id="392" name="Google Shape;392;g1f29171e8d3_0_1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639" y="2392680"/>
            <a:ext cx="8382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f29171e8d3_0_177"/>
          <p:cNvSpPr txBox="1"/>
          <p:nvPr>
            <p:ph type="title"/>
          </p:nvPr>
        </p:nvSpPr>
        <p:spPr>
          <a:xfrm>
            <a:off x="38529" y="475180"/>
            <a:ext cx="9010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lang="en-US"/>
              <a:t>Example of Framework 7</a:t>
            </a:r>
            <a:endParaRPr/>
          </a:p>
        </p:txBody>
      </p:sp>
      <p:pic>
        <p:nvPicPr>
          <p:cNvPr id="398" name="Google Shape;398;g1f29171e8d3_0_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149" y="1338263"/>
            <a:ext cx="7276331" cy="4817753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1f29171e8d3_0_177"/>
          <p:cNvSpPr txBox="1"/>
          <p:nvPr>
            <p:ph idx="1" type="body"/>
          </p:nvPr>
        </p:nvSpPr>
        <p:spPr>
          <a:xfrm>
            <a:off x="38530" y="6269485"/>
            <a:ext cx="90102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Framework 7 Web-App development environment</a:t>
            </a:r>
            <a:endParaRPr sz="20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f29171e8d3_0_183"/>
          <p:cNvSpPr txBox="1"/>
          <p:nvPr>
            <p:ph idx="1" type="body"/>
          </p:nvPr>
        </p:nvSpPr>
        <p:spPr>
          <a:xfrm>
            <a:off x="38529" y="5939276"/>
            <a:ext cx="90102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lang="en-US" sz="2400"/>
              <a:t>Flutter is an Android Studio plug-in:</a:t>
            </a:r>
            <a:endParaRPr/>
          </a:p>
          <a:p>
            <a:pPr indent="-246881" lvl="1" marL="658351" rtl="0" algn="just">
              <a:spcBef>
                <a:spcPts val="300"/>
              </a:spcBef>
              <a:spcAft>
                <a:spcPts val="0"/>
              </a:spcAft>
              <a:buSzPts val="2000"/>
              <a:buChar char="▫"/>
            </a:pPr>
            <a:r>
              <a:rPr lang="en-US" sz="2000"/>
              <a:t>Access to the hardware of the mobile device (Bluetooth, NFC, Wifi, …)</a:t>
            </a:r>
            <a:endParaRPr/>
          </a:p>
          <a:p>
            <a:pPr indent="-119881" lvl="1" marL="658351" rtl="0" algn="just">
              <a:spcBef>
                <a:spcPts val="3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405" name="Google Shape;405;g1f29171e8d3_0_183"/>
          <p:cNvSpPr txBox="1"/>
          <p:nvPr>
            <p:ph type="title"/>
          </p:nvPr>
        </p:nvSpPr>
        <p:spPr>
          <a:xfrm>
            <a:off x="38529" y="475180"/>
            <a:ext cx="9010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lang="en-US"/>
              <a:t>Android Studio and Flutter</a:t>
            </a:r>
            <a:endParaRPr/>
          </a:p>
        </p:txBody>
      </p:sp>
      <p:pic>
        <p:nvPicPr>
          <p:cNvPr descr="Flutter: A Google UI Framework Reaches More Platforms | Linux Addicts" id="406" name="Google Shape;406;g1f29171e8d3_0_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895" y="1372235"/>
            <a:ext cx="7418706" cy="414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f29171e8d3_0_189"/>
          <p:cNvSpPr txBox="1"/>
          <p:nvPr>
            <p:ph idx="1" type="body"/>
          </p:nvPr>
        </p:nvSpPr>
        <p:spPr>
          <a:xfrm>
            <a:off x="38529" y="5471159"/>
            <a:ext cx="9010200" cy="12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A product from Microsoft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Not only for game developers, but also a cross-framework for software developemt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ct val="100000"/>
              <a:buFont typeface="Noto Sans Symbols"/>
              <a:buChar char="▪"/>
            </a:pPr>
            <a:r>
              <a:rPr lang="en-US"/>
              <a:t>C# programing language</a:t>
            </a:r>
            <a:endParaRPr/>
          </a:p>
        </p:txBody>
      </p:sp>
      <p:sp>
        <p:nvSpPr>
          <p:cNvPr id="412" name="Google Shape;412;g1f29171e8d3_0_189"/>
          <p:cNvSpPr txBox="1"/>
          <p:nvPr>
            <p:ph type="title"/>
          </p:nvPr>
        </p:nvSpPr>
        <p:spPr>
          <a:xfrm>
            <a:off x="38529" y="475180"/>
            <a:ext cx="9010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lang="en-US"/>
              <a:t>Unity 3D</a:t>
            </a:r>
            <a:endParaRPr/>
          </a:p>
        </p:txBody>
      </p:sp>
      <p:pic>
        <p:nvPicPr>
          <p:cNvPr descr="My Node-RED Dashboard with some CSS hacks - YouTube" id="413" name="Google Shape;413;g1f29171e8d3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95" y="1323023"/>
            <a:ext cx="6641466" cy="373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f29171e8d3_0_195"/>
          <p:cNvSpPr txBox="1"/>
          <p:nvPr>
            <p:ph idx="1" type="body"/>
          </p:nvPr>
        </p:nvSpPr>
        <p:spPr>
          <a:xfrm>
            <a:off x="38529" y="1283517"/>
            <a:ext cx="9010200" cy="54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5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https://assetstore.unity.com/templates</a:t>
            </a:r>
            <a:endParaRPr/>
          </a:p>
          <a:p>
            <a:pPr indent="-256025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https://www.youtube.com/watch?v=uZaFHx1daLU</a:t>
            </a:r>
            <a:endParaRPr/>
          </a:p>
          <a:p>
            <a:pPr indent="-90925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19" name="Google Shape;419;g1f29171e8d3_0_195"/>
          <p:cNvSpPr txBox="1"/>
          <p:nvPr>
            <p:ph type="title"/>
          </p:nvPr>
        </p:nvSpPr>
        <p:spPr>
          <a:xfrm>
            <a:off x="38529" y="475180"/>
            <a:ext cx="90102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</a:pPr>
            <a:r>
              <a:rPr lang="en-US"/>
              <a:t>Unity Asset Store</a:t>
            </a:r>
            <a:endParaRPr/>
          </a:p>
        </p:txBody>
      </p:sp>
      <p:pic>
        <p:nvPicPr>
          <p:cNvPr id="420" name="Google Shape;420;g1f29171e8d3_0_1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8225" y="2574608"/>
            <a:ext cx="6642736" cy="3785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raining presentation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2014-07-29T03:47:45Z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TC034606049991</vt:lpwstr>
  </property>
</Properties>
</file>