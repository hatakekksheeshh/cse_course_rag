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43"/>
  </p:notesMasterIdLst>
  <p:sldIdLst>
    <p:sldId id="256" r:id="rId5"/>
    <p:sldId id="257" r:id="rId6"/>
    <p:sldId id="258" r:id="rId7"/>
    <p:sldId id="259" r:id="rId8"/>
    <p:sldId id="260" r:id="rId9"/>
    <p:sldId id="261" r:id="rId10"/>
    <p:sldId id="262" r:id="rId11"/>
    <p:sldId id="263" r:id="rId12"/>
    <p:sldId id="264" r:id="rId13"/>
    <p:sldId id="265" r:id="rId14"/>
    <p:sldId id="294"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95" r:id="rId38"/>
    <p:sldId id="290" r:id="rId39"/>
    <p:sldId id="291" r:id="rId40"/>
    <p:sldId id="292" r:id="rId41"/>
    <p:sldId id="293"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009900"/>
    <a:srgbClr val="2F20A0"/>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218" autoAdjust="0"/>
  </p:normalViewPr>
  <p:slideViewPr>
    <p:cSldViewPr>
      <p:cViewPr varScale="1">
        <p:scale>
          <a:sx n="78" d="100"/>
          <a:sy n="78" d="100"/>
        </p:scale>
        <p:origin x="1594" y="9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E024D2-6C02-440F-BDBA-8A374AA97E2B}" type="datetimeFigureOut">
              <a:rPr lang="en-US" smtClean="0"/>
              <a:t>4/18/2023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FB8A27-9DAB-4946-83A9-9BABE6448B48}" type="slidenum">
              <a:rPr lang="en-US" smtClean="0"/>
              <a:t>‹#›</a:t>
            </a:fld>
            <a:endParaRPr lang="en-US"/>
          </a:p>
        </p:txBody>
      </p:sp>
    </p:spTree>
    <p:extLst>
      <p:ext uri="{BB962C8B-B14F-4D97-AF65-F5344CB8AC3E}">
        <p14:creationId xmlns:p14="http://schemas.microsoft.com/office/powerpoint/2010/main" val="1193900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Many problems arose in earlier chapters were not resolved because they required knowledge of context.</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Two important aspects of context are general knowledge about the world and specific knowledge about the situation in which the communication is occurring. To analyze these we need the formalism for representing knowledge and reasoning. This area of study is called knowledge representation (KR).</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Knowledge means different things to different researchers. For some, KR concerns the structure of the language used to express the knowledge- whether it is in logic, semantic network, frames or other specially designed representational formalism. For others, KR concerns the content of sentences- what predicates are needed and how are they organized. Both of these  </a:t>
            </a:r>
            <a:r>
              <a:rPr kumimoji="0" lang="en-US" sz="2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issuse</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are important.</a:t>
            </a:r>
          </a:p>
          <a:p>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1</a:t>
            </a:fld>
            <a:endParaRPr lang="en-US"/>
          </a:p>
        </p:txBody>
      </p:sp>
    </p:spTree>
    <p:extLst>
      <p:ext uri="{BB962C8B-B14F-4D97-AF65-F5344CB8AC3E}">
        <p14:creationId xmlns:p14="http://schemas.microsoft.com/office/powerpoint/2010/main" val="873146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General knowledge: type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of hierarchy, part/whole relationships, and so on. This consists of information about general constraints on the world and the semantic definition of the terms in the language. General knowledge is specified in terms of the  types or kinds of the objects in the world and does not concern information about specific individuals.</a:t>
            </a:r>
          </a:p>
          <a:p>
            <a:pPr marL="0" marR="0" lvl="0" indent="0" algn="l" defTabSz="914400" rtl="0" eaLnBrk="1" fontAlgn="base" latinLnBrk="0" hangingPunct="1">
              <a:lnSpc>
                <a:spcPct val="122000"/>
              </a:lnSpc>
              <a:spcBef>
                <a:spcPts val="1200"/>
              </a:spcBef>
              <a:spcAft>
                <a:spcPct val="0"/>
              </a:spcAft>
              <a:buClrTx/>
              <a:buSzTx/>
              <a:buFont typeface="Wingdings" pitchFamily="2" charset="2"/>
              <a:buNone/>
              <a:tabLst>
                <a:tab pos="571500" algn="l"/>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2</a:t>
            </a:fld>
            <a:endParaRPr lang="en-US"/>
          </a:p>
        </p:txBody>
      </p:sp>
    </p:spTree>
    <p:extLst>
      <p:ext uri="{BB962C8B-B14F-4D97-AF65-F5344CB8AC3E}">
        <p14:creationId xmlns:p14="http://schemas.microsoft.com/office/powerpoint/2010/main" val="4191676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set of inference techniques is sound if is only derives  true sentences</a:t>
            </a:r>
            <a:r>
              <a:rPr lang="en-US" baseline="0" dirty="0"/>
              <a:t> when the original sentences in the KB are all true. Not all useful inference techniques need be sound, however, as we see later.</a:t>
            </a:r>
          </a:p>
          <a:p>
            <a:pPr marL="171450" marR="0" lvl="0" indent="-171450" algn="l" defTabSz="914400" rtl="0" eaLnBrk="1" fontAlgn="base" latinLnBrk="0" hangingPunct="1">
              <a:lnSpc>
                <a:spcPct val="100000"/>
              </a:lnSpc>
              <a:spcBef>
                <a:spcPct val="50000"/>
              </a:spcBef>
              <a:spcAft>
                <a:spcPct val="0"/>
              </a:spcAft>
              <a:buClrTx/>
              <a:buSzTx/>
              <a:buFontTx/>
              <a:buChar char="-"/>
              <a:tabLst>
                <a:tab pos="571500" algn="l"/>
              </a:tabLst>
              <a:defRPr/>
            </a:pPr>
            <a:r>
              <a:rPr lang="en-US" baseline="0" dirty="0"/>
              <a:t>Logical form language (LFL) and KRL are driven by different needs. </a:t>
            </a:r>
          </a:p>
          <a:p>
            <a:pPr marL="171450" marR="0" lvl="0" indent="-171450" algn="l" defTabSz="914400" rtl="0" eaLnBrk="1" fontAlgn="base" latinLnBrk="0" hangingPunct="1">
              <a:lnSpc>
                <a:spcPct val="100000"/>
              </a:lnSpc>
              <a:spcBef>
                <a:spcPct val="50000"/>
              </a:spcBef>
              <a:spcAft>
                <a:spcPct val="0"/>
              </a:spcAft>
              <a:buClrTx/>
              <a:buSzTx/>
              <a:buFontTx/>
              <a:buChar char="-"/>
              <a:tabLst>
                <a:tab pos="571500" algn="l"/>
              </a:tabLst>
              <a:defRPr/>
            </a:pPr>
            <a:r>
              <a:rPr lang="en-US" baseline="0" dirty="0"/>
              <a:t>LFL must be very expressive in order to simplify the semantic interpretation process  and to allow effective resolution of ambiguity. </a:t>
            </a:r>
          </a:p>
          <a:p>
            <a:pPr marL="171450" marR="0" lvl="0" indent="-171450" algn="l" defTabSz="914400" rtl="0" eaLnBrk="1" fontAlgn="base" latinLnBrk="0" hangingPunct="1">
              <a:lnSpc>
                <a:spcPct val="100000"/>
              </a:lnSpc>
              <a:spcBef>
                <a:spcPct val="50000"/>
              </a:spcBef>
              <a:spcAft>
                <a:spcPct val="0"/>
              </a:spcAft>
              <a:buClrTx/>
              <a:buSzTx/>
              <a:buFontTx/>
              <a:buChar char="-"/>
              <a:tabLst>
                <a:tab pos="571500" algn="l"/>
              </a:tabLst>
              <a:defRPr/>
            </a:pPr>
            <a:r>
              <a:rPr lang="en-US" baseline="0" dirty="0"/>
              <a:t>The KRL,  on the other hand , must support efficient and predictable reasoning within a specific domain.</a:t>
            </a:r>
          </a:p>
          <a:p>
            <a:pPr marL="0" marR="0" lvl="0" indent="0" algn="l" defTabSz="914400" rtl="0" eaLnBrk="1" fontAlgn="base" latinLnBrk="0" hangingPunct="1">
              <a:lnSpc>
                <a:spcPct val="100000"/>
              </a:lnSpc>
              <a:spcBef>
                <a:spcPct val="50000"/>
              </a:spcBef>
              <a:spcAft>
                <a:spcPct val="0"/>
              </a:spcAft>
              <a:buClrTx/>
              <a:buSzTx/>
              <a:buFontTx/>
              <a:buNone/>
              <a:tabLst>
                <a:tab pos="571500" algn="l"/>
              </a:tabLst>
              <a:defRPr/>
            </a:pP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In other words, it should be relatively easy to define the set of sentences that can be inferred from a particular KB and build computational models that perform such inference in a reasonable amount of time.</a:t>
            </a:r>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0AFB8A27-9DAB-4946-83A9-9BABE6448B48}" type="slidenum">
              <a:rPr lang="en-US" smtClean="0"/>
              <a:t>4</a:t>
            </a:fld>
            <a:endParaRPr lang="en-US"/>
          </a:p>
        </p:txBody>
      </p:sp>
    </p:spTree>
    <p:extLst>
      <p:ext uri="{BB962C8B-B14F-4D97-AF65-F5344CB8AC3E}">
        <p14:creationId xmlns:p14="http://schemas.microsoft.com/office/powerpoint/2010/main" val="1821970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7</a:t>
            </a:fld>
            <a:endParaRPr lang="en-US"/>
          </a:p>
        </p:txBody>
      </p:sp>
    </p:spTree>
    <p:extLst>
      <p:ext uri="{BB962C8B-B14F-4D97-AF65-F5344CB8AC3E}">
        <p14:creationId xmlns:p14="http://schemas.microsoft.com/office/powerpoint/2010/main" val="3813802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tabLst>
                <a:tab pos="571500" algn="l"/>
              </a:tabLst>
              <a:defRPr/>
            </a:pPr>
            <a:r>
              <a:rPr lang="en-US" dirty="0"/>
              <a:t>It has been suggest that default rule may provide a good account of generic sentences. For example , the meaning of the sentence Birds fly could be represented</a:t>
            </a:r>
            <a:r>
              <a:rPr lang="en-US" baseline="0" dirty="0"/>
              <a:t> by the FOPC formula </a:t>
            </a:r>
            <a: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sym typeface="Symbol" pitchFamily="18" charset="2"/>
              </a:rPr>
              <a:t> x  BIRD (x)  FLIES (x).</a:t>
            </a:r>
          </a:p>
          <a:p>
            <a:endParaRPr lang="en-US" b="0" dirty="0"/>
          </a:p>
        </p:txBody>
      </p:sp>
      <p:sp>
        <p:nvSpPr>
          <p:cNvPr id="4" name="Slide Number Placeholder 3"/>
          <p:cNvSpPr>
            <a:spLocks noGrp="1"/>
          </p:cNvSpPr>
          <p:nvPr>
            <p:ph type="sldNum" sz="quarter" idx="10"/>
          </p:nvPr>
        </p:nvSpPr>
        <p:spPr/>
        <p:txBody>
          <a:bodyPr/>
          <a:lstStyle/>
          <a:p>
            <a:fld id="{0AFB8A27-9DAB-4946-83A9-9BABE6448B48}" type="slidenum">
              <a:rPr lang="en-US" smtClean="0"/>
              <a:t>8</a:t>
            </a:fld>
            <a:endParaRPr lang="en-US"/>
          </a:p>
        </p:txBody>
      </p:sp>
    </p:spTree>
    <p:extLst>
      <p:ext uri="{BB962C8B-B14F-4D97-AF65-F5344CB8AC3E}">
        <p14:creationId xmlns:p14="http://schemas.microsoft.com/office/powerpoint/2010/main" val="5743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KB is represented</a:t>
            </a:r>
            <a:r>
              <a:rPr lang="en-US" baseline="0" dirty="0"/>
              <a:t> as a set of axioms, and inference is performed using a deductive theorem – proving algorithm. </a:t>
            </a:r>
          </a:p>
          <a:p>
            <a:pPr marL="171450" indent="-171450">
              <a:buFontTx/>
              <a:buChar char="-"/>
            </a:pPr>
            <a:r>
              <a:rPr lang="en-US" baseline="0" dirty="0"/>
              <a:t>In a  strong declarative system, the emphasis is on assigning a formal semantics to the expressions of the representation independent of inference </a:t>
            </a:r>
            <a:r>
              <a:rPr lang="en-US" dirty="0"/>
              <a:t> component.</a:t>
            </a:r>
          </a:p>
          <a:p>
            <a:pPr marL="171450" indent="-171450">
              <a:buFontTx/>
              <a:buChar char="-"/>
            </a:pPr>
            <a:r>
              <a:rPr lang="en-US" dirty="0"/>
              <a:t>Procedural</a:t>
            </a:r>
            <a:r>
              <a:rPr lang="en-US" baseline="0" dirty="0"/>
              <a:t> inference system, on the other hand, emphasize  the inferential aspects of the representation, and in extreme  cases the expressions in the KB may be given no meaning independent of the how they are manipulated by the program.</a:t>
            </a:r>
          </a:p>
          <a:p>
            <a:pPr marL="171450" indent="-171450">
              <a:buFontTx/>
              <a:buChar char="-"/>
            </a:pPr>
            <a:r>
              <a:rPr lang="en-US" baseline="0" dirty="0"/>
              <a:t>In practice,  procedural systems can be very effective at specific in inference tasks in well-defined domains but are often hard to analyze because they lack formality.</a:t>
            </a:r>
            <a:endParaRPr lang="en-US" dirty="0"/>
          </a:p>
          <a:p>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10</a:t>
            </a:fld>
            <a:endParaRPr lang="en-US"/>
          </a:p>
        </p:txBody>
      </p:sp>
    </p:spTree>
    <p:extLst>
      <p:ext uri="{BB962C8B-B14F-4D97-AF65-F5344CB8AC3E}">
        <p14:creationId xmlns:p14="http://schemas.microsoft.com/office/powerpoint/2010/main" val="1965243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2000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We will focus on the extensions to standard FOPC that are needed to represent the meaning of the natural language sentences, and comment on the differences between this language and the logical form language.</a:t>
            </a:r>
          </a:p>
          <a:p>
            <a:pPr marL="0" marR="0" lvl="0" indent="0" algn="l" defTabSz="914400" rtl="0" eaLnBrk="0" fontAlgn="base" latinLnBrk="0" hangingPunct="0">
              <a:lnSpc>
                <a:spcPct val="100000"/>
              </a:lnSpc>
              <a:spcBef>
                <a:spcPct val="2000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ts val="0"/>
              </a:spcAft>
              <a:buClrTx/>
              <a:buSzTx/>
              <a:buFontTx/>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terms in the language are constants (such as </a:t>
            </a:r>
            <a:r>
              <a:rPr kumimoji="0" lang="en-US"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John1</a:t>
            </a: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functions (such as </a:t>
            </a:r>
            <a:r>
              <a:rPr kumimoji="0" lang="en-US"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father(John1)</a:t>
            </a: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and variables (such as</a:t>
            </a:r>
            <a:r>
              <a:rPr kumimoji="0" lang="en-US"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x </a:t>
            </a: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and</a:t>
            </a:r>
            <a:r>
              <a:rPr kumimoji="0" lang="en-US"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y</a:t>
            </a: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In the KB constants are used to represent the specific individuals.</a:t>
            </a:r>
          </a:p>
          <a:p>
            <a:pPr marL="342900" marR="0" lvl="0" indent="-342900" algn="l" defTabSz="914400" rtl="0" eaLnBrk="0" fontAlgn="base" latinLnBrk="0" hangingPunct="0">
              <a:lnSpc>
                <a:spcPct val="100000"/>
              </a:lnSpc>
              <a:spcBef>
                <a:spcPct val="20000"/>
              </a:spcBef>
              <a:spcAft>
                <a:spcPts val="0"/>
              </a:spcAft>
              <a:buClrTx/>
              <a:buSzTx/>
              <a:buFontTx/>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Logical form language did not use constants. Every thing was expressed in terms of discourse variable to keep the representation context independent.</a:t>
            </a:r>
          </a:p>
          <a:p>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15</a:t>
            </a:fld>
            <a:endParaRPr lang="en-US"/>
          </a:p>
        </p:txBody>
      </p:sp>
    </p:spTree>
    <p:extLst>
      <p:ext uri="{BB962C8B-B14F-4D97-AF65-F5344CB8AC3E}">
        <p14:creationId xmlns:p14="http://schemas.microsoft.com/office/powerpoint/2010/main" val="6568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One of the most obvious differences between the two languages is the treatment of quantifiers.</a:t>
            </a: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171450" indent="-171450">
              <a:buFontTx/>
              <a:buChar char="-"/>
            </a:pPr>
            <a:r>
              <a:rPr lang="en-US" dirty="0"/>
              <a:t>The logical form contains</a:t>
            </a:r>
            <a:r>
              <a:rPr lang="en-US" baseline="0" dirty="0"/>
              <a:t> a wide range of quantificational forms corresponding to the English quantifiers.</a:t>
            </a:r>
          </a:p>
          <a:p>
            <a:pPr marL="171450" indent="-171450">
              <a:buFontTx/>
              <a:buChar char="-"/>
            </a:pPr>
            <a:r>
              <a:rPr lang="en-US" baseline="0" dirty="0"/>
              <a:t>While the KRL allows only universal and existential quantification.</a:t>
            </a:r>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19</a:t>
            </a:fld>
            <a:endParaRPr lang="en-US"/>
          </a:p>
        </p:txBody>
      </p:sp>
    </p:spTree>
    <p:extLst>
      <p:ext uri="{BB962C8B-B14F-4D97-AF65-F5344CB8AC3E}">
        <p14:creationId xmlns:p14="http://schemas.microsoft.com/office/powerpoint/2010/main" val="297558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Sets will usually be defined in terms of some property. This will be written in the form {</a:t>
            </a:r>
            <a:r>
              <a:rPr kumimoji="0" lang="en-US" sz="2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y</a:t>
            </a:r>
            <a:r>
              <a:rPr kumimoji="0" lang="en-US" sz="2400" b="0" i="0" u="none" strike="noStrike" kern="0" cap="none" spc="0" normalizeH="0" baseline="0" noProof="0" dirty="0" err="1">
                <a:ln>
                  <a:noFill/>
                </a:ln>
                <a:solidFill>
                  <a:srgbClr val="000000"/>
                </a:solidFill>
                <a:effectLst/>
                <a:uLnTx/>
                <a:uFillTx/>
                <a:latin typeface="Times New Roman"/>
                <a:ea typeface="+mn-ea"/>
                <a:cs typeface="Times New Roman"/>
              </a:rPr>
              <a:t>│Py</a:t>
            </a:r>
            <a:r>
              <a:rPr kumimoji="0" lang="en-US" sz="2400" b="0" i="0" u="none" strike="noStrike" kern="0" cap="none" spc="0" normalizeH="0" baseline="0" noProof="0" dirty="0">
                <a:ln>
                  <a:noFill/>
                </a:ln>
                <a:solidFill>
                  <a:srgbClr val="000000"/>
                </a:solidFill>
                <a:effectLst/>
                <a:uLnTx/>
                <a:uFillTx/>
                <a:latin typeface="Times New Roman"/>
                <a:ea typeface="+mn-ea"/>
                <a:cs typeface="Times New Roman"/>
              </a:rPr>
              <a:t>}, which is the set that satisfy the expression </a:t>
            </a:r>
            <a:r>
              <a:rPr kumimoji="0" lang="en-US" sz="2400" b="0" i="0" u="none" strike="noStrike" kern="0" cap="none" spc="0" normalizeH="0" baseline="0" noProof="0" dirty="0" err="1">
                <a:ln>
                  <a:noFill/>
                </a:ln>
                <a:solidFill>
                  <a:srgbClr val="000000"/>
                </a:solidFill>
                <a:effectLst/>
                <a:uLnTx/>
                <a:uFillTx/>
                <a:latin typeface="Times New Roman"/>
                <a:ea typeface="+mn-ea"/>
                <a:cs typeface="Times New Roman"/>
              </a:rPr>
              <a:t>Py</a:t>
            </a:r>
            <a:r>
              <a:rPr kumimoji="0" lang="en-US" sz="2400" b="0" i="0" u="none" strike="noStrike" kern="0" cap="none" spc="0" normalizeH="0" baseline="0" noProof="0" dirty="0">
                <a:ln>
                  <a:noFill/>
                </a:ln>
                <a:solidFill>
                  <a:srgbClr val="000000"/>
                </a:solidFill>
                <a:effectLst/>
                <a:uLnTx/>
                <a:uFillTx/>
                <a:latin typeface="Times New Roman"/>
                <a:ea typeface="+mn-ea"/>
                <a:cs typeface="Times New Roman"/>
              </a:rPr>
              <a:t>. For instance, the set of all men is {y │ Man(y)}.  </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20</a:t>
            </a:fld>
            <a:endParaRPr lang="en-US"/>
          </a:p>
        </p:txBody>
      </p:sp>
    </p:spTree>
    <p:extLst>
      <p:ext uri="{BB962C8B-B14F-4D97-AF65-F5344CB8AC3E}">
        <p14:creationId xmlns:p14="http://schemas.microsoft.com/office/powerpoint/2010/main" val="259757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Subset of men is M. We usually use uppercase names for variable ranging</a:t>
            </a:r>
            <a:r>
              <a:rPr lang="en-US" baseline="0" dirty="0"/>
              <a:t> over set.</a:t>
            </a:r>
          </a:p>
          <a:p>
            <a:r>
              <a:rPr lang="en-US" baseline="0" dirty="0"/>
              <a:t>- In practice, certain verbs require only set or only individuals in certain argument positions.</a:t>
            </a:r>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21</a:t>
            </a:fld>
            <a:endParaRPr lang="en-US"/>
          </a:p>
        </p:txBody>
      </p:sp>
    </p:spTree>
    <p:extLst>
      <p:ext uri="{BB962C8B-B14F-4D97-AF65-F5344CB8AC3E}">
        <p14:creationId xmlns:p14="http://schemas.microsoft.com/office/powerpoint/2010/main" val="2662218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of language involves time including temporal information implicit in the tense and aspect of sentences</a:t>
            </a:r>
            <a:r>
              <a:rPr lang="en-US" baseline="0" dirty="0"/>
              <a:t> and explicit temporal information conveyed by a wide range of the temporal adverbials (for example, </a:t>
            </a:r>
            <a:r>
              <a:rPr lang="en-US" i="1" baseline="0" dirty="0"/>
              <a:t>for five minutes, yesterday, at 3 </a:t>
            </a:r>
            <a:r>
              <a:rPr lang="en-US" i="1" baseline="0" dirty="0" err="1"/>
              <a:t>o’clok</a:t>
            </a:r>
            <a:r>
              <a:rPr lang="en-US" i="1" baseline="0" dirty="0"/>
              <a:t> </a:t>
            </a:r>
            <a:r>
              <a:rPr lang="en-US" i="0" baseline="0" dirty="0"/>
              <a:t>).</a:t>
            </a:r>
          </a:p>
          <a:p>
            <a:r>
              <a:rPr lang="en-US" i="0" baseline="0" dirty="0"/>
              <a:t>All  interval have durations, while time point  cannot have  duration.</a:t>
            </a:r>
            <a:endParaRPr lang="en-US" baseline="0" dirty="0"/>
          </a:p>
        </p:txBody>
      </p:sp>
      <p:sp>
        <p:nvSpPr>
          <p:cNvPr id="4" name="Slide Number Placeholder 3"/>
          <p:cNvSpPr>
            <a:spLocks noGrp="1"/>
          </p:cNvSpPr>
          <p:nvPr>
            <p:ph type="sldNum" sz="quarter" idx="10"/>
          </p:nvPr>
        </p:nvSpPr>
        <p:spPr/>
        <p:txBody>
          <a:bodyPr/>
          <a:lstStyle/>
          <a:p>
            <a:fld id="{0AFB8A27-9DAB-4946-83A9-9BABE6448B48}" type="slidenum">
              <a:rPr lang="en-US" smtClean="0"/>
              <a:t>25</a:t>
            </a:fld>
            <a:endParaRPr lang="en-US"/>
          </a:p>
        </p:txBody>
      </p:sp>
    </p:spTree>
    <p:extLst>
      <p:ext uri="{BB962C8B-B14F-4D97-AF65-F5344CB8AC3E}">
        <p14:creationId xmlns:p14="http://schemas.microsoft.com/office/powerpoint/2010/main" val="797095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26</a:t>
            </a:fld>
            <a:endParaRPr lang="en-US"/>
          </a:p>
        </p:txBody>
      </p:sp>
    </p:spTree>
    <p:extLst>
      <p:ext uri="{BB962C8B-B14F-4D97-AF65-F5344CB8AC3E}">
        <p14:creationId xmlns:p14="http://schemas.microsoft.com/office/powerpoint/2010/main" val="1709194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30</a:t>
            </a:fld>
            <a:endParaRPr lang="en-US"/>
          </a:p>
        </p:txBody>
      </p:sp>
    </p:spTree>
    <p:extLst>
      <p:ext uri="{BB962C8B-B14F-4D97-AF65-F5344CB8AC3E}">
        <p14:creationId xmlns:p14="http://schemas.microsoft.com/office/powerpoint/2010/main" val="3989511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Each logical form language construct corresponds</a:t>
            </a:r>
            <a:r>
              <a:rPr lang="en-US" baseline="0" dirty="0"/>
              <a:t> to a particular procedure that performs the appropriate query. </a:t>
            </a:r>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31</a:t>
            </a:fld>
            <a:endParaRPr lang="en-US"/>
          </a:p>
        </p:txBody>
      </p:sp>
    </p:spTree>
    <p:extLst>
      <p:ext uri="{BB962C8B-B14F-4D97-AF65-F5344CB8AC3E}">
        <p14:creationId xmlns:p14="http://schemas.microsoft.com/office/powerpoint/2010/main" val="1785343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expression in the logical form</a:t>
            </a:r>
            <a:r>
              <a:rPr lang="en-US" baseline="0" dirty="0"/>
              <a:t> language must be interpreted in a way that reduce eventually to these two query forms on the database . The way this is done is by mapping the logical form into a procedure that perform the appropriate queries on the database. Thus answering a question is done in two steps: translating the logical form into a program and then executing that program to compute the answer.</a:t>
            </a:r>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33</a:t>
            </a:fld>
            <a:endParaRPr lang="en-US"/>
          </a:p>
        </p:txBody>
      </p:sp>
    </p:spTree>
    <p:extLst>
      <p:ext uri="{BB962C8B-B14F-4D97-AF65-F5344CB8AC3E}">
        <p14:creationId xmlns:p14="http://schemas.microsoft.com/office/powerpoint/2010/main" val="2260788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tabLst>
                <a:tab pos="571500" algn="l"/>
              </a:tabLst>
              <a:defRPr/>
            </a:pP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Conjunctions (&amp; R1 , ... Rn) – will translate</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into a program of the form   </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(CHECK – ALL – TRUE (R1) , ... T (Rn)), which when executed will successively query each T(</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Ri</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to make sure it is true and pass  on the variable bindings to the queries that follow. If there is a set of variable bindings such that querying follow each T(</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Ri</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succeeds, then the program succeeds, otherwise it fails.</a:t>
            </a:r>
          </a:p>
          <a:p>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  Disjunctions: ( OR R1 , ... Rn )</a:t>
            </a:r>
            <a:r>
              <a:rPr kumimoji="0" lang="en-US" sz="2400" b="1" i="0" u="none" strike="noStrike" kern="1200" cap="none" spc="0" normalizeH="0" baseline="0" noProof="0" dirty="0">
                <a:ln>
                  <a:noFill/>
                </a:ln>
                <a:solidFill>
                  <a:srgbClr val="000000"/>
                </a:solidFill>
                <a:effectLst/>
                <a:uLnTx/>
                <a:uFillTx/>
                <a:latin typeface="VNI-Times" pitchFamily="2" charset="0"/>
                <a:ea typeface="+mn-ea"/>
                <a:cs typeface="+mn-cs"/>
              </a:rPr>
              <a:t> –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will translate into  a program of the form</a:t>
            </a:r>
            <a:r>
              <a:rPr kumimoji="0" lang="en-US" sz="2400" b="1" i="0" u="none" strike="noStrike" kern="1200" cap="none" spc="0" normalizeH="0" baseline="0" noProof="0" dirty="0">
                <a:ln>
                  <a:noFill/>
                </a:ln>
                <a:solidFill>
                  <a:srgbClr val="000000"/>
                </a:solidFill>
                <a:effectLst/>
                <a:uLnTx/>
                <a:uFillTx/>
                <a:latin typeface="VNI-Times" pitchFamily="2" charset="0"/>
                <a:ea typeface="+mn-ea"/>
                <a:cs typeface="+mn-cs"/>
              </a:rPr>
              <a:t> </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FIND – ONE – TRUE  T ( R1 ) , ... , T ( Rn )), which when executed will successively query each T(</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Ri</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until one of the </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Ri</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succeeds, in which case the program succeeds. If no </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Ri</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succeeds, then the program fails.</a:t>
            </a:r>
          </a:p>
          <a:p>
            <a:pPr marL="0" marR="0" lvl="0" indent="0" algn="l" defTabSz="914400" rtl="0" eaLnBrk="1" fontAlgn="base" latinLnBrk="0" hangingPunct="1">
              <a:lnSpc>
                <a:spcPct val="100000"/>
              </a:lnSpc>
              <a:spcBef>
                <a:spcPct val="50000"/>
              </a:spcBef>
              <a:spcAft>
                <a:spcPct val="0"/>
              </a:spcAft>
              <a:buClrTx/>
              <a:buSzTx/>
              <a:buFontTx/>
              <a:buNone/>
              <a:tabLst>
                <a:tab pos="571500" algn="l"/>
              </a:tabLst>
              <a:defRPr/>
            </a:pP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 (NOT R)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translates into a program of the form </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(UNLESS T(R)), which succeeds only if querying T(R) fails.</a:t>
            </a:r>
          </a:p>
          <a:p>
            <a:pPr marL="0" marR="0" lvl="0" indent="0" algn="l" defTabSz="914400" rtl="0" eaLnBrk="1" fontAlgn="base" latinLnBrk="0" hangingPunct="1">
              <a:lnSpc>
                <a:spcPct val="100000"/>
              </a:lnSpc>
              <a:spcBef>
                <a:spcPct val="50000"/>
              </a:spcBef>
              <a:spcAft>
                <a:spcPct val="0"/>
              </a:spcAft>
              <a:buClrTx/>
              <a:buSzTx/>
              <a:buFontTx/>
              <a:buNone/>
              <a:tabLst>
                <a:tab pos="571500" algn="l"/>
              </a:tabLst>
              <a:defRPr/>
            </a:pP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a:t>
            </a:r>
          </a:p>
          <a:p>
            <a:endPar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endParaRPr>
          </a:p>
          <a:p>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a:t>
            </a:r>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35</a:t>
            </a:fld>
            <a:endParaRPr lang="en-US"/>
          </a:p>
        </p:txBody>
      </p:sp>
    </p:spTree>
    <p:extLst>
      <p:ext uri="{BB962C8B-B14F-4D97-AF65-F5344CB8AC3E}">
        <p14:creationId xmlns:p14="http://schemas.microsoft.com/office/powerpoint/2010/main" val="236903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   (THE  x : Rx  </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Px</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translates into a program </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(FIND –THE ?x T(R ?x) T (p ?x)), which first does a retrieval to find all ?x that satisfy T(R ?x)), that is (Retrieve ?x T( R ?x)). If a single answer is found , then the answer is substituted for ?x in entire expression, and T(P ?x) is </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excuted</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to provide the answer for the entire expression. If no object is found when querying  T(R ?x) then there is a presupposition violation that might be handled by the question-answering system in a special way, say, nothing the user that there is no such object. If multiple answers are found, the designer of the system must decide what is best to do. Some systems allow this situation and execute T(P ?x) for each of the values; other systems treat it as a failure.</a:t>
            </a:r>
          </a:p>
          <a:p>
            <a:pPr marL="0" marR="0" lvl="0" indent="0" algn="l" defTabSz="914400" rtl="0" eaLnBrk="1" fontAlgn="base" latinLnBrk="0" hangingPunct="1">
              <a:lnSpc>
                <a:spcPct val="100000"/>
              </a:lnSpc>
              <a:spcBef>
                <a:spcPct val="50000"/>
              </a:spcBef>
              <a:spcAft>
                <a:spcPct val="0"/>
              </a:spcAft>
              <a:buClrTx/>
              <a:buSzTx/>
              <a:buFontTx/>
              <a:buNone/>
              <a:tabLst>
                <a:tab pos="571500" algn="l"/>
              </a:tabLst>
              <a:defRPr/>
            </a:pP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 EACH x : Rx  </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Px</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 –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translates to  a program </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(ITERATE ?x       T ( R ? x ) T ( P ? x )), which also starts by doing a retrieval to find all ?x  that satisfy T(R ?x). It  then iteratively executes T(P ?x) for each value found and succeeds only if each of these queries succeeds.</a:t>
            </a:r>
          </a:p>
          <a:p>
            <a:pPr marL="0" marR="0" lvl="0" indent="0" algn="l" defTabSz="914400" rtl="0" eaLnBrk="1" fontAlgn="base" latinLnBrk="0" hangingPunct="1">
              <a:lnSpc>
                <a:spcPct val="100000"/>
              </a:lnSpc>
              <a:spcBef>
                <a:spcPct val="50000"/>
              </a:spcBef>
              <a:spcAft>
                <a:spcPct val="0"/>
              </a:spcAft>
              <a:buClrTx/>
              <a:buSzTx/>
              <a:buFontTx/>
              <a:buNone/>
              <a:tabLst>
                <a:tab pos="571500" algn="l"/>
              </a:tabLst>
              <a:defRPr/>
            </a:pP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 WH x : Rx </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Px</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 –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translates to a program </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PRINT – ALL ?x T( R ? x ) T ( P ? x )), which retrieve all objects that satisfy the translations of Rx and </a:t>
            </a:r>
            <a:r>
              <a:rPr kumimoji="0" lang="en-US" sz="2400" b="0" i="0" u="none" strike="noStrike" kern="1200" cap="none" spc="0" normalizeH="0" baseline="0" noProof="0" dirty="0" err="1">
                <a:ln>
                  <a:noFill/>
                </a:ln>
                <a:solidFill>
                  <a:srgbClr val="3333CC"/>
                </a:solidFill>
                <a:effectLst/>
                <a:uLnTx/>
                <a:uFillTx/>
                <a:latin typeface="Times New Roman" panose="02020603050405020304" pitchFamily="18" charset="0"/>
                <a:ea typeface="+mn-ea"/>
                <a:cs typeface="Times New Roman" panose="02020603050405020304" pitchFamily="18" charset="0"/>
              </a:rPr>
              <a:t>Px</a:t>
            </a:r>
            <a:r>
              <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rPr>
              <a:t>, that is  (Retrieve ?x T( R ?x) T(P ?x)), and then prints out the results. Determining the best format  for printing the answers, especially determining whether additional information should be provided, is a complex issue. Here we assume is simply prints the answers found. </a:t>
            </a:r>
          </a:p>
          <a:p>
            <a:endPar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endParaRPr>
          </a:p>
          <a:p>
            <a:endParaRPr kumimoji="0" lang="en-US" sz="2400" b="0" i="0" u="none" strike="noStrike" kern="1200" cap="none" spc="0" normalizeH="0" baseline="0" noProof="0" dirty="0">
              <a:ln>
                <a:noFill/>
              </a:ln>
              <a:solidFill>
                <a:srgbClr val="3333CC"/>
              </a:solidFill>
              <a:effectLst/>
              <a:uLnTx/>
              <a:uFillTx/>
              <a:latin typeface="Times New Roman" panose="02020603050405020304" pitchFamily="18" charset="0"/>
              <a:ea typeface="+mn-ea"/>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0AFB8A27-9DAB-4946-83A9-9BABE6448B48}" type="slidenum">
              <a:rPr lang="en-US" smtClean="0"/>
              <a:t>36</a:t>
            </a:fld>
            <a:endParaRPr lang="en-US"/>
          </a:p>
        </p:txBody>
      </p:sp>
    </p:spTree>
    <p:extLst>
      <p:ext uri="{BB962C8B-B14F-4D97-AF65-F5344CB8AC3E}">
        <p14:creationId xmlns:p14="http://schemas.microsoft.com/office/powerpoint/2010/main" val="2038601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E5ED0C8-4EC5-4DA7-87BB-296FDB356465}"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3484046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5ED0C8-4EC5-4DA7-87BB-296FDB356465}"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2212592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5ED0C8-4EC5-4DA7-87BB-296FDB356465}"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1993019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5ED0C8-4EC5-4DA7-87BB-296FDB356465}" type="datetimeFigureOut">
              <a:rPr lang="en-US" smtClean="0"/>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1319949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5ED0C8-4EC5-4DA7-87BB-296FDB356465}" type="datetimeFigureOut">
              <a:rPr lang="en-US" smtClean="0"/>
              <a:t>4/18/2023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3983423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5ED0C8-4EC5-4DA7-87BB-296FDB356465}" type="datetimeFigureOut">
              <a:rPr lang="en-US" smtClean="0"/>
              <a:t>4/18/2023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696328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5ED0C8-4EC5-4DA7-87BB-296FDB356465}" type="datetimeFigureOut">
              <a:rPr lang="en-US" smtClean="0"/>
              <a:t>4/18/2023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2235188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5ED0C8-4EC5-4DA7-87BB-296FDB356465}" type="datetimeFigureOut">
              <a:rPr lang="en-US" smtClean="0"/>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1334855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5ED0C8-4EC5-4DA7-87BB-296FDB356465}" type="datetimeFigureOut">
              <a:rPr lang="en-US" smtClean="0"/>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145304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5ED0C8-4EC5-4DA7-87BB-296FDB356465}"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1015623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5ED0C8-4EC5-4DA7-87BB-296FDB356465}"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3C8D3F-3635-4660-AF6F-6A69DB903DEC}" type="slidenum">
              <a:rPr lang="en-US" smtClean="0"/>
              <a:t>‹#›</a:t>
            </a:fld>
            <a:endParaRPr lang="en-US"/>
          </a:p>
        </p:txBody>
      </p:sp>
    </p:spTree>
    <p:extLst>
      <p:ext uri="{BB962C8B-B14F-4D97-AF65-F5344CB8AC3E}">
        <p14:creationId xmlns:p14="http://schemas.microsoft.com/office/powerpoint/2010/main" val="3483445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FEB1240-E8F7-43E6-82DA-59708C6FA82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4629431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8813328-E91E-4F52-BE32-C6A5EF2E664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5576387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9EB5E43-7CF8-41F7-8C41-9881289F7AE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663402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7FFE11DB-E833-41D8-AFE8-4711A417909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434156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F40A6522-F663-40FE-A1A6-4B1A9DB58FA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239532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65CDBCC-C254-490B-8FE4-9638DDF16AF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98223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4AA3434-9EFE-4E65-A286-D71058ECBFD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0879305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76948722-A4EA-4476-A706-7DC5CF9E275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801442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D2B1477F-AA5F-4330-BCB8-EA81D5D11B7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708751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E03EB55-8BA9-4454-8638-C2F0610910B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739474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8AF39B5-39A3-4725-9502-265C029327C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6279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FEB1240-E8F7-43E6-82DA-59708C6FA82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234859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8813328-E91E-4F52-BE32-C6A5EF2E664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7119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9EB5E43-7CF8-41F7-8C41-9881289F7AE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5744817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7FFE11DB-E833-41D8-AFE8-4711A417909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236678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F40A6522-F663-40FE-A1A6-4B1A9DB58FA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0178397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65CDBCC-C254-490B-8FE4-9638DDF16AF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077042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4AA3434-9EFE-4E65-A286-D71058ECBFD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7456916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76948722-A4EA-4476-A706-7DC5CF9E275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1980494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D2B1477F-AA5F-4330-BCB8-EA81D5D11B7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557793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E03EB55-8BA9-4454-8638-C2F0610910B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9596547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8AF39B5-39A3-4725-9502-265C029327C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934219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FEB1240-E8F7-43E6-82DA-59708C6FA82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1096239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8813328-E91E-4F52-BE32-C6A5EF2E664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969537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9EB5E43-7CF8-41F7-8C41-9881289F7AE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663207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7FFE11DB-E833-41D8-AFE8-4711A417909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524530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F40A6522-F663-40FE-A1A6-4B1A9DB58FA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566082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65CDBCC-C254-490B-8FE4-9638DDF16AF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0028005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4AA3434-9EFE-4E65-A286-D71058ECBFD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1743953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76948722-A4EA-4476-A706-7DC5CF9E275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6622709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D2B1477F-AA5F-4330-BCB8-EA81D5D11B7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2746843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E03EB55-8BA9-4454-8638-C2F0610910B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821091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8AF39B5-39A3-4725-9502-265C029327C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28784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ED0C8-4EC5-4DA7-87BB-296FDB356465}" type="datetimeFigureOut">
              <a:rPr lang="en-US" smtClean="0"/>
              <a:t>4/18/2023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3C8D3F-3635-4660-AF6F-6A69DB903DEC}" type="slidenum">
              <a:rPr lang="en-US" smtClean="0"/>
              <a:t>‹#›</a:t>
            </a:fld>
            <a:endParaRPr lang="en-US"/>
          </a:p>
        </p:txBody>
      </p:sp>
    </p:spTree>
    <p:extLst>
      <p:ext uri="{BB962C8B-B14F-4D97-AF65-F5344CB8AC3E}">
        <p14:creationId xmlns:p14="http://schemas.microsoft.com/office/powerpoint/2010/main" val="2357757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defRPr/>
            </a:pPr>
            <a:fld id="{085EC4D2-2766-4018-8F27-FEAF15A34A11}" type="slidenum">
              <a:rPr lang="en-US">
                <a:solidFill>
                  <a:srgbClr val="000000"/>
                </a:solidFill>
              </a:rPr>
              <a:pPr fontAlgn="base">
                <a:spcBef>
                  <a:spcPct val="0"/>
                </a:spcBef>
                <a:spcAft>
                  <a:spcPct val="0"/>
                </a:spcAft>
                <a:defRPr/>
              </a:pPr>
              <a:t>‹#›</a:t>
            </a:fld>
            <a:endParaRPr lang="en-US">
              <a:solidFill>
                <a:srgbClr val="000000"/>
              </a:solidFill>
            </a:endParaRPr>
          </a:p>
        </p:txBody>
      </p:sp>
    </p:spTree>
    <p:extLst>
      <p:ext uri="{BB962C8B-B14F-4D97-AF65-F5344CB8AC3E}">
        <p14:creationId xmlns:p14="http://schemas.microsoft.com/office/powerpoint/2010/main" val="1173955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defRPr/>
            </a:pPr>
            <a:fld id="{085EC4D2-2766-4018-8F27-FEAF15A34A11}" type="slidenum">
              <a:rPr lang="en-US">
                <a:solidFill>
                  <a:srgbClr val="000000"/>
                </a:solidFill>
              </a:rPr>
              <a:pPr fontAlgn="base">
                <a:spcBef>
                  <a:spcPct val="0"/>
                </a:spcBef>
                <a:spcAft>
                  <a:spcPct val="0"/>
                </a:spcAft>
                <a:defRPr/>
              </a:pPr>
              <a:t>‹#›</a:t>
            </a:fld>
            <a:endParaRPr lang="en-US">
              <a:solidFill>
                <a:srgbClr val="000000"/>
              </a:solidFill>
            </a:endParaRPr>
          </a:p>
        </p:txBody>
      </p:sp>
    </p:spTree>
    <p:extLst>
      <p:ext uri="{BB962C8B-B14F-4D97-AF65-F5344CB8AC3E}">
        <p14:creationId xmlns:p14="http://schemas.microsoft.com/office/powerpoint/2010/main" val="30387674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defRPr/>
            </a:pPr>
            <a:fld id="{085EC4D2-2766-4018-8F27-FEAF15A34A11}" type="slidenum">
              <a:rPr lang="en-US">
                <a:solidFill>
                  <a:srgbClr val="000000"/>
                </a:solidFill>
              </a:rPr>
              <a:pPr fontAlgn="base">
                <a:spcBef>
                  <a:spcPct val="0"/>
                </a:spcBef>
                <a:spcAft>
                  <a:spcPct val="0"/>
                </a:spcAft>
                <a:defRPr/>
              </a:pPr>
              <a:t>‹#›</a:t>
            </a:fld>
            <a:endParaRPr lang="en-US">
              <a:solidFill>
                <a:srgbClr val="000000"/>
              </a:solidFill>
            </a:endParaRPr>
          </a:p>
        </p:txBody>
      </p:sp>
    </p:spTree>
    <p:extLst>
      <p:ext uri="{BB962C8B-B14F-4D97-AF65-F5344CB8AC3E}">
        <p14:creationId xmlns:p14="http://schemas.microsoft.com/office/powerpoint/2010/main" val="90511679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600" b="1" dirty="0">
                <a:solidFill>
                  <a:srgbClr val="009900"/>
                </a:solidFill>
                <a:effectLst>
                  <a:outerShdw blurRad="38100" dist="38100" dir="2700000" algn="tl">
                    <a:srgbClr val="C0C0C0"/>
                  </a:outerShdw>
                </a:effectLst>
                <a:latin typeface="Times New Roman" panose="02020603050405020304" pitchFamily="18" charset="0"/>
                <a:ea typeface="+mn-ea"/>
                <a:cs typeface="Times New Roman" panose="02020603050405020304" pitchFamily="18" charset="0"/>
              </a:rPr>
              <a:t>Chapter 11: Knowledge Representation and Reasoning</a:t>
            </a:r>
            <a:endParaRPr lang="en-US" sz="3600" dirty="0">
              <a:solidFill>
                <a:srgbClr val="00990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nSpc>
                <a:spcPct val="112000"/>
              </a:lnSpc>
              <a:spcBef>
                <a:spcPts val="1200"/>
              </a:spcBef>
            </a:pPr>
            <a:endParaRPr lang="en-US" sz="2400" dirty="0">
              <a:latin typeface="Times New Roman" panose="02020603050405020304" pitchFamily="18" charset="0"/>
              <a:cs typeface="Times New Roman" panose="02020603050405020304" pitchFamily="18" charset="0"/>
            </a:endParaRPr>
          </a:p>
          <a:p>
            <a:pPr>
              <a:lnSpc>
                <a:spcPct val="112000"/>
              </a:lnSpc>
              <a:spcBef>
                <a:spcPts val="1200"/>
              </a:spcBef>
            </a:pPr>
            <a:r>
              <a:rPr lang="en-US" sz="2400" dirty="0">
                <a:latin typeface="Times New Roman" panose="02020603050405020304" pitchFamily="18" charset="0"/>
                <a:cs typeface="Times New Roman" panose="02020603050405020304" pitchFamily="18" charset="0"/>
              </a:rPr>
              <a:t>Many problems arose in earlier chapters were not resolved because they required knowledge of context.</a:t>
            </a:r>
          </a:p>
          <a:p>
            <a:pPr>
              <a:lnSpc>
                <a:spcPct val="112000"/>
              </a:lnSpc>
              <a:spcBef>
                <a:spcPts val="1200"/>
              </a:spcBef>
            </a:pPr>
            <a:r>
              <a:rPr lang="en-US" sz="2400" dirty="0">
                <a:latin typeface="Times New Roman" panose="02020603050405020304" pitchFamily="18" charset="0"/>
                <a:cs typeface="Times New Roman" panose="02020603050405020304" pitchFamily="18" charset="0"/>
              </a:rPr>
              <a:t>Two important aspects of context are general knowledge   and specific knowledge.</a:t>
            </a:r>
          </a:p>
          <a:p>
            <a:pPr>
              <a:lnSpc>
                <a:spcPct val="112000"/>
              </a:lnSpc>
              <a:spcBef>
                <a:spcPts val="1200"/>
              </a:spcBef>
            </a:pPr>
            <a:r>
              <a:rPr lang="en-US" sz="2400" dirty="0">
                <a:latin typeface="Times New Roman" panose="02020603050405020304" pitchFamily="18" charset="0"/>
                <a:cs typeface="Times New Roman" panose="02020603050405020304" pitchFamily="18" charset="0"/>
              </a:rPr>
              <a:t> To analyze these we need the formalism for representing knowledge and reasoning. This area of study is called </a:t>
            </a:r>
            <a:r>
              <a:rPr lang="en-US" sz="2400" dirty="0">
                <a:solidFill>
                  <a:srgbClr val="FF0000"/>
                </a:solidFill>
                <a:latin typeface="Times New Roman" panose="02020603050405020304" pitchFamily="18" charset="0"/>
                <a:cs typeface="Times New Roman" panose="02020603050405020304" pitchFamily="18" charset="0"/>
              </a:rPr>
              <a:t>knowledge representation </a:t>
            </a:r>
            <a:r>
              <a:rPr lang="en-US" sz="2400" dirty="0">
                <a:latin typeface="Times New Roman" panose="02020603050405020304" pitchFamily="18" charset="0"/>
                <a:cs typeface="Times New Roman" panose="02020603050405020304" pitchFamily="18" charset="0"/>
              </a:rPr>
              <a:t>(KR)</a:t>
            </a:r>
          </a:p>
        </p:txBody>
      </p:sp>
    </p:spTree>
    <p:extLst>
      <p:ext uri="{BB962C8B-B14F-4D97-AF65-F5344CB8AC3E}">
        <p14:creationId xmlns:p14="http://schemas.microsoft.com/office/powerpoint/2010/main" val="4068795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639762"/>
          </a:xfrm>
        </p:spPr>
        <p:txBody>
          <a:bodyPr>
            <a:normAutofit fontScale="90000"/>
          </a:bodyPr>
          <a:lstStyle/>
          <a:p>
            <a:r>
              <a:rPr lang="en-US" sz="3600" b="1"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228600" y="1295400"/>
            <a:ext cx="8763000" cy="5562600"/>
          </a:xfrm>
        </p:spPr>
        <p:txBody>
          <a:bodyPr>
            <a:noAutofit/>
          </a:bodyPr>
          <a:lstStyle/>
          <a:p>
            <a:pPr marL="0" indent="0">
              <a:buNone/>
            </a:pPr>
            <a:r>
              <a:rPr lang="en-US" sz="2400" b="1" dirty="0">
                <a:solidFill>
                  <a:srgbClr val="3333CC"/>
                </a:solidFill>
                <a:latin typeface="Times New Roman" panose="02020603050405020304" pitchFamily="18" charset="0"/>
                <a:cs typeface="Times New Roman" panose="02020603050405020304" pitchFamily="18" charset="0"/>
              </a:rPr>
              <a:t>11.1</a:t>
            </a:r>
            <a:r>
              <a:rPr lang="en-US" sz="2400" dirty="0">
                <a:solidFill>
                  <a:srgbClr val="3333CC"/>
                </a:solidFill>
                <a:latin typeface="Times New Roman" panose="02020603050405020304" pitchFamily="18" charset="0"/>
                <a:cs typeface="Times New Roman" panose="02020603050405020304" pitchFamily="18" charset="0"/>
              </a:rPr>
              <a:t> </a:t>
            </a:r>
            <a:r>
              <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indent="0">
              <a:lnSpc>
                <a:spcPct val="122000"/>
              </a:lnSpc>
              <a:spcBef>
                <a:spcPts val="1200"/>
              </a:spcBef>
              <a:buNone/>
            </a:pPr>
            <a:r>
              <a:rPr lang="en-US" sz="2400" dirty="0">
                <a:latin typeface="Times New Roman" panose="02020603050405020304" pitchFamily="18" charset="0"/>
                <a:cs typeface="Times New Roman" panose="02020603050405020304" pitchFamily="18" charset="0"/>
              </a:rPr>
              <a:t>There are two forms of knowledge that are crucial in any knowledge system:</a:t>
            </a:r>
          </a:p>
          <a:p>
            <a:pPr marL="0" lvl="0" indent="0" fontAlgn="base">
              <a:lnSpc>
                <a:spcPct val="122000"/>
              </a:lnSpc>
              <a:spcBef>
                <a:spcPts val="1200"/>
              </a:spcBef>
              <a:spcAft>
                <a:spcPct val="0"/>
              </a:spcAft>
              <a:buFont typeface="Wingdings" pitchFamily="2" charset="2"/>
              <a:buChar char="ü"/>
              <a:tabLst>
                <a:tab pos="571500" algn="l"/>
              </a:tabLst>
              <a:defRPr/>
            </a:pPr>
            <a:r>
              <a:rPr lang="en-US" sz="2400" dirty="0">
                <a:latin typeface="Times New Roman" panose="02020603050405020304" pitchFamily="18" charset="0"/>
                <a:cs typeface="Times New Roman" panose="02020603050405020304" pitchFamily="18" charset="0"/>
              </a:rPr>
              <a:t>general knowledge and specific knowledge.</a:t>
            </a:r>
          </a:p>
          <a:p>
            <a:pPr marL="0" lvl="0" indent="0" fontAlgn="base">
              <a:lnSpc>
                <a:spcPct val="122000"/>
              </a:lnSpc>
              <a:spcBef>
                <a:spcPts val="1200"/>
              </a:spcBef>
              <a:spcAft>
                <a:spcPct val="0"/>
              </a:spcAft>
              <a:buFont typeface="Wingdings" pitchFamily="2" charset="2"/>
              <a:buChar char="ü"/>
              <a:tabLst>
                <a:tab pos="571500" algn="l"/>
              </a:tabLst>
              <a:defRPr/>
            </a:pPr>
            <a:r>
              <a:rPr lang="en-US" sz="2400" i="1" u="sng" dirty="0">
                <a:solidFill>
                  <a:srgbClr val="0070C0"/>
                </a:solidFill>
                <a:latin typeface="Times New Roman" panose="02020603050405020304" pitchFamily="18" charset="0"/>
                <a:cs typeface="Times New Roman" panose="02020603050405020304" pitchFamily="18" charset="0"/>
              </a:rPr>
              <a:t>General knowledge:  </a:t>
            </a:r>
            <a:r>
              <a:rPr lang="en-US" sz="2400" dirty="0">
                <a:solidFill>
                  <a:prstClr val="black"/>
                </a:solidFill>
                <a:latin typeface="Times New Roman" panose="02020603050405020304" pitchFamily="18" charset="0"/>
                <a:cs typeface="Times New Roman" panose="02020603050405020304" pitchFamily="18" charset="0"/>
              </a:rPr>
              <a:t>type of hierarchy, part/whole relationships, and so on. For instance, it might code that</a:t>
            </a:r>
            <a:r>
              <a:rPr lang="en-US" sz="2400" b="1" dirty="0">
                <a:solidFill>
                  <a:srgbClr val="0070C0"/>
                </a:solidFill>
                <a:latin typeface="Times New Roman" panose="02020603050405020304" pitchFamily="18" charset="0"/>
                <a:cs typeface="Times New Roman" panose="02020603050405020304" pitchFamily="18" charset="0"/>
              </a:rPr>
              <a:t> OWN1 </a:t>
            </a:r>
            <a:r>
              <a:rPr lang="en-US" sz="2400" dirty="0">
                <a:solidFill>
                  <a:srgbClr val="000000"/>
                </a:solidFill>
                <a:latin typeface="Times New Roman" panose="02020603050405020304" pitchFamily="18" charset="0"/>
                <a:cs typeface="Times New Roman" panose="02020603050405020304" pitchFamily="18" charset="0"/>
              </a:rPr>
              <a:t>is a relation between people and object but not individual person .  </a:t>
            </a:r>
          </a:p>
          <a:p>
            <a:pPr marL="0" lvl="0" indent="0" fontAlgn="base">
              <a:lnSpc>
                <a:spcPct val="122000"/>
              </a:lnSpc>
              <a:spcBef>
                <a:spcPts val="1200"/>
              </a:spcBef>
              <a:spcAft>
                <a:spcPct val="0"/>
              </a:spcAft>
              <a:buFont typeface="Wingdings" pitchFamily="2" charset="2"/>
              <a:buChar char="ü"/>
              <a:tabLst>
                <a:tab pos="571500" algn="l"/>
              </a:tabLst>
              <a:defRPr/>
            </a:pPr>
            <a:r>
              <a:rPr lang="en-US" sz="2400" dirty="0">
                <a:solidFill>
                  <a:srgbClr val="000000"/>
                </a:solidFill>
                <a:latin typeface="Times New Roman" panose="02020603050405020304" pitchFamily="18" charset="0"/>
                <a:cs typeface="Times New Roman" panose="02020603050405020304" pitchFamily="18" charset="0"/>
              </a:rPr>
              <a:t>General world knowledge is essential for solving many language interpretation problems, one of most important  being disambiguation.</a:t>
            </a:r>
          </a:p>
          <a:p>
            <a:pPr marL="0" lvl="0" indent="0" fontAlgn="base">
              <a:lnSpc>
                <a:spcPct val="122000"/>
              </a:lnSpc>
              <a:spcBef>
                <a:spcPts val="1200"/>
              </a:spcBef>
              <a:spcAft>
                <a:spcPct val="0"/>
              </a:spcAft>
              <a:buNone/>
              <a:tabLst>
                <a:tab pos="571500" algn="l"/>
              </a:tabLst>
              <a:defRPr/>
            </a:pPr>
            <a:endParaRPr lang="en-US" sz="2200" dirty="0">
              <a:solidFill>
                <a:prstClr val="black"/>
              </a:solidFill>
              <a:latin typeface="Times New Roman" panose="02020603050405020304" pitchFamily="18" charset="0"/>
              <a:cs typeface="Times New Roman" panose="02020603050405020304" pitchFamily="18" charset="0"/>
            </a:endParaRPr>
          </a:p>
          <a:p>
            <a:pPr marL="0" lvl="0" indent="0">
              <a:lnSpc>
                <a:spcPct val="122000"/>
              </a:lnSpc>
              <a:spcBef>
                <a:spcPts val="1200"/>
              </a:spcBef>
              <a:buNone/>
              <a:defRPr/>
            </a:pPr>
            <a:r>
              <a:rPr lang="en-US" sz="1800" dirty="0">
                <a:solidFill>
                  <a:prstClr val="black"/>
                </a:solidFill>
                <a:latin typeface="Times New Roman" panose="02020603050405020304" pitchFamily="18" charset="0"/>
                <a:cs typeface="Times New Roman" panose="02020603050405020304" pitchFamily="18" charset="0"/>
              </a:rPr>
              <a:t> </a:t>
            </a:r>
          </a:p>
          <a:p>
            <a:pPr marL="0" lvl="0" indent="0" fontAlgn="base">
              <a:lnSpc>
                <a:spcPct val="122000"/>
              </a:lnSpc>
              <a:spcBef>
                <a:spcPts val="1200"/>
              </a:spcBef>
              <a:spcAft>
                <a:spcPct val="0"/>
              </a:spcAft>
              <a:buFont typeface="Wingdings" pitchFamily="2" charset="2"/>
              <a:buChar char="ü"/>
              <a:tabLst>
                <a:tab pos="571500" algn="l"/>
              </a:tabLst>
              <a:defRP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6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normAutofit fontScale="90000"/>
          </a:bodyPr>
          <a:lstStyle/>
          <a:p>
            <a:r>
              <a:rPr lang="en-US" sz="3200" b="1"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533400" y="838200"/>
            <a:ext cx="8229600" cy="5943600"/>
          </a:xfrm>
        </p:spPr>
        <p:txBody>
          <a:bodyPr>
            <a:noAutofit/>
          </a:bodyPr>
          <a:lstStyle/>
          <a:p>
            <a:pPr marL="0" lvl="0" indent="0">
              <a:buNone/>
            </a:pPr>
            <a:r>
              <a:rPr lang="en-US" sz="2400" b="1" dirty="0">
                <a:solidFill>
                  <a:srgbClr val="3333CC"/>
                </a:solidFill>
                <a:latin typeface="Times New Roman" panose="02020603050405020304" pitchFamily="18" charset="0"/>
                <a:cs typeface="Times New Roman" panose="02020603050405020304" pitchFamily="18" charset="0"/>
              </a:rPr>
              <a:t>11.1</a:t>
            </a:r>
            <a:r>
              <a:rPr lang="en-US" sz="2400" dirty="0">
                <a:solidFill>
                  <a:srgbClr val="3333CC"/>
                </a:solidFill>
                <a:latin typeface="Times New Roman" panose="02020603050405020304" pitchFamily="18" charset="0"/>
                <a:cs typeface="Times New Roman" panose="02020603050405020304" pitchFamily="18" charset="0"/>
              </a:rPr>
              <a:t> </a:t>
            </a:r>
            <a:r>
              <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lvl="0" indent="0" fontAlgn="base">
              <a:lnSpc>
                <a:spcPct val="122000"/>
              </a:lnSpc>
              <a:spcBef>
                <a:spcPts val="1200"/>
              </a:spcBef>
              <a:spcAft>
                <a:spcPct val="0"/>
              </a:spcAft>
              <a:buNone/>
              <a:tabLst>
                <a:tab pos="571500" algn="l"/>
              </a:tabLst>
              <a:defRPr/>
            </a:pPr>
            <a:r>
              <a:rPr lang="en-US" sz="2400" dirty="0">
                <a:solidFill>
                  <a:srgbClr val="000000"/>
                </a:solidFill>
                <a:latin typeface="Times New Roman" panose="02020603050405020304" pitchFamily="18" charset="0"/>
                <a:cs typeface="Times New Roman" panose="02020603050405020304" pitchFamily="18" charset="0"/>
              </a:rPr>
              <a:t>For </a:t>
            </a:r>
            <a:r>
              <a:rPr lang="en-US" sz="2400" dirty="0">
                <a:solidFill>
                  <a:prstClr val="black"/>
                </a:solidFill>
                <a:latin typeface="Times New Roman" panose="02020603050405020304" pitchFamily="18" charset="0"/>
                <a:cs typeface="Times New Roman" panose="02020603050405020304" pitchFamily="18" charset="0"/>
              </a:rPr>
              <a:t>example,  the proper attachment of the final PP in the following two sentences dependents solely on the reader’s background knowledge of  the appropriate time needed for reading and for evolution:</a:t>
            </a:r>
          </a:p>
          <a:p>
            <a:pPr marL="0" lvl="0" indent="0" fontAlgn="base">
              <a:spcBef>
                <a:spcPct val="50000"/>
              </a:spcBef>
              <a:spcAft>
                <a:spcPct val="0"/>
              </a:spcAft>
              <a:buNone/>
              <a:tabLst>
                <a:tab pos="571500" algn="l"/>
              </a:tabLst>
            </a:pPr>
            <a:r>
              <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a:t>
            </a:r>
            <a:r>
              <a:rPr lang="en-US" sz="2400" b="1" i="1" dirty="0">
                <a:solidFill>
                  <a:srgbClr val="0070C0"/>
                </a:solidFill>
                <a:latin typeface="Times New Roman" panose="02020603050405020304" pitchFamily="18" charset="0"/>
                <a:cs typeface="Times New Roman" panose="02020603050405020304" pitchFamily="18" charset="0"/>
              </a:rPr>
              <a:t>I read a story about evolution in ten minutes</a:t>
            </a:r>
            <a:br>
              <a:rPr lang="en-US" sz="2400" b="1" i="1" dirty="0">
                <a:solidFill>
                  <a:srgbClr val="0070C0"/>
                </a:solidFill>
                <a:latin typeface="Times New Roman" panose="02020603050405020304" pitchFamily="18" charset="0"/>
                <a:cs typeface="Times New Roman" panose="02020603050405020304" pitchFamily="18" charset="0"/>
              </a:rPr>
            </a:br>
            <a:r>
              <a:rPr lang="en-US" sz="2400" b="1" i="1" dirty="0">
                <a:solidFill>
                  <a:srgbClr val="0070C0"/>
                </a:solidFill>
                <a:latin typeface="Times New Roman" panose="02020603050405020304" pitchFamily="18" charset="0"/>
                <a:cs typeface="Times New Roman" panose="02020603050405020304" pitchFamily="18" charset="0"/>
              </a:rPr>
              <a:t>	I read a story about evolution in the last million years</a:t>
            </a:r>
          </a:p>
          <a:p>
            <a:pPr marL="0" lvl="0" indent="0" fontAlgn="base">
              <a:spcBef>
                <a:spcPct val="50000"/>
              </a:spcBef>
              <a:spcAft>
                <a:spcPct val="0"/>
              </a:spcAft>
              <a:buNone/>
              <a:tabLst>
                <a:tab pos="571500" algn="l"/>
              </a:tabLst>
            </a:pPr>
            <a:r>
              <a:rPr lang="en-US" sz="2400" i="1" u="sng" dirty="0">
                <a:solidFill>
                  <a:srgbClr val="0070C0"/>
                </a:solidFill>
                <a:latin typeface="Times New Roman" panose="02020603050405020304" pitchFamily="18" charset="0"/>
                <a:cs typeface="Times New Roman" panose="02020603050405020304" pitchFamily="18" charset="0"/>
              </a:rPr>
              <a:t>Specific Knowledge</a:t>
            </a:r>
            <a:r>
              <a:rPr lang="en-US" sz="2400" dirty="0">
                <a:latin typeface="Times New Roman" panose="02020603050405020304" pitchFamily="18" charset="0"/>
                <a:cs typeface="Times New Roman" panose="02020603050405020304" pitchFamily="18" charset="0"/>
              </a:rPr>
              <a:t>: is important for many issues, including determining the referent of noun phrases and disambiguating word senses based on what makes sense in the current situation.</a:t>
            </a:r>
          </a:p>
          <a:p>
            <a:pPr marL="0" lvl="0" indent="0" fontAlgn="base">
              <a:spcBef>
                <a:spcPct val="50000"/>
              </a:spcBef>
              <a:spcAft>
                <a:spcPct val="0"/>
              </a:spcAft>
              <a:buNone/>
              <a:tabLst>
                <a:tab pos="571500" algn="l"/>
              </a:tabLst>
            </a:pPr>
            <a:r>
              <a:rPr lang="en-US" sz="2400" dirty="0">
                <a:latin typeface="Times New Roman"/>
                <a:cs typeface="Times New Roman"/>
              </a:rPr>
              <a:t>▪ </a:t>
            </a:r>
            <a:r>
              <a:rPr lang="en-US" sz="2400" dirty="0">
                <a:latin typeface="Times New Roman" panose="02020603050405020304" pitchFamily="18" charset="0"/>
                <a:cs typeface="Times New Roman" panose="02020603050405020304" pitchFamily="18" charset="0"/>
              </a:rPr>
              <a:t>The knowledge representation is coding the knowledge and beliefs of the understanding system.</a:t>
            </a:r>
          </a:p>
          <a:p>
            <a:pPr marL="0" lvl="0" indent="0" fontAlgn="base">
              <a:spcBef>
                <a:spcPct val="50000"/>
              </a:spcBef>
              <a:spcAft>
                <a:spcPct val="0"/>
              </a:spcAft>
              <a:buNone/>
              <a:tabLst>
                <a:tab pos="571500" algn="l"/>
              </a:tabLst>
            </a:pPr>
            <a:r>
              <a:rPr lang="en-US" sz="2400" dirty="0">
                <a:latin typeface="Times New Roman"/>
                <a:cs typeface="Times New Roman"/>
              </a:rPr>
              <a:t> </a:t>
            </a:r>
            <a:endParaRPr lang="en-US" sz="2400" b="1" dirty="0">
              <a:solidFill>
                <a:srgbClr val="FF0000"/>
              </a:solidFill>
              <a:latin typeface="Times New Roman" panose="02020603050405020304" pitchFamily="18" charset="0"/>
              <a:cs typeface="Times New Roman" panose="02020603050405020304" pitchFamily="18" charset="0"/>
            </a:endParaRPr>
          </a:p>
          <a:p>
            <a:pPr lvl="0" fontAlgn="base">
              <a:spcBef>
                <a:spcPct val="50000"/>
              </a:spcBef>
              <a:spcAft>
                <a:spcPct val="0"/>
              </a:spcAft>
              <a:buFontTx/>
              <a:buChar char="-"/>
              <a:tabLst>
                <a:tab pos="571500" algn="l"/>
              </a:tabLst>
            </a:pPr>
            <a:endParaRPr lang="en-US" sz="2400" b="1" dirty="0">
              <a:solidFill>
                <a:srgbClr val="FF0000"/>
              </a:solidFill>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0025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r>
              <a:rPr lang="en-US" sz="2900" b="1"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304800" y="762000"/>
            <a:ext cx="8686800" cy="5791200"/>
          </a:xfrm>
        </p:spPr>
        <p:txBody>
          <a:bodyPr>
            <a:normAutofit lnSpcReduction="10000"/>
          </a:bodyPr>
          <a:lstStyle/>
          <a:p>
            <a:pPr marL="0" lvl="0" indent="0">
              <a:lnSpc>
                <a:spcPct val="112000"/>
              </a:lnSpc>
              <a:spcBef>
                <a:spcPts val="1200"/>
              </a:spcBef>
              <a:buNone/>
            </a:pPr>
            <a:r>
              <a:rPr lang="en-US" sz="2400" b="1" dirty="0">
                <a:solidFill>
                  <a:srgbClr val="3333CC"/>
                </a:solidFill>
                <a:latin typeface="Times New Roman" panose="02020603050405020304" pitchFamily="18" charset="0"/>
                <a:cs typeface="Times New Roman" panose="02020603050405020304" pitchFamily="18" charset="0"/>
              </a:rPr>
              <a:t>11.1</a:t>
            </a:r>
            <a:r>
              <a:rPr lang="en-US" sz="2400" dirty="0">
                <a:solidFill>
                  <a:srgbClr val="3333CC"/>
                </a:solidFill>
                <a:latin typeface="Times New Roman" panose="02020603050405020304" pitchFamily="18" charset="0"/>
                <a:cs typeface="Times New Roman" panose="02020603050405020304" pitchFamily="18" charset="0"/>
              </a:rPr>
              <a:t> </a:t>
            </a:r>
            <a:r>
              <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lvl="0" indent="0" fontAlgn="base">
              <a:lnSpc>
                <a:spcPct val="112000"/>
              </a:lnSpc>
              <a:spcBef>
                <a:spcPts val="1200"/>
              </a:spcBef>
              <a:spcAft>
                <a:spcPct val="0"/>
              </a:spcAft>
              <a:buNone/>
              <a:tabLst>
                <a:tab pos="571500" algn="l"/>
              </a:tabLst>
            </a:pPr>
            <a:r>
              <a:rPr lang="en-US" sz="2400" dirty="0">
                <a:solidFill>
                  <a:prstClr val="black"/>
                </a:solidFill>
                <a:latin typeface="Times New Roman" panose="02020603050405020304" pitchFamily="18" charset="0"/>
                <a:cs typeface="Times New Roman" panose="02020603050405020304" pitchFamily="18" charset="0"/>
              </a:rPr>
              <a:t>▪  A knowledge representation consists of a database of sentences called</a:t>
            </a:r>
            <a:r>
              <a:rPr lang="en-US" sz="2400" dirty="0">
                <a:latin typeface="Times New Roman" panose="02020603050405020304" pitchFamily="18" charset="0"/>
                <a:cs typeface="Times New Roman" panose="02020603050405020304" pitchFamily="18" charset="0"/>
              </a:rPr>
              <a:t> the </a:t>
            </a:r>
            <a:r>
              <a:rPr lang="en-US" sz="2400" dirty="0">
                <a:solidFill>
                  <a:srgbClr val="FF0000"/>
                </a:solidFill>
                <a:latin typeface="Times New Roman" panose="02020603050405020304" pitchFamily="18" charset="0"/>
                <a:cs typeface="Times New Roman" panose="02020603050405020304" pitchFamily="18" charset="0"/>
              </a:rPr>
              <a:t>knowledge base (KB) </a:t>
            </a:r>
            <a:r>
              <a:rPr lang="en-US" sz="2400" dirty="0">
                <a:solidFill>
                  <a:prstClr val="black"/>
                </a:solidFill>
                <a:latin typeface="Times New Roman" panose="02020603050405020304" pitchFamily="18" charset="0"/>
                <a:cs typeface="Times New Roman" panose="02020603050405020304" pitchFamily="18" charset="0"/>
              </a:rPr>
              <a:t>and set of </a:t>
            </a:r>
            <a:r>
              <a:rPr lang="en-US" sz="2400" dirty="0">
                <a:solidFill>
                  <a:srgbClr val="FF0000"/>
                </a:solidFill>
                <a:latin typeface="Times New Roman" panose="02020603050405020304" pitchFamily="18" charset="0"/>
                <a:cs typeface="Times New Roman" panose="02020603050405020304" pitchFamily="18" charset="0"/>
              </a:rPr>
              <a:t>inference techniques</a:t>
            </a:r>
            <a:r>
              <a:rPr lang="en-US" sz="2400" b="1"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that can be used to derive new sentences given the current KB.</a:t>
            </a:r>
          </a:p>
          <a:p>
            <a:pPr marL="0" lvl="0" indent="0" fontAlgn="base">
              <a:lnSpc>
                <a:spcPct val="112000"/>
              </a:lnSpc>
              <a:spcBef>
                <a:spcPts val="1200"/>
              </a:spcBef>
              <a:spcAft>
                <a:spcPct val="0"/>
              </a:spcAft>
              <a:buNone/>
              <a:tabLst>
                <a:tab pos="571500" algn="l"/>
              </a:tabLst>
            </a:pPr>
            <a:r>
              <a:rPr lang="en-US" sz="2400" dirty="0">
                <a:solidFill>
                  <a:prstClr val="black"/>
                </a:solidFill>
                <a:latin typeface="Times New Roman" panose="02020603050405020304" pitchFamily="18" charset="0"/>
                <a:cs typeface="Times New Roman" panose="02020603050405020304" pitchFamily="18" charset="0"/>
              </a:rPr>
              <a:t>▪ The language in which the sentences in the KB are defined is called </a:t>
            </a:r>
            <a:r>
              <a:rPr lang="en-US" sz="2400" dirty="0">
                <a:solidFill>
                  <a:srgbClr val="FF0000"/>
                </a:solidFill>
                <a:latin typeface="Times New Roman" panose="02020603050405020304" pitchFamily="18" charset="0"/>
                <a:cs typeface="Times New Roman" panose="02020603050405020304" pitchFamily="18" charset="0"/>
              </a:rPr>
              <a:t>knowledge representation language (KRL). </a:t>
            </a:r>
            <a:r>
              <a:rPr lang="en-US" sz="2400" dirty="0">
                <a:solidFill>
                  <a:prstClr val="black"/>
                </a:solidFill>
                <a:latin typeface="Times New Roman" panose="02020603050405020304" pitchFamily="18" charset="0"/>
                <a:cs typeface="Times New Roman" panose="02020603050405020304" pitchFamily="18" charset="0"/>
              </a:rPr>
              <a:t>The KRL could be the same as the logical form, but there are practical reasons why they are often differ.</a:t>
            </a:r>
          </a:p>
          <a:p>
            <a:pPr marL="0" lvl="0" indent="0" fontAlgn="base">
              <a:lnSpc>
                <a:spcPct val="112000"/>
              </a:lnSpc>
              <a:spcBef>
                <a:spcPts val="1200"/>
              </a:spcBef>
              <a:spcAft>
                <a:spcPct val="0"/>
              </a:spcAft>
              <a:buNone/>
              <a:tabLst>
                <a:tab pos="571500" algn="l"/>
              </a:tabLst>
            </a:pPr>
            <a:r>
              <a:rPr lang="en-US" sz="2400" dirty="0">
                <a:solidFill>
                  <a:prstClr val="black"/>
                </a:solidFill>
                <a:latin typeface="Times New Roman" panose="02020603050405020304" pitchFamily="18" charset="0"/>
                <a:cs typeface="Times New Roman" panose="02020603050405020304" pitchFamily="18" charset="0"/>
              </a:rPr>
              <a:t>▪ In logical form language a wide range of quantifiers that is closely corresponding to the different word senses of English quantifiers.</a:t>
            </a:r>
            <a:endParaRPr lang="en-US" sz="2400" dirty="0">
              <a:latin typeface="Times New Roman" panose="02020603050405020304" pitchFamily="18" charset="0"/>
              <a:cs typeface="Times New Roman" panose="02020603050405020304" pitchFamily="18" charset="0"/>
            </a:endParaRPr>
          </a:p>
          <a:p>
            <a:pPr marL="0" lvl="0" indent="0" fontAlgn="base">
              <a:lnSpc>
                <a:spcPct val="112000"/>
              </a:lnSpc>
              <a:spcBef>
                <a:spcPts val="1200"/>
              </a:spcBef>
              <a:spcAft>
                <a:spcPct val="0"/>
              </a:spcAft>
              <a:buNone/>
              <a:tabLst>
                <a:tab pos="571500" algn="l"/>
              </a:tabLst>
              <a:defRPr/>
            </a:pPr>
            <a:r>
              <a:rPr lang="en-US" sz="2400" dirty="0">
                <a:solidFill>
                  <a:srgbClr val="000000"/>
                </a:solidFill>
                <a:latin typeface="Times New Roman" panose="02020603050405020304" pitchFamily="18" charset="0"/>
                <a:cs typeface="Times New Roman" panose="02020603050405020304" pitchFamily="18" charset="0"/>
              </a:rPr>
              <a:t>▪ In the most current KRL, however there are usually only a few quantifiers and often only one construct allowing universal quantification. </a:t>
            </a:r>
          </a:p>
          <a:p>
            <a:pPr marL="0" lvl="0" indent="0" fontAlgn="base">
              <a:lnSpc>
                <a:spcPct val="112000"/>
              </a:lnSpc>
              <a:spcBef>
                <a:spcPts val="1200"/>
              </a:spcBef>
              <a:spcAft>
                <a:spcPct val="0"/>
              </a:spcAft>
              <a:buNone/>
              <a:tabLst>
                <a:tab pos="571500" algn="l"/>
              </a:tabLst>
            </a:pPr>
            <a:endParaRPr lang="en-US" sz="2400" dirty="0">
              <a:latin typeface="Times New Roman" panose="02020603050405020304" pitchFamily="18" charset="0"/>
              <a:cs typeface="Times New Roman" panose="02020603050405020304" pitchFamily="18" charset="0"/>
            </a:endParaRPr>
          </a:p>
          <a:p>
            <a:pPr marL="0" lvl="0" indent="0">
              <a:lnSpc>
                <a:spcPct val="112000"/>
              </a:lnSpc>
              <a:spcBef>
                <a:spcPts val="1200"/>
              </a:spcBef>
              <a:buNone/>
            </a:pPr>
            <a:endPar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nSpc>
                <a:spcPct val="112000"/>
              </a:lnSpc>
              <a:spcBef>
                <a:spcPts val="1200"/>
              </a:spcBef>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5666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r>
              <a:rPr lang="en-US" sz="2600" b="1"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381000" y="762000"/>
            <a:ext cx="8229600" cy="5943600"/>
          </a:xfrm>
        </p:spPr>
        <p:txBody>
          <a:bodyPr>
            <a:normAutofit fontScale="25000" lnSpcReduction="20000"/>
          </a:bodyPr>
          <a:lstStyle/>
          <a:p>
            <a:pPr marL="0" lvl="0" indent="0">
              <a:lnSpc>
                <a:spcPct val="132000"/>
              </a:lnSpc>
              <a:spcBef>
                <a:spcPts val="0"/>
              </a:spcBef>
              <a:spcAft>
                <a:spcPts val="600"/>
              </a:spcAft>
              <a:buNone/>
            </a:pPr>
            <a:r>
              <a:rPr lang="en-US" sz="9600" b="1" dirty="0">
                <a:solidFill>
                  <a:srgbClr val="3333CC"/>
                </a:solidFill>
                <a:latin typeface="Times New Roman" panose="02020603050405020304" pitchFamily="18" charset="0"/>
                <a:cs typeface="Times New Roman" panose="02020603050405020304" pitchFamily="18" charset="0"/>
              </a:rPr>
              <a:t>11.1</a:t>
            </a:r>
            <a:r>
              <a:rPr lang="en-US" sz="9600" dirty="0">
                <a:solidFill>
                  <a:srgbClr val="3333CC"/>
                </a:solidFill>
                <a:latin typeface="Times New Roman" panose="02020603050405020304" pitchFamily="18" charset="0"/>
                <a:cs typeface="Times New Roman" panose="02020603050405020304" pitchFamily="18" charset="0"/>
              </a:rPr>
              <a:t> </a:t>
            </a:r>
            <a:r>
              <a:rPr lang="en-US" sz="96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indent="0">
              <a:lnSpc>
                <a:spcPct val="132000"/>
              </a:lnSpc>
              <a:spcBef>
                <a:spcPts val="0"/>
              </a:spcBef>
              <a:spcAft>
                <a:spcPts val="600"/>
              </a:spcAft>
              <a:buNone/>
            </a:pPr>
            <a:r>
              <a:rPr lang="en-US" sz="9600" dirty="0">
                <a:latin typeface="Times New Roman" panose="02020603050405020304" pitchFamily="18" charset="0"/>
                <a:cs typeface="Times New Roman" panose="02020603050405020304" pitchFamily="18" charset="0"/>
              </a:rPr>
              <a:t>The KB must support two forms of inference: </a:t>
            </a:r>
            <a:r>
              <a:rPr lang="en-US" sz="9600" dirty="0">
                <a:solidFill>
                  <a:srgbClr val="FF0000"/>
                </a:solidFill>
                <a:latin typeface="Times New Roman" panose="02020603050405020304" pitchFamily="18" charset="0"/>
                <a:cs typeface="Times New Roman" panose="02020603050405020304" pitchFamily="18" charset="0"/>
              </a:rPr>
              <a:t>entail </a:t>
            </a:r>
            <a:r>
              <a:rPr lang="en-US" sz="9600" dirty="0">
                <a:latin typeface="Times New Roman" panose="02020603050405020304" pitchFamily="18" charset="0"/>
                <a:cs typeface="Times New Roman" panose="02020603050405020304" pitchFamily="18" charset="0"/>
              </a:rPr>
              <a:t>and </a:t>
            </a:r>
            <a:r>
              <a:rPr lang="en-US" sz="9600" dirty="0">
                <a:solidFill>
                  <a:srgbClr val="FF0000"/>
                </a:solidFill>
                <a:latin typeface="Times New Roman" panose="02020603050405020304" pitchFamily="18" charset="0"/>
                <a:cs typeface="Times New Roman" panose="02020603050405020304" pitchFamily="18" charset="0"/>
              </a:rPr>
              <a:t>implications.</a:t>
            </a:r>
          </a:p>
          <a:p>
            <a:pPr marL="0" indent="0">
              <a:lnSpc>
                <a:spcPct val="132000"/>
              </a:lnSpc>
              <a:spcBef>
                <a:spcPts val="600"/>
              </a:spcBef>
              <a:buNone/>
            </a:pPr>
            <a:r>
              <a:rPr lang="en-US" sz="9600" i="1" dirty="0">
                <a:solidFill>
                  <a:srgbClr val="0070C0"/>
                </a:solidFill>
                <a:latin typeface="Times New Roman" panose="02020603050405020304" pitchFamily="18" charset="0"/>
                <a:cs typeface="Times New Roman" panose="02020603050405020304" pitchFamily="18" charset="0"/>
              </a:rPr>
              <a:t>Entail: </a:t>
            </a:r>
            <a:r>
              <a:rPr lang="en-US" sz="9600" dirty="0">
                <a:latin typeface="Times New Roman" panose="02020603050405020304" pitchFamily="18" charset="0"/>
                <a:cs typeface="Times New Roman" panose="02020603050405020304" pitchFamily="18" charset="0"/>
              </a:rPr>
              <a:t>formula P must be true given the formulas in KB or given the formulas representing the meaning of a sentence, then we say that the KB (or sentence) entails P.</a:t>
            </a:r>
          </a:p>
          <a:p>
            <a:pPr marL="0" indent="0">
              <a:lnSpc>
                <a:spcPct val="132000"/>
              </a:lnSpc>
              <a:spcBef>
                <a:spcPts val="600"/>
              </a:spcBef>
              <a:buNone/>
            </a:pPr>
            <a:r>
              <a:rPr lang="en-US" sz="9600" i="1" dirty="0">
                <a:solidFill>
                  <a:srgbClr val="0070C0"/>
                </a:solidFill>
                <a:latin typeface="Times New Roman" panose="02020603050405020304" pitchFamily="18" charset="0"/>
                <a:cs typeface="Times New Roman" panose="02020603050405020304" pitchFamily="18" charset="0"/>
              </a:rPr>
              <a:t>Implications  </a:t>
            </a:r>
            <a:r>
              <a:rPr lang="en-US" sz="9600" dirty="0">
                <a:latin typeface="Times New Roman" panose="02020603050405020304" pitchFamily="18" charset="0"/>
                <a:cs typeface="Times New Roman" panose="02020603050405020304" pitchFamily="18" charset="0"/>
              </a:rPr>
              <a:t>are conclusions that can typically be drawn from a sentence but that could be explicitly denied in specific circumstances.</a:t>
            </a:r>
          </a:p>
          <a:p>
            <a:pPr marL="0" lvl="0" indent="0" fontAlgn="base">
              <a:lnSpc>
                <a:spcPct val="132000"/>
              </a:lnSpc>
              <a:spcBef>
                <a:spcPts val="0"/>
              </a:spcBef>
              <a:spcAft>
                <a:spcPts val="600"/>
              </a:spcAft>
              <a:buNone/>
              <a:tabLst>
                <a:tab pos="571500" algn="l"/>
              </a:tabLst>
              <a:defRPr/>
            </a:pPr>
            <a:r>
              <a:rPr lang="en-US" sz="9600" dirty="0">
                <a:latin typeface="Times New Roman" panose="02020603050405020304" pitchFamily="18" charset="0"/>
                <a:cs typeface="Times New Roman" panose="02020603050405020304" pitchFamily="18" charset="0"/>
              </a:rPr>
              <a:t> </a:t>
            </a:r>
            <a:r>
              <a:rPr lang="en-US" sz="9600" b="1" i="1" dirty="0">
                <a:solidFill>
                  <a:srgbClr val="000000"/>
                </a:solidFill>
                <a:latin typeface="Times New Roman" panose="02020603050405020304" pitchFamily="18" charset="0"/>
                <a:cs typeface="Times New Roman" panose="02020603050405020304" pitchFamily="18" charset="0"/>
              </a:rPr>
              <a:t>Example: </a:t>
            </a:r>
            <a:r>
              <a:rPr lang="en-US" sz="9600" b="1" i="1" dirty="0">
                <a:solidFill>
                  <a:srgbClr val="0070C0"/>
                </a:solidFill>
                <a:latin typeface="Times New Roman" panose="02020603050405020304" pitchFamily="18" charset="0"/>
                <a:cs typeface="Times New Roman" panose="02020603050405020304" pitchFamily="18" charset="0"/>
              </a:rPr>
              <a:t>Jack owns two cars - </a:t>
            </a:r>
            <a:r>
              <a:rPr lang="en-US" sz="9600" dirty="0">
                <a:latin typeface="Times New Roman" panose="02020603050405020304" pitchFamily="18" charset="0"/>
                <a:cs typeface="Times New Roman" panose="02020603050405020304" pitchFamily="18" charset="0"/>
              </a:rPr>
              <a:t>entails that:</a:t>
            </a:r>
          </a:p>
          <a:p>
            <a:pPr marL="0" lvl="0" indent="0" fontAlgn="base">
              <a:lnSpc>
                <a:spcPct val="132000"/>
              </a:lnSpc>
              <a:spcBef>
                <a:spcPts val="0"/>
              </a:spcBef>
              <a:spcAft>
                <a:spcPts val="600"/>
              </a:spcAft>
              <a:buNone/>
              <a:tabLst>
                <a:tab pos="571500" algn="l"/>
              </a:tabLst>
              <a:defRPr/>
            </a:pPr>
            <a:r>
              <a:rPr lang="en-US" sz="9600" dirty="0">
                <a:latin typeface="Times New Roman" panose="02020603050405020304" pitchFamily="18" charset="0"/>
                <a:cs typeface="Times New Roman" panose="02020603050405020304" pitchFamily="18" charset="0"/>
              </a:rPr>
              <a:t>                 </a:t>
            </a:r>
            <a:r>
              <a:rPr lang="en-US" sz="9600" b="1" i="1" dirty="0">
                <a:solidFill>
                  <a:srgbClr val="0070C0"/>
                </a:solidFill>
                <a:latin typeface="Times New Roman" panose="02020603050405020304" pitchFamily="18" charset="0"/>
                <a:cs typeface="Times New Roman" panose="02020603050405020304" pitchFamily="18" charset="0"/>
              </a:rPr>
              <a:t>Jack owns a car </a:t>
            </a:r>
            <a:r>
              <a:rPr lang="en-US" sz="9600" dirty="0">
                <a:latin typeface="Times New Roman" panose="02020603050405020304" pitchFamily="18" charset="0"/>
                <a:cs typeface="Times New Roman" panose="02020603050405020304" pitchFamily="18" charset="0"/>
              </a:rPr>
              <a:t>(that is, this fat cannot  be denied).</a:t>
            </a:r>
          </a:p>
          <a:p>
            <a:pPr marL="0" lvl="0" indent="0" fontAlgn="base">
              <a:lnSpc>
                <a:spcPct val="132000"/>
              </a:lnSpc>
              <a:spcBef>
                <a:spcPts val="0"/>
              </a:spcBef>
              <a:spcAft>
                <a:spcPts val="600"/>
              </a:spcAft>
              <a:buNone/>
              <a:tabLst>
                <a:tab pos="571500" algn="l"/>
              </a:tabLst>
              <a:defRPr/>
            </a:pPr>
            <a:r>
              <a:rPr lang="en-US" sz="9600" dirty="0">
                <a:latin typeface="Times New Roman" panose="02020603050405020304" pitchFamily="18" charset="0"/>
                <a:cs typeface="Times New Roman" panose="02020603050405020304" pitchFamily="18" charset="0"/>
              </a:rPr>
              <a:t>But only implies that he does not own three cars, as we could continue by saying </a:t>
            </a:r>
            <a:r>
              <a:rPr lang="en-US" sz="9600" b="1" i="1" dirty="0">
                <a:solidFill>
                  <a:srgbClr val="0070C0"/>
                </a:solidFill>
                <a:latin typeface="Times New Roman" panose="02020603050405020304" pitchFamily="18" charset="0"/>
                <a:cs typeface="Times New Roman" panose="02020603050405020304" pitchFamily="18" charset="0"/>
              </a:rPr>
              <a:t>In fact, he owns three cars.</a:t>
            </a:r>
            <a:br>
              <a:rPr lang="en-US" sz="9600" b="1" i="1" dirty="0">
                <a:solidFill>
                  <a:srgbClr val="0070C0"/>
                </a:solidFill>
                <a:latin typeface="Times New Roman" panose="02020603050405020304" pitchFamily="18" charset="0"/>
                <a:cs typeface="Times New Roman" panose="02020603050405020304" pitchFamily="18" charset="0"/>
              </a:rPr>
            </a:br>
            <a:r>
              <a:rPr lang="en-US" sz="4400" b="1" i="1" dirty="0">
                <a:solidFill>
                  <a:srgbClr val="0070C0"/>
                </a:solidFill>
                <a:latin typeface="Times New Roman" panose="02020603050405020304" pitchFamily="18" charset="0"/>
                <a:cs typeface="Times New Roman" panose="02020603050405020304" pitchFamily="18" charset="0"/>
              </a:rPr>
              <a:t>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639922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lstStyle/>
          <a:p>
            <a:r>
              <a:rPr lang="en-US" sz="2600" b="1"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914400"/>
            <a:ext cx="8229600" cy="5638800"/>
          </a:xfrm>
        </p:spPr>
        <p:txBody>
          <a:bodyPr/>
          <a:lstStyle/>
          <a:p>
            <a:pPr marL="0" lvl="0" indent="0">
              <a:lnSpc>
                <a:spcPct val="132000"/>
              </a:lnSpc>
              <a:spcBef>
                <a:spcPts val="0"/>
              </a:spcBef>
              <a:spcAft>
                <a:spcPts val="600"/>
              </a:spcAft>
              <a:buNone/>
            </a:pPr>
            <a:r>
              <a:rPr lang="en-US" sz="2400" b="1" dirty="0">
                <a:solidFill>
                  <a:srgbClr val="3333CC"/>
                </a:solidFill>
                <a:latin typeface="Times New Roman" panose="02020603050405020304" pitchFamily="18" charset="0"/>
                <a:cs typeface="Times New Roman" panose="02020603050405020304" pitchFamily="18" charset="0"/>
              </a:rPr>
              <a:t>11.1</a:t>
            </a:r>
            <a:r>
              <a:rPr lang="en-US" sz="2400" dirty="0">
                <a:solidFill>
                  <a:srgbClr val="3333CC"/>
                </a:solidFill>
                <a:latin typeface="Times New Roman" panose="02020603050405020304" pitchFamily="18" charset="0"/>
                <a:cs typeface="Times New Roman" panose="02020603050405020304" pitchFamily="18" charset="0"/>
              </a:rPr>
              <a:t> </a:t>
            </a:r>
            <a:r>
              <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indent="0">
              <a:buNone/>
            </a:pPr>
            <a:r>
              <a:rPr lang="en-US" sz="2400" b="1" i="1" dirty="0">
                <a:solidFill>
                  <a:srgbClr val="0070C0"/>
                </a:solidFill>
                <a:latin typeface="Times New Roman" panose="02020603050405020304" pitchFamily="18" charset="0"/>
                <a:cs typeface="Times New Roman" panose="02020603050405020304" pitchFamily="18" charset="0"/>
              </a:rPr>
              <a:t>Types of Inference:</a:t>
            </a:r>
          </a:p>
          <a:p>
            <a:pPr marL="0" indent="0">
              <a:buNone/>
            </a:pPr>
            <a:r>
              <a:rPr lang="en-US" sz="2400" dirty="0">
                <a:latin typeface="Times New Roman" panose="02020603050405020304" pitchFamily="18" charset="0"/>
                <a:cs typeface="Times New Roman" panose="02020603050405020304" pitchFamily="18" charset="0"/>
              </a:rPr>
              <a:t>Many</a:t>
            </a:r>
            <a:r>
              <a:rPr lang="en-US" sz="2400" b="1" i="1" dirty="0">
                <a:solidFill>
                  <a:srgbClr val="0070C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different forms of inference are necessary to understand natural language. </a:t>
            </a:r>
          </a:p>
          <a:p>
            <a:pPr marL="0" indent="0">
              <a:buNone/>
            </a:pPr>
            <a:r>
              <a:rPr lang="en-US" sz="2400" dirty="0">
                <a:latin typeface="Times New Roman" panose="02020603050405020304" pitchFamily="18" charset="0"/>
                <a:cs typeface="Times New Roman" panose="02020603050405020304" pitchFamily="18" charset="0"/>
              </a:rPr>
              <a:t>Inference techniques can be classified into </a:t>
            </a:r>
            <a:r>
              <a:rPr lang="en-US" sz="2400" dirty="0">
                <a:solidFill>
                  <a:srgbClr val="FF0000"/>
                </a:solidFill>
                <a:latin typeface="Times New Roman" panose="02020603050405020304" pitchFamily="18" charset="0"/>
                <a:cs typeface="Times New Roman" panose="02020603050405020304" pitchFamily="18" charset="0"/>
              </a:rPr>
              <a:t>deductive</a:t>
            </a:r>
            <a:r>
              <a:rPr lang="en-US" sz="2400" dirty="0">
                <a:latin typeface="Times New Roman" panose="02020603050405020304" pitchFamily="18" charset="0"/>
                <a:cs typeface="Times New Roman" panose="02020603050405020304" pitchFamily="18" charset="0"/>
              </a:rPr>
              <a:t> and non-</a:t>
            </a:r>
            <a:r>
              <a:rPr lang="en-US" sz="2400" dirty="0">
                <a:solidFill>
                  <a:srgbClr val="FF0000"/>
                </a:solidFill>
                <a:latin typeface="Times New Roman" panose="02020603050405020304" pitchFamily="18" charset="0"/>
                <a:cs typeface="Times New Roman" panose="02020603050405020304" pitchFamily="18" charset="0"/>
              </a:rPr>
              <a:t>deductive</a:t>
            </a:r>
            <a:r>
              <a:rPr lang="en-US" sz="2400" dirty="0">
                <a:latin typeface="Times New Roman" panose="02020603050405020304" pitchFamily="18" charset="0"/>
                <a:cs typeface="Times New Roman" panose="02020603050405020304" pitchFamily="18" charset="0"/>
              </a:rPr>
              <a:t> forms.</a:t>
            </a:r>
          </a:p>
          <a:p>
            <a:pPr marL="0" indent="0">
              <a:buNone/>
            </a:pPr>
            <a:r>
              <a:rPr lang="en-US" sz="2400" i="1" u="sng" dirty="0">
                <a:latin typeface="Times New Roman" panose="02020603050405020304" pitchFamily="18" charset="0"/>
                <a:cs typeface="Times New Roman" panose="02020603050405020304" pitchFamily="18" charset="0"/>
              </a:rPr>
              <a:t>Deductive inference</a:t>
            </a:r>
            <a:r>
              <a:rPr lang="en-US" sz="2400" dirty="0">
                <a:latin typeface="Times New Roman" panose="02020603050405020304" pitchFamily="18" charset="0"/>
                <a:cs typeface="Times New Roman" panose="02020603050405020304" pitchFamily="18" charset="0"/>
              </a:rPr>
              <a:t>: give a set of facts, a deductive inference process will make only conclusions that logically follow from those facts. </a:t>
            </a:r>
          </a:p>
          <a:p>
            <a:pPr marL="0" indent="0">
              <a:buNone/>
            </a:pPr>
            <a:r>
              <a:rPr lang="en-US" sz="2400" i="1" u="sng" dirty="0">
                <a:latin typeface="Times New Roman" panose="02020603050405020304" pitchFamily="18" charset="0"/>
                <a:cs typeface="Times New Roman" panose="02020603050405020304" pitchFamily="18" charset="0"/>
              </a:rPr>
              <a:t>Non-deductive inference</a:t>
            </a:r>
            <a:r>
              <a:rPr lang="en-US" sz="2400" dirty="0">
                <a:latin typeface="Times New Roman" panose="02020603050405020304" pitchFamily="18" charset="0"/>
                <a:cs typeface="Times New Roman" panose="02020603050405020304" pitchFamily="18" charset="0"/>
              </a:rPr>
              <a:t> falls into several classes: </a:t>
            </a:r>
            <a:r>
              <a:rPr lang="en-US" sz="2400" i="1" dirty="0">
                <a:solidFill>
                  <a:srgbClr val="000000"/>
                </a:solidFill>
                <a:latin typeface="Times New Roman" panose="02020603050405020304" pitchFamily="18" charset="0"/>
                <a:cs typeface="Times New Roman" panose="02020603050405020304" pitchFamily="18" charset="0"/>
              </a:rPr>
              <a:t>inductive inference</a:t>
            </a:r>
            <a:r>
              <a:rPr lang="en-US" sz="2400" dirty="0">
                <a:solidFill>
                  <a:srgbClr val="000000"/>
                </a:solidFill>
                <a:latin typeface="Times New Roman" panose="02020603050405020304" pitchFamily="18" charset="0"/>
                <a:cs typeface="Times New Roman" panose="02020603050405020304" pitchFamily="18" charset="0"/>
              </a:rPr>
              <a:t> and </a:t>
            </a:r>
            <a:r>
              <a:rPr lang="en-US" sz="2400" i="1" dirty="0">
                <a:solidFill>
                  <a:srgbClr val="000000"/>
                </a:solidFill>
                <a:latin typeface="Times New Roman" panose="02020603050405020304" pitchFamily="18" charset="0"/>
                <a:cs typeface="Times New Roman" panose="02020603050405020304" pitchFamily="18" charset="0"/>
              </a:rPr>
              <a:t>abductive reference. </a:t>
            </a:r>
          </a:p>
          <a:p>
            <a:pPr marL="0" indent="0">
              <a:buNone/>
            </a:pPr>
            <a:r>
              <a:rPr lang="en-US" sz="2400" i="1" dirty="0">
                <a:solidFill>
                  <a:srgbClr val="000000"/>
                </a:solidFill>
                <a:latin typeface="Times New Roman" panose="02020603050405020304" pitchFamily="18" charset="0"/>
                <a:cs typeface="Times New Roman" panose="02020603050405020304" pitchFamily="18" charset="0"/>
              </a:rPr>
              <a:t>Inductive inference </a:t>
            </a:r>
            <a:r>
              <a:rPr lang="en-US" sz="2400" dirty="0">
                <a:solidFill>
                  <a:srgbClr val="000000"/>
                </a:solidFill>
                <a:latin typeface="Times New Roman" panose="02020603050405020304" pitchFamily="18" charset="0"/>
                <a:cs typeface="Times New Roman" panose="02020603050405020304" pitchFamily="18" charset="0"/>
              </a:rPr>
              <a:t>is learning generalities from examples.</a:t>
            </a:r>
          </a:p>
          <a:p>
            <a:pPr marL="0" indent="0">
              <a:buNone/>
            </a:pPr>
            <a:r>
              <a:rPr lang="en-US" sz="2400" i="1" dirty="0">
                <a:solidFill>
                  <a:srgbClr val="000000"/>
                </a:solidFill>
                <a:latin typeface="Times New Roman" panose="02020603050405020304" pitchFamily="18" charset="0"/>
                <a:cs typeface="Times New Roman" panose="02020603050405020304" pitchFamily="18" charset="0"/>
              </a:rPr>
              <a:t>Abductive reference </a:t>
            </a:r>
            <a:r>
              <a:rPr lang="en-US" sz="2400" dirty="0">
                <a:solidFill>
                  <a:srgbClr val="000000"/>
                </a:solidFill>
                <a:latin typeface="Times New Roman" panose="02020603050405020304" pitchFamily="18" charset="0"/>
                <a:cs typeface="Times New Roman" panose="02020603050405020304" pitchFamily="18" charset="0"/>
              </a:rPr>
              <a:t>is inferring causes from effects.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240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lstStyle/>
          <a:p>
            <a:r>
              <a:rPr lang="en-US" sz="2600" b="1"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762000"/>
            <a:ext cx="8534400" cy="5791200"/>
          </a:xfrm>
        </p:spPr>
        <p:txBody>
          <a:bodyPr>
            <a:normAutofit fontScale="92500" lnSpcReduction="20000"/>
          </a:bodyPr>
          <a:lstStyle/>
          <a:p>
            <a:pPr marL="0" lvl="0" indent="0">
              <a:lnSpc>
                <a:spcPct val="122000"/>
              </a:lnSpc>
              <a:spcBef>
                <a:spcPts val="0"/>
              </a:spcBef>
              <a:spcAft>
                <a:spcPts val="600"/>
              </a:spcAft>
              <a:buNone/>
            </a:pPr>
            <a:r>
              <a:rPr lang="en-US" sz="2600" b="1" dirty="0">
                <a:solidFill>
                  <a:srgbClr val="3333CC"/>
                </a:solidFill>
                <a:latin typeface="Times New Roman" panose="02020603050405020304" pitchFamily="18" charset="0"/>
                <a:cs typeface="Times New Roman" panose="02020603050405020304" pitchFamily="18" charset="0"/>
              </a:rPr>
              <a:t>11.1</a:t>
            </a:r>
            <a:r>
              <a:rPr lang="en-US" sz="2600" dirty="0">
                <a:solidFill>
                  <a:srgbClr val="3333CC"/>
                </a:solidFill>
                <a:latin typeface="Times New Roman" panose="02020603050405020304" pitchFamily="18" charset="0"/>
                <a:cs typeface="Times New Roman" panose="02020603050405020304" pitchFamily="18" charset="0"/>
              </a:rPr>
              <a:t> </a:t>
            </a:r>
            <a:r>
              <a:rPr lang="en-US" sz="26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indent="0">
              <a:lnSpc>
                <a:spcPct val="122000"/>
              </a:lnSpc>
              <a:spcBef>
                <a:spcPts val="0"/>
              </a:spcBef>
              <a:spcAft>
                <a:spcPts val="600"/>
              </a:spcAft>
              <a:buNone/>
            </a:pPr>
            <a:r>
              <a:rPr lang="en-US" sz="2600" dirty="0">
                <a:latin typeface="Times New Roman" panose="02020603050405020304" pitchFamily="18" charset="0"/>
                <a:cs typeface="Times New Roman" panose="02020603050405020304" pitchFamily="18" charset="0"/>
              </a:rPr>
              <a:t>Abductive inference can be contrasted with deductive inference by considering the axiom:</a:t>
            </a:r>
          </a:p>
          <a:p>
            <a:pPr marL="0" indent="0">
              <a:lnSpc>
                <a:spcPct val="122000"/>
              </a:lnSpc>
              <a:spcBef>
                <a:spcPts val="0"/>
              </a:spcBef>
              <a:spcAft>
                <a:spcPts val="600"/>
              </a:spcAft>
              <a:buNone/>
            </a:pPr>
            <a:r>
              <a:rPr lang="en-US" sz="2600" b="1" dirty="0">
                <a:solidFill>
                  <a:srgbClr val="000000"/>
                </a:solidFill>
                <a:latin typeface="Times New Roman" panose="02020603050405020304" pitchFamily="18" charset="0"/>
                <a:cs typeface="Times New Roman" panose="02020603050405020304" pitchFamily="18" charset="0"/>
              </a:rPr>
              <a:t>                      A </a:t>
            </a:r>
            <a:r>
              <a:rPr lang="en-US" sz="2600" b="1" dirty="0">
                <a:solidFill>
                  <a:srgbClr val="000000"/>
                </a:solidFill>
                <a:latin typeface="Times New Roman" panose="02020603050405020304" pitchFamily="18" charset="0"/>
                <a:cs typeface="Times New Roman" panose="02020603050405020304" pitchFamily="18" charset="0"/>
                <a:sym typeface="Symbol" pitchFamily="18" charset="2"/>
              </a:rPr>
              <a:t> B</a:t>
            </a:r>
          </a:p>
          <a:p>
            <a:pPr marL="0" indent="0">
              <a:lnSpc>
                <a:spcPct val="122000"/>
              </a:lnSpc>
              <a:spcBef>
                <a:spcPts val="0"/>
              </a:spcBef>
              <a:spcAft>
                <a:spcPts val="600"/>
              </a:spcAft>
              <a:buNone/>
            </a:pPr>
            <a:r>
              <a:rPr lang="en-US" sz="2600" dirty="0">
                <a:solidFill>
                  <a:prstClr val="black"/>
                </a:solidFill>
                <a:latin typeface="Times New Roman" panose="02020603050405020304" pitchFamily="18" charset="0"/>
                <a:cs typeface="Times New Roman" panose="02020603050405020304" pitchFamily="18" charset="0"/>
              </a:rPr>
              <a:t>deductive inference would use this axiom to infer B when given A.</a:t>
            </a:r>
          </a:p>
          <a:p>
            <a:pPr marL="0" indent="0">
              <a:lnSpc>
                <a:spcPct val="122000"/>
              </a:lnSpc>
              <a:spcBef>
                <a:spcPts val="0"/>
              </a:spcBef>
              <a:spcAft>
                <a:spcPts val="600"/>
              </a:spcAft>
              <a:buNone/>
            </a:pPr>
            <a:r>
              <a:rPr lang="en-US" sz="2600" dirty="0">
                <a:solidFill>
                  <a:prstClr val="black"/>
                </a:solidFill>
                <a:latin typeface="Times New Roman" panose="02020603050405020304" pitchFamily="18" charset="0"/>
                <a:cs typeface="Times New Roman" panose="02020603050405020304" pitchFamily="18" charset="0"/>
              </a:rPr>
              <a:t>Abductive inference would use it to infer A given B, since A is reason that B is true.</a:t>
            </a:r>
          </a:p>
          <a:p>
            <a:pPr marL="0" indent="0">
              <a:lnSpc>
                <a:spcPct val="122000"/>
              </a:lnSpc>
              <a:spcBef>
                <a:spcPts val="0"/>
              </a:spcBef>
              <a:spcAft>
                <a:spcPts val="600"/>
              </a:spcAft>
              <a:buNone/>
            </a:pPr>
            <a:r>
              <a:rPr lang="en-US" sz="2600" dirty="0">
                <a:solidFill>
                  <a:srgbClr val="000000"/>
                </a:solidFill>
                <a:latin typeface="Times New Roman" panose="02020603050405020304" pitchFamily="18" charset="0"/>
                <a:cs typeface="Times New Roman" panose="02020603050405020304" pitchFamily="18" charset="0"/>
                <a:sym typeface="Symbol" pitchFamily="18" charset="2"/>
              </a:rPr>
              <a:t>Many systems allow the use of default information. The </a:t>
            </a:r>
            <a:r>
              <a:rPr lang="en-US" sz="2600" dirty="0">
                <a:solidFill>
                  <a:srgbClr val="FF0000"/>
                </a:solidFill>
                <a:latin typeface="Times New Roman" panose="02020603050405020304" pitchFamily="18" charset="0"/>
                <a:cs typeface="Times New Roman" panose="02020603050405020304" pitchFamily="18" charset="0"/>
                <a:sym typeface="Symbol" pitchFamily="18" charset="2"/>
              </a:rPr>
              <a:t>default rule </a:t>
            </a:r>
            <a:r>
              <a:rPr lang="en-US" sz="2600" dirty="0">
                <a:latin typeface="Times New Roman" panose="02020603050405020304" pitchFamily="18" charset="0"/>
                <a:cs typeface="Times New Roman" panose="02020603050405020304" pitchFamily="18" charset="0"/>
                <a:sym typeface="Symbol" pitchFamily="18" charset="2"/>
              </a:rPr>
              <a:t>is an inference rule to which there may be exceptions, thus it is </a:t>
            </a:r>
            <a:r>
              <a:rPr lang="en-US" sz="2600" dirty="0">
                <a:solidFill>
                  <a:srgbClr val="FF0000"/>
                </a:solidFill>
                <a:latin typeface="Times New Roman" panose="02020603050405020304" pitchFamily="18" charset="0"/>
                <a:cs typeface="Times New Roman" panose="02020603050405020304" pitchFamily="18" charset="0"/>
                <a:sym typeface="Symbol" pitchFamily="18" charset="2"/>
              </a:rPr>
              <a:t>defeasible</a:t>
            </a:r>
            <a:r>
              <a:rPr lang="en-US" sz="2600" dirty="0">
                <a:latin typeface="Times New Roman" panose="02020603050405020304" pitchFamily="18" charset="0"/>
                <a:cs typeface="Times New Roman" panose="02020603050405020304" pitchFamily="18" charset="0"/>
                <a:sym typeface="Symbol" pitchFamily="18" charset="2"/>
              </a:rPr>
              <a:t>. </a:t>
            </a:r>
          </a:p>
          <a:p>
            <a:pPr marL="0" indent="0">
              <a:lnSpc>
                <a:spcPct val="122000"/>
              </a:lnSpc>
              <a:spcBef>
                <a:spcPts val="0"/>
              </a:spcBef>
              <a:spcAft>
                <a:spcPts val="600"/>
              </a:spcAft>
              <a:buNone/>
            </a:pPr>
            <a:r>
              <a:rPr lang="en-US" sz="2600" dirty="0">
                <a:latin typeface="Times New Roman" panose="02020603050405020304" pitchFamily="18" charset="0"/>
                <a:cs typeface="Times New Roman" panose="02020603050405020304" pitchFamily="18" charset="0"/>
                <a:sym typeface="Symbol" pitchFamily="18" charset="2"/>
              </a:rPr>
              <a:t>If we write a default information using notation </a:t>
            </a:r>
            <a:r>
              <a:rPr lang="en-US" sz="2600" b="1" dirty="0">
                <a:solidFill>
                  <a:srgbClr val="000000"/>
                </a:solidFill>
                <a:latin typeface="Times New Roman" panose="02020603050405020304" pitchFamily="18" charset="0"/>
                <a:cs typeface="Times New Roman" panose="02020603050405020304" pitchFamily="18" charset="0"/>
                <a:sym typeface="Symbol" pitchFamily="18" charset="2"/>
              </a:rPr>
              <a:t>A  B, </a:t>
            </a:r>
            <a:r>
              <a:rPr lang="en-US" sz="2600" dirty="0">
                <a:solidFill>
                  <a:srgbClr val="000000"/>
                </a:solidFill>
                <a:latin typeface="Times New Roman" panose="02020603050405020304" pitchFamily="18" charset="0"/>
                <a:cs typeface="Times New Roman" panose="02020603050405020304" pitchFamily="18" charset="0"/>
                <a:sym typeface="Symbol" pitchFamily="18" charset="2"/>
              </a:rPr>
              <a:t>then the default inference rule could be stated as follows: if A  B, and a is true, and B is not provable, then conclude B.</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1349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533400"/>
          </a:xfrm>
        </p:spPr>
        <p:txBody>
          <a:bodyPr>
            <a:noAutofit/>
          </a:bodyPr>
          <a:lstStyle/>
          <a:p>
            <a:r>
              <a:rPr lang="en-US" sz="3200" b="1"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sz="3200" dirty="0"/>
          </a:p>
        </p:txBody>
      </p:sp>
      <p:sp>
        <p:nvSpPr>
          <p:cNvPr id="3" name="Content Placeholder 2"/>
          <p:cNvSpPr>
            <a:spLocks noGrp="1"/>
          </p:cNvSpPr>
          <p:nvPr>
            <p:ph idx="1"/>
          </p:nvPr>
        </p:nvSpPr>
        <p:spPr>
          <a:xfrm>
            <a:off x="304800" y="914400"/>
            <a:ext cx="8458200" cy="5943600"/>
          </a:xfrm>
        </p:spPr>
        <p:txBody>
          <a:bodyPr>
            <a:noAutofit/>
          </a:bodyPr>
          <a:lstStyle/>
          <a:p>
            <a:pPr marL="0" lvl="0" indent="0">
              <a:lnSpc>
                <a:spcPct val="132000"/>
              </a:lnSpc>
              <a:spcBef>
                <a:spcPts val="600"/>
              </a:spcBef>
              <a:spcAft>
                <a:spcPts val="600"/>
              </a:spcAft>
              <a:buNone/>
            </a:pPr>
            <a:r>
              <a:rPr lang="en-US" sz="2400" b="1" dirty="0">
                <a:solidFill>
                  <a:srgbClr val="3333CC"/>
                </a:solidFill>
                <a:latin typeface="Times New Roman" panose="02020603050405020304" pitchFamily="18" charset="0"/>
                <a:cs typeface="Times New Roman" panose="02020603050405020304" pitchFamily="18" charset="0"/>
              </a:rPr>
              <a:t>11.1</a:t>
            </a:r>
            <a:r>
              <a:rPr lang="en-US" sz="2400" dirty="0">
                <a:solidFill>
                  <a:srgbClr val="3333CC"/>
                </a:solidFill>
                <a:latin typeface="Times New Roman" panose="02020603050405020304" pitchFamily="18" charset="0"/>
                <a:cs typeface="Times New Roman" panose="02020603050405020304" pitchFamily="18" charset="0"/>
              </a:rPr>
              <a:t> </a:t>
            </a:r>
            <a:r>
              <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lvl="0" indent="0">
              <a:lnSpc>
                <a:spcPct val="132000"/>
              </a:lnSpc>
              <a:spcBef>
                <a:spcPts val="600"/>
              </a:spcBef>
              <a:spcAft>
                <a:spcPts val="600"/>
              </a:spcAft>
              <a:buNone/>
            </a:pPr>
            <a:r>
              <a:rPr lang="en-US" sz="2400" b="1" i="1" dirty="0">
                <a:latin typeface="Times New Roman" panose="02020603050405020304" pitchFamily="18" charset="0"/>
                <a:cs typeface="Times New Roman" panose="02020603050405020304" pitchFamily="18" charset="0"/>
              </a:rPr>
              <a:t>Example: </a:t>
            </a:r>
            <a:r>
              <a:rPr lang="en-US" sz="2400" dirty="0">
                <a:latin typeface="Times New Roman" panose="02020603050405020304" pitchFamily="18" charset="0"/>
                <a:cs typeface="Times New Roman" panose="02020603050405020304" pitchFamily="18" charset="0"/>
              </a:rPr>
              <a:t>Given sentence </a:t>
            </a:r>
            <a:r>
              <a:rPr lang="en-US" sz="2400" b="1" i="1" dirty="0">
                <a:solidFill>
                  <a:srgbClr val="0070C0"/>
                </a:solidFill>
                <a:latin typeface="Times New Roman" panose="02020603050405020304" pitchFamily="18" charset="0"/>
                <a:cs typeface="Times New Roman" panose="02020603050405020304" pitchFamily="18" charset="0"/>
              </a:rPr>
              <a:t>Birds fly</a:t>
            </a:r>
            <a:r>
              <a:rPr lang="en-US" sz="2400" dirty="0">
                <a:latin typeface="Times New Roman" panose="02020603050405020304" pitchFamily="18" charset="0"/>
                <a:cs typeface="Times New Roman" panose="02020603050405020304" pitchFamily="18" charset="0"/>
              </a:rPr>
              <a:t>,</a:t>
            </a:r>
            <a:r>
              <a:rPr lang="en-US" sz="2400" b="1" i="1" dirty="0">
                <a:solidFill>
                  <a:srgbClr val="0070C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could be represented by the FOPC formula:</a:t>
            </a:r>
          </a:p>
          <a:p>
            <a:pPr marL="0" lvl="0" indent="0" fontAlgn="base">
              <a:lnSpc>
                <a:spcPct val="132000"/>
              </a:lnSpc>
              <a:spcBef>
                <a:spcPts val="600"/>
              </a:spcBef>
              <a:spcAft>
                <a:spcPct val="0"/>
              </a:spcAft>
              <a:buNone/>
              <a:tabLst>
                <a:tab pos="571500" algn="l"/>
              </a:tabLst>
              <a:defRPr/>
            </a:pPr>
            <a:r>
              <a:rPr lang="en-US" sz="2400" b="1" dirty="0">
                <a:solidFill>
                  <a:srgbClr val="0070C0"/>
                </a:solidFill>
                <a:latin typeface="Times New Roman" panose="02020603050405020304" pitchFamily="18" charset="0"/>
                <a:cs typeface="Times New Roman" panose="02020603050405020304" pitchFamily="18" charset="0"/>
                <a:sym typeface="Symbol" pitchFamily="18" charset="2"/>
              </a:rPr>
              <a:t>  x  BIRD (x)  FLIES (x)</a:t>
            </a:r>
          </a:p>
          <a:p>
            <a:pPr marL="0" lvl="0" indent="0" fontAlgn="base">
              <a:lnSpc>
                <a:spcPct val="132000"/>
              </a:lnSpc>
              <a:spcBef>
                <a:spcPts val="600"/>
              </a:spcBef>
              <a:spcAft>
                <a:spcPct val="0"/>
              </a:spcAft>
              <a:buNone/>
              <a:tabLst>
                <a:tab pos="571500" algn="l"/>
              </a:tabLst>
              <a:defRPr/>
            </a:pPr>
            <a:r>
              <a:rPr lang="en-US" sz="2400" dirty="0">
                <a:latin typeface="Times New Roman" panose="02020603050405020304" pitchFamily="18" charset="0"/>
                <a:cs typeface="Times New Roman" panose="02020603050405020304" pitchFamily="18" charset="0"/>
                <a:sym typeface="Symbol" pitchFamily="18" charset="2"/>
              </a:rPr>
              <a:t>This has the effect that whenever there is a bird B for which is not provable that </a:t>
            </a:r>
            <a:r>
              <a:rPr lang="en-US" sz="2400" dirty="0">
                <a:solidFill>
                  <a:srgbClr val="0070C0"/>
                </a:solidFill>
                <a:latin typeface="Times New Roman" panose="02020603050405020304" pitchFamily="18" charset="0"/>
                <a:cs typeface="Times New Roman" panose="02020603050405020304" pitchFamily="18" charset="0"/>
                <a:sym typeface="Symbol" pitchFamily="18" charset="2"/>
              </a:rPr>
              <a:t></a:t>
            </a:r>
            <a:r>
              <a:rPr lang="en-US" sz="24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 </a:t>
            </a:r>
            <a:r>
              <a:rPr lang="en-US" sz="2400" dirty="0">
                <a:solidFill>
                  <a:srgbClr val="0070C0"/>
                </a:solidFill>
                <a:latin typeface="Times New Roman" panose="02020603050405020304" pitchFamily="18" charset="0"/>
                <a:cs typeface="Times New Roman" panose="02020603050405020304" pitchFamily="18" charset="0"/>
                <a:sym typeface="Symbol" pitchFamily="18" charset="2"/>
              </a:rPr>
              <a:t>FLIES (B)</a:t>
            </a:r>
            <a:r>
              <a:rPr lang="en-US" sz="2400" dirty="0">
                <a:latin typeface="Times New Roman" panose="02020603050405020304" pitchFamily="18" charset="0"/>
                <a:cs typeface="Times New Roman" panose="02020603050405020304" pitchFamily="18" charset="0"/>
                <a:sym typeface="Symbol" pitchFamily="18" charset="2"/>
              </a:rPr>
              <a:t>, then it can be inferred that </a:t>
            </a:r>
            <a:r>
              <a:rPr lang="en-US" sz="2400" dirty="0">
                <a:solidFill>
                  <a:srgbClr val="0070C0"/>
                </a:solidFill>
                <a:latin typeface="Times New Roman" panose="02020603050405020304" pitchFamily="18" charset="0"/>
                <a:cs typeface="Times New Roman" panose="02020603050405020304" pitchFamily="18" charset="0"/>
                <a:sym typeface="Symbol" pitchFamily="18" charset="2"/>
              </a:rPr>
              <a:t>FLIES (x).</a:t>
            </a:r>
          </a:p>
          <a:p>
            <a:pPr marL="0" lvl="0" indent="0" fontAlgn="base">
              <a:lnSpc>
                <a:spcPct val="132000"/>
              </a:lnSpc>
              <a:spcBef>
                <a:spcPts val="600"/>
              </a:spcBef>
              <a:spcAft>
                <a:spcPct val="0"/>
              </a:spcAft>
              <a:buNone/>
              <a:tabLst>
                <a:tab pos="571500" algn="l"/>
              </a:tabLst>
              <a:defRPr/>
            </a:pPr>
            <a:endParaRPr lang="en-US" sz="2400" dirty="0">
              <a:latin typeface="Times New Roman" panose="02020603050405020304" pitchFamily="18" charset="0"/>
              <a:cs typeface="Times New Roman" panose="02020603050405020304" pitchFamily="18" charset="0"/>
              <a:sym typeface="Symbol" pitchFamily="18" charset="2"/>
            </a:endParaRPr>
          </a:p>
          <a:p>
            <a:pPr marL="0" lvl="0" indent="0" fontAlgn="base">
              <a:lnSpc>
                <a:spcPct val="132000"/>
              </a:lnSpc>
              <a:spcBef>
                <a:spcPts val="600"/>
              </a:spcBef>
              <a:spcAft>
                <a:spcPct val="0"/>
              </a:spcAft>
              <a:buNone/>
              <a:tabLst>
                <a:tab pos="571500" algn="l"/>
              </a:tabLst>
              <a:defRPr/>
            </a:pPr>
            <a:r>
              <a:rPr lang="en-US" sz="2400" dirty="0">
                <a:latin typeface="Times New Roman" panose="02020603050405020304" pitchFamily="18" charset="0"/>
                <a:cs typeface="Times New Roman" panose="02020603050405020304" pitchFamily="18" charset="0"/>
                <a:sym typeface="Symbol" pitchFamily="18" charset="2"/>
              </a:rPr>
              <a:t>Defeasible rule introduce a new set of complexities in a representation without such rules, most representations are </a:t>
            </a:r>
            <a:r>
              <a:rPr lang="en-US" sz="2400" dirty="0">
                <a:solidFill>
                  <a:srgbClr val="FF0000"/>
                </a:solidFill>
                <a:latin typeface="Times New Roman" panose="02020603050405020304" pitchFamily="18" charset="0"/>
                <a:cs typeface="Times New Roman" panose="02020603050405020304" pitchFamily="18" charset="0"/>
                <a:sym typeface="Symbol" pitchFamily="18" charset="2"/>
              </a:rPr>
              <a:t>monotonic, </a:t>
            </a:r>
            <a:r>
              <a:rPr lang="en-US" sz="2400" dirty="0">
                <a:latin typeface="Times New Roman" panose="02020603050405020304" pitchFamily="18" charset="0"/>
                <a:cs typeface="Times New Roman" panose="02020603050405020304" pitchFamily="18" charset="0"/>
                <a:sym typeface="Symbol" pitchFamily="18" charset="2"/>
              </a:rPr>
              <a:t>because adding a new assertion only increases the number of formulas entailed.  </a:t>
            </a:r>
            <a:endParaRPr lang="en-US" sz="2400" dirty="0">
              <a:solidFill>
                <a:srgbClr val="0070C0"/>
              </a:solidFill>
              <a:latin typeface="Times New Roman" panose="02020603050405020304" pitchFamily="18"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3956537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87362"/>
          </a:xfrm>
        </p:spPr>
        <p:txBody>
          <a:bodyPr>
            <a:normAutofit fontScale="90000"/>
          </a:bodyPr>
          <a:lstStyle/>
          <a:p>
            <a:r>
              <a:rPr lang="en-US" sz="3200" b="1"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228600" y="838200"/>
            <a:ext cx="8686800" cy="5715000"/>
          </a:xfrm>
        </p:spPr>
        <p:txBody>
          <a:bodyPr>
            <a:noAutofit/>
          </a:bodyPr>
          <a:lstStyle/>
          <a:p>
            <a:pPr marL="0" lvl="0" indent="0">
              <a:lnSpc>
                <a:spcPct val="112000"/>
              </a:lnSpc>
              <a:spcBef>
                <a:spcPts val="600"/>
              </a:spcBef>
              <a:spcAft>
                <a:spcPts val="600"/>
              </a:spcAft>
              <a:buNone/>
            </a:pPr>
            <a:r>
              <a:rPr lang="en-US" sz="2400" b="1" dirty="0">
                <a:solidFill>
                  <a:srgbClr val="3333CC"/>
                </a:solidFill>
                <a:latin typeface="Times New Roman" panose="02020603050405020304" pitchFamily="18" charset="0"/>
                <a:cs typeface="Times New Roman" panose="02020603050405020304" pitchFamily="18" charset="0"/>
              </a:rPr>
              <a:t>11.1</a:t>
            </a:r>
            <a:r>
              <a:rPr lang="en-US" sz="2400" dirty="0">
                <a:solidFill>
                  <a:srgbClr val="3333CC"/>
                </a:solidFill>
                <a:latin typeface="Times New Roman" panose="02020603050405020304" pitchFamily="18" charset="0"/>
                <a:cs typeface="Times New Roman" panose="02020603050405020304" pitchFamily="18" charset="0"/>
              </a:rPr>
              <a:t> </a:t>
            </a:r>
            <a:r>
              <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endParaRPr lang="en-US" sz="2400" dirty="0">
              <a:solidFill>
                <a:prstClr val="black"/>
              </a:solidFill>
              <a:latin typeface="Times New Roman" panose="02020603050405020304" pitchFamily="18" charset="0"/>
              <a:cs typeface="Times New Roman" panose="02020603050405020304" pitchFamily="18" charset="0"/>
              <a:sym typeface="Symbol" pitchFamily="18" charset="2"/>
            </a:endParaRPr>
          </a:p>
          <a:p>
            <a:pPr marL="0" lvl="0" indent="0" fontAlgn="base">
              <a:lnSpc>
                <a:spcPct val="112000"/>
              </a:lnSpc>
              <a:spcBef>
                <a:spcPts val="0"/>
              </a:spcBef>
              <a:spcAft>
                <a:spcPts val="600"/>
              </a:spcAft>
              <a:buNone/>
              <a:tabLst>
                <a:tab pos="571500" algn="l"/>
              </a:tabLst>
              <a:defRPr/>
            </a:pPr>
            <a:r>
              <a:rPr lang="en-US" sz="2400" dirty="0">
                <a:solidFill>
                  <a:prstClr val="black"/>
                </a:solidFill>
                <a:latin typeface="Times New Roman" panose="02020603050405020304" pitchFamily="18" charset="0"/>
                <a:cs typeface="Times New Roman" panose="02020603050405020304" pitchFamily="18" charset="0"/>
                <a:sym typeface="Symbol" pitchFamily="18" charset="2"/>
              </a:rPr>
              <a:t>For instance, if the knowledge base  KB1 entails a conclusion C, and if we add an additional formula to KB1 to form a new consistent knowledge base KB2, the KB2 will also entail C.</a:t>
            </a:r>
            <a:endParaRPr lang="en-US" sz="2400" dirty="0">
              <a:solidFill>
                <a:srgbClr val="0070C0"/>
              </a:solidFill>
              <a:latin typeface="Times New Roman" panose="02020603050405020304" pitchFamily="18" charset="0"/>
              <a:cs typeface="Times New Roman" panose="02020603050405020304" pitchFamily="18" charset="0"/>
            </a:endParaRPr>
          </a:p>
          <a:p>
            <a:pPr marL="0" lvl="0" indent="0" fontAlgn="base">
              <a:lnSpc>
                <a:spcPct val="112000"/>
              </a:lnSpc>
              <a:spcBef>
                <a:spcPts val="0"/>
              </a:spcBef>
              <a:spcAft>
                <a:spcPts val="600"/>
              </a:spcAft>
              <a:buNone/>
              <a:tabLst>
                <a:tab pos="571500" algn="l"/>
              </a:tabLst>
              <a:defRPr/>
            </a:pPr>
            <a:r>
              <a:rPr lang="en-US" sz="2400" dirty="0">
                <a:solidFill>
                  <a:prstClr val="black"/>
                </a:solidFill>
                <a:latin typeface="Times New Roman" panose="02020603050405020304" pitchFamily="18" charset="0"/>
                <a:cs typeface="Times New Roman" panose="02020603050405020304" pitchFamily="18" charset="0"/>
                <a:sym typeface="Symbol" pitchFamily="18" charset="2"/>
              </a:rPr>
              <a:t>This is not true of representation that uses defeasible rules, and hence they are called </a:t>
            </a:r>
            <a:r>
              <a:rPr lang="en-US" sz="2400" dirty="0" err="1">
                <a:solidFill>
                  <a:srgbClr val="FF0000"/>
                </a:solidFill>
                <a:latin typeface="Times New Roman" panose="02020603050405020304" pitchFamily="18" charset="0"/>
                <a:cs typeface="Times New Roman" panose="02020603050405020304" pitchFamily="18" charset="0"/>
                <a:sym typeface="Symbol" pitchFamily="18" charset="2"/>
              </a:rPr>
              <a:t>nonmonotonic</a:t>
            </a:r>
            <a:r>
              <a:rPr lang="en-US" sz="2400" dirty="0">
                <a:solidFill>
                  <a:srgbClr val="FF0000"/>
                </a:solidFill>
                <a:latin typeface="Times New Roman" panose="02020603050405020304" pitchFamily="18" charset="0"/>
                <a:cs typeface="Times New Roman" panose="02020603050405020304" pitchFamily="18" charset="0"/>
                <a:sym typeface="Symbol" pitchFamily="18" charset="2"/>
              </a:rPr>
              <a:t> representation.</a:t>
            </a:r>
          </a:p>
          <a:p>
            <a:pPr marL="0" lvl="0" indent="0" fontAlgn="base">
              <a:lnSpc>
                <a:spcPct val="112000"/>
              </a:lnSpc>
              <a:spcBef>
                <a:spcPts val="0"/>
              </a:spcBef>
              <a:spcAft>
                <a:spcPts val="600"/>
              </a:spcAft>
              <a:buNone/>
              <a:tabLst>
                <a:tab pos="571500" algn="l"/>
              </a:tabLst>
              <a:defRPr/>
            </a:pPr>
            <a:r>
              <a:rPr lang="en-US" sz="2400" dirty="0">
                <a:latin typeface="Times New Roman" panose="02020603050405020304" pitchFamily="18" charset="0"/>
                <a:cs typeface="Times New Roman" panose="02020603050405020304" pitchFamily="18" charset="0"/>
                <a:sym typeface="Symbol" pitchFamily="18" charset="2"/>
              </a:rPr>
              <a:t>Consider a knowledge base KB consisting of the formulas:</a:t>
            </a:r>
          </a:p>
          <a:p>
            <a:pPr marL="0" lvl="0" indent="0" fontAlgn="base">
              <a:lnSpc>
                <a:spcPct val="112000"/>
              </a:lnSpc>
              <a:spcBef>
                <a:spcPts val="0"/>
              </a:spcBef>
              <a:spcAft>
                <a:spcPts val="600"/>
              </a:spcAft>
              <a:buNone/>
              <a:tabLst>
                <a:tab pos="571500" algn="l"/>
              </a:tabLst>
              <a:defRPr/>
            </a:pPr>
            <a:r>
              <a:rPr lang="en-US" sz="2400" dirty="0">
                <a:latin typeface="Times New Roman" panose="02020603050405020304" pitchFamily="18" charset="0"/>
                <a:cs typeface="Times New Roman" panose="02020603050405020304" pitchFamily="18" charset="0"/>
                <a:sym typeface="Symbol" pitchFamily="18" charset="2"/>
              </a:rPr>
              <a:t>           Cat(Sampson)                       </a:t>
            </a:r>
            <a:r>
              <a:rPr lang="en-US" sz="2400" dirty="0">
                <a:latin typeface="Times New Roman" panose="02020603050405020304" pitchFamily="18" charset="0"/>
                <a:cs typeface="Times New Roman" panose="02020603050405020304" pitchFamily="18" charset="0"/>
                <a:sym typeface="Wingdings" panose="05000000000000000000" pitchFamily="2" charset="2"/>
              </a:rPr>
              <a:t> Sampson is a cat</a:t>
            </a:r>
          </a:p>
          <a:p>
            <a:pPr marL="0" lvl="0" indent="0" fontAlgn="base">
              <a:lnSpc>
                <a:spcPct val="112000"/>
              </a:lnSpc>
              <a:spcBef>
                <a:spcPts val="0"/>
              </a:spcBef>
              <a:spcAft>
                <a:spcPts val="600"/>
              </a:spcAft>
              <a:buNone/>
              <a:tabLst>
                <a:tab pos="571500" algn="l"/>
              </a:tabLst>
              <a:defRPr/>
            </a:pPr>
            <a:r>
              <a:rPr lang="en-US" sz="2400" dirty="0">
                <a:latin typeface="Times New Roman" panose="02020603050405020304" pitchFamily="18" charset="0"/>
                <a:cs typeface="Times New Roman" panose="02020603050405020304" pitchFamily="18" charset="0"/>
                <a:sym typeface="Wingdings" panose="05000000000000000000" pitchFamily="2" charset="2"/>
              </a:rPr>
              <a:t>           </a:t>
            </a:r>
            <a:r>
              <a:rPr lang="en-US" sz="2400" dirty="0" err="1">
                <a:latin typeface="Times New Roman" panose="02020603050405020304" pitchFamily="18" charset="0"/>
                <a:cs typeface="Times New Roman" panose="02020603050405020304" pitchFamily="18" charset="0"/>
                <a:sym typeface="Wingdings" panose="05000000000000000000" pitchFamily="2" charset="2"/>
              </a:rPr>
              <a:t>TabbyCat</a:t>
            </a:r>
            <a:r>
              <a:rPr lang="en-US" sz="2400" dirty="0">
                <a:latin typeface="Times New Roman" panose="02020603050405020304" pitchFamily="18" charset="0"/>
                <a:cs typeface="Times New Roman" panose="02020603050405020304" pitchFamily="18" charset="0"/>
                <a:sym typeface="Wingdings" panose="05000000000000000000" pitchFamily="2" charset="2"/>
              </a:rPr>
              <a:t>(Sampson)             Sampson is a tabby cat</a:t>
            </a:r>
          </a:p>
          <a:p>
            <a:pPr marL="0" lvl="0" indent="0" fontAlgn="base">
              <a:lnSpc>
                <a:spcPct val="112000"/>
              </a:lnSpc>
              <a:spcBef>
                <a:spcPts val="0"/>
              </a:spcBef>
              <a:spcAft>
                <a:spcPts val="600"/>
              </a:spcAft>
              <a:buNone/>
              <a:tabLst>
                <a:tab pos="571500" algn="l"/>
              </a:tabLst>
              <a:defRPr/>
            </a:pPr>
            <a:r>
              <a:rPr lang="en-US" sz="2400" dirty="0">
                <a:latin typeface="Times New Roman" panose="02020603050405020304" pitchFamily="18" charset="0"/>
                <a:cs typeface="Times New Roman" panose="02020603050405020304" pitchFamily="18" charset="0"/>
                <a:sym typeface="Symbol" pitchFamily="18" charset="2"/>
              </a:rPr>
              <a:t>           c. Cat(c)  </a:t>
            </a:r>
            <a:r>
              <a:rPr lang="en-US" sz="2400" b="1" dirty="0">
                <a:latin typeface="Times New Roman" panose="02020603050405020304" pitchFamily="18" charset="0"/>
                <a:cs typeface="Times New Roman" panose="02020603050405020304" pitchFamily="18" charset="0"/>
                <a:sym typeface="Symbol" pitchFamily="18" charset="2"/>
              </a:rPr>
              <a:t> </a:t>
            </a:r>
            <a:r>
              <a:rPr lang="en-US" sz="2400" dirty="0">
                <a:latin typeface="Times New Roman" panose="02020603050405020304" pitchFamily="18" charset="0"/>
                <a:cs typeface="Times New Roman" panose="02020603050405020304" pitchFamily="18" charset="0"/>
                <a:sym typeface="Symbol" pitchFamily="18" charset="2"/>
              </a:rPr>
              <a:t>Purrs(c)             Cats purr</a:t>
            </a:r>
          </a:p>
          <a:p>
            <a:pPr marL="0" lvl="0" indent="0" fontAlgn="base">
              <a:lnSpc>
                <a:spcPct val="112000"/>
              </a:lnSpc>
              <a:spcBef>
                <a:spcPts val="0"/>
              </a:spcBef>
              <a:spcAft>
                <a:spcPts val="600"/>
              </a:spcAft>
              <a:buNone/>
              <a:tabLst>
                <a:tab pos="571500" algn="l"/>
              </a:tabLst>
              <a:defRPr/>
            </a:pPr>
            <a:r>
              <a:rPr lang="en-US" sz="2400" dirty="0">
                <a:latin typeface="Times New Roman" panose="02020603050405020304" pitchFamily="18" charset="0"/>
                <a:cs typeface="Times New Roman" panose="02020603050405020304" pitchFamily="18" charset="0"/>
                <a:sym typeface="Symbol" pitchFamily="18" charset="2"/>
              </a:rPr>
              <a:t>Given this KB we can conclude Purrs (Sampson) using the default rule because there is no information to contradict Purrs(S).  </a:t>
            </a:r>
          </a:p>
          <a:p>
            <a:endParaRPr lang="en-US" sz="2400" dirty="0"/>
          </a:p>
        </p:txBody>
      </p:sp>
    </p:spTree>
    <p:extLst>
      <p:ext uri="{BB962C8B-B14F-4D97-AF65-F5344CB8AC3E}">
        <p14:creationId xmlns:p14="http://schemas.microsoft.com/office/powerpoint/2010/main" val="86847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63562"/>
          </a:xfrm>
        </p:spPr>
        <p:txBody>
          <a:bodyPr>
            <a:normAutofit fontScale="90000"/>
          </a:bodyPr>
          <a:lstStyle/>
          <a:p>
            <a:r>
              <a:rPr lang="en-US" sz="3200" b="1"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1143000"/>
            <a:ext cx="8229600" cy="5562600"/>
          </a:xfrm>
        </p:spPr>
        <p:txBody>
          <a:bodyPr>
            <a:noAutofit/>
          </a:bodyPr>
          <a:lstStyle/>
          <a:p>
            <a:pPr marL="0" lvl="0" indent="0">
              <a:lnSpc>
                <a:spcPct val="122000"/>
              </a:lnSpc>
              <a:spcBef>
                <a:spcPts val="600"/>
              </a:spcBef>
              <a:spcAft>
                <a:spcPts val="600"/>
              </a:spcAft>
              <a:buNone/>
            </a:pPr>
            <a:r>
              <a:rPr lang="en-US" sz="2400" b="1" dirty="0">
                <a:solidFill>
                  <a:srgbClr val="3333CC"/>
                </a:solidFill>
                <a:latin typeface="Times New Roman" panose="02020603050405020304" pitchFamily="18" charset="0"/>
                <a:cs typeface="Times New Roman" panose="02020603050405020304" pitchFamily="18" charset="0"/>
              </a:rPr>
              <a:t>11.1</a:t>
            </a:r>
            <a:r>
              <a:rPr lang="en-US" sz="2400" dirty="0">
                <a:solidFill>
                  <a:srgbClr val="3333CC"/>
                </a:solidFill>
                <a:latin typeface="Times New Roman" panose="02020603050405020304" pitchFamily="18" charset="0"/>
                <a:cs typeface="Times New Roman" panose="02020603050405020304" pitchFamily="18" charset="0"/>
              </a:rPr>
              <a:t> </a:t>
            </a:r>
            <a:r>
              <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endParaRPr lang="en-US" sz="2400" dirty="0">
              <a:solidFill>
                <a:prstClr val="black"/>
              </a:solidFill>
              <a:latin typeface="Times New Roman" panose="02020603050405020304" pitchFamily="18" charset="0"/>
              <a:cs typeface="Times New Roman" panose="02020603050405020304" pitchFamily="18" charset="0"/>
              <a:sym typeface="Symbol" pitchFamily="18" charset="2"/>
            </a:endParaRPr>
          </a:p>
          <a:p>
            <a:pPr marL="0" lvl="0" indent="0" fontAlgn="base">
              <a:lnSpc>
                <a:spcPct val="122000"/>
              </a:lnSpc>
              <a:spcBef>
                <a:spcPts val="600"/>
              </a:spcBef>
              <a:spcAft>
                <a:spcPts val="600"/>
              </a:spcAft>
              <a:buNone/>
              <a:tabLst>
                <a:tab pos="571500" algn="l"/>
              </a:tabLst>
              <a:defRPr/>
            </a:pPr>
            <a:r>
              <a:rPr lang="en-US" sz="2400" dirty="0">
                <a:solidFill>
                  <a:prstClr val="black"/>
                </a:solidFill>
                <a:latin typeface="Times New Roman" panose="02020603050405020304" pitchFamily="18" charset="0"/>
                <a:cs typeface="Times New Roman" panose="02020603050405020304" pitchFamily="18" charset="0"/>
                <a:sym typeface="Symbol" pitchFamily="18" charset="2"/>
              </a:rPr>
              <a:t>On the other hand, if we add a new fact that no tabby cats purr, then the extended knowledge have would no longer entail that Sampson purrs.</a:t>
            </a:r>
          </a:p>
          <a:p>
            <a:pPr marL="0" lvl="0" indent="0" fontAlgn="base">
              <a:lnSpc>
                <a:spcPct val="122000"/>
              </a:lnSpc>
              <a:spcBef>
                <a:spcPts val="600"/>
              </a:spcBef>
              <a:spcAft>
                <a:spcPts val="600"/>
              </a:spcAft>
              <a:buNone/>
              <a:tabLst>
                <a:tab pos="571500" algn="l"/>
              </a:tabLst>
              <a:defRPr/>
            </a:pPr>
            <a:r>
              <a:rPr lang="en-US" sz="2400" b="1" i="1" dirty="0">
                <a:solidFill>
                  <a:srgbClr val="002060"/>
                </a:solidFill>
                <a:latin typeface="Times New Roman" panose="02020603050405020304" pitchFamily="18" charset="0"/>
                <a:cs typeface="Times New Roman" panose="02020603050405020304" pitchFamily="18" charset="0"/>
                <a:sym typeface="Symbol" pitchFamily="18" charset="2"/>
              </a:rPr>
              <a:t>Inference Techniques</a:t>
            </a:r>
          </a:p>
          <a:p>
            <a:pPr marL="0" lvl="0" indent="0" fontAlgn="base">
              <a:lnSpc>
                <a:spcPct val="122000"/>
              </a:lnSpc>
              <a:spcBef>
                <a:spcPts val="600"/>
              </a:spcBef>
              <a:spcAft>
                <a:spcPts val="600"/>
              </a:spcAft>
              <a:buNone/>
              <a:tabLst>
                <a:tab pos="571500" algn="l"/>
              </a:tabLst>
              <a:defRPr/>
            </a:pPr>
            <a:r>
              <a:rPr lang="en-US" sz="2400" dirty="0">
                <a:latin typeface="Times New Roman" panose="02020603050405020304" pitchFamily="18" charset="0"/>
                <a:cs typeface="Times New Roman" panose="02020603050405020304" pitchFamily="18" charset="0"/>
                <a:sym typeface="Symbol" pitchFamily="18" charset="2"/>
              </a:rPr>
              <a:t>-   The two main classes of inference techniques found in knowledge representation systems are </a:t>
            </a:r>
            <a:r>
              <a:rPr lang="en-US" sz="2400" dirty="0">
                <a:solidFill>
                  <a:srgbClr val="FF0000"/>
                </a:solidFill>
                <a:latin typeface="Times New Roman" panose="02020603050405020304" pitchFamily="18" charset="0"/>
                <a:cs typeface="Times New Roman" panose="02020603050405020304" pitchFamily="18" charset="0"/>
                <a:sym typeface="Symbol" pitchFamily="18" charset="2"/>
              </a:rPr>
              <a:t>procedural</a:t>
            </a:r>
            <a:r>
              <a:rPr lang="en-US" sz="2400" dirty="0">
                <a:latin typeface="Times New Roman" panose="02020603050405020304" pitchFamily="18" charset="0"/>
                <a:cs typeface="Times New Roman" panose="02020603050405020304" pitchFamily="18" charset="0"/>
                <a:sym typeface="Symbol" pitchFamily="18" charset="2"/>
              </a:rPr>
              <a:t> and </a:t>
            </a:r>
            <a:r>
              <a:rPr lang="en-US" sz="2400" dirty="0">
                <a:solidFill>
                  <a:srgbClr val="FF0000"/>
                </a:solidFill>
                <a:latin typeface="Times New Roman" panose="02020603050405020304" pitchFamily="18" charset="0"/>
                <a:cs typeface="Times New Roman" panose="02020603050405020304" pitchFamily="18" charset="0"/>
                <a:sym typeface="Symbol" pitchFamily="18" charset="2"/>
              </a:rPr>
              <a:t>declarative. </a:t>
            </a:r>
          </a:p>
          <a:p>
            <a:pPr marL="0" lvl="0" indent="0" fontAlgn="base">
              <a:lnSpc>
                <a:spcPct val="122000"/>
              </a:lnSpc>
              <a:spcBef>
                <a:spcPts val="600"/>
              </a:spcBef>
              <a:spcAft>
                <a:spcPts val="600"/>
              </a:spcAft>
              <a:buNone/>
              <a:tabLst>
                <a:tab pos="571500" algn="l"/>
              </a:tabLst>
              <a:defRPr/>
            </a:pPr>
            <a:r>
              <a:rPr lang="en-US" sz="2400" dirty="0">
                <a:latin typeface="Times New Roman" panose="02020603050405020304" pitchFamily="18" charset="0"/>
                <a:cs typeface="Times New Roman" panose="02020603050405020304" pitchFamily="18" charset="0"/>
                <a:sym typeface="Symbol" pitchFamily="18" charset="2"/>
              </a:rPr>
              <a:t>-    Most systems combine these techniques to some extent, forming a continuum from purely declarative representation to purely procedural ones.</a:t>
            </a: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1891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655129" y="2046514"/>
            <a:ext cx="1676400" cy="7620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ANIMATE</a:t>
            </a:r>
          </a:p>
        </p:txBody>
      </p:sp>
      <p:sp>
        <p:nvSpPr>
          <p:cNvPr id="5" name="Rectangle 4"/>
          <p:cNvSpPr/>
          <p:nvPr/>
        </p:nvSpPr>
        <p:spPr>
          <a:xfrm>
            <a:off x="5372100" y="3657600"/>
            <a:ext cx="1905000" cy="83820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PHYSOBJ</a:t>
            </a:r>
          </a:p>
        </p:txBody>
      </p:sp>
      <p:sp>
        <p:nvSpPr>
          <p:cNvPr id="6" name="Oval 5"/>
          <p:cNvSpPr/>
          <p:nvPr/>
        </p:nvSpPr>
        <p:spPr>
          <a:xfrm>
            <a:off x="1814754" y="1665514"/>
            <a:ext cx="1600200" cy="76200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ACTION</a:t>
            </a:r>
          </a:p>
        </p:txBody>
      </p:sp>
      <p:sp>
        <p:nvSpPr>
          <p:cNvPr id="7" name="Oval 6"/>
          <p:cNvSpPr/>
          <p:nvPr/>
        </p:nvSpPr>
        <p:spPr>
          <a:xfrm>
            <a:off x="1524000" y="3592286"/>
            <a:ext cx="2133600" cy="83820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OBJ/ACTION</a:t>
            </a:r>
          </a:p>
        </p:txBody>
      </p:sp>
      <p:sp>
        <p:nvSpPr>
          <p:cNvPr id="8" name="Arc 7"/>
          <p:cNvSpPr/>
          <p:nvPr/>
        </p:nvSpPr>
        <p:spPr>
          <a:xfrm>
            <a:off x="3124200" y="1643702"/>
            <a:ext cx="2819400" cy="549766"/>
          </a:xfrm>
          <a:prstGeom prst="arc">
            <a:avLst>
              <a:gd name="adj1" fmla="val 10788062"/>
              <a:gd name="adj2" fmla="val 21446173"/>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9" name="Arc 8"/>
          <p:cNvSpPr/>
          <p:nvPr/>
        </p:nvSpPr>
        <p:spPr>
          <a:xfrm rot="16704721">
            <a:off x="2121927" y="2388583"/>
            <a:ext cx="1436574" cy="949538"/>
          </a:xfrm>
          <a:prstGeom prst="arc">
            <a:avLst>
              <a:gd name="adj1" fmla="val 11505534"/>
              <a:gd name="adj2" fmla="val 18799440"/>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2" name="Arc 11"/>
          <p:cNvSpPr/>
          <p:nvPr/>
        </p:nvSpPr>
        <p:spPr>
          <a:xfrm>
            <a:off x="3124200" y="3492220"/>
            <a:ext cx="2247900" cy="519166"/>
          </a:xfrm>
          <a:prstGeom prst="arc">
            <a:avLst>
              <a:gd name="adj1" fmla="val 10862216"/>
              <a:gd name="adj2" fmla="val 21540951"/>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cxnSp>
        <p:nvCxnSpPr>
          <p:cNvPr id="14" name="Straight Arrow Connector 13"/>
          <p:cNvCxnSpPr>
            <a:stCxn id="8" idx="2"/>
          </p:cNvCxnSpPr>
          <p:nvPr/>
        </p:nvCxnSpPr>
        <p:spPr>
          <a:xfrm>
            <a:off x="5907842" y="1857065"/>
            <a:ext cx="111958" cy="129537"/>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cxnSp>
        <p:nvCxnSpPr>
          <p:cNvPr id="16" name="Straight Arrow Connector 15"/>
          <p:cNvCxnSpPr/>
          <p:nvPr/>
        </p:nvCxnSpPr>
        <p:spPr>
          <a:xfrm flipV="1">
            <a:off x="2417199" y="2345861"/>
            <a:ext cx="88227" cy="234046"/>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cxnSp>
        <p:nvCxnSpPr>
          <p:cNvPr id="25" name="Straight Arrow Connector 24"/>
          <p:cNvCxnSpPr/>
          <p:nvPr/>
        </p:nvCxnSpPr>
        <p:spPr>
          <a:xfrm>
            <a:off x="5105400" y="3592286"/>
            <a:ext cx="263604" cy="65314"/>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sp>
        <p:nvSpPr>
          <p:cNvPr id="26" name="Rectangle 25"/>
          <p:cNvSpPr/>
          <p:nvPr/>
        </p:nvSpPr>
        <p:spPr>
          <a:xfrm>
            <a:off x="3823607" y="1850568"/>
            <a:ext cx="1284514" cy="685800"/>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AGENT</a:t>
            </a:r>
          </a:p>
        </p:txBody>
      </p:sp>
      <p:sp>
        <p:nvSpPr>
          <p:cNvPr id="29" name="Rectangle 28"/>
          <p:cNvSpPr/>
          <p:nvPr/>
        </p:nvSpPr>
        <p:spPr>
          <a:xfrm>
            <a:off x="3818164" y="3755571"/>
            <a:ext cx="1257300" cy="457200"/>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b="1" dirty="0"/>
              <a:t>THEME</a:t>
            </a:r>
          </a:p>
        </p:txBody>
      </p:sp>
      <p:sp>
        <p:nvSpPr>
          <p:cNvPr id="30" name="Rectangle 29"/>
          <p:cNvSpPr/>
          <p:nvPr/>
        </p:nvSpPr>
        <p:spPr>
          <a:xfrm>
            <a:off x="1812471" y="2427514"/>
            <a:ext cx="431232" cy="457200"/>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a:t>
            </a:r>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1585" y="5181600"/>
            <a:ext cx="5114987" cy="493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p:nvSpPr>
        <p:spPr>
          <a:xfrm>
            <a:off x="1126670" y="152807"/>
            <a:ext cx="6950529" cy="538609"/>
          </a:xfrm>
          <a:prstGeom prst="rect">
            <a:avLst/>
          </a:prstGeom>
        </p:spPr>
        <p:txBody>
          <a:bodyPr wrap="square">
            <a:spAutoFit/>
          </a:bodyPr>
          <a:lstStyle/>
          <a:p>
            <a:r>
              <a:rPr lang="en-US" sz="2900" b="1" dirty="0">
                <a:solidFill>
                  <a:srgbClr val="009900"/>
                </a:solidFill>
                <a:effectLst>
                  <a:outerShdw blurRad="38100" dist="38100" dir="2700000" algn="tl">
                    <a:srgbClr val="C0C0C0"/>
                  </a:outerShdw>
                </a:effectLst>
                <a:latin typeface="Times New Roman" panose="02020603050405020304" pitchFamily="18" charset="0"/>
                <a:ea typeface="+mj-ea"/>
                <a:cs typeface="Times New Roman" panose="02020603050405020304" pitchFamily="18" charset="0"/>
              </a:rPr>
              <a:t>Knowledge Representation and Reasoning</a:t>
            </a:r>
            <a:endParaRPr lang="en-US" dirty="0"/>
          </a:p>
        </p:txBody>
      </p:sp>
      <p:sp>
        <p:nvSpPr>
          <p:cNvPr id="1024" name="Rectangle 1023"/>
          <p:cNvSpPr/>
          <p:nvPr/>
        </p:nvSpPr>
        <p:spPr>
          <a:xfrm>
            <a:off x="1330034" y="762000"/>
            <a:ext cx="4325095" cy="505972"/>
          </a:xfrm>
          <a:prstGeom prst="rect">
            <a:avLst/>
          </a:prstGeom>
        </p:spPr>
        <p:txBody>
          <a:bodyPr wrap="none">
            <a:spAutoFit/>
          </a:bodyPr>
          <a:lstStyle/>
          <a:p>
            <a:pPr lvl="0">
              <a:lnSpc>
                <a:spcPct val="112000"/>
              </a:lnSpc>
              <a:spcBef>
                <a:spcPts val="600"/>
              </a:spcBef>
              <a:spcAft>
                <a:spcPts val="600"/>
              </a:spcAft>
            </a:pPr>
            <a:r>
              <a:rPr lang="en-US" sz="2400" b="1" dirty="0">
                <a:solidFill>
                  <a:srgbClr val="3333CC"/>
                </a:solidFill>
                <a:latin typeface="Times New Roman" panose="02020603050405020304" pitchFamily="18" charset="0"/>
                <a:cs typeface="Times New Roman" panose="02020603050405020304" pitchFamily="18" charset="0"/>
              </a:rPr>
              <a:t>11.1</a:t>
            </a:r>
            <a:r>
              <a:rPr lang="en-US" sz="2400" dirty="0">
                <a:solidFill>
                  <a:srgbClr val="3333CC"/>
                </a:solidFill>
                <a:latin typeface="Times New Roman" panose="02020603050405020304" pitchFamily="18" charset="0"/>
                <a:cs typeface="Times New Roman" panose="02020603050405020304" pitchFamily="18" charset="0"/>
              </a:rPr>
              <a:t> </a:t>
            </a:r>
            <a:r>
              <a:rPr lang="en-US" sz="2400" b="1"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endParaRPr lang="en-US" sz="2400" dirty="0">
              <a:solidFill>
                <a:prstClr val="black"/>
              </a:solidFill>
              <a:latin typeface="Times New Roman" panose="02020603050405020304" pitchFamily="18" charset="0"/>
              <a:cs typeface="Times New Roman" panose="02020603050405020304" pitchFamily="18" charset="0"/>
              <a:sym typeface="Symbol" pitchFamily="18" charset="2"/>
            </a:endParaRPr>
          </a:p>
        </p:txBody>
      </p:sp>
    </p:spTree>
    <p:extLst>
      <p:ext uri="{BB962C8B-B14F-4D97-AF65-F5344CB8AC3E}">
        <p14:creationId xmlns:p14="http://schemas.microsoft.com/office/powerpoint/2010/main" val="282885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lstStyle/>
          <a:p>
            <a:r>
              <a:rPr lang="en-US" sz="29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152400" y="990600"/>
            <a:ext cx="8839200" cy="5562600"/>
          </a:xfrm>
        </p:spPr>
        <p:txBody>
          <a:bodyPr/>
          <a:lstStyle/>
          <a:p>
            <a:pPr marL="0" lvl="0" indent="0" eaLnBrk="1" fontAlgn="auto" hangingPunct="1">
              <a:lnSpc>
                <a:spcPct val="112000"/>
              </a:lnSpc>
              <a:spcBef>
                <a:spcPts val="600"/>
              </a:spcBef>
              <a:spcAft>
                <a:spcPts val="600"/>
              </a:spcAft>
              <a:buNone/>
            </a:pPr>
            <a:r>
              <a:rPr lang="en-US" sz="2400" b="1" kern="1200" dirty="0">
                <a:solidFill>
                  <a:srgbClr val="3333CC"/>
                </a:solidFill>
                <a:latin typeface="Times New Roman" panose="02020603050405020304" pitchFamily="18" charset="0"/>
                <a:cs typeface="Times New Roman" panose="02020603050405020304" pitchFamily="18" charset="0"/>
              </a:rPr>
              <a:t>11.1</a:t>
            </a:r>
            <a:r>
              <a:rPr lang="en-US" sz="2400" kern="1200" dirty="0">
                <a:solidFill>
                  <a:srgbClr val="3333CC"/>
                </a:solidFill>
                <a:latin typeface="Times New Roman" panose="02020603050405020304" pitchFamily="18" charset="0"/>
                <a:cs typeface="Times New Roman" panose="02020603050405020304" pitchFamily="18" charset="0"/>
              </a:rPr>
              <a:t> </a:t>
            </a:r>
            <a:r>
              <a:rPr lang="en-US" sz="2400" b="1" kern="12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lvl="0" indent="0" eaLnBrk="1" fontAlgn="auto" hangingPunct="1">
              <a:lnSpc>
                <a:spcPct val="112000"/>
              </a:lnSpc>
              <a:spcBef>
                <a:spcPts val="600"/>
              </a:spcBef>
              <a:spcAft>
                <a:spcPts val="600"/>
              </a:spcAft>
              <a:buNone/>
            </a:pPr>
            <a:r>
              <a:rPr lang="en-US" sz="2400" kern="1200" dirty="0">
                <a:solidFill>
                  <a:prstClr val="black"/>
                </a:solidFill>
                <a:latin typeface="Times New Roman" panose="02020603050405020304" pitchFamily="18" charset="0"/>
                <a:cs typeface="Times New Roman" panose="02020603050405020304" pitchFamily="18" charset="0"/>
              </a:rPr>
              <a:t>In chapter 10 the techniques of inheritance was introduced for semantic networks. This inference process can be realized procedurally or declaratively.</a:t>
            </a:r>
          </a:p>
          <a:p>
            <a:pPr marL="0" lvl="0" indent="0" eaLnBrk="1" fontAlgn="auto" hangingPunct="1">
              <a:lnSpc>
                <a:spcPct val="112000"/>
              </a:lnSpc>
              <a:spcBef>
                <a:spcPts val="600"/>
              </a:spcBef>
              <a:spcAft>
                <a:spcPts val="600"/>
              </a:spcAft>
              <a:buNone/>
            </a:pPr>
            <a:r>
              <a:rPr lang="en-US" sz="2400" kern="1200" dirty="0">
                <a:solidFill>
                  <a:prstClr val="black"/>
                </a:solidFill>
                <a:latin typeface="Times New Roman" panose="02020603050405020304" pitchFamily="18" charset="0"/>
                <a:cs typeface="Times New Roman" panose="02020603050405020304" pitchFamily="18" charset="0"/>
                <a:sym typeface="Symbol" pitchFamily="18" charset="2"/>
              </a:rPr>
              <a:t>Given simple network in figure 11.1, the following FOPC axioms might represent this information.</a:t>
            </a:r>
          </a:p>
          <a:p>
            <a:pPr marL="0" lvl="0" indent="0" eaLnBrk="1" hangingPunct="1">
              <a:lnSpc>
                <a:spcPct val="112000"/>
              </a:lnSpc>
              <a:spcBef>
                <a:spcPts val="2400"/>
              </a:spcBef>
              <a:spcAft>
                <a:spcPts val="1200"/>
              </a:spcAft>
              <a:buNone/>
              <a:tabLst>
                <a:tab pos="571500" algn="l"/>
              </a:tabLst>
            </a:pPr>
            <a:r>
              <a:rPr lang="en-US" sz="2400" kern="1200" dirty="0">
                <a:solidFill>
                  <a:srgbClr val="0070C0"/>
                </a:solidFill>
                <a:latin typeface="Times New Roman" panose="02020603050405020304" pitchFamily="18" charset="0"/>
                <a:cs typeface="Times New Roman" panose="02020603050405020304" pitchFamily="18" charset="0"/>
              </a:rPr>
              <a:t>1.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x . ACTION (x)   a . AGENT ( x , a ) &amp;  ANIMATE ( a )</a:t>
            </a:r>
            <a:b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b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2.	 a  x . ACTION (x) &amp; AGENT ( x , a )  ANIMATE ( a )</a:t>
            </a:r>
            <a:b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b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3.	 x . OBJ / ACTION (x)  ACTION ( x ) </a:t>
            </a:r>
            <a:b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b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4.	 x . OBJ / ACTION (x)   o . THEME (x , o) &amp; PHYSOBJ (o)</a:t>
            </a:r>
            <a:b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b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5.	 o .  x . OBJ / ACTION (x) &amp; THEME (x , o)  PHYSOBJ (o)</a:t>
            </a:r>
          </a:p>
          <a:p>
            <a:pPr marL="0" lvl="0" indent="0" eaLnBrk="1" fontAlgn="auto" hangingPunct="1">
              <a:lnSpc>
                <a:spcPct val="112000"/>
              </a:lnSpc>
              <a:spcBef>
                <a:spcPts val="1800"/>
              </a:spcBef>
              <a:spcAft>
                <a:spcPts val="1200"/>
              </a:spcAft>
              <a:buNone/>
            </a:pPr>
            <a:endParaRPr lang="en-US" sz="2400" kern="1200" dirty="0">
              <a:solidFill>
                <a:prstClr val="black"/>
              </a:solidFill>
              <a:latin typeface="Times New Roman" panose="02020603050405020304" pitchFamily="18" charset="0"/>
              <a:cs typeface="Times New Roman" panose="02020603050405020304" pitchFamily="18" charset="0"/>
              <a:sym typeface="Symbol" pitchFamily="18" charset="2"/>
            </a:endParaRPr>
          </a:p>
          <a:p>
            <a:endParaRPr lang="en-US" dirty="0"/>
          </a:p>
        </p:txBody>
      </p:sp>
    </p:spTree>
    <p:extLst>
      <p:ext uri="{BB962C8B-B14F-4D97-AF65-F5344CB8AC3E}">
        <p14:creationId xmlns:p14="http://schemas.microsoft.com/office/powerpoint/2010/main" val="3404563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87362"/>
          </a:xfrm>
        </p:spPr>
        <p:txBody>
          <a:bodyPr/>
          <a:lstStyle/>
          <a:p>
            <a:r>
              <a:rPr lang="en-US" sz="29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838200"/>
            <a:ext cx="8229600" cy="5715000"/>
          </a:xfrm>
        </p:spPr>
        <p:txBody>
          <a:bodyPr/>
          <a:lstStyle/>
          <a:p>
            <a:pPr marL="0" lvl="0" indent="0" eaLnBrk="1" fontAlgn="auto" hangingPunct="1">
              <a:lnSpc>
                <a:spcPct val="112000"/>
              </a:lnSpc>
              <a:spcBef>
                <a:spcPts val="600"/>
              </a:spcBef>
              <a:spcAft>
                <a:spcPts val="1200"/>
              </a:spcAft>
              <a:buNone/>
            </a:pPr>
            <a:r>
              <a:rPr lang="en-US" sz="2400" b="1" kern="1200" dirty="0">
                <a:solidFill>
                  <a:srgbClr val="3333CC"/>
                </a:solidFill>
                <a:latin typeface="Times New Roman" panose="02020603050405020304" pitchFamily="18" charset="0"/>
                <a:cs typeface="Times New Roman" panose="02020603050405020304" pitchFamily="18" charset="0"/>
              </a:rPr>
              <a:t>11.1</a:t>
            </a:r>
            <a:r>
              <a:rPr lang="en-US" sz="2400" kern="1200" dirty="0">
                <a:solidFill>
                  <a:srgbClr val="3333CC"/>
                </a:solidFill>
                <a:latin typeface="Times New Roman" panose="02020603050405020304" pitchFamily="18" charset="0"/>
                <a:cs typeface="Times New Roman" panose="02020603050405020304" pitchFamily="18" charset="0"/>
              </a:rPr>
              <a:t> </a:t>
            </a:r>
            <a:r>
              <a:rPr lang="en-US" sz="2400" b="1" kern="12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lvl="0" indent="0" eaLnBrk="1" fontAlgn="auto" hangingPunct="1">
              <a:lnSpc>
                <a:spcPct val="112000"/>
              </a:lnSpc>
              <a:spcBef>
                <a:spcPts val="600"/>
              </a:spcBef>
              <a:spcAft>
                <a:spcPts val="600"/>
              </a:spcAft>
              <a:buNone/>
            </a:pPr>
            <a:r>
              <a:rPr lang="en-US" sz="2400" b="1" i="1" kern="12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i="1" kern="1200" dirty="0">
                <a:solidFill>
                  <a:srgbClr val="C00000"/>
                </a:solidFill>
                <a:latin typeface="Times New Roman" panose="02020603050405020304" pitchFamily="18" charset="0"/>
                <a:cs typeface="Times New Roman" panose="02020603050405020304" pitchFamily="18" charset="0"/>
              </a:rPr>
              <a:t>Declarative system</a:t>
            </a:r>
            <a:endParaRPr lang="en-US" sz="2400" b="1" i="1" kern="1200" dirty="0">
              <a:solidFill>
                <a:srgbClr val="C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marL="0" lvl="0" indent="0" eaLnBrk="1" fontAlgn="auto" hangingPunct="1">
              <a:lnSpc>
                <a:spcPct val="112000"/>
              </a:lnSpc>
              <a:spcBef>
                <a:spcPts val="600"/>
              </a:spcBef>
              <a:spcAft>
                <a:spcPts val="600"/>
              </a:spcAft>
              <a:buNone/>
            </a:pPr>
            <a:r>
              <a:rPr lang="en-US" sz="2400" kern="1200" dirty="0">
                <a:latin typeface="Times New Roman" panose="02020603050405020304" pitchFamily="18" charset="0"/>
                <a:cs typeface="Times New Roman" panose="02020603050405020304" pitchFamily="18" charset="0"/>
              </a:rPr>
              <a:t>Using these axioms, we can prove that the class OBJ/ACTION </a:t>
            </a:r>
            <a:r>
              <a:rPr lang="en-US" sz="2400" i="1" kern="1200" dirty="0">
                <a:solidFill>
                  <a:srgbClr val="0070C0"/>
                </a:solidFill>
                <a:latin typeface="Times New Roman" panose="02020603050405020304" pitchFamily="18" charset="0"/>
                <a:cs typeface="Times New Roman" panose="02020603050405020304" pitchFamily="18" charset="0"/>
              </a:rPr>
              <a:t>inherits </a:t>
            </a:r>
            <a:r>
              <a:rPr lang="en-US" sz="2400" kern="1200" dirty="0">
                <a:latin typeface="Times New Roman" panose="02020603050405020304" pitchFamily="18" charset="0"/>
                <a:cs typeface="Times New Roman" panose="02020603050405020304" pitchFamily="18" charset="0"/>
              </a:rPr>
              <a:t>the</a:t>
            </a:r>
            <a:r>
              <a:rPr lang="en-US" sz="2400" i="1" kern="1200" dirty="0">
                <a:solidFill>
                  <a:srgbClr val="0070C0"/>
                </a:solidFill>
                <a:latin typeface="Times New Roman" panose="02020603050405020304" pitchFamily="18" charset="0"/>
                <a:cs typeface="Times New Roman" panose="02020603050405020304" pitchFamily="18" charset="0"/>
              </a:rPr>
              <a:t> </a:t>
            </a:r>
            <a:r>
              <a:rPr lang="en-US" sz="2400" kern="1200" dirty="0">
                <a:latin typeface="Times New Roman" panose="02020603050405020304" pitchFamily="18" charset="0"/>
                <a:cs typeface="Times New Roman" panose="02020603050405020304" pitchFamily="18" charset="0"/>
              </a:rPr>
              <a:t>AGENT role. In other words, for any A such that</a:t>
            </a:r>
            <a:r>
              <a:rPr lang="en-US" sz="2400" kern="1200" dirty="0">
                <a:solidFill>
                  <a:srgbClr val="000000"/>
                </a:solidFill>
                <a:latin typeface="Times New Roman" panose="02020603050405020304" pitchFamily="18" charset="0"/>
                <a:cs typeface="Times New Roman" panose="02020603050405020304" pitchFamily="18" charset="0"/>
              </a:rPr>
              <a:t> OBJ/ACTION(A) is true, we could prove that A has an AGENT  role, that is (by using axioms 3 and 1):</a:t>
            </a:r>
          </a:p>
          <a:p>
            <a:pPr marL="0" lvl="0" indent="0" eaLnBrk="1" hangingPunct="1">
              <a:lnSpc>
                <a:spcPct val="112000"/>
              </a:lnSpc>
              <a:spcBef>
                <a:spcPts val="600"/>
              </a:spcBef>
              <a:spcAft>
                <a:spcPts val="1200"/>
              </a:spcAft>
              <a:buNone/>
              <a:tabLst>
                <a:tab pos="571500" algn="l"/>
              </a:tabLst>
            </a:pPr>
            <a:r>
              <a:rPr lang="en-US" sz="2400" kern="1200" dirty="0">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a . AGENT(A , a) &amp; ANIMATE(a)</a:t>
            </a:r>
          </a:p>
          <a:p>
            <a:pPr marL="0" lvl="0" indent="0" eaLnBrk="1" hangingPunct="1">
              <a:lnSpc>
                <a:spcPct val="112000"/>
              </a:lnSpc>
              <a:spcBef>
                <a:spcPts val="600"/>
              </a:spcBef>
              <a:spcAft>
                <a:spcPts val="600"/>
              </a:spcAft>
              <a:buNone/>
              <a:tabLst>
                <a:tab pos="571500" algn="l"/>
              </a:tabLst>
            </a:pPr>
            <a:r>
              <a:rPr lang="en-US" sz="2400" i="1" kern="1200" dirty="0">
                <a:solidFill>
                  <a:srgbClr val="C00000"/>
                </a:solidFill>
                <a:latin typeface="Times New Roman" panose="02020603050405020304" pitchFamily="18" charset="0"/>
                <a:cs typeface="Times New Roman" panose="02020603050405020304" pitchFamily="18" charset="0"/>
                <a:sym typeface="Symbol" pitchFamily="18" charset="2"/>
              </a:rPr>
              <a:t>Procedural system (1)</a:t>
            </a:r>
          </a:p>
          <a:p>
            <a:pPr marL="0" lvl="0" indent="0" eaLnBrk="1" hangingPunct="1">
              <a:lnSpc>
                <a:spcPct val="112000"/>
              </a:lnSpc>
              <a:spcBef>
                <a:spcPts val="600"/>
              </a:spcBef>
              <a:spcAft>
                <a:spcPts val="600"/>
              </a:spcAft>
              <a:buNone/>
              <a:tabLst>
                <a:tab pos="571500" algn="l"/>
              </a:tabLst>
            </a:pPr>
            <a:r>
              <a:rPr lang="en-US" sz="2400" kern="1200" dirty="0">
                <a:latin typeface="Times New Roman" panose="02020603050405020304" pitchFamily="18" charset="0"/>
                <a:cs typeface="Times New Roman" panose="02020603050405020304" pitchFamily="18" charset="0"/>
                <a:sym typeface="Symbol" pitchFamily="18" charset="2"/>
              </a:rPr>
              <a:t>As described in chapter 9, a procedural version of this would be a program that start at the specified node OBJ/ACTION, finds all roles attached at that node and the follow the S arc up to the </a:t>
            </a:r>
            <a:r>
              <a:rPr lang="en-US" sz="2400" kern="1200" dirty="0" err="1">
                <a:latin typeface="Times New Roman" panose="02020603050405020304" pitchFamily="18" charset="0"/>
                <a:cs typeface="Times New Roman" panose="02020603050405020304" pitchFamily="18" charset="0"/>
                <a:sym typeface="Symbol" pitchFamily="18" charset="2"/>
              </a:rPr>
              <a:t>supertype</a:t>
            </a:r>
            <a:r>
              <a:rPr lang="en-US" sz="2400" kern="1200" dirty="0">
                <a:latin typeface="Times New Roman" panose="02020603050405020304" pitchFamily="18" charset="0"/>
                <a:cs typeface="Times New Roman" panose="02020603050405020304" pitchFamily="18" charset="0"/>
                <a:sym typeface="Symbol" pitchFamily="18" charset="2"/>
              </a:rPr>
              <a:t> ACTION and finds all the roles attached there.  </a:t>
            </a:r>
          </a:p>
          <a:p>
            <a:pPr marL="0" lvl="0" indent="0" eaLnBrk="1" fontAlgn="auto" hangingPunct="1">
              <a:lnSpc>
                <a:spcPct val="112000"/>
              </a:lnSpc>
              <a:spcBef>
                <a:spcPts val="600"/>
              </a:spcBef>
              <a:spcAft>
                <a:spcPts val="1200"/>
              </a:spcAft>
              <a:buNone/>
            </a:pPr>
            <a:r>
              <a:rPr lang="en-US" sz="2400" kern="1200" dirty="0">
                <a:latin typeface="Times New Roman" panose="02020603050405020304" pitchFamily="18"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1098795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z="29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1143000"/>
            <a:ext cx="8229600" cy="5486400"/>
          </a:xfrm>
        </p:spPr>
        <p:txBody>
          <a:bodyPr/>
          <a:lstStyle/>
          <a:p>
            <a:pPr marL="0" lvl="0" indent="0" eaLnBrk="1" fontAlgn="auto" hangingPunct="1">
              <a:lnSpc>
                <a:spcPct val="112000"/>
              </a:lnSpc>
              <a:spcBef>
                <a:spcPts val="600"/>
              </a:spcBef>
              <a:spcAft>
                <a:spcPts val="1200"/>
              </a:spcAft>
              <a:buNone/>
            </a:pPr>
            <a:r>
              <a:rPr lang="en-US" sz="2400" b="1" kern="1200" dirty="0">
                <a:solidFill>
                  <a:srgbClr val="3333CC"/>
                </a:solidFill>
                <a:latin typeface="Times New Roman" panose="02020603050405020304" pitchFamily="18" charset="0"/>
                <a:cs typeface="Times New Roman" panose="02020603050405020304" pitchFamily="18" charset="0"/>
              </a:rPr>
              <a:t>11.1</a:t>
            </a:r>
            <a:r>
              <a:rPr lang="en-US" sz="2400" kern="1200" dirty="0">
                <a:solidFill>
                  <a:srgbClr val="3333CC"/>
                </a:solidFill>
                <a:latin typeface="Times New Roman" panose="02020603050405020304" pitchFamily="18" charset="0"/>
                <a:cs typeface="Times New Roman" panose="02020603050405020304" pitchFamily="18" charset="0"/>
              </a:rPr>
              <a:t> </a:t>
            </a:r>
            <a:r>
              <a:rPr lang="en-US" sz="2400" b="1" kern="12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a:t>
            </a:r>
          </a:p>
          <a:p>
            <a:pPr marL="0" lvl="0" indent="0" eaLnBrk="1" hangingPunct="1">
              <a:lnSpc>
                <a:spcPct val="112000"/>
              </a:lnSpc>
              <a:spcBef>
                <a:spcPts val="600"/>
              </a:spcBef>
              <a:spcAft>
                <a:spcPts val="600"/>
              </a:spcAft>
              <a:buNone/>
              <a:tabLst>
                <a:tab pos="571500" algn="l"/>
              </a:tabLst>
            </a:pPr>
            <a:r>
              <a:rPr lang="en-US" sz="2400" i="1" kern="1200" dirty="0">
                <a:solidFill>
                  <a:srgbClr val="C00000"/>
                </a:solidFill>
                <a:latin typeface="Times New Roman" panose="02020603050405020304" pitchFamily="18" charset="0"/>
                <a:cs typeface="Times New Roman" panose="02020603050405020304" pitchFamily="18" charset="0"/>
                <a:sym typeface="Symbol" pitchFamily="18" charset="2"/>
              </a:rPr>
              <a:t>Procedural system (2)</a:t>
            </a:r>
          </a:p>
          <a:p>
            <a:pPr marL="0" lvl="0" indent="0" eaLnBrk="1" hangingPunct="1">
              <a:lnSpc>
                <a:spcPct val="112000"/>
              </a:lnSpc>
              <a:spcBef>
                <a:spcPts val="600"/>
              </a:spcBef>
              <a:spcAft>
                <a:spcPts val="600"/>
              </a:spcAft>
              <a:buNone/>
              <a:tabLst>
                <a:tab pos="571500" algn="l"/>
              </a:tabLst>
            </a:pP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The complete set of the roles gathered by this procedure is the answer. Thus any OBJ/ACTION has an AGENT role inherited from the class  ACTION.</a:t>
            </a:r>
          </a:p>
          <a:p>
            <a:pPr marL="0" lvl="0" indent="0" eaLnBrk="1" hangingPunct="1">
              <a:lnSpc>
                <a:spcPct val="112000"/>
              </a:lnSpc>
              <a:spcBef>
                <a:spcPts val="600"/>
              </a:spcBef>
              <a:spcAft>
                <a:spcPts val="600"/>
              </a:spcAft>
              <a:buNone/>
              <a:tabLst>
                <a:tab pos="571500" algn="l"/>
              </a:tabLst>
            </a:pPr>
            <a:r>
              <a:rPr lang="en-US" sz="2400" b="1" i="1" kern="1200" dirty="0">
                <a:solidFill>
                  <a:srgbClr val="000000"/>
                </a:solidFill>
                <a:latin typeface="Times New Roman" panose="02020603050405020304" pitchFamily="18" charset="0"/>
                <a:cs typeface="Times New Roman" panose="02020603050405020304" pitchFamily="18" charset="0"/>
                <a:sym typeface="Symbol" pitchFamily="18" charset="2"/>
              </a:rPr>
              <a:t>Note that:</a:t>
            </a:r>
          </a:p>
          <a:p>
            <a:pPr lvl="0" eaLnBrk="1" hangingPunct="1">
              <a:lnSpc>
                <a:spcPct val="112000"/>
              </a:lnSpc>
              <a:spcBef>
                <a:spcPts val="600"/>
              </a:spcBef>
              <a:spcAft>
                <a:spcPts val="600"/>
              </a:spcAft>
              <a:buFontTx/>
              <a:buChar char="-"/>
              <a:tabLst>
                <a:tab pos="571500" algn="l"/>
              </a:tabLst>
            </a:pP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Both these techniques compute the same result, but the first does it by deduction over logical formulas, while the second uses a program that performs a graph traversal.</a:t>
            </a:r>
          </a:p>
          <a:p>
            <a:pPr lvl="0" eaLnBrk="1" hangingPunct="1">
              <a:lnSpc>
                <a:spcPct val="112000"/>
              </a:lnSpc>
              <a:spcBef>
                <a:spcPts val="600"/>
              </a:spcBef>
              <a:spcAft>
                <a:spcPts val="600"/>
              </a:spcAft>
              <a:buFontTx/>
              <a:buChar char="-"/>
              <a:tabLst>
                <a:tab pos="571500" algn="l"/>
              </a:tabLst>
            </a:pP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The first technique seems more rigorously defined, but the second is probably more efficient.  </a:t>
            </a:r>
          </a:p>
          <a:p>
            <a:endParaRPr lang="en-US" dirty="0"/>
          </a:p>
        </p:txBody>
      </p:sp>
    </p:spTree>
    <p:extLst>
      <p:ext uri="{BB962C8B-B14F-4D97-AF65-F5344CB8AC3E}">
        <p14:creationId xmlns:p14="http://schemas.microsoft.com/office/powerpoint/2010/main" val="2355746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lstStyle/>
          <a:p>
            <a:r>
              <a:rPr lang="en-US" sz="29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1066800"/>
            <a:ext cx="8229600" cy="5791200"/>
          </a:xfrm>
        </p:spPr>
        <p:txBody>
          <a:bodyPr/>
          <a:lstStyle/>
          <a:p>
            <a:pPr marL="0" lvl="0" indent="0" eaLnBrk="1" fontAlgn="auto" hangingPunct="1">
              <a:lnSpc>
                <a:spcPct val="112000"/>
              </a:lnSpc>
              <a:spcBef>
                <a:spcPts val="600"/>
              </a:spcBef>
              <a:spcAft>
                <a:spcPts val="1200"/>
              </a:spcAft>
              <a:buNone/>
            </a:pPr>
            <a:r>
              <a:rPr lang="en-US" sz="2400" b="1" kern="1200" dirty="0">
                <a:solidFill>
                  <a:srgbClr val="3333CC"/>
                </a:solidFill>
                <a:latin typeface="Times New Roman" panose="02020603050405020304" pitchFamily="18" charset="0"/>
                <a:cs typeface="Times New Roman" panose="02020603050405020304" pitchFamily="18" charset="0"/>
              </a:rPr>
              <a:t>11.2  A </a:t>
            </a:r>
            <a:r>
              <a:rPr lang="en-US" sz="2400" b="1" kern="12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Representation  Based on FOPC</a:t>
            </a:r>
          </a:p>
          <a:p>
            <a:pPr marL="0" lvl="0" indent="0" eaLnBrk="1" fontAlgn="auto" hangingPunct="1">
              <a:lnSpc>
                <a:spcPct val="112000"/>
              </a:lnSpc>
              <a:spcBef>
                <a:spcPts val="600"/>
              </a:spcBef>
              <a:spcAft>
                <a:spcPts val="0"/>
              </a:spcAft>
              <a:buNone/>
            </a:pPr>
            <a:r>
              <a:rPr lang="en-US" sz="2400" kern="1200" dirty="0">
                <a:latin typeface="Times New Roman" panose="02020603050405020304" pitchFamily="18" charset="0"/>
                <a:cs typeface="Times New Roman" panose="02020603050405020304" pitchFamily="18" charset="0"/>
              </a:rPr>
              <a:t>-   KRL will be an extended version of the first-order predicate calculus.</a:t>
            </a:r>
          </a:p>
          <a:p>
            <a:pPr marL="0" lvl="0" indent="0" eaLnBrk="1" fontAlgn="auto" hangingPunct="1">
              <a:lnSpc>
                <a:spcPct val="112000"/>
              </a:lnSpc>
              <a:spcBef>
                <a:spcPts val="600"/>
              </a:spcBef>
              <a:spcAft>
                <a:spcPts val="0"/>
              </a:spcAft>
              <a:buNone/>
            </a:pPr>
            <a:r>
              <a:rPr lang="en-US" sz="2400" kern="1200" dirty="0">
                <a:latin typeface="Times New Roman" panose="02020603050405020304" pitchFamily="18" charset="0"/>
                <a:cs typeface="Times New Roman" panose="02020603050405020304" pitchFamily="18" charset="0"/>
              </a:rPr>
              <a:t>-   Note that by choosing the language , we are not  committed to any particular form of inference.  </a:t>
            </a:r>
          </a:p>
          <a:p>
            <a:pPr>
              <a:lnSpc>
                <a:spcPct val="112000"/>
              </a:lnSpc>
              <a:spcBef>
                <a:spcPts val="600"/>
              </a:spcBef>
              <a:spcAft>
                <a:spcPts val="0"/>
              </a:spcAft>
              <a:buFontTx/>
              <a:buChar char="-"/>
            </a:pPr>
            <a:r>
              <a:rPr lang="en-US" sz="2400" dirty="0">
                <a:latin typeface="Times New Roman" panose="02020603050405020304" pitchFamily="18" charset="0"/>
                <a:cs typeface="Times New Roman" panose="02020603050405020304" pitchFamily="18" charset="0"/>
              </a:rPr>
              <a:t>We will focus on the extensions to standard FOPC that are</a:t>
            </a:r>
          </a:p>
          <a:p>
            <a:pPr marL="0" indent="0">
              <a:lnSpc>
                <a:spcPct val="112000"/>
              </a:lnSpc>
              <a:spcBef>
                <a:spcPts val="600"/>
              </a:spcBef>
              <a:spcAft>
                <a:spcPts val="0"/>
              </a:spcAft>
              <a:buNone/>
            </a:pPr>
            <a:r>
              <a:rPr lang="en-US" sz="2400" dirty="0">
                <a:latin typeface="Times New Roman" panose="02020603050405020304" pitchFamily="18" charset="0"/>
                <a:cs typeface="Times New Roman" panose="02020603050405020304" pitchFamily="18" charset="0"/>
              </a:rPr>
              <a:t>needed to represent the meaning of the natural language sentences.</a:t>
            </a:r>
          </a:p>
          <a:p>
            <a:pPr marL="0" indent="0">
              <a:lnSpc>
                <a:spcPct val="112000"/>
              </a:lnSpc>
              <a:spcBef>
                <a:spcPts val="600"/>
              </a:spcBef>
              <a:spcAft>
                <a:spcPts val="0"/>
              </a:spcAft>
              <a:buNone/>
            </a:pPr>
            <a:r>
              <a:rPr lang="en-US" sz="2400" dirty="0">
                <a:latin typeface="Times New Roman" panose="02020603050405020304" pitchFamily="18" charset="0"/>
                <a:cs typeface="Times New Roman" panose="02020603050405020304" pitchFamily="18" charset="0"/>
              </a:rPr>
              <a:t>       + The terms in the language are constants (such as </a:t>
            </a:r>
            <a:r>
              <a:rPr lang="en-US" sz="2400" i="1" dirty="0">
                <a:latin typeface="Times New Roman" panose="02020603050405020304" pitchFamily="18" charset="0"/>
                <a:cs typeface="Times New Roman" panose="02020603050405020304" pitchFamily="18" charset="0"/>
              </a:rPr>
              <a:t>John1</a:t>
            </a:r>
            <a:r>
              <a:rPr lang="en-US" sz="2400" dirty="0">
                <a:latin typeface="Times New Roman" panose="02020603050405020304" pitchFamily="18" charset="0"/>
                <a:cs typeface="Times New Roman" panose="02020603050405020304" pitchFamily="18" charset="0"/>
              </a:rPr>
              <a:t>), functions (such as </a:t>
            </a:r>
            <a:r>
              <a:rPr lang="en-US" sz="2400" i="1" dirty="0">
                <a:latin typeface="Times New Roman" panose="02020603050405020304" pitchFamily="18" charset="0"/>
                <a:cs typeface="Times New Roman" panose="02020603050405020304" pitchFamily="18" charset="0"/>
              </a:rPr>
              <a:t>father(John1)</a:t>
            </a:r>
            <a:r>
              <a:rPr lang="en-US" sz="2400" dirty="0">
                <a:latin typeface="Times New Roman" panose="02020603050405020304" pitchFamily="18" charset="0"/>
                <a:cs typeface="Times New Roman" panose="02020603050405020304" pitchFamily="18" charset="0"/>
              </a:rPr>
              <a:t>), and variables (such as</a:t>
            </a:r>
            <a:r>
              <a:rPr lang="en-US" sz="2400" i="1" dirty="0">
                <a:latin typeface="Times New Roman" panose="02020603050405020304" pitchFamily="18" charset="0"/>
                <a:cs typeface="Times New Roman" panose="02020603050405020304" pitchFamily="18" charset="0"/>
              </a:rPr>
              <a:t> x </a:t>
            </a:r>
            <a:r>
              <a:rPr lang="en-US" sz="2400" dirty="0">
                <a:latin typeface="Times New Roman" panose="02020603050405020304" pitchFamily="18" charset="0"/>
                <a:cs typeface="Times New Roman" panose="02020603050405020304" pitchFamily="18" charset="0"/>
              </a:rPr>
              <a:t>and</a:t>
            </a:r>
            <a:r>
              <a:rPr lang="en-US" sz="2400" i="1" dirty="0">
                <a:latin typeface="Times New Roman" panose="02020603050405020304" pitchFamily="18" charset="0"/>
                <a:cs typeface="Times New Roman" panose="02020603050405020304" pitchFamily="18" charset="0"/>
              </a:rPr>
              <a:t> y</a:t>
            </a:r>
            <a:r>
              <a:rPr lang="en-US" sz="2400" dirty="0">
                <a:latin typeface="Times New Roman" panose="02020603050405020304" pitchFamily="18" charset="0"/>
                <a:cs typeface="Times New Roman" panose="02020603050405020304" pitchFamily="18" charset="0"/>
              </a:rPr>
              <a:t>). </a:t>
            </a:r>
          </a:p>
          <a:p>
            <a:pPr marL="0" indent="0">
              <a:lnSpc>
                <a:spcPct val="112000"/>
              </a:lnSpc>
              <a:spcBef>
                <a:spcPts val="600"/>
              </a:spcBef>
              <a:spcAft>
                <a:spcPts val="0"/>
              </a:spcAft>
              <a:buNone/>
            </a:pPr>
            <a:r>
              <a:rPr lang="en-US" sz="2400" dirty="0">
                <a:latin typeface="Times New Roman" panose="02020603050405020304" pitchFamily="18" charset="0"/>
                <a:cs typeface="Times New Roman" panose="02020603050405020304" pitchFamily="18" charset="0"/>
              </a:rPr>
              <a:t>       + Logical form language did not use constants.  </a:t>
            </a:r>
          </a:p>
          <a:p>
            <a:pPr marL="0" indent="0">
              <a:lnSpc>
                <a:spcPct val="112000"/>
              </a:lnSpc>
              <a:spcBef>
                <a:spcPts val="600"/>
              </a:spcBef>
              <a:spcAft>
                <a:spcPts val="0"/>
              </a:spcAft>
              <a:buNone/>
            </a:pPr>
            <a:r>
              <a:rPr lang="en-US" sz="2400" b="1" i="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092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lstStyle/>
          <a:p>
            <a:r>
              <a:rPr lang="en-US" sz="29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76200" y="990600"/>
            <a:ext cx="8991600" cy="5638800"/>
          </a:xfrm>
        </p:spPr>
        <p:txBody>
          <a:bodyPr/>
          <a:lstStyle/>
          <a:p>
            <a:pPr marL="0" lvl="0" indent="0" eaLnBrk="1" fontAlgn="auto" hangingPunct="1">
              <a:lnSpc>
                <a:spcPct val="112000"/>
              </a:lnSpc>
              <a:spcBef>
                <a:spcPts val="600"/>
              </a:spcBef>
              <a:spcAft>
                <a:spcPts val="1200"/>
              </a:spcAft>
              <a:buNone/>
            </a:pPr>
            <a:r>
              <a:rPr lang="en-US" sz="2400" b="1" kern="1200" dirty="0">
                <a:solidFill>
                  <a:srgbClr val="3333CC"/>
                </a:solidFill>
                <a:latin typeface="Times New Roman" panose="02020603050405020304" pitchFamily="18" charset="0"/>
                <a:cs typeface="Times New Roman" panose="02020603050405020304" pitchFamily="18" charset="0"/>
              </a:rPr>
              <a:t>11.2  A </a:t>
            </a:r>
            <a:r>
              <a:rPr lang="en-US" sz="2400" b="1" kern="12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Representation  Based on FOPC</a:t>
            </a:r>
            <a:endParaRPr lang="en-US" sz="2400" b="1" i="1" dirty="0">
              <a:solidFill>
                <a:srgbClr val="000000"/>
              </a:solidFill>
              <a:latin typeface="Times New Roman" panose="02020603050405020304" pitchFamily="18" charset="0"/>
              <a:cs typeface="Times New Roman" panose="02020603050405020304" pitchFamily="18" charset="0"/>
            </a:endParaRPr>
          </a:p>
          <a:p>
            <a:pPr marL="0" lvl="0" indent="0">
              <a:lnSpc>
                <a:spcPct val="112000"/>
              </a:lnSpc>
              <a:spcBef>
                <a:spcPts val="600"/>
              </a:spcBef>
              <a:spcAft>
                <a:spcPts val="0"/>
              </a:spcAft>
              <a:buNone/>
            </a:pPr>
            <a:r>
              <a:rPr lang="en-US" sz="2400" b="1" i="1" dirty="0">
                <a:solidFill>
                  <a:srgbClr val="000000"/>
                </a:solidFill>
                <a:latin typeface="Times New Roman" panose="02020603050405020304" pitchFamily="18" charset="0"/>
                <a:cs typeface="Times New Roman" panose="02020603050405020304" pitchFamily="18" charset="0"/>
              </a:rPr>
              <a:t>Example</a:t>
            </a:r>
            <a:r>
              <a:rPr lang="en-US"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 logical form term (NAME j1 “John”)</a:t>
            </a:r>
          </a:p>
          <a:p>
            <a:pPr marL="0" lvl="0" indent="0">
              <a:lnSpc>
                <a:spcPct val="112000"/>
              </a:lnSpc>
              <a:spcBef>
                <a:spcPts val="600"/>
              </a:spcBef>
              <a:spcAft>
                <a:spcPts val="0"/>
              </a:spcAft>
              <a:buNone/>
            </a:pPr>
            <a:r>
              <a:rPr lang="en-US" sz="2400" dirty="0">
                <a:solidFill>
                  <a:srgbClr val="000000"/>
                </a:solidFill>
                <a:latin typeface="Times New Roman" panose="02020603050405020304" pitchFamily="18" charset="0"/>
                <a:cs typeface="Times New Roman" panose="02020603050405020304" pitchFamily="18" charset="0"/>
              </a:rPr>
              <a:t>                 - in KB, actual person referred to in a given context might be represented by the constant </a:t>
            </a:r>
            <a:r>
              <a:rPr lang="en-US" sz="2400" i="1" dirty="0">
                <a:solidFill>
                  <a:srgbClr val="000000"/>
                </a:solidFill>
                <a:latin typeface="Times New Roman" panose="02020603050405020304" pitchFamily="18" charset="0"/>
                <a:cs typeface="Times New Roman" panose="02020603050405020304" pitchFamily="18" charset="0"/>
              </a:rPr>
              <a:t>John1. </a:t>
            </a:r>
          </a:p>
          <a:p>
            <a:pPr lvl="0">
              <a:lnSpc>
                <a:spcPct val="112000"/>
              </a:lnSpc>
              <a:spcBef>
                <a:spcPts val="600"/>
              </a:spcBef>
              <a:spcAft>
                <a:spcPts val="0"/>
              </a:spcAft>
              <a:buFontTx/>
              <a:buChar char="-"/>
            </a:pPr>
            <a:r>
              <a:rPr lang="en-US" sz="2400" dirty="0">
                <a:solidFill>
                  <a:srgbClr val="000000"/>
                </a:solidFill>
                <a:latin typeface="Times New Roman" panose="02020603050405020304" pitchFamily="18" charset="0"/>
                <a:cs typeface="Times New Roman" panose="02020603050405020304" pitchFamily="18" charset="0"/>
              </a:rPr>
              <a:t>Restricted quantification are used in the KRL that are similar to the generalized quantifier notation in the logical form language.</a:t>
            </a:r>
          </a:p>
          <a:p>
            <a:pPr lvl="0">
              <a:lnSpc>
                <a:spcPct val="112000"/>
              </a:lnSpc>
              <a:spcBef>
                <a:spcPts val="600"/>
              </a:spcBef>
              <a:spcAft>
                <a:spcPts val="0"/>
              </a:spcAft>
              <a:buFontTx/>
              <a:buChar char="-"/>
            </a:pPr>
            <a:r>
              <a:rPr lang="en-US" sz="2400" dirty="0">
                <a:solidFill>
                  <a:srgbClr val="000000"/>
                </a:solidFill>
                <a:latin typeface="Times New Roman" panose="02020603050405020304" pitchFamily="18" charset="0"/>
                <a:cs typeface="Times New Roman" panose="02020603050405020304" pitchFamily="18" charset="0"/>
              </a:rPr>
              <a:t>Restrictions follow the quantifier variable separated by “:”.</a:t>
            </a:r>
          </a:p>
          <a:p>
            <a:pPr marL="0" lvl="0" indent="0">
              <a:lnSpc>
                <a:spcPct val="112000"/>
              </a:lnSpc>
              <a:spcBef>
                <a:spcPts val="600"/>
              </a:spcBef>
              <a:spcAft>
                <a:spcPts val="0"/>
              </a:spcAft>
              <a:buNone/>
            </a:pPr>
            <a:endParaRPr lang="en-US" sz="2400" dirty="0">
              <a:solidFill>
                <a:srgbClr val="000000"/>
              </a:solidFill>
              <a:latin typeface="Times New Roman" panose="02020603050405020304" pitchFamily="18" charset="0"/>
              <a:cs typeface="Times New Roman" panose="02020603050405020304" pitchFamily="18" charset="0"/>
            </a:endParaRPr>
          </a:p>
          <a:p>
            <a:pPr marL="0" lvl="0" indent="0">
              <a:lnSpc>
                <a:spcPct val="112000"/>
              </a:lnSpc>
              <a:spcBef>
                <a:spcPts val="600"/>
              </a:spcBef>
              <a:spcAft>
                <a:spcPts val="0"/>
              </a:spcAft>
              <a:buNone/>
            </a:pPr>
            <a:r>
              <a:rPr lang="en-US" sz="2400" b="1" i="1" dirty="0">
                <a:solidFill>
                  <a:srgbClr val="000000"/>
                </a:solidFill>
                <a:latin typeface="Times New Roman" panose="02020603050405020304" pitchFamily="18" charset="0"/>
                <a:cs typeface="Times New Roman" panose="02020603050405020304" pitchFamily="18" charset="0"/>
              </a:rPr>
              <a:t>Example: </a:t>
            </a:r>
            <a:r>
              <a:rPr lang="en-US" sz="2400" b="1" kern="1200" dirty="0">
                <a:solidFill>
                  <a:srgbClr val="000000"/>
                </a:solidFill>
                <a:latin typeface="VNI-Times" pitchFamily="2" charset="0"/>
                <a:sym typeface="Symbol" pitchFamily="18" charset="2"/>
              </a:rPr>
              <a:t> </a:t>
            </a:r>
            <a:r>
              <a:rPr lang="en-US" sz="2400" kern="1200" dirty="0">
                <a:solidFill>
                  <a:srgbClr val="000000"/>
                </a:solidFill>
                <a:sym typeface="Symbol" pitchFamily="18" charset="2"/>
              </a:rPr>
              <a:t> x : Man (x) Happy (x)           x . Man (x) &amp; Happy (x)</a:t>
            </a:r>
            <a:r>
              <a:rPr lang="en-US" sz="2400" b="1" kern="1200" dirty="0">
                <a:solidFill>
                  <a:srgbClr val="000000"/>
                </a:solidFill>
                <a:latin typeface="VNI-Times" pitchFamily="2" charset="0"/>
                <a:sym typeface="Symbol" pitchFamily="18" charset="2"/>
              </a:rPr>
              <a:t>  </a:t>
            </a:r>
          </a:p>
          <a:p>
            <a:pPr marL="0" lvl="0" indent="0">
              <a:lnSpc>
                <a:spcPct val="112000"/>
              </a:lnSpc>
              <a:spcBef>
                <a:spcPts val="600"/>
              </a:spcBef>
              <a:spcAft>
                <a:spcPts val="0"/>
              </a:spcAft>
              <a:buNone/>
            </a:pPr>
            <a:r>
              <a:rPr lang="en-US" sz="2400" b="1" kern="1200" dirty="0">
                <a:solidFill>
                  <a:srgbClr val="000000"/>
                </a:solidFill>
                <a:latin typeface="VNI-Times" pitchFamily="2" charset="0"/>
                <a:sym typeface="Symbol" pitchFamily="18" charset="2"/>
              </a:rPr>
              <a:t>                </a:t>
            </a:r>
            <a:r>
              <a:rPr lang="en-US" sz="2400" kern="1200" dirty="0">
                <a:solidFill>
                  <a:srgbClr val="000000"/>
                </a:solidFill>
                <a:sym typeface="Symbol" pitchFamily="18" charset="2"/>
              </a:rPr>
              <a:t> x : Man (x) Happy (x)            x . Man (x)  Happy (x) </a:t>
            </a:r>
            <a:endParaRPr lang="en-US" sz="2400" i="1" dirty="0">
              <a:solidFill>
                <a:srgbClr val="000000"/>
              </a:solidFill>
              <a:cs typeface="Times New Roman" panose="02020603050405020304" pitchFamily="18" charset="0"/>
            </a:endParaRPr>
          </a:p>
          <a:p>
            <a:endParaRPr lang="en-US" dirty="0"/>
          </a:p>
        </p:txBody>
      </p:sp>
      <p:cxnSp>
        <p:nvCxnSpPr>
          <p:cNvPr id="5" name="Straight Arrow Connector 4"/>
          <p:cNvCxnSpPr/>
          <p:nvPr/>
        </p:nvCxnSpPr>
        <p:spPr>
          <a:xfrm>
            <a:off x="4724400" y="5159829"/>
            <a:ext cx="609600" cy="0"/>
          </a:xfrm>
          <a:prstGeom prst="straightConnector1">
            <a:avLst/>
          </a:prstGeom>
          <a:ln w="19050">
            <a:headEnd type="arrow"/>
            <a:tailEnd type="arrow"/>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a:off x="4724400" y="5638800"/>
            <a:ext cx="609600" cy="0"/>
          </a:xfrm>
          <a:prstGeom prst="straightConnector1">
            <a:avLst/>
          </a:prstGeom>
          <a:ln w="19050">
            <a:headEnd type="arrow"/>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43003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63562"/>
          </a:xfrm>
        </p:spPr>
        <p:txBody>
          <a:bodyPr/>
          <a:lstStyle/>
          <a:p>
            <a:r>
              <a:rPr lang="en-US" sz="29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914400"/>
            <a:ext cx="8229600" cy="5211763"/>
          </a:xfrm>
        </p:spPr>
        <p:txBody>
          <a:bodyPr/>
          <a:lstStyle/>
          <a:p>
            <a:pPr marL="0" lvl="0" indent="0" eaLnBrk="1" fontAlgn="auto" hangingPunct="1">
              <a:lnSpc>
                <a:spcPct val="112000"/>
              </a:lnSpc>
              <a:spcBef>
                <a:spcPts val="600"/>
              </a:spcBef>
              <a:spcAft>
                <a:spcPts val="1200"/>
              </a:spcAft>
              <a:buNone/>
            </a:pPr>
            <a:r>
              <a:rPr lang="en-US" sz="2400" b="1" kern="1200" dirty="0">
                <a:solidFill>
                  <a:srgbClr val="3333CC"/>
                </a:solidFill>
                <a:latin typeface="Times New Roman" panose="02020603050405020304" pitchFamily="18" charset="0"/>
                <a:cs typeface="Times New Roman" panose="02020603050405020304" pitchFamily="18" charset="0"/>
              </a:rPr>
              <a:t>11.2  A </a:t>
            </a:r>
            <a:r>
              <a:rPr lang="en-US" sz="2400" b="1" kern="12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Representation  Based on FOPC</a:t>
            </a:r>
            <a:endParaRPr lang="en-US" sz="2400" b="1" i="1" dirty="0">
              <a:solidFill>
                <a:srgbClr val="000000"/>
              </a:solidFill>
              <a:latin typeface="Times New Roman" panose="02020603050405020304" pitchFamily="18" charset="0"/>
              <a:cs typeface="Times New Roman" panose="02020603050405020304" pitchFamily="18" charset="0"/>
            </a:endParaRPr>
          </a:p>
          <a:p>
            <a:pPr>
              <a:buFontTx/>
              <a:buChar char="-"/>
            </a:pPr>
            <a:r>
              <a:rPr lang="en-US" sz="2400" dirty="0">
                <a:latin typeface="Times New Roman" panose="02020603050405020304" pitchFamily="18" charset="0"/>
                <a:cs typeface="Times New Roman" panose="02020603050405020304" pitchFamily="18" charset="0"/>
              </a:rPr>
              <a:t>The</a:t>
            </a:r>
            <a:r>
              <a:rPr lang="en-US" sz="2400" i="1" dirty="0">
                <a:solidFill>
                  <a:srgbClr val="00B0F0"/>
                </a:solidFill>
                <a:latin typeface="Times New Roman" panose="02020603050405020304" pitchFamily="18" charset="0"/>
                <a:cs typeface="Times New Roman" panose="02020603050405020304" pitchFamily="18" charset="0"/>
              </a:rPr>
              <a:t> equality </a:t>
            </a:r>
            <a:r>
              <a:rPr lang="en-US" sz="2400" dirty="0">
                <a:latin typeface="Times New Roman" panose="02020603050405020304" pitchFamily="18" charset="0"/>
                <a:cs typeface="Times New Roman" panose="02020603050405020304" pitchFamily="18" charset="0"/>
              </a:rPr>
              <a:t>predicate (a = b), which states that terms a and b have the same denotation.</a:t>
            </a:r>
          </a:p>
          <a:p>
            <a:pPr>
              <a:buFontTx/>
              <a:buChar char="-"/>
            </a:pPr>
            <a:r>
              <a:rPr lang="en-US" sz="2400" dirty="0">
                <a:latin typeface="Times New Roman" panose="02020603050405020304" pitchFamily="18" charset="0"/>
                <a:cs typeface="Times New Roman" panose="02020603050405020304" pitchFamily="18" charset="0"/>
              </a:rPr>
              <a:t>Given simple proposition </a:t>
            </a:r>
            <a:r>
              <a:rPr lang="en-US" sz="2400" b="1" kern="1200" dirty="0">
                <a:solidFill>
                  <a:srgbClr val="000000"/>
                </a:solidFill>
                <a:latin typeface="VNI-Times" pitchFamily="2" charset="0"/>
              </a:rPr>
              <a:t> </a:t>
            </a:r>
            <a:r>
              <a:rPr lang="en-US" sz="2400" kern="1200" dirty="0">
                <a:latin typeface="Times New Roman" panose="02020603050405020304" pitchFamily="18" charset="0"/>
                <a:cs typeface="Times New Roman" panose="02020603050405020304" pitchFamily="18" charset="0"/>
              </a:rPr>
              <a:t>Pa</a:t>
            </a:r>
            <a:r>
              <a:rPr lang="en-US" sz="2400" kern="1200" dirty="0">
                <a:solidFill>
                  <a:srgbClr val="00B0F0"/>
                </a:solidFill>
                <a:latin typeface="Times New Roman" panose="02020603050405020304" pitchFamily="18" charset="0"/>
                <a:cs typeface="Times New Roman" panose="02020603050405020304" pitchFamily="18" charset="0"/>
              </a:rPr>
              <a:t> </a:t>
            </a:r>
            <a:r>
              <a:rPr lang="en-US" sz="2400" kern="1200" dirty="0">
                <a:latin typeface="Times New Roman" panose="02020603050405020304" pitchFamily="18" charset="0"/>
                <a:cs typeface="Times New Roman" panose="02020603050405020304" pitchFamily="18" charset="0"/>
              </a:rPr>
              <a:t>involving a constant a, if  </a:t>
            </a:r>
            <a:r>
              <a:rPr lang="en-US" sz="2400" b="1" kern="1200" dirty="0">
                <a:solidFill>
                  <a:srgbClr val="000000"/>
                </a:solidFill>
                <a:latin typeface="Times New Roman" panose="02020603050405020304" pitchFamily="18" charset="0"/>
                <a:cs typeface="Times New Roman" panose="02020603050405020304" pitchFamily="18" charset="0"/>
              </a:rPr>
              <a:t> </a:t>
            </a:r>
            <a:r>
              <a:rPr lang="en-US" sz="2400" kern="1200" dirty="0">
                <a:solidFill>
                  <a:srgbClr val="000000"/>
                </a:solidFill>
                <a:latin typeface="Times New Roman" panose="02020603050405020304" pitchFamily="18" charset="0"/>
                <a:cs typeface="Times New Roman" panose="02020603050405020304" pitchFamily="18" charset="0"/>
              </a:rPr>
              <a:t>Pa</a:t>
            </a:r>
            <a:r>
              <a:rPr lang="en-US" sz="2400" b="1" kern="1200" dirty="0">
                <a:solidFill>
                  <a:srgbClr val="000000"/>
                </a:solidFill>
                <a:latin typeface="Times New Roman" panose="02020603050405020304" pitchFamily="18" charset="0"/>
                <a:cs typeface="Times New Roman" panose="02020603050405020304" pitchFamily="18" charset="0"/>
              </a:rPr>
              <a:t> </a:t>
            </a:r>
            <a:r>
              <a:rPr lang="en-US" sz="2400" kern="1200" dirty="0">
                <a:solidFill>
                  <a:srgbClr val="000000"/>
                </a:solidFill>
                <a:latin typeface="Times New Roman" panose="02020603050405020304" pitchFamily="18" charset="0"/>
                <a:cs typeface="Times New Roman" panose="02020603050405020304" pitchFamily="18" charset="0"/>
              </a:rPr>
              <a:t>is true and a = b, then </a:t>
            </a:r>
            <a:r>
              <a:rPr lang="en-US" sz="2400" b="1" kern="1200" dirty="0">
                <a:solidFill>
                  <a:srgbClr val="000000"/>
                </a:solidFill>
                <a:latin typeface="VNI-Times" pitchFamily="2" charset="0"/>
              </a:rPr>
              <a:t> </a:t>
            </a:r>
            <a:r>
              <a:rPr lang="en-US" sz="2400" kern="1200" dirty="0" err="1">
                <a:solidFill>
                  <a:srgbClr val="000000"/>
                </a:solidFill>
                <a:latin typeface="Times New Roman" panose="02020603050405020304" pitchFamily="18" charset="0"/>
                <a:cs typeface="Times New Roman" panose="02020603050405020304" pitchFamily="18" charset="0"/>
              </a:rPr>
              <a:t>P</a:t>
            </a:r>
            <a:r>
              <a:rPr lang="en-US" sz="2000" kern="1200" dirty="0" err="1">
                <a:solidFill>
                  <a:srgbClr val="000000"/>
                </a:solidFill>
                <a:latin typeface="Times New Roman" panose="02020603050405020304" pitchFamily="18" charset="0"/>
                <a:cs typeface="Times New Roman" panose="02020603050405020304" pitchFamily="18" charset="0"/>
              </a:rPr>
              <a:t>b</a:t>
            </a:r>
            <a:r>
              <a:rPr lang="en-US" sz="2400" kern="1200" dirty="0">
                <a:solidFill>
                  <a:srgbClr val="000000"/>
                </a:solidFill>
                <a:latin typeface="Times New Roman" panose="02020603050405020304" pitchFamily="18" charset="0"/>
                <a:cs typeface="Times New Roman" panose="02020603050405020304" pitchFamily="18" charset="0"/>
              </a:rPr>
              <a:t> must be true as well, where   Pa is the same as </a:t>
            </a:r>
            <a:r>
              <a:rPr lang="en-US" sz="2400" b="1" kern="1200" dirty="0">
                <a:solidFill>
                  <a:srgbClr val="000000"/>
                </a:solidFill>
                <a:latin typeface="VNI-Times" pitchFamily="2" charset="0"/>
              </a:rPr>
              <a:t> </a:t>
            </a:r>
            <a:r>
              <a:rPr lang="en-US" sz="2400" kern="1200" dirty="0" err="1">
                <a:solidFill>
                  <a:srgbClr val="000000"/>
                </a:solidFill>
                <a:latin typeface="Times New Roman" panose="02020603050405020304" pitchFamily="18" charset="0"/>
                <a:cs typeface="Times New Roman" panose="02020603050405020304" pitchFamily="18" charset="0"/>
              </a:rPr>
              <a:t>P</a:t>
            </a:r>
            <a:r>
              <a:rPr lang="en-US" sz="2000" kern="1200" dirty="0" err="1">
                <a:solidFill>
                  <a:srgbClr val="000000"/>
                </a:solidFill>
                <a:latin typeface="Times New Roman" panose="02020603050405020304" pitchFamily="18" charset="0"/>
                <a:cs typeface="Times New Roman" panose="02020603050405020304" pitchFamily="18" charset="0"/>
              </a:rPr>
              <a:t>b</a:t>
            </a:r>
            <a:r>
              <a:rPr lang="en-US" sz="2000" kern="1200" dirty="0">
                <a:solidFill>
                  <a:srgbClr val="000000"/>
                </a:solidFill>
                <a:latin typeface="Times New Roman" panose="02020603050405020304" pitchFamily="18" charset="0"/>
                <a:cs typeface="Times New Roman" panose="02020603050405020304" pitchFamily="18" charset="0"/>
              </a:rPr>
              <a:t>, </a:t>
            </a:r>
            <a:r>
              <a:rPr lang="en-US" sz="2400" kern="1200" dirty="0">
                <a:solidFill>
                  <a:srgbClr val="000000"/>
                </a:solidFill>
                <a:latin typeface="Times New Roman" panose="02020603050405020304" pitchFamily="18" charset="0"/>
                <a:cs typeface="Times New Roman" panose="02020603050405020304" pitchFamily="18" charset="0"/>
              </a:rPr>
              <a:t>except that a has been replaced b</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3733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US" sz="29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1600201"/>
            <a:ext cx="8534400" cy="3581400"/>
          </a:xfrm>
        </p:spPr>
        <p:txBody>
          <a:bodyPr/>
          <a:lstStyle/>
          <a:p>
            <a:pPr marL="0" indent="0">
              <a:buNone/>
            </a:pPr>
            <a:r>
              <a:rPr lang="en-US" sz="2400" b="1"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11.3 Frames: Representation  Stereotypical Information</a:t>
            </a:r>
          </a:p>
          <a:p>
            <a:pPr marL="0" indent="0">
              <a:buNone/>
            </a:pPr>
            <a:endParaRPr lang="en-US" sz="2400" b="1"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marL="0" indent="0">
              <a:buNone/>
            </a:pPr>
            <a:r>
              <a:rPr lang="en-US" sz="2800" i="1" kern="1200" dirty="0">
                <a:solidFill>
                  <a:srgbClr val="C00000"/>
                </a:solidFill>
                <a:latin typeface="Times New Roman" panose="02020603050405020304" pitchFamily="18" charset="0"/>
                <a:cs typeface="Times New Roman" panose="02020603050405020304" pitchFamily="18" charset="0"/>
              </a:rPr>
              <a:t>                            </a:t>
            </a:r>
            <a:r>
              <a:rPr lang="en-US" sz="2800" b="1" i="1" kern="1200" dirty="0">
                <a:solidFill>
                  <a:srgbClr val="C00000"/>
                </a:solidFill>
                <a:latin typeface="Times New Roman" panose="02020603050405020304" pitchFamily="18" charset="0"/>
                <a:cs typeface="Times New Roman" panose="02020603050405020304" pitchFamily="18" charset="0"/>
              </a:rPr>
              <a:t>(Study oneself)</a:t>
            </a:r>
            <a:endParaRPr lang="en-US" sz="2800" b="1" i="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4793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p>
            <a:r>
              <a:rPr lang="en-US" sz="29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76200" y="914400"/>
            <a:ext cx="8915400" cy="5791200"/>
          </a:xfrm>
        </p:spPr>
        <p:txBody>
          <a:bodyPr/>
          <a:lstStyle/>
          <a:p>
            <a:pPr marL="0" indent="0">
              <a:lnSpc>
                <a:spcPct val="112000"/>
              </a:lnSpc>
              <a:buNone/>
            </a:pPr>
            <a:r>
              <a:rPr lang="en-US" sz="2400" b="1" dirty="0">
                <a:solidFill>
                  <a:srgbClr val="0070C0"/>
                </a:solidFill>
                <a:latin typeface="Times New Roman" panose="02020603050405020304" pitchFamily="18" charset="0"/>
                <a:cs typeface="Times New Roman" panose="02020603050405020304" pitchFamily="18" charset="0"/>
              </a:rPr>
              <a:t>11.4 Handling Natural Language Quantifications</a:t>
            </a:r>
          </a:p>
          <a:p>
            <a:pPr>
              <a:lnSpc>
                <a:spcPct val="112000"/>
              </a:lnSpc>
              <a:buFontTx/>
              <a:buChar char="-"/>
            </a:pPr>
            <a:r>
              <a:rPr lang="en-US" sz="2400" dirty="0">
                <a:latin typeface="Times New Roman" panose="02020603050405020304" pitchFamily="18" charset="0"/>
                <a:cs typeface="Times New Roman" panose="02020603050405020304" pitchFamily="18" charset="0"/>
              </a:rPr>
              <a:t>We can now consider some issues in mapping the logical form language into the KRL.</a:t>
            </a:r>
          </a:p>
          <a:p>
            <a:pPr>
              <a:lnSpc>
                <a:spcPct val="112000"/>
              </a:lnSpc>
              <a:buFontTx/>
              <a:buChar char="-"/>
            </a:pPr>
            <a:r>
              <a:rPr lang="en-US" sz="2400" dirty="0">
                <a:latin typeface="Times New Roman" panose="02020603050405020304" pitchFamily="18" charset="0"/>
                <a:cs typeface="Times New Roman" panose="02020603050405020304" pitchFamily="18" charset="0"/>
              </a:rPr>
              <a:t>One of the most obvious differences between the two languages is the treatment of quantifiers.</a:t>
            </a:r>
          </a:p>
          <a:p>
            <a:pPr>
              <a:lnSpc>
                <a:spcPct val="112000"/>
              </a:lnSpc>
              <a:buFontTx/>
              <a:buChar char="-"/>
            </a:pPr>
            <a:r>
              <a:rPr lang="en-US" sz="2400" dirty="0">
                <a:latin typeface="Times New Roman" panose="02020603050405020304" pitchFamily="18" charset="0"/>
                <a:cs typeface="Times New Roman" panose="02020603050405020304" pitchFamily="18" charset="0"/>
              </a:rPr>
              <a:t>Significant progress can be made to reduce the differences, however by extending the ontology of the KRL to allow sets as objects.</a:t>
            </a:r>
          </a:p>
          <a:p>
            <a:pPr marL="0" indent="0">
              <a:lnSpc>
                <a:spcPct val="112000"/>
              </a:lnSpc>
              <a:buNone/>
            </a:pPr>
            <a:r>
              <a:rPr lang="en-US" sz="2400" dirty="0">
                <a:latin typeface="Times New Roman" panose="02020603050405020304" pitchFamily="18" charset="0"/>
                <a:cs typeface="Times New Roman" panose="02020603050405020304" pitchFamily="18" charset="0"/>
              </a:rPr>
              <a:t>        +    A set is a collection of objects as a unit.</a:t>
            </a:r>
          </a:p>
          <a:p>
            <a:pPr marL="0" indent="0">
              <a:lnSpc>
                <a:spcPct val="112000"/>
              </a:lnSpc>
              <a:buNone/>
            </a:pPr>
            <a:r>
              <a:rPr lang="en-US" sz="2400" dirty="0">
                <a:latin typeface="Times New Roman" panose="02020603050405020304" pitchFamily="18" charset="0"/>
                <a:cs typeface="Times New Roman" panose="02020603050405020304" pitchFamily="18" charset="0"/>
              </a:rPr>
              <a:t>        +    Sets may be finite (such as the set of </a:t>
            </a:r>
            <a:r>
              <a:rPr lang="en-US" sz="2400" i="1" dirty="0">
                <a:latin typeface="Times New Roman" panose="02020603050405020304" pitchFamily="18" charset="0"/>
                <a:cs typeface="Times New Roman" panose="02020603050405020304" pitchFamily="18" charset="0"/>
              </a:rPr>
              <a:t>John</a:t>
            </a:r>
            <a:r>
              <a:rPr lang="en-US" sz="2400" dirty="0">
                <a:latin typeface="Times New Roman" panose="02020603050405020304" pitchFamily="18" charset="0"/>
                <a:cs typeface="Times New Roman" panose="02020603050405020304" pitchFamily="18" charset="0"/>
              </a:rPr>
              <a:t> and </a:t>
            </a:r>
            <a:r>
              <a:rPr lang="en-US" sz="2400" i="1" dirty="0">
                <a:latin typeface="Times New Roman" panose="02020603050405020304" pitchFamily="18" charset="0"/>
                <a:cs typeface="Times New Roman" panose="02020603050405020304" pitchFamily="18" charset="0"/>
              </a:rPr>
              <a:t>Mary</a:t>
            </a:r>
            <a:r>
              <a:rPr lang="en-US" sz="2400" dirty="0">
                <a:latin typeface="Times New Roman" panose="02020603050405020304" pitchFamily="18" charset="0"/>
                <a:cs typeface="Times New Roman" panose="02020603050405020304" pitchFamily="18" charset="0"/>
              </a:rPr>
              <a:t>) or      infinite (such as the set of numbers greater than 7). We will only use a finite sets in KRL.</a:t>
            </a:r>
          </a:p>
          <a:p>
            <a:pPr marL="0" indent="0">
              <a:lnSpc>
                <a:spcPct val="112000"/>
              </a:lnSpc>
              <a:buNone/>
            </a:pPr>
            <a:r>
              <a:rPr lang="en-US" sz="2400" dirty="0">
                <a:latin typeface="Times New Roman" panose="02020603050405020304" pitchFamily="18" charset="0"/>
                <a:cs typeface="Times New Roman" panose="02020603050405020304" pitchFamily="18" charset="0"/>
              </a:rPr>
              <a:t>        +    A set can be indicated by listing its members in curly brackets</a:t>
            </a:r>
          </a:p>
          <a:p>
            <a:pPr marL="0" indent="0">
              <a:buNone/>
            </a:pPr>
            <a:endParaRPr lang="en-US" sz="2400" dirty="0">
              <a:latin typeface="Times New Roman" panose="02020603050405020304" pitchFamily="18" charset="0"/>
              <a:cs typeface="Times New Roman" panose="02020603050405020304" pitchFamily="18" charset="0"/>
            </a:endParaRPr>
          </a:p>
          <a:p>
            <a:pPr>
              <a:buFontTx/>
              <a:buChar char="-"/>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3689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63562"/>
          </a:xfrm>
        </p:spPr>
        <p:txBody>
          <a:bodyPr/>
          <a:lstStyle/>
          <a:p>
            <a:r>
              <a:rPr lang="en-US" sz="29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762000"/>
            <a:ext cx="8229600" cy="6019800"/>
          </a:xfrm>
        </p:spPr>
        <p:txBody>
          <a:bodyPr/>
          <a:lstStyle/>
          <a:p>
            <a:pPr marL="0" lvl="0" indent="0">
              <a:lnSpc>
                <a:spcPct val="112000"/>
              </a:lnSpc>
              <a:buNone/>
            </a:pPr>
            <a:r>
              <a:rPr lang="en-US" sz="2400" b="1" dirty="0">
                <a:solidFill>
                  <a:srgbClr val="0070C0"/>
                </a:solidFill>
                <a:latin typeface="Times New Roman" panose="02020603050405020304" pitchFamily="18" charset="0"/>
                <a:cs typeface="Times New Roman" panose="02020603050405020304" pitchFamily="18" charset="0"/>
              </a:rPr>
              <a:t>11.4 Handling Natural Language Quantifications</a:t>
            </a:r>
          </a:p>
          <a:p>
            <a:pPr marL="0" indent="0">
              <a:lnSpc>
                <a:spcPct val="112000"/>
              </a:lnSpc>
              <a:buNone/>
            </a:pPr>
            <a:r>
              <a:rPr lang="en-US" sz="2400" b="1" i="1" dirty="0">
                <a:latin typeface="Times New Roman" panose="02020603050405020304" pitchFamily="18" charset="0"/>
                <a:cs typeface="Times New Roman" panose="02020603050405020304" pitchFamily="18" charset="0"/>
              </a:rPr>
              <a:t>Example: </a:t>
            </a:r>
            <a:r>
              <a:rPr lang="en-US" sz="2400" i="1" dirty="0">
                <a:solidFill>
                  <a:srgbClr val="0070C0"/>
                </a:solidFill>
                <a:latin typeface="Times New Roman" panose="02020603050405020304" pitchFamily="18" charset="0"/>
                <a:cs typeface="Times New Roman" panose="02020603050405020304" pitchFamily="18" charset="0"/>
              </a:rPr>
              <a:t>{ John1, Mary1</a:t>
            </a:r>
            <a:r>
              <a:rPr lang="en-US" sz="2400" b="1" i="1" dirty="0">
                <a:solidFill>
                  <a:srgbClr val="0070C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That order does not matter;</a:t>
            </a:r>
          </a:p>
          <a:p>
            <a:pPr marL="0" indent="0">
              <a:lnSpc>
                <a:spcPct val="112000"/>
              </a:lnSpc>
              <a:buNone/>
            </a:pPr>
            <a:r>
              <a:rPr lang="en-US" sz="2400" i="1" dirty="0">
                <a:solidFill>
                  <a:srgbClr val="0070C0"/>
                </a:solidFill>
                <a:latin typeface="Times New Roman" panose="02020603050405020304" pitchFamily="18" charset="0"/>
                <a:cs typeface="Times New Roman" panose="02020603050405020304" pitchFamily="18" charset="0"/>
              </a:rPr>
              <a:t>{John1, Mary1} = {Mary1, John1</a:t>
            </a:r>
            <a:r>
              <a:rPr lang="en-US" sz="2400" b="1" i="1" dirty="0">
                <a:solidFill>
                  <a:srgbClr val="0070C0"/>
                </a:solidFill>
                <a:latin typeface="Times New Roman" panose="02020603050405020304" pitchFamily="18" charset="0"/>
                <a:cs typeface="Times New Roman" panose="02020603050405020304" pitchFamily="18" charset="0"/>
              </a:rPr>
              <a:t>}. </a:t>
            </a:r>
          </a:p>
          <a:p>
            <a:pPr marL="0" indent="0">
              <a:lnSpc>
                <a:spcPct val="112000"/>
              </a:lnSpc>
              <a:buNone/>
            </a:pPr>
            <a:r>
              <a:rPr lang="en-US" sz="2400" dirty="0">
                <a:latin typeface="Times New Roman" panose="02020603050405020304" pitchFamily="18" charset="0"/>
                <a:cs typeface="Times New Roman" panose="02020603050405020304" pitchFamily="18" charset="0"/>
              </a:rPr>
              <a:t>- We also allow constants to denote sets. Thus S1 might be a set defined by the formula S1= </a:t>
            </a:r>
            <a:r>
              <a:rPr lang="en-US" sz="2400" i="1" dirty="0">
                <a:latin typeface="Times New Roman" panose="02020603050405020304" pitchFamily="18" charset="0"/>
                <a:cs typeface="Times New Roman" panose="02020603050405020304" pitchFamily="18" charset="0"/>
              </a:rPr>
              <a:t>{ John1, Mary1}.</a:t>
            </a:r>
          </a:p>
          <a:p>
            <a:pPr>
              <a:lnSpc>
                <a:spcPct val="112000"/>
              </a:lnSpc>
              <a:buFontTx/>
              <a:buChar char="-"/>
            </a:pPr>
            <a:r>
              <a:rPr lang="en-US" sz="2400" dirty="0">
                <a:latin typeface="Times New Roman" panose="02020603050405020304" pitchFamily="18" charset="0"/>
                <a:cs typeface="Times New Roman" panose="02020603050405020304" pitchFamily="18" charset="0"/>
              </a:rPr>
              <a:t>Sets might be members of other sets.</a:t>
            </a:r>
          </a:p>
          <a:p>
            <a:pPr>
              <a:lnSpc>
                <a:spcPct val="112000"/>
              </a:lnSpc>
              <a:buFontTx/>
              <a:buChar char="-"/>
            </a:pPr>
            <a:r>
              <a:rPr lang="en-US" sz="2400" dirty="0">
                <a:latin typeface="Times New Roman" panose="02020603050405020304" pitchFamily="18" charset="0"/>
                <a:cs typeface="Times New Roman" panose="02020603050405020304" pitchFamily="18" charset="0"/>
              </a:rPr>
              <a:t>Sets will usually be defined in terms of some property. This will be written in the form {</a:t>
            </a:r>
            <a:r>
              <a:rPr lang="en-US" sz="2400" dirty="0" err="1">
                <a:latin typeface="Times New Roman" panose="02020603050405020304" pitchFamily="18" charset="0"/>
                <a:cs typeface="Times New Roman" panose="02020603050405020304" pitchFamily="18" charset="0"/>
              </a:rPr>
              <a:t>y│Py</a:t>
            </a:r>
            <a:r>
              <a:rPr lang="en-US" sz="2400" dirty="0">
                <a:latin typeface="Times New Roman" panose="02020603050405020304" pitchFamily="18" charset="0"/>
                <a:cs typeface="Times New Roman" panose="02020603050405020304" pitchFamily="18" charset="0"/>
              </a:rPr>
              <a:t>}.</a:t>
            </a:r>
          </a:p>
          <a:p>
            <a:pPr lvl="0">
              <a:lnSpc>
                <a:spcPct val="112000"/>
              </a:lnSpc>
              <a:buFontTx/>
              <a:buChar char="-"/>
              <a:defRPr/>
            </a:pPr>
            <a:r>
              <a:rPr lang="en-US" sz="2400" dirty="0">
                <a:solidFill>
                  <a:srgbClr val="000000"/>
                </a:solidFill>
                <a:latin typeface="Times New Roman" panose="02020603050405020304" pitchFamily="18" charset="0"/>
                <a:cs typeface="Times New Roman" panose="02020603050405020304" pitchFamily="18" charset="0"/>
              </a:rPr>
              <a:t>In addition, the following predicates to relate sets and individuals:</a:t>
            </a:r>
          </a:p>
          <a:p>
            <a:pPr lvl="0">
              <a:lnSpc>
                <a:spcPct val="112000"/>
              </a:lnSpc>
              <a:buFontTx/>
              <a:buChar char="-"/>
              <a:defRPr/>
            </a:pPr>
            <a:r>
              <a:rPr lang="en-US" sz="2400" dirty="0">
                <a:solidFill>
                  <a:srgbClr val="000000"/>
                </a:solidFill>
                <a:latin typeface="Times New Roman" panose="02020603050405020304" pitchFamily="18" charset="0"/>
                <a:cs typeface="Times New Roman" panose="02020603050405020304" pitchFamily="18" charset="0"/>
              </a:rPr>
              <a:t>the following predicates to relate sets and individuals;</a:t>
            </a:r>
          </a:p>
          <a:p>
            <a:pPr marL="0" lvl="0" indent="0">
              <a:lnSpc>
                <a:spcPct val="112000"/>
              </a:lnSpc>
              <a:buNone/>
              <a:defRPr/>
            </a:pPr>
            <a:r>
              <a:rPr lang="en-US" sz="2400" dirty="0">
                <a:solidFill>
                  <a:srgbClr val="0070C0"/>
                </a:solidFill>
                <a:latin typeface="Times New Roman" panose="02020603050405020304" pitchFamily="18" charset="0"/>
                <a:cs typeface="Times New Roman" panose="02020603050405020304" pitchFamily="18" charset="0"/>
              </a:rPr>
              <a:t>       </a:t>
            </a:r>
            <a:r>
              <a:rPr lang="en-US" sz="2400" b="1" kern="1200" dirty="0">
                <a:solidFill>
                  <a:srgbClr val="0070C0"/>
                </a:solidFill>
                <a:latin typeface="Times New Roman" panose="02020603050405020304" pitchFamily="18" charset="0"/>
                <a:cs typeface="Times New Roman" panose="02020603050405020304" pitchFamily="18" charset="0"/>
              </a:rPr>
              <a:t>S1 </a:t>
            </a:r>
            <a:r>
              <a:rPr lang="en-US" sz="2400" b="1" kern="1200" dirty="0">
                <a:solidFill>
                  <a:srgbClr val="0070C0"/>
                </a:solidFill>
                <a:latin typeface="Times New Roman" panose="02020603050405020304" pitchFamily="18" charset="0"/>
                <a:cs typeface="Times New Roman" panose="02020603050405020304" pitchFamily="18" charset="0"/>
                <a:sym typeface="Symbol" pitchFamily="18" charset="2"/>
              </a:rPr>
              <a:t> S2</a:t>
            </a:r>
            <a:r>
              <a:rPr lang="en-US" sz="2400" b="1" dirty="0">
                <a:solidFill>
                  <a:srgbClr val="0070C0"/>
                </a:solidFill>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iff</a:t>
            </a:r>
            <a:r>
              <a:rPr lang="en-US" sz="2400" dirty="0">
                <a:latin typeface="Times New Roman" panose="02020603050405020304" pitchFamily="18" charset="0"/>
                <a:cs typeface="Times New Roman" panose="02020603050405020304" pitchFamily="18" charset="0"/>
              </a:rPr>
              <a:t> all the elements of S1 are in S2 </a:t>
            </a:r>
          </a:p>
          <a:p>
            <a:pPr marL="0" lvl="0" indent="0">
              <a:lnSpc>
                <a:spcPct val="112000"/>
              </a:lnSpc>
              <a:buNone/>
              <a:defRPr/>
            </a:pPr>
            <a:r>
              <a:rPr lang="en-US" sz="2400" dirty="0">
                <a:solidFill>
                  <a:srgbClr val="0070C0"/>
                </a:solidFill>
                <a:latin typeface="Times New Roman" panose="02020603050405020304" pitchFamily="18" charset="0"/>
                <a:cs typeface="Times New Roman" panose="02020603050405020304" pitchFamily="18" charset="0"/>
              </a:rPr>
              <a:t>        </a:t>
            </a:r>
            <a:r>
              <a:rPr lang="en-US" sz="2400" b="1" kern="1200" dirty="0">
                <a:solidFill>
                  <a:srgbClr val="0070C0"/>
                </a:solidFill>
                <a:latin typeface="Times New Roman" panose="02020603050405020304" pitchFamily="18" charset="0"/>
                <a:cs typeface="Times New Roman" panose="02020603050405020304" pitchFamily="18" charset="0"/>
                <a:sym typeface="Symbol" pitchFamily="18" charset="2"/>
              </a:rPr>
              <a:t>x  S       </a:t>
            </a:r>
            <a:r>
              <a:rPr lang="en-US" sz="2400" kern="1200" dirty="0" err="1">
                <a:latin typeface="Times New Roman" panose="02020603050405020304" pitchFamily="18" charset="0"/>
                <a:cs typeface="Times New Roman" panose="02020603050405020304" pitchFamily="18" charset="0"/>
                <a:sym typeface="Symbol" pitchFamily="18" charset="2"/>
              </a:rPr>
              <a:t>iff</a:t>
            </a:r>
            <a:r>
              <a:rPr lang="en-US" sz="2400" kern="1200" dirty="0">
                <a:latin typeface="Times New Roman" panose="02020603050405020304" pitchFamily="18" charset="0"/>
                <a:cs typeface="Times New Roman" panose="02020603050405020304" pitchFamily="18" charset="0"/>
                <a:sym typeface="Symbol" pitchFamily="18" charset="2"/>
              </a:rPr>
              <a:t>  x is a member of the set S</a:t>
            </a:r>
            <a:endParaRPr lang="en-US" sz="2400" dirty="0">
              <a:latin typeface="Times New Roman" panose="02020603050405020304" pitchFamily="18" charset="0"/>
              <a:cs typeface="Times New Roman" panose="02020603050405020304" pitchFamily="18" charset="0"/>
            </a:endParaRPr>
          </a:p>
          <a:p>
            <a:pPr lvl="0">
              <a:buFontTx/>
              <a:buChar char="-"/>
              <a:defRPr/>
            </a:pPr>
            <a:endParaRPr lang="en-US" sz="2400" dirty="0">
              <a:solidFill>
                <a:srgbClr val="000000"/>
              </a:solidFill>
              <a:latin typeface="Times New Roman"/>
              <a:cs typeface="Times New Roman"/>
            </a:endParaRPr>
          </a:p>
          <a:p>
            <a:pPr marL="0" lvl="0" indent="0">
              <a:buNone/>
              <a:defRPr/>
            </a:pPr>
            <a:r>
              <a:rPr lang="en-US" sz="2400" dirty="0">
                <a:solidFill>
                  <a:srgbClr val="000000"/>
                </a:solidFill>
                <a:latin typeface="Times New Roman"/>
                <a:cs typeface="Times New Roman"/>
              </a:rPr>
              <a:t>           </a:t>
            </a:r>
            <a:endParaRPr lang="en-US" sz="2400" dirty="0">
              <a:solidFill>
                <a:srgbClr val="000000"/>
              </a:solidFill>
              <a:latin typeface="Times New Roman" panose="02020603050405020304" pitchFamily="18" charset="0"/>
              <a:cs typeface="Times New Roman" panose="02020603050405020304" pitchFamily="18" charset="0"/>
            </a:endParaRPr>
          </a:p>
          <a:p>
            <a:pPr>
              <a:buFontTx/>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8002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sz="3200" dirty="0"/>
          </a:p>
        </p:txBody>
      </p:sp>
      <p:sp>
        <p:nvSpPr>
          <p:cNvPr id="3" name="Content Placeholder 2"/>
          <p:cNvSpPr>
            <a:spLocks noGrp="1"/>
          </p:cNvSpPr>
          <p:nvPr>
            <p:ph idx="1"/>
          </p:nvPr>
        </p:nvSpPr>
        <p:spPr>
          <a:xfrm>
            <a:off x="457200" y="1066800"/>
            <a:ext cx="8229600" cy="5105400"/>
          </a:xfrm>
        </p:spPr>
        <p:txBody>
          <a:bodyPr/>
          <a:lstStyle/>
          <a:p>
            <a:pPr marL="0" lvl="0" indent="0">
              <a:lnSpc>
                <a:spcPct val="112000"/>
              </a:lnSpc>
              <a:spcBef>
                <a:spcPts val="600"/>
              </a:spcBef>
              <a:buNone/>
            </a:pPr>
            <a:r>
              <a:rPr lang="en-US" sz="2400" b="1" dirty="0">
                <a:solidFill>
                  <a:srgbClr val="0070C0"/>
                </a:solidFill>
                <a:latin typeface="Times New Roman" panose="02020603050405020304" pitchFamily="18" charset="0"/>
                <a:cs typeface="Times New Roman" panose="02020603050405020304" pitchFamily="18" charset="0"/>
              </a:rPr>
              <a:t>11.4 Handling Natural Language Quantifications</a:t>
            </a:r>
            <a:endParaRPr lang="en-US" sz="2400" dirty="0">
              <a:latin typeface="Times New Roman" panose="02020603050405020304" pitchFamily="18" charset="0"/>
              <a:cs typeface="Times New Roman" panose="02020603050405020304" pitchFamily="18" charset="0"/>
            </a:endParaRPr>
          </a:p>
          <a:p>
            <a:pPr marL="0" lvl="0" indent="0">
              <a:lnSpc>
                <a:spcPct val="112000"/>
              </a:lnSpc>
              <a:spcBef>
                <a:spcPts val="600"/>
              </a:spcBef>
              <a:buNone/>
            </a:pPr>
            <a:r>
              <a:rPr lang="en-US" sz="2400" dirty="0">
                <a:latin typeface="Times New Roman" panose="02020603050405020304" pitchFamily="18" charset="0"/>
                <a:cs typeface="Times New Roman" panose="02020603050405020304" pitchFamily="18" charset="0"/>
              </a:rPr>
              <a:t>An interpretation for </a:t>
            </a:r>
            <a:r>
              <a:rPr lang="en-US" sz="2400" i="1" dirty="0">
                <a:solidFill>
                  <a:srgbClr val="009900"/>
                </a:solidFill>
                <a:latin typeface="Times New Roman" panose="02020603050405020304" pitchFamily="18" charset="0"/>
                <a:cs typeface="Times New Roman" panose="02020603050405020304" pitchFamily="18" charset="0"/>
              </a:rPr>
              <a:t>Some men met at three, </a:t>
            </a:r>
            <a:r>
              <a:rPr lang="en-US" sz="2400" dirty="0">
                <a:latin typeface="Times New Roman" panose="02020603050405020304" pitchFamily="18" charset="0"/>
                <a:cs typeface="Times New Roman" panose="02020603050405020304" pitchFamily="18" charset="0"/>
              </a:rPr>
              <a:t>as follows:</a:t>
            </a:r>
          </a:p>
          <a:p>
            <a:pPr marL="0" lvl="0" indent="0" eaLnBrk="1" hangingPunct="1">
              <a:lnSpc>
                <a:spcPct val="112000"/>
              </a:lnSpc>
              <a:spcBef>
                <a:spcPts val="600"/>
              </a:spcBef>
              <a:buNone/>
              <a:tabLst>
                <a:tab pos="571500" algn="l"/>
              </a:tabLst>
            </a:pPr>
            <a:r>
              <a:rPr lang="en-US" sz="2400" b="1" kern="1200" dirty="0">
                <a:solidFill>
                  <a:srgbClr val="000000"/>
                </a:solidFill>
                <a:latin typeface="VNI-Times" pitchFamily="2" charset="0"/>
                <a:sym typeface="Symbol" pitchFamily="18" charset="2"/>
              </a:rPr>
              <a:t>            </a:t>
            </a:r>
            <a:r>
              <a:rPr lang="en-US" sz="2400" kern="1200" dirty="0">
                <a:solidFill>
                  <a:srgbClr val="009900"/>
                </a:solidFill>
                <a:latin typeface="Times New Roman" panose="02020603050405020304" pitchFamily="18" charset="0"/>
                <a:cs typeface="Times New Roman" panose="02020603050405020304" pitchFamily="18" charset="0"/>
                <a:sym typeface="Symbol" pitchFamily="18" charset="2"/>
              </a:rPr>
              <a:t> M : M { x </a:t>
            </a:r>
            <a:r>
              <a:rPr lang="en-US" sz="2400" kern="1200" dirty="0">
                <a:solidFill>
                  <a:srgbClr val="009900"/>
                </a:solidFill>
                <a:latin typeface="Times New Roman" panose="02020603050405020304" pitchFamily="18" charset="0"/>
                <a:cs typeface="Times New Roman" panose="02020603050405020304" pitchFamily="18" charset="0"/>
              </a:rPr>
              <a:t>| Man (x)} . Meet1 (M, 3 PM).</a:t>
            </a:r>
          </a:p>
          <a:p>
            <a:pPr lvl="0" eaLnBrk="1" hangingPunct="1">
              <a:lnSpc>
                <a:spcPct val="112000"/>
              </a:lnSpc>
              <a:spcBef>
                <a:spcPts val="600"/>
              </a:spcBef>
              <a:buFontTx/>
              <a:buChar char="-"/>
              <a:tabLst>
                <a:tab pos="571500" algn="l"/>
              </a:tabLst>
            </a:pPr>
            <a:r>
              <a:rPr lang="en-US" sz="2400" kern="1200" dirty="0">
                <a:latin typeface="Times New Roman" panose="02020603050405020304" pitchFamily="18" charset="0"/>
                <a:cs typeface="Times New Roman" panose="02020603050405020304" pitchFamily="18" charset="0"/>
              </a:rPr>
              <a:t>Consider the different formulas that arise from the collective/distributive readings.</a:t>
            </a:r>
          </a:p>
          <a:p>
            <a:pPr marL="0" lvl="0" indent="0" eaLnBrk="1" hangingPunct="1">
              <a:lnSpc>
                <a:spcPct val="112000"/>
              </a:lnSpc>
              <a:spcBef>
                <a:spcPts val="600"/>
              </a:spcBef>
              <a:buNone/>
              <a:tabLst>
                <a:tab pos="571500" algn="l"/>
              </a:tabLst>
            </a:pPr>
            <a:r>
              <a:rPr lang="en-US" sz="2400" b="1" i="1" kern="1200" dirty="0">
                <a:latin typeface="Times New Roman" panose="02020603050405020304" pitchFamily="18" charset="0"/>
                <a:cs typeface="Times New Roman" panose="02020603050405020304" pitchFamily="18" charset="0"/>
              </a:rPr>
              <a:t>Example: </a:t>
            </a:r>
            <a:r>
              <a:rPr lang="en-US" sz="2400" kern="1200" dirty="0">
                <a:latin typeface="Times New Roman" panose="02020603050405020304" pitchFamily="18" charset="0"/>
                <a:cs typeface="Times New Roman" panose="02020603050405020304" pitchFamily="18" charset="0"/>
              </a:rPr>
              <a:t>There are two interpretations of the sentence </a:t>
            </a:r>
            <a:r>
              <a:rPr lang="en-US" sz="2400" i="1" kern="1200" dirty="0">
                <a:solidFill>
                  <a:srgbClr val="0070C0"/>
                </a:solidFill>
                <a:latin typeface="Times New Roman" panose="02020603050405020304" pitchFamily="18" charset="0"/>
                <a:cs typeface="Times New Roman" panose="02020603050405020304" pitchFamily="18" charset="0"/>
              </a:rPr>
              <a:t>Some men bought a suit, </a:t>
            </a:r>
            <a:r>
              <a:rPr lang="en-US" sz="2400" kern="1200" dirty="0">
                <a:latin typeface="Times New Roman" panose="02020603050405020304" pitchFamily="18" charset="0"/>
                <a:cs typeface="Times New Roman" panose="02020603050405020304" pitchFamily="18" charset="0"/>
              </a:rPr>
              <a:t>which has following logical forms (omitting the tense operator)</a:t>
            </a:r>
          </a:p>
          <a:p>
            <a:pPr marL="0" lvl="0" indent="0" eaLnBrk="1" hangingPunct="1">
              <a:lnSpc>
                <a:spcPct val="112000"/>
              </a:lnSpc>
              <a:spcBef>
                <a:spcPts val="600"/>
              </a:spcBef>
              <a:buNone/>
              <a:tabLst>
                <a:tab pos="571500" algn="l"/>
              </a:tabLst>
              <a:defRPr/>
            </a:pPr>
            <a:r>
              <a:rPr lang="en-US" sz="2400" b="1" kern="1200" dirty="0">
                <a:solidFill>
                  <a:srgbClr val="000000"/>
                </a:solidFill>
                <a:latin typeface="VNI-Times" pitchFamily="2" charset="0"/>
              </a:rPr>
              <a:t>           </a:t>
            </a:r>
            <a:r>
              <a:rPr lang="en-US" sz="2400" kern="1200" dirty="0">
                <a:solidFill>
                  <a:srgbClr val="009900"/>
                </a:solidFill>
                <a:latin typeface="Times New Roman" panose="02020603050405020304" pitchFamily="18" charset="0"/>
                <a:cs typeface="Times New Roman" panose="02020603050405020304" pitchFamily="18" charset="0"/>
              </a:rPr>
              <a:t>( SOME  m1 : ( PLUR  MAN1 )</a:t>
            </a:r>
            <a:br>
              <a:rPr lang="en-US" sz="2400" kern="1200" dirty="0">
                <a:solidFill>
                  <a:srgbClr val="009900"/>
                </a:solidFill>
                <a:latin typeface="Times New Roman" panose="02020603050405020304" pitchFamily="18" charset="0"/>
                <a:cs typeface="Times New Roman" panose="02020603050405020304" pitchFamily="18" charset="0"/>
              </a:rPr>
            </a:br>
            <a:r>
              <a:rPr lang="en-US" sz="2400" kern="1200" dirty="0">
                <a:solidFill>
                  <a:srgbClr val="009900"/>
                </a:solidFill>
                <a:latin typeface="Times New Roman" panose="02020603050405020304" pitchFamily="18" charset="0"/>
                <a:cs typeface="Times New Roman" panose="02020603050405020304" pitchFamily="18" charset="0"/>
              </a:rPr>
              <a:t>		( A  s1 : SUIT1</a:t>
            </a:r>
            <a:br>
              <a:rPr lang="en-US" sz="2400" kern="1200" dirty="0">
                <a:solidFill>
                  <a:srgbClr val="009900"/>
                </a:solidFill>
                <a:latin typeface="Times New Roman" panose="02020603050405020304" pitchFamily="18" charset="0"/>
                <a:cs typeface="Times New Roman" panose="02020603050405020304" pitchFamily="18" charset="0"/>
              </a:rPr>
            </a:br>
            <a:r>
              <a:rPr lang="en-US" sz="2400" kern="1200" dirty="0">
                <a:solidFill>
                  <a:srgbClr val="009900"/>
                </a:solidFill>
                <a:latin typeface="Times New Roman" panose="02020603050405020304" pitchFamily="18" charset="0"/>
                <a:cs typeface="Times New Roman" panose="02020603050405020304" pitchFamily="18" charset="0"/>
              </a:rPr>
              <a:t>		BUY1  m1  s1 )))</a:t>
            </a:r>
          </a:p>
          <a:p>
            <a:pPr marL="0" lvl="0" indent="0" eaLnBrk="1" hangingPunct="1">
              <a:spcBef>
                <a:spcPct val="50000"/>
              </a:spcBef>
              <a:buNone/>
              <a:tabLst>
                <a:tab pos="571500" algn="l"/>
              </a:tabLst>
            </a:pPr>
            <a:endParaRPr lang="en-US" sz="2400" i="1" kern="1200" dirty="0">
              <a:solidFill>
                <a:srgbClr val="0070C0"/>
              </a:solidFill>
              <a:latin typeface="Times New Roman" panose="02020603050405020304" pitchFamily="18" charset="0"/>
              <a:cs typeface="Times New Roman" panose="02020603050405020304" pitchFamily="18" charset="0"/>
            </a:endParaRPr>
          </a:p>
          <a:p>
            <a:pPr marL="0" lvl="0" indent="0">
              <a:lnSpc>
                <a:spcPct val="112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9865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487362"/>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152400" y="838200"/>
            <a:ext cx="8915400" cy="5791200"/>
          </a:xfrm>
        </p:spPr>
        <p:txBody>
          <a:bodyPr/>
          <a:lstStyle/>
          <a:p>
            <a:pPr marL="0" lvl="0" indent="0">
              <a:lnSpc>
                <a:spcPct val="112000"/>
              </a:lnSpc>
              <a:spcBef>
                <a:spcPts val="600"/>
              </a:spcBef>
              <a:buNone/>
            </a:pPr>
            <a:r>
              <a:rPr lang="en-US" sz="2400" b="1" dirty="0">
                <a:solidFill>
                  <a:srgbClr val="0070C0"/>
                </a:solidFill>
                <a:latin typeface="Times New Roman" panose="02020603050405020304" pitchFamily="18" charset="0"/>
                <a:cs typeface="Times New Roman" panose="02020603050405020304" pitchFamily="18" charset="0"/>
              </a:rPr>
              <a:t>11.4 Handling Natural Language Quantifications</a:t>
            </a:r>
            <a:endParaRPr lang="en-US" sz="2400" dirty="0">
              <a:solidFill>
                <a:srgbClr val="000000"/>
              </a:solidFill>
              <a:latin typeface="Times New Roman" panose="02020603050405020304" pitchFamily="18" charset="0"/>
              <a:cs typeface="Times New Roman" panose="02020603050405020304" pitchFamily="18" charset="0"/>
            </a:endParaRPr>
          </a:p>
          <a:p>
            <a:pPr marL="0" indent="0">
              <a:lnSpc>
                <a:spcPct val="112000"/>
              </a:lnSpc>
              <a:spcBef>
                <a:spcPts val="600"/>
              </a:spcBef>
              <a:buNone/>
            </a:pPr>
            <a:r>
              <a:rPr lang="en-US" sz="2400" dirty="0">
                <a:latin typeface="Times New Roman" panose="02020603050405020304" pitchFamily="18" charset="0"/>
                <a:cs typeface="Times New Roman" panose="02020603050405020304" pitchFamily="18" charset="0"/>
              </a:rPr>
              <a:t>-    The collective reading would map to:</a:t>
            </a:r>
          </a:p>
          <a:p>
            <a:pPr marL="0" lvl="0" indent="0" eaLnBrk="1" hangingPunct="1">
              <a:lnSpc>
                <a:spcPct val="112000"/>
              </a:lnSpc>
              <a:spcBef>
                <a:spcPts val="600"/>
              </a:spcBef>
              <a:buNone/>
              <a:tabLst>
                <a:tab pos="571500" algn="l"/>
              </a:tabLst>
              <a:defRPr/>
            </a:pPr>
            <a:r>
              <a:rPr lang="en-US" sz="2400" b="1" kern="1200" dirty="0">
                <a:solidFill>
                  <a:srgbClr val="000000"/>
                </a:solidFill>
                <a:latin typeface="Times New Roman" panose="02020603050405020304" pitchFamily="18" charset="0"/>
                <a:cs typeface="Times New Roman" panose="02020603050405020304" pitchFamily="18" charset="0"/>
                <a:sym typeface="Symbol" pitchFamily="18" charset="2"/>
              </a:rPr>
              <a:t>      </a:t>
            </a:r>
            <a:r>
              <a:rPr lang="en-US" sz="2400" kern="1200" dirty="0">
                <a:solidFill>
                  <a:srgbClr val="009900"/>
                </a:solidFill>
                <a:latin typeface="Times New Roman" panose="02020603050405020304" pitchFamily="18" charset="0"/>
                <a:cs typeface="Times New Roman" panose="02020603050405020304" pitchFamily="18" charset="0"/>
                <a:sym typeface="Symbol" pitchFamily="18" charset="2"/>
              </a:rPr>
              <a:t> M1 : M1  { z </a:t>
            </a:r>
            <a:r>
              <a:rPr lang="en-US" sz="2400" kern="1200" dirty="0">
                <a:solidFill>
                  <a:srgbClr val="009900"/>
                </a:solidFill>
                <a:latin typeface="Times New Roman" panose="02020603050405020304" pitchFamily="18" charset="0"/>
                <a:cs typeface="Times New Roman" panose="02020603050405020304" pitchFamily="18" charset="0"/>
              </a:rPr>
              <a:t>| Man ( z ) }  </a:t>
            </a:r>
            <a:r>
              <a:rPr lang="en-US" sz="2400" kern="1200" dirty="0">
                <a:solidFill>
                  <a:srgbClr val="009900"/>
                </a:solidFill>
                <a:latin typeface="Times New Roman" panose="02020603050405020304" pitchFamily="18" charset="0"/>
                <a:cs typeface="Times New Roman" panose="02020603050405020304" pitchFamily="18" charset="0"/>
                <a:sym typeface="Symbol" pitchFamily="18" charset="2"/>
              </a:rPr>
              <a:t></a:t>
            </a:r>
            <a:r>
              <a:rPr lang="en-US" sz="2400" kern="1200" dirty="0">
                <a:solidFill>
                  <a:srgbClr val="009900"/>
                </a:solidFill>
                <a:latin typeface="Times New Roman" panose="02020603050405020304" pitchFamily="18" charset="0"/>
                <a:cs typeface="Times New Roman" panose="02020603050405020304" pitchFamily="18" charset="0"/>
              </a:rPr>
              <a:t> s : Suit ( s ) . Buy1 ( M1 , s )</a:t>
            </a:r>
          </a:p>
          <a:p>
            <a:pPr marL="0" lvl="0" indent="0" eaLnBrk="1" hangingPunct="1">
              <a:lnSpc>
                <a:spcPct val="112000"/>
              </a:lnSpc>
              <a:spcBef>
                <a:spcPts val="600"/>
              </a:spcBef>
              <a:buNone/>
              <a:tabLst>
                <a:tab pos="571500" algn="l"/>
              </a:tabLst>
              <a:defRPr/>
            </a:pPr>
            <a:r>
              <a:rPr lang="en-US" sz="2400" kern="1200" dirty="0">
                <a:latin typeface="Times New Roman" panose="02020603050405020304" pitchFamily="18" charset="0"/>
                <a:cs typeface="Times New Roman" panose="02020603050405020304" pitchFamily="18" charset="0"/>
              </a:rPr>
              <a:t>     that is, there is a subset of the set of all men who together  </a:t>
            </a:r>
          </a:p>
          <a:p>
            <a:pPr marL="0" lvl="0" indent="0" eaLnBrk="1" hangingPunct="1">
              <a:lnSpc>
                <a:spcPct val="112000"/>
              </a:lnSpc>
              <a:spcBef>
                <a:spcPts val="600"/>
              </a:spcBef>
              <a:buNone/>
              <a:tabLst>
                <a:tab pos="571500" algn="l"/>
              </a:tabLst>
              <a:defRPr/>
            </a:pPr>
            <a:r>
              <a:rPr lang="en-US" sz="2400" kern="1200" dirty="0">
                <a:latin typeface="Times New Roman" panose="02020603050405020304" pitchFamily="18" charset="0"/>
                <a:cs typeface="Times New Roman" panose="02020603050405020304" pitchFamily="18" charset="0"/>
              </a:rPr>
              <a:t>    bought  a suit.</a:t>
            </a:r>
          </a:p>
          <a:p>
            <a:pPr marL="0" lvl="0" indent="0" eaLnBrk="1" hangingPunct="1">
              <a:lnSpc>
                <a:spcPct val="112000"/>
              </a:lnSpc>
              <a:spcBef>
                <a:spcPts val="600"/>
              </a:spcBef>
              <a:buNone/>
              <a:tabLst>
                <a:tab pos="571500" algn="l"/>
              </a:tabLst>
              <a:defRPr/>
            </a:pPr>
            <a:r>
              <a:rPr lang="en-US" sz="2400" kern="1200" dirty="0">
                <a:latin typeface="Times New Roman" panose="02020603050405020304" pitchFamily="18" charset="0"/>
                <a:cs typeface="Times New Roman" panose="02020603050405020304" pitchFamily="18" charset="0"/>
              </a:rPr>
              <a:t>-    The distributive reading would map to:</a:t>
            </a:r>
          </a:p>
          <a:p>
            <a:pPr marL="0" lvl="0" indent="0" eaLnBrk="1" hangingPunct="1">
              <a:lnSpc>
                <a:spcPct val="112000"/>
              </a:lnSpc>
              <a:spcBef>
                <a:spcPts val="600"/>
              </a:spcBef>
              <a:buNone/>
              <a:tabLst>
                <a:tab pos="571500" algn="l"/>
              </a:tabLst>
              <a:defRPr/>
            </a:pPr>
            <a:r>
              <a:rPr lang="en-US" sz="2400" b="1" kern="1200" dirty="0">
                <a:solidFill>
                  <a:srgbClr val="000000"/>
                </a:solidFill>
                <a:latin typeface="Times New Roman" panose="02020603050405020304" pitchFamily="18" charset="0"/>
                <a:cs typeface="Times New Roman" panose="02020603050405020304" pitchFamily="18" charset="0"/>
                <a:sym typeface="Symbol" pitchFamily="18" charset="2"/>
              </a:rPr>
              <a:t>    </a:t>
            </a:r>
            <a:r>
              <a:rPr lang="en-US" sz="2400" kern="1200" dirty="0">
                <a:solidFill>
                  <a:srgbClr val="009900"/>
                </a:solidFill>
                <a:latin typeface="Times New Roman" panose="02020603050405020304" pitchFamily="18" charset="0"/>
                <a:cs typeface="Times New Roman" panose="02020603050405020304" pitchFamily="18" charset="0"/>
                <a:sym typeface="Symbol" pitchFamily="18" charset="2"/>
              </a:rPr>
              <a:t> M2 : M2  { z </a:t>
            </a:r>
            <a:r>
              <a:rPr lang="en-US" sz="2400" kern="1200" dirty="0">
                <a:solidFill>
                  <a:srgbClr val="009900"/>
                </a:solidFill>
                <a:latin typeface="Times New Roman" panose="02020603050405020304" pitchFamily="18" charset="0"/>
                <a:cs typeface="Times New Roman" panose="02020603050405020304" pitchFamily="18" charset="0"/>
              </a:rPr>
              <a:t>| Man ( z ) }  </a:t>
            </a:r>
            <a:r>
              <a:rPr lang="en-US" sz="2400" kern="1200" dirty="0">
                <a:solidFill>
                  <a:srgbClr val="009900"/>
                </a:solidFill>
                <a:latin typeface="Times New Roman" panose="02020603050405020304" pitchFamily="18" charset="0"/>
                <a:cs typeface="Times New Roman" panose="02020603050405020304" pitchFamily="18" charset="0"/>
                <a:sym typeface="Symbol" pitchFamily="18" charset="2"/>
              </a:rPr>
              <a:t> m</a:t>
            </a:r>
            <a:r>
              <a:rPr lang="en-US" sz="2400" kern="1200" dirty="0">
                <a:solidFill>
                  <a:srgbClr val="009900"/>
                </a:solidFill>
                <a:latin typeface="Times New Roman" panose="02020603050405020304" pitchFamily="18" charset="0"/>
                <a:cs typeface="Times New Roman" panose="02020603050405020304" pitchFamily="18" charset="0"/>
              </a:rPr>
              <a:t> : m </a:t>
            </a:r>
            <a:r>
              <a:rPr lang="en-US" sz="2400" kern="1200" dirty="0">
                <a:solidFill>
                  <a:srgbClr val="009900"/>
                </a:solidFill>
                <a:latin typeface="Times New Roman" panose="02020603050405020304" pitchFamily="18" charset="0"/>
                <a:cs typeface="Times New Roman" panose="02020603050405020304" pitchFamily="18" charset="0"/>
                <a:sym typeface="Symbol" pitchFamily="18" charset="2"/>
              </a:rPr>
              <a:t> M2</a:t>
            </a:r>
            <a:br>
              <a:rPr lang="en-US" sz="2400" kern="1200" dirty="0">
                <a:solidFill>
                  <a:srgbClr val="009900"/>
                </a:solidFill>
                <a:latin typeface="Times New Roman" panose="02020603050405020304" pitchFamily="18" charset="0"/>
                <a:cs typeface="Times New Roman" panose="02020603050405020304" pitchFamily="18" charset="0"/>
                <a:sym typeface="Symbol" pitchFamily="18" charset="2"/>
              </a:rPr>
            </a:br>
            <a:r>
              <a:rPr lang="en-US" sz="2400" kern="1200" dirty="0">
                <a:solidFill>
                  <a:srgbClr val="009900"/>
                </a:solidFill>
                <a:latin typeface="Times New Roman" panose="02020603050405020304" pitchFamily="18" charset="0"/>
                <a:cs typeface="Times New Roman" panose="02020603050405020304" pitchFamily="18" charset="0"/>
                <a:sym typeface="Symbol" pitchFamily="18" charset="2"/>
              </a:rPr>
              <a:t>		  s : Suit ( s ) . Buy1 ( m , s )</a:t>
            </a:r>
          </a:p>
          <a:p>
            <a:pPr marL="0" lvl="0" indent="0" eaLnBrk="1" hangingPunct="1">
              <a:lnSpc>
                <a:spcPct val="112000"/>
              </a:lnSpc>
              <a:spcBef>
                <a:spcPts val="600"/>
              </a:spcBef>
              <a:buNone/>
              <a:tabLst>
                <a:tab pos="571500" algn="l"/>
              </a:tabLst>
              <a:defRPr/>
            </a:pPr>
            <a:r>
              <a:rPr lang="en-US" sz="2400" kern="1200" dirty="0">
                <a:latin typeface="Times New Roman" panose="02020603050405020304" pitchFamily="18" charset="0"/>
                <a:cs typeface="Times New Roman" panose="02020603050405020304" pitchFamily="18" charset="0"/>
                <a:sym typeface="Symbol" pitchFamily="18" charset="2"/>
              </a:rPr>
              <a:t>     that is, there are some men individually buying suit .</a:t>
            </a:r>
          </a:p>
          <a:p>
            <a:pPr marL="0" lvl="0" indent="0" eaLnBrk="1" hangingPunct="1">
              <a:lnSpc>
                <a:spcPct val="112000"/>
              </a:lnSpc>
              <a:spcBef>
                <a:spcPts val="600"/>
              </a:spcBef>
              <a:buNone/>
              <a:tabLst>
                <a:tab pos="571500" algn="l"/>
              </a:tabLst>
              <a:defRPr/>
            </a:pPr>
            <a:r>
              <a:rPr lang="en-US" sz="2400" kern="1200" dirty="0">
                <a:latin typeface="Times New Roman" panose="02020603050405020304" pitchFamily="18" charset="0"/>
                <a:cs typeface="Times New Roman" panose="02020603050405020304" pitchFamily="18" charset="0"/>
                <a:sym typeface="Symbol" pitchFamily="18" charset="2"/>
              </a:rPr>
              <a:t>Note that the collective and distributive readings involve a common core meaning involving the subset of men The only difference is whether we use the set as a unit or quantify over all members of the set.</a:t>
            </a:r>
            <a:endParaRPr lang="en-US" sz="2400" kern="1200" dirty="0">
              <a:latin typeface="Times New Roman" panose="02020603050405020304" pitchFamily="18" charset="0"/>
              <a:cs typeface="Times New Roman" panose="02020603050405020304" pitchFamily="18" charset="0"/>
            </a:endParaRPr>
          </a:p>
          <a:p>
            <a:pPr marL="0" lvl="0" indent="0" eaLnBrk="1" hangingPunct="1">
              <a:spcBef>
                <a:spcPct val="50000"/>
              </a:spcBef>
              <a:buNone/>
              <a:tabLst>
                <a:tab pos="571500" algn="l"/>
              </a:tabLst>
              <a:defRPr/>
            </a:pPr>
            <a:endParaRPr lang="en-US" sz="2400" kern="1200" dirty="0">
              <a:latin typeface="Times New Roman" panose="02020603050405020304" pitchFamily="18" charset="0"/>
              <a:cs typeface="Times New Roman" panose="02020603050405020304" pitchFamily="18" charset="0"/>
            </a:endParaRPr>
          </a:p>
          <a:p>
            <a:pPr marL="0" indent="0">
              <a:buNone/>
            </a:pPr>
            <a:endParaRPr lang="en-US" sz="2400" dirty="0">
              <a:solidFill>
                <a:srgbClr val="0099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1486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914400"/>
            <a:ext cx="8458200" cy="5638800"/>
          </a:xfrm>
        </p:spPr>
        <p:txBody>
          <a:bodyPr/>
          <a:lstStyle/>
          <a:p>
            <a:pPr marL="0" lvl="0" indent="0">
              <a:lnSpc>
                <a:spcPct val="112000"/>
              </a:lnSpc>
              <a:spcBef>
                <a:spcPts val="600"/>
              </a:spcBef>
              <a:buNone/>
            </a:pPr>
            <a:r>
              <a:rPr lang="en-US" sz="2400" b="1" dirty="0">
                <a:solidFill>
                  <a:srgbClr val="0070C0"/>
                </a:solidFill>
                <a:latin typeface="Times New Roman" panose="02020603050405020304" pitchFamily="18" charset="0"/>
                <a:cs typeface="Times New Roman" panose="02020603050405020304" pitchFamily="18" charset="0"/>
              </a:rPr>
              <a:t>11.4 Handling Natural Language Quantifications</a:t>
            </a:r>
            <a:endParaRPr lang="en-US" sz="2400" dirty="0">
              <a:solidFill>
                <a:srgbClr val="000000"/>
              </a:solidFill>
              <a:latin typeface="Times New Roman" panose="02020603050405020304" pitchFamily="18" charset="0"/>
              <a:cs typeface="Times New Roman" panose="02020603050405020304" pitchFamily="18" charset="0"/>
            </a:endParaRPr>
          </a:p>
          <a:p>
            <a:pPr marL="0" indent="0">
              <a:lnSpc>
                <a:spcPct val="112000"/>
              </a:lnSpc>
              <a:spcBef>
                <a:spcPts val="600"/>
              </a:spcBef>
              <a:buNone/>
            </a:pPr>
            <a:r>
              <a:rPr lang="en-US" sz="2400" b="1" i="1" dirty="0">
                <a:solidFill>
                  <a:srgbClr val="C00000"/>
                </a:solidFill>
                <a:latin typeface="Times New Roman" panose="02020603050405020304" pitchFamily="18" charset="0"/>
                <a:cs typeface="Times New Roman" panose="02020603050405020304" pitchFamily="18" charset="0"/>
              </a:rPr>
              <a:t>New function of cardinality of set</a:t>
            </a:r>
          </a:p>
          <a:p>
            <a:pPr marL="0" indent="0">
              <a:lnSpc>
                <a:spcPct val="112000"/>
              </a:lnSpc>
              <a:spcBef>
                <a:spcPts val="600"/>
              </a:spcBef>
              <a:buNone/>
            </a:pPr>
            <a:r>
              <a:rPr lang="en-US" sz="2400" dirty="0">
                <a:latin typeface="Times New Roman" panose="02020603050405020304" pitchFamily="18" charset="0"/>
                <a:cs typeface="Times New Roman" panose="02020603050405020304" pitchFamily="18" charset="0"/>
              </a:rPr>
              <a:t>For any given set S, let | S | be the number of elements in S.</a:t>
            </a:r>
          </a:p>
          <a:p>
            <a:pPr marL="0" indent="0">
              <a:lnSpc>
                <a:spcPct val="112000"/>
              </a:lnSpc>
              <a:spcBef>
                <a:spcPts val="600"/>
              </a:spcBef>
              <a:buNone/>
            </a:pPr>
            <a:r>
              <a:rPr lang="en-US" sz="2400" dirty="0">
                <a:latin typeface="Times New Roman" panose="02020603050405020304" pitchFamily="18" charset="0"/>
                <a:cs typeface="Times New Roman" panose="02020603050405020304" pitchFamily="18" charset="0"/>
              </a:rPr>
              <a:t> For example, the meaning of </a:t>
            </a:r>
            <a:r>
              <a:rPr lang="en-US" sz="2400" i="1" dirty="0">
                <a:solidFill>
                  <a:srgbClr val="0070C0"/>
                </a:solidFill>
                <a:latin typeface="Times New Roman" panose="02020603050405020304" pitchFamily="18" charset="0"/>
                <a:cs typeface="Times New Roman" panose="02020603050405020304" pitchFamily="18" charset="0"/>
              </a:rPr>
              <a:t>Three men entered the room</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would be as follows (tense information is omitted):</a:t>
            </a:r>
          </a:p>
          <a:p>
            <a:pPr marL="0" lvl="0" indent="0" eaLnBrk="1" hangingPunct="1">
              <a:lnSpc>
                <a:spcPct val="112000"/>
              </a:lnSpc>
              <a:spcBef>
                <a:spcPts val="600"/>
              </a:spcBef>
              <a:buNone/>
              <a:tabLst>
                <a:tab pos="571500" algn="l"/>
              </a:tabLst>
              <a:defRPr/>
            </a:pPr>
            <a:r>
              <a:rPr lang="en-US" sz="2400" b="1" kern="1200" dirty="0">
                <a:solidFill>
                  <a:srgbClr val="000000"/>
                </a:solidFill>
                <a:latin typeface="VNI-Times" pitchFamily="2" charset="0"/>
                <a:sym typeface="Symbol" pitchFamily="18" charset="2"/>
              </a:rPr>
              <a:t>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M : ( M  { y </a:t>
            </a:r>
            <a:r>
              <a:rPr lang="en-US" sz="2400" kern="1200" dirty="0">
                <a:solidFill>
                  <a:srgbClr val="0070C0"/>
                </a:solidFill>
                <a:latin typeface="Times New Roman" panose="02020603050405020304" pitchFamily="18" charset="0"/>
                <a:cs typeface="Times New Roman" panose="02020603050405020304" pitchFamily="18" charset="0"/>
              </a:rPr>
              <a:t>| Man ( y ) }  &amp; |</a:t>
            </a: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rPr>
              <a:t>M</a:t>
            </a: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rPr>
              <a:t>|</a:t>
            </a: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rPr>
              <a:t>= 3</a:t>
            </a: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b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b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m</a:t>
            </a:r>
            <a:r>
              <a:rPr lang="en-US" sz="2400" kern="1200" dirty="0">
                <a:solidFill>
                  <a:srgbClr val="0070C0"/>
                </a:solidFill>
                <a:latin typeface="Times New Roman" panose="02020603050405020304" pitchFamily="18" charset="0"/>
                <a:cs typeface="Times New Roman" panose="02020603050405020304" pitchFamily="18" charset="0"/>
              </a:rPr>
              <a:t> : m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M . Enter1 ( m , Room1 )</a:t>
            </a:r>
          </a:p>
          <a:p>
            <a:pPr marL="0" lvl="0" indent="0" eaLnBrk="1" hangingPunct="1">
              <a:lnSpc>
                <a:spcPct val="112000"/>
              </a:lnSpc>
              <a:spcBef>
                <a:spcPts val="600"/>
              </a:spcBef>
              <a:buNone/>
              <a:tabLst>
                <a:tab pos="571500" algn="l"/>
              </a:tabLst>
              <a:defRPr/>
            </a:pPr>
            <a:r>
              <a:rPr lang="en-US" sz="2400" dirty="0">
                <a:latin typeface="Times New Roman" panose="02020603050405020304" pitchFamily="18" charset="0"/>
                <a:cs typeface="Times New Roman" panose="02020603050405020304" pitchFamily="18" charset="0"/>
              </a:rPr>
              <a:t>By changing the restriction to | M | </a:t>
            </a:r>
            <a:r>
              <a:rPr lang="en-US" sz="2400" kern="1200" dirty="0">
                <a:latin typeface="Times New Roman" panose="02020603050405020304" pitchFamily="18" charset="0"/>
                <a:cs typeface="Times New Roman" panose="02020603050405020304" pitchFamily="18" charset="0"/>
                <a:sym typeface="Symbol" pitchFamily="18" charset="2"/>
              </a:rPr>
              <a:t> 3, we get the meaning of </a:t>
            </a:r>
          </a:p>
          <a:p>
            <a:pPr marL="0" lvl="0" indent="0" eaLnBrk="1" hangingPunct="1">
              <a:lnSpc>
                <a:spcPct val="112000"/>
              </a:lnSpc>
              <a:spcBef>
                <a:spcPts val="600"/>
              </a:spcBef>
              <a:buNone/>
              <a:tabLst>
                <a:tab pos="571500" algn="l"/>
              </a:tabLst>
              <a:defRPr/>
            </a:pP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 At least three men entered the room</a:t>
            </a:r>
            <a:r>
              <a:rPr lang="en-US" sz="2400" kern="1200" dirty="0">
                <a:latin typeface="Times New Roman" panose="02020603050405020304" pitchFamily="18" charset="0"/>
                <a:cs typeface="Times New Roman" panose="02020603050405020304" pitchFamily="18" charset="0"/>
                <a:sym typeface="Symbol" pitchFamily="18" charset="2"/>
              </a:rPr>
              <a:t>.</a:t>
            </a:r>
          </a:p>
          <a:p>
            <a:pPr marL="0" lvl="0" indent="0" eaLnBrk="1" hangingPunct="1">
              <a:lnSpc>
                <a:spcPct val="112000"/>
              </a:lnSpc>
              <a:spcBef>
                <a:spcPts val="600"/>
              </a:spcBef>
              <a:buNone/>
              <a:tabLst>
                <a:tab pos="571500" algn="l"/>
              </a:tabLst>
              <a:defRPr/>
            </a:pPr>
            <a:r>
              <a:rPr lang="en-US" sz="2400" kern="1200" dirty="0">
                <a:latin typeface="Times New Roman" panose="02020603050405020304" pitchFamily="18" charset="0"/>
                <a:cs typeface="Times New Roman" panose="02020603050405020304" pitchFamily="18" charset="0"/>
                <a:sym typeface="Symbol" pitchFamily="18" charset="2"/>
              </a:rPr>
              <a:t>If we define  most as being true if more than half of some set has a given property, then </a:t>
            </a: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Most men laughed</a:t>
            </a:r>
            <a:r>
              <a:rPr lang="en-US" sz="2400" kern="1200" dirty="0">
                <a:latin typeface="Times New Roman" panose="02020603050405020304" pitchFamily="18" charset="0"/>
                <a:cs typeface="Times New Roman" panose="02020603050405020304" pitchFamily="18" charset="0"/>
                <a:sym typeface="Symbol" pitchFamily="18" charset="2"/>
              </a:rPr>
              <a:t> might have the meaning: </a:t>
            </a:r>
          </a:p>
          <a:p>
            <a:pPr marL="0" lvl="0" indent="0" eaLnBrk="1" hangingPunct="1">
              <a:spcBef>
                <a:spcPct val="50000"/>
              </a:spcBef>
              <a:buNone/>
              <a:tabLst>
                <a:tab pos="571500" algn="l"/>
              </a:tabLst>
              <a:defRP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1722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609600"/>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685800" y="1524000"/>
            <a:ext cx="7848600" cy="4525963"/>
          </a:xfrm>
        </p:spPr>
        <p:txBody>
          <a:bodyPr/>
          <a:lstStyle/>
          <a:p>
            <a:pPr marL="0" lvl="0" indent="0">
              <a:lnSpc>
                <a:spcPct val="112000"/>
              </a:lnSpc>
              <a:spcBef>
                <a:spcPts val="600"/>
              </a:spcBef>
              <a:buNone/>
            </a:pPr>
            <a:r>
              <a:rPr lang="en-US" sz="2400" b="1" dirty="0">
                <a:solidFill>
                  <a:srgbClr val="0070C0"/>
                </a:solidFill>
                <a:latin typeface="Times New Roman" panose="02020603050405020304" pitchFamily="18" charset="0"/>
                <a:cs typeface="Times New Roman" panose="02020603050405020304" pitchFamily="18" charset="0"/>
              </a:rPr>
              <a:t>11.4 Handling Natural Language Quantifications</a:t>
            </a:r>
            <a:endPar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endParaRPr>
          </a:p>
          <a:p>
            <a:pPr marL="0" lvl="0" indent="0" eaLnBrk="1" hangingPunct="1">
              <a:lnSpc>
                <a:spcPct val="112000"/>
              </a:lnSpc>
              <a:spcBef>
                <a:spcPts val="600"/>
              </a:spcBef>
              <a:buNone/>
              <a:tabLst>
                <a:tab pos="571500" algn="l"/>
              </a:tabLst>
              <a:defRPr/>
            </a:pP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If we define  most as being true if more than half of some set has a given property, then </a:t>
            </a: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Most men laughed</a:t>
            </a: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 might have the meaning: </a:t>
            </a:r>
          </a:p>
          <a:p>
            <a:pPr marL="0" lvl="0" indent="0" eaLnBrk="1" hangingPunct="1">
              <a:lnSpc>
                <a:spcPct val="112000"/>
              </a:lnSpc>
              <a:spcBef>
                <a:spcPts val="600"/>
              </a:spcBef>
              <a:buNone/>
              <a:tabLst>
                <a:tab pos="571500" algn="l"/>
              </a:tabLst>
              <a:defRPr/>
            </a:pPr>
            <a:endPar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endParaRPr>
          </a:p>
          <a:p>
            <a:pPr marL="0" lvl="0" indent="0" eaLnBrk="1" hangingPunct="1">
              <a:spcBef>
                <a:spcPct val="50000"/>
              </a:spcBef>
              <a:buNone/>
              <a:tabLst>
                <a:tab pos="571500" algn="l"/>
              </a:tabLst>
              <a:defRPr/>
            </a:pP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a:t>
            </a:r>
            <a:r>
              <a:rPr lang="en-US" sz="2400" b="1" kern="1200" dirty="0">
                <a:solidFill>
                  <a:srgbClr val="000000"/>
                </a:solidFill>
                <a:latin typeface="VNI-Times" pitchFamily="2" charset="0"/>
                <a:sym typeface="Symbol" pitchFamily="18" charset="2"/>
              </a:rPr>
              <a:t></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M: (M {y </a:t>
            </a:r>
            <a:r>
              <a:rPr lang="en-US" sz="2400" kern="1200" dirty="0">
                <a:solidFill>
                  <a:srgbClr val="0070C0"/>
                </a:solidFill>
                <a:latin typeface="Times New Roman" panose="02020603050405020304" pitchFamily="18" charset="0"/>
                <a:cs typeface="Times New Roman" panose="02020603050405020304" pitchFamily="18" charset="0"/>
              </a:rPr>
              <a:t>| Man( y )}&amp;|</a:t>
            </a: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rPr>
              <a:t>M</a:t>
            </a: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rPr>
              <a:t>|</a:t>
            </a: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a:t>
            </a:r>
            <a:r>
              <a:rPr lang="en-US" sz="2400" kern="1200" dirty="0">
                <a:solidFill>
                  <a:srgbClr val="0070C0"/>
                </a:solidFill>
                <a:latin typeface="Times New Roman" panose="02020603050405020304" pitchFamily="18" charset="0"/>
                <a:cs typeface="Times New Roman" panose="02020603050405020304" pitchFamily="18" charset="0"/>
              </a:rPr>
              <a:t>|{ y |</a:t>
            </a: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rPr>
              <a:t>Man (y)}| </a:t>
            </a:r>
          </a:p>
          <a:p>
            <a:pPr marL="0" lvl="0" indent="0" eaLnBrk="1" hangingPunct="1">
              <a:spcBef>
                <a:spcPct val="50000"/>
              </a:spcBef>
              <a:buNone/>
              <a:tabLst>
                <a:tab pos="571500" algn="l"/>
              </a:tabLst>
              <a:defRPr/>
            </a:pPr>
            <a:r>
              <a:rPr lang="en-US" sz="2400" kern="1200" dirty="0">
                <a:solidFill>
                  <a:srgbClr val="0070C0"/>
                </a:solidFill>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m</a:t>
            </a:r>
            <a:r>
              <a:rPr lang="en-US" sz="2400" kern="1200" dirty="0">
                <a:solidFill>
                  <a:srgbClr val="0070C0"/>
                </a:solidFill>
                <a:latin typeface="Times New Roman" panose="02020603050405020304" pitchFamily="18" charset="0"/>
                <a:cs typeface="Times New Roman" panose="02020603050405020304" pitchFamily="18" charset="0"/>
              </a:rPr>
              <a:t> : m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M</a:t>
            </a:r>
            <a:r>
              <a:rPr lang="en-US" sz="2400" kern="1200" dirty="0">
                <a:solidFill>
                  <a:srgbClr val="0070C0"/>
                </a:solidFill>
                <a:effectLst>
                  <a:outerShdw blurRad="38100" dist="38100" dir="2700000" algn="tl">
                    <a:srgbClr val="C0C0C0"/>
                  </a:outerShdw>
                </a:effectLst>
                <a:latin typeface="Times New Roman" panose="02020603050405020304" pitchFamily="18" charset="0"/>
                <a:cs typeface="Times New Roman" panose="02020603050405020304" pitchFamily="18" charset="0"/>
                <a:sym typeface="Symbol" pitchFamily="18" charset="2"/>
              </a:rPr>
              <a:t>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Laughed ( m )</a:t>
            </a:r>
          </a:p>
          <a:p>
            <a:endParaRPr lang="en-US" dirty="0"/>
          </a:p>
        </p:txBody>
      </p:sp>
    </p:spTree>
    <p:extLst>
      <p:ext uri="{BB962C8B-B14F-4D97-AF65-F5344CB8AC3E}">
        <p14:creationId xmlns:p14="http://schemas.microsoft.com/office/powerpoint/2010/main" val="1543032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457200"/>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228600" y="762000"/>
            <a:ext cx="8839200" cy="5715000"/>
          </a:xfrm>
        </p:spPr>
        <p:txBody>
          <a:bodyPr/>
          <a:lstStyle/>
          <a:p>
            <a:pPr marL="0" indent="0">
              <a:buNone/>
            </a:pPr>
            <a:r>
              <a:rPr lang="en-US" sz="2600" b="1" kern="1200" dirty="0">
                <a:solidFill>
                  <a:srgbClr val="0070C0"/>
                </a:solidFill>
                <a:latin typeface="Times New Roman" panose="02020603050405020304" pitchFamily="18" charset="0"/>
                <a:cs typeface="Times New Roman" panose="02020603050405020304" pitchFamily="18" charset="0"/>
                <a:sym typeface="Symbol" pitchFamily="18" charset="2"/>
              </a:rPr>
              <a:t> </a:t>
            </a:r>
            <a:r>
              <a:rPr lang="en-US" sz="2400" b="1" kern="1200" dirty="0">
                <a:solidFill>
                  <a:srgbClr val="0070C0"/>
                </a:solidFill>
                <a:latin typeface="Times New Roman" panose="02020603050405020304" pitchFamily="18" charset="0"/>
                <a:cs typeface="Times New Roman" panose="02020603050405020304" pitchFamily="18" charset="0"/>
                <a:sym typeface="Symbol" pitchFamily="18" charset="2"/>
              </a:rPr>
              <a:t>11.5  Time and Aspectual Classes of Verbs</a:t>
            </a:r>
          </a:p>
          <a:p>
            <a:pPr>
              <a:lnSpc>
                <a:spcPct val="112000"/>
              </a:lnSpc>
              <a:spcAft>
                <a:spcPts val="1200"/>
              </a:spcAft>
              <a:buFontTx/>
              <a:buChar char="-"/>
            </a:pPr>
            <a:r>
              <a:rPr lang="en-US" sz="2400" kern="1200" dirty="0">
                <a:latin typeface="Times New Roman" panose="02020603050405020304" pitchFamily="18" charset="0"/>
                <a:cs typeface="Times New Roman" panose="02020603050405020304" pitchFamily="18" charset="0"/>
                <a:sym typeface="Symbol" pitchFamily="18" charset="2"/>
              </a:rPr>
              <a:t>One of the central components of any knowledge representation that supports natural language is the treatment of verbs and time.</a:t>
            </a:r>
          </a:p>
          <a:p>
            <a:pPr marL="0" indent="0">
              <a:lnSpc>
                <a:spcPct val="112000"/>
              </a:lnSpc>
              <a:spcAft>
                <a:spcPts val="1200"/>
              </a:spcAft>
              <a:buNone/>
            </a:pPr>
            <a:r>
              <a:rPr lang="en-US" sz="2400" b="1" i="1" kern="1200" dirty="0">
                <a:solidFill>
                  <a:srgbClr val="C00000"/>
                </a:solidFill>
                <a:latin typeface="Times New Roman" panose="02020603050405020304" pitchFamily="18" charset="0"/>
                <a:cs typeface="Times New Roman" panose="02020603050405020304" pitchFamily="18" charset="0"/>
                <a:sym typeface="Symbol" pitchFamily="18" charset="2"/>
              </a:rPr>
              <a:t>Time</a:t>
            </a:r>
          </a:p>
          <a:p>
            <a:pPr>
              <a:lnSpc>
                <a:spcPct val="112000"/>
              </a:lnSpc>
              <a:spcBef>
                <a:spcPts val="0"/>
              </a:spcBef>
              <a:spcAft>
                <a:spcPts val="600"/>
              </a:spcAft>
              <a:buFontTx/>
              <a:buChar char="-"/>
            </a:pPr>
            <a:r>
              <a:rPr lang="en-US" sz="2400" kern="1200" dirty="0">
                <a:latin typeface="Times New Roman" panose="02020603050405020304" pitchFamily="18" charset="0"/>
                <a:cs typeface="Times New Roman" panose="02020603050405020304" pitchFamily="18" charset="0"/>
                <a:sym typeface="Symbol" pitchFamily="18" charset="2"/>
              </a:rPr>
              <a:t>In the logical form language, temporal information was handled in</a:t>
            </a:r>
          </a:p>
          <a:p>
            <a:pPr marL="0" indent="0">
              <a:lnSpc>
                <a:spcPct val="112000"/>
              </a:lnSpc>
              <a:spcBef>
                <a:spcPts val="0"/>
              </a:spcBef>
              <a:spcAft>
                <a:spcPts val="600"/>
              </a:spcAft>
              <a:buNone/>
            </a:pPr>
            <a:r>
              <a:rPr lang="en-US" sz="2400" kern="1200" dirty="0">
                <a:latin typeface="Times New Roman" panose="02020603050405020304" pitchFamily="18" charset="0"/>
                <a:cs typeface="Times New Roman" panose="02020603050405020304" pitchFamily="18" charset="0"/>
                <a:sym typeface="Symbol" pitchFamily="18" charset="2"/>
              </a:rPr>
              <a:t>several ways. There were modal operators to present tense: PAST, PRES, PROG, FUT, and temporal connectives: PEFORE, DURING.</a:t>
            </a:r>
          </a:p>
          <a:p>
            <a:pPr>
              <a:lnSpc>
                <a:spcPct val="112000"/>
              </a:lnSpc>
              <a:spcAft>
                <a:spcPts val="1200"/>
              </a:spcAft>
              <a:buFontTx/>
              <a:buChar char="-"/>
            </a:pPr>
            <a:r>
              <a:rPr lang="en-US" sz="2400" kern="1200" dirty="0">
                <a:latin typeface="Times New Roman" panose="02020603050405020304" pitchFamily="18" charset="0"/>
                <a:cs typeface="Times New Roman" panose="02020603050405020304" pitchFamily="18" charset="0"/>
                <a:sym typeface="Symbol" pitchFamily="18" charset="2"/>
              </a:rPr>
              <a:t>There are several different types of time: time point, interval, durations.</a:t>
            </a:r>
          </a:p>
          <a:p>
            <a:pPr>
              <a:lnSpc>
                <a:spcPct val="112000"/>
              </a:lnSpc>
              <a:spcBef>
                <a:spcPts val="0"/>
              </a:spcBef>
              <a:spcAft>
                <a:spcPts val="1200"/>
              </a:spcAft>
              <a:buFontTx/>
              <a:buChar char="-"/>
            </a:pPr>
            <a:r>
              <a:rPr lang="en-US" sz="2400" kern="1200" dirty="0">
                <a:latin typeface="Times New Roman" panose="02020603050405020304" pitchFamily="18" charset="0"/>
                <a:cs typeface="Times New Roman" panose="02020603050405020304" pitchFamily="18" charset="0"/>
                <a:sym typeface="Symbol" pitchFamily="18" charset="2"/>
              </a:rPr>
              <a:t>The following predicates are allowed for temporal relations:</a:t>
            </a:r>
          </a:p>
          <a:p>
            <a:pPr marL="0" lvl="0" indent="0" eaLnBrk="1" hangingPunct="1">
              <a:lnSpc>
                <a:spcPct val="112000"/>
              </a:lnSpc>
              <a:spcBef>
                <a:spcPts val="0"/>
              </a:spcBef>
              <a:spcAft>
                <a:spcPts val="1200"/>
              </a:spcAft>
              <a:buNone/>
              <a:tabLst>
                <a:tab pos="571500" algn="l"/>
                <a:tab pos="1257300" algn="l"/>
              </a:tabLst>
              <a:defRPr/>
            </a:pPr>
            <a:r>
              <a:rPr lang="en-US" sz="2400" kern="1200" dirty="0">
                <a:solidFill>
                  <a:srgbClr val="000000"/>
                </a:solidFill>
                <a:latin typeface="Times New Roman" panose="02020603050405020304" pitchFamily="18" charset="0"/>
                <a:cs typeface="Times New Roman" panose="02020603050405020304" pitchFamily="18" charset="0"/>
              </a:rPr>
              <a:t>t1 &lt; t2	point / interval t1 is before point / interval t2</a:t>
            </a:r>
            <a:br>
              <a:rPr lang="en-US" sz="2400" kern="1200" dirty="0">
                <a:solidFill>
                  <a:srgbClr val="000000"/>
                </a:solidFill>
                <a:latin typeface="Times New Roman" panose="02020603050405020304" pitchFamily="18" charset="0"/>
                <a:cs typeface="Times New Roman" panose="02020603050405020304" pitchFamily="18" charset="0"/>
              </a:rPr>
            </a:br>
            <a:r>
              <a:rPr lang="en-US" sz="2400" kern="1200" dirty="0">
                <a:solidFill>
                  <a:srgbClr val="000000"/>
                </a:solidFill>
                <a:latin typeface="Times New Roman" panose="02020603050405020304" pitchFamily="18" charset="0"/>
                <a:cs typeface="Times New Roman" panose="02020603050405020304" pitchFamily="18" charset="0"/>
              </a:rPr>
              <a:t> </a:t>
            </a:r>
            <a:endPar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endParaRPr>
          </a:p>
          <a:p>
            <a:pPr>
              <a:lnSpc>
                <a:spcPct val="112000"/>
              </a:lnSpc>
              <a:spcAft>
                <a:spcPts val="1200"/>
              </a:spcAft>
              <a:buFontTx/>
              <a:buChar char="-"/>
            </a:pPr>
            <a:endParaRPr lang="en-US" sz="2400" kern="1200" dirty="0">
              <a:latin typeface="Times New Roman" panose="02020603050405020304" pitchFamily="18" charset="0"/>
              <a:cs typeface="Times New Roman" panose="02020603050405020304" pitchFamily="18" charset="0"/>
              <a:sym typeface="Symbol" pitchFamily="18" charset="2"/>
            </a:endParaRPr>
          </a:p>
          <a:p>
            <a:pPr>
              <a:lnSpc>
                <a:spcPct val="112000"/>
              </a:lnSpc>
              <a:spcAft>
                <a:spcPts val="1200"/>
              </a:spcAft>
              <a:buFontTx/>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9071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457200"/>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228600" y="762000"/>
            <a:ext cx="8763000" cy="5943600"/>
          </a:xfrm>
        </p:spPr>
        <p:txBody>
          <a:bodyPr/>
          <a:lstStyle/>
          <a:p>
            <a:pPr marL="0" lvl="0" indent="0">
              <a:buNone/>
            </a:pPr>
            <a:r>
              <a:rPr lang="en-US" sz="2400" kern="1200" dirty="0">
                <a:solidFill>
                  <a:srgbClr val="000000"/>
                </a:solidFill>
                <a:latin typeface="Times New Roman" panose="02020603050405020304" pitchFamily="18" charset="0"/>
                <a:cs typeface="Times New Roman" panose="02020603050405020304" pitchFamily="18" charset="0"/>
              </a:rPr>
              <a:t> </a:t>
            </a:r>
            <a:r>
              <a:rPr lang="en-US" sz="2400" b="1" kern="1200" dirty="0">
                <a:solidFill>
                  <a:srgbClr val="0070C0"/>
                </a:solidFill>
                <a:latin typeface="Times New Roman" panose="02020603050405020304" pitchFamily="18" charset="0"/>
                <a:cs typeface="Times New Roman" panose="02020603050405020304" pitchFamily="18" charset="0"/>
                <a:sym typeface="Symbol" pitchFamily="18" charset="2"/>
              </a:rPr>
              <a:t>11.5  Time and Aspectual Classes of Verbs</a:t>
            </a:r>
          </a:p>
          <a:p>
            <a:pPr marL="0" lvl="0" indent="0">
              <a:buNone/>
            </a:pPr>
            <a:endParaRPr lang="en-US" sz="2400" b="1" kern="1200" dirty="0">
              <a:solidFill>
                <a:srgbClr val="0070C0"/>
              </a:solidFill>
              <a:latin typeface="Times New Roman" panose="02020603050405020304" pitchFamily="18" charset="0"/>
              <a:cs typeface="Times New Roman" panose="02020603050405020304" pitchFamily="18" charset="0"/>
              <a:sym typeface="Symbol" pitchFamily="18" charset="2"/>
            </a:endParaRPr>
          </a:p>
          <a:p>
            <a:pPr marL="0" lvl="0" indent="0" eaLnBrk="1" hangingPunct="1">
              <a:lnSpc>
                <a:spcPct val="112000"/>
              </a:lnSpc>
              <a:spcBef>
                <a:spcPts val="0"/>
              </a:spcBef>
              <a:spcAft>
                <a:spcPts val="0"/>
              </a:spcAft>
              <a:buNone/>
              <a:tabLst>
                <a:tab pos="571500" algn="l"/>
                <a:tab pos="1257300" algn="l"/>
              </a:tabLst>
              <a:defRPr/>
            </a:pPr>
            <a:r>
              <a:rPr lang="en-US" sz="2400" kern="1200" dirty="0">
                <a:solidFill>
                  <a:srgbClr val="000000"/>
                </a:solidFill>
                <a:latin typeface="Times New Roman" panose="02020603050405020304" pitchFamily="18" charset="0"/>
                <a:cs typeface="Times New Roman" panose="02020603050405020304" pitchFamily="18" charset="0"/>
              </a:rPr>
              <a:t>   t1 : t2	interval t1 meets interval t2, or point t1 defines the  beginning of the interval t2, or point t2 defines the end of interval t1.</a:t>
            </a:r>
            <a:br>
              <a:rPr lang="en-US" sz="2400" kern="1200" dirty="0">
                <a:solidFill>
                  <a:srgbClr val="000000"/>
                </a:solidFill>
                <a:latin typeface="Times New Roman" panose="02020603050405020304" pitchFamily="18" charset="0"/>
                <a:cs typeface="Times New Roman" panose="02020603050405020304" pitchFamily="18" charset="0"/>
              </a:rPr>
            </a:br>
            <a:r>
              <a:rPr lang="en-US" sz="2400" kern="1200" dirty="0">
                <a:solidFill>
                  <a:srgbClr val="000000"/>
                </a:solidFill>
                <a:latin typeface="Times New Roman" panose="02020603050405020304" pitchFamily="18" charset="0"/>
                <a:cs typeface="Times New Roman" panose="02020603050405020304" pitchFamily="18" charset="0"/>
              </a:rPr>
              <a:t>  t1 </a:t>
            </a: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 t2	   point/ interval t1 is contained in interval t1 </a:t>
            </a:r>
          </a:p>
          <a:p>
            <a:pPr marL="0" indent="0">
              <a:lnSpc>
                <a:spcPct val="112000"/>
              </a:lnSpc>
              <a:spcBef>
                <a:spcPts val="600"/>
              </a:spcBef>
              <a:spcAft>
                <a:spcPts val="600"/>
              </a:spcAft>
              <a:buNone/>
            </a:pPr>
            <a:r>
              <a:rPr lang="en-US" sz="2400" dirty="0">
                <a:latin typeface="Times New Roman" panose="02020603050405020304" pitchFamily="18" charset="0"/>
                <a:cs typeface="Times New Roman" panose="02020603050405020304" pitchFamily="18" charset="0"/>
              </a:rPr>
              <a:t>Some predicates can be true only over interval of times, whereas others can be true only at points, and other can be true at either.</a:t>
            </a:r>
          </a:p>
          <a:p>
            <a:pPr marL="0" indent="0">
              <a:lnSpc>
                <a:spcPct val="112000"/>
              </a:lnSpc>
              <a:spcBef>
                <a:spcPts val="600"/>
              </a:spcBef>
              <a:spcAft>
                <a:spcPts val="600"/>
              </a:spcAft>
              <a:buNone/>
            </a:pPr>
            <a:r>
              <a:rPr lang="en-US" sz="2400" b="1" i="1" dirty="0">
                <a:solidFill>
                  <a:srgbClr val="C00000"/>
                </a:solidFill>
                <a:latin typeface="Times New Roman" panose="02020603050405020304" pitchFamily="18" charset="0"/>
                <a:cs typeface="Times New Roman" panose="02020603050405020304" pitchFamily="18" charset="0"/>
              </a:rPr>
              <a:t>Aspectual Classes of Verbs</a:t>
            </a:r>
          </a:p>
          <a:p>
            <a:pPr>
              <a:lnSpc>
                <a:spcPct val="112000"/>
              </a:lnSpc>
              <a:spcBef>
                <a:spcPts val="600"/>
              </a:spcBef>
              <a:spcAft>
                <a:spcPts val="0"/>
              </a:spcAft>
              <a:buFontTx/>
              <a:buChar char="-"/>
            </a:pPr>
            <a:r>
              <a:rPr lang="en-US" sz="2400" dirty="0">
                <a:latin typeface="Times New Roman" panose="02020603050405020304" pitchFamily="18" charset="0"/>
                <a:cs typeface="Times New Roman" panose="02020603050405020304" pitchFamily="18" charset="0"/>
              </a:rPr>
              <a:t>Sentences describe propositions that fall into at least three distinct classes: </a:t>
            </a:r>
          </a:p>
          <a:p>
            <a:pPr marL="0" indent="0">
              <a:buNone/>
            </a:pPr>
            <a:r>
              <a:rPr lang="en-US" sz="2400" dirty="0">
                <a:latin typeface="Times New Roman" panose="02020603050405020304" pitchFamily="18" charset="0"/>
                <a:cs typeface="Times New Roman" panose="02020603050405020304" pitchFamily="18" charset="0"/>
              </a:rPr>
              <a:t>            + those that describe states (stative proposition);</a:t>
            </a:r>
          </a:p>
          <a:p>
            <a:pPr marL="0" indent="0">
              <a:buNone/>
            </a:pPr>
            <a:r>
              <a:rPr lang="en-US" sz="2400" dirty="0">
                <a:latin typeface="Times New Roman" panose="02020603050405020304" pitchFamily="18" charset="0"/>
                <a:cs typeface="Times New Roman" panose="02020603050405020304" pitchFamily="18" charset="0"/>
              </a:rPr>
              <a:t>            + those define ongoing activities (activity proposition);</a:t>
            </a:r>
          </a:p>
          <a:p>
            <a:pPr marL="0" indent="0">
              <a:buNone/>
            </a:pPr>
            <a:r>
              <a:rPr lang="en-US" sz="2400" dirty="0">
                <a:latin typeface="Times New Roman" panose="02020603050405020304" pitchFamily="18" charset="0"/>
                <a:cs typeface="Times New Roman" panose="02020603050405020304" pitchFamily="18" charset="0"/>
              </a:rPr>
              <a:t>            + those define completed events (telic proposition)</a:t>
            </a:r>
          </a:p>
          <a:p>
            <a:pPr marL="0" indent="0">
              <a:buNone/>
            </a:pPr>
            <a:r>
              <a:rPr lang="en-US" sz="2400" b="1" i="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7643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1143000"/>
            <a:ext cx="8229600" cy="5486400"/>
          </a:xfrm>
        </p:spPr>
        <p:txBody>
          <a:bodyPr/>
          <a:lstStyle/>
          <a:p>
            <a:pPr marL="0" lvl="0" indent="0">
              <a:lnSpc>
                <a:spcPct val="112000"/>
              </a:lnSpc>
              <a:buNone/>
            </a:pPr>
            <a:r>
              <a:rPr lang="en-US" sz="2400" b="1" kern="1200" dirty="0">
                <a:solidFill>
                  <a:srgbClr val="0070C0"/>
                </a:solidFill>
                <a:latin typeface="Times New Roman" panose="02020603050405020304" pitchFamily="18" charset="0"/>
                <a:cs typeface="Times New Roman" panose="02020603050405020304" pitchFamily="18" charset="0"/>
                <a:sym typeface="Symbol" pitchFamily="18" charset="2"/>
              </a:rPr>
              <a:t>11.5  Time and Aspectual Classes of Verbs</a:t>
            </a:r>
          </a:p>
          <a:p>
            <a:pPr marL="0" lvl="0" indent="0">
              <a:lnSpc>
                <a:spcPct val="112000"/>
              </a:lnSpc>
              <a:buNone/>
            </a:pPr>
            <a:r>
              <a:rPr lang="en-US" sz="2400" b="1" i="1" dirty="0">
                <a:solidFill>
                  <a:srgbClr val="000000"/>
                </a:solidFill>
                <a:latin typeface="Times New Roman" panose="02020603050405020304" pitchFamily="18" charset="0"/>
                <a:cs typeface="Times New Roman" panose="02020603050405020304" pitchFamily="18" charset="0"/>
              </a:rPr>
              <a:t>Example:</a:t>
            </a:r>
          </a:p>
          <a:p>
            <a:pPr marL="0" lvl="0" indent="0">
              <a:lnSpc>
                <a:spcPct val="112000"/>
              </a:lnSpc>
              <a:buNone/>
            </a:pPr>
            <a:r>
              <a:rPr lang="en-US" sz="2400" b="1" i="1" dirty="0">
                <a:solidFill>
                  <a:srgbClr val="000000"/>
                </a:solidFill>
                <a:latin typeface="Times New Roman" panose="02020603050405020304" pitchFamily="18" charset="0"/>
                <a:cs typeface="Times New Roman" panose="02020603050405020304" pitchFamily="18" charset="0"/>
              </a:rPr>
              <a:t> - </a:t>
            </a:r>
            <a:r>
              <a:rPr lang="en-US" sz="2400" dirty="0">
                <a:solidFill>
                  <a:srgbClr val="000000"/>
                </a:solidFill>
                <a:latin typeface="Times New Roman" panose="02020603050405020304" pitchFamily="18" charset="0"/>
                <a:cs typeface="Times New Roman" panose="02020603050405020304" pitchFamily="18" charset="0"/>
              </a:rPr>
              <a:t>Sentences describe states</a:t>
            </a:r>
            <a:r>
              <a:rPr lang="en-US" sz="2400" dirty="0">
                <a:solidFill>
                  <a:srgbClr val="0070C0"/>
                </a:solidFill>
                <a:latin typeface="Times New Roman" panose="02020603050405020304" pitchFamily="18" charset="0"/>
                <a:cs typeface="Times New Roman" panose="02020603050405020304" pitchFamily="18" charset="0"/>
              </a:rPr>
              <a:t>: </a:t>
            </a: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Jack is happy. </a:t>
            </a:r>
          </a:p>
          <a:p>
            <a:pPr marL="0" lvl="0" indent="0">
              <a:lnSpc>
                <a:spcPct val="112000"/>
              </a:lnSpc>
              <a:buNone/>
            </a:pP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                                             I believe the world is flat.</a:t>
            </a:r>
            <a:endParaRPr lang="en-US" sz="2400" b="1" kern="1200" dirty="0">
              <a:solidFill>
                <a:srgbClr val="000000"/>
              </a:solidFill>
              <a:latin typeface="Times New Roman" panose="02020603050405020304" pitchFamily="18" charset="0"/>
              <a:cs typeface="Times New Roman" panose="02020603050405020304" pitchFamily="18" charset="0"/>
              <a:sym typeface="Symbol" pitchFamily="18" charset="2"/>
            </a:endParaRPr>
          </a:p>
          <a:p>
            <a:pPr>
              <a:lnSpc>
                <a:spcPct val="112000"/>
              </a:lnSpc>
              <a:buFontTx/>
              <a:buChar char="-"/>
            </a:pPr>
            <a:r>
              <a:rPr lang="en-US" sz="2400" dirty="0">
                <a:solidFill>
                  <a:srgbClr val="000000"/>
                </a:solidFill>
                <a:latin typeface="Times New Roman" panose="02020603050405020304" pitchFamily="18" charset="0"/>
                <a:cs typeface="Times New Roman" panose="02020603050405020304" pitchFamily="18" charset="0"/>
              </a:rPr>
              <a:t>Sentences describe activities:: </a:t>
            </a:r>
            <a:r>
              <a:rPr lang="en-US" sz="2400" dirty="0">
                <a:solidFill>
                  <a:srgbClr val="0070C0"/>
                </a:solidFill>
                <a:latin typeface="Times New Roman" panose="02020603050405020304" pitchFamily="18" charset="0"/>
                <a:cs typeface="Times New Roman" panose="02020603050405020304" pitchFamily="18" charset="0"/>
              </a:rPr>
              <a:t>Jack is running. </a:t>
            </a:r>
          </a:p>
          <a:p>
            <a:pPr marL="0" indent="0">
              <a:lnSpc>
                <a:spcPct val="112000"/>
              </a:lnSpc>
              <a:buNone/>
            </a:pPr>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70C0"/>
                </a:solidFill>
                <a:latin typeface="Times New Roman" panose="02020603050405020304" pitchFamily="18" charset="0"/>
                <a:cs typeface="Times New Roman" panose="02020603050405020304" pitchFamily="18" charset="0"/>
              </a:rPr>
              <a:t>The door was swinging to and fro.</a:t>
            </a:r>
          </a:p>
          <a:p>
            <a:pPr>
              <a:lnSpc>
                <a:spcPct val="112000"/>
              </a:lnSpc>
              <a:buFontTx/>
              <a:buChar char="-"/>
            </a:pPr>
            <a:r>
              <a:rPr lang="en-US" sz="2400" dirty="0">
                <a:latin typeface="Times New Roman" panose="02020603050405020304" pitchFamily="18" charset="0"/>
                <a:cs typeface="Times New Roman" panose="02020603050405020304" pitchFamily="18" charset="0"/>
              </a:rPr>
              <a:t>Sentences </a:t>
            </a:r>
            <a:r>
              <a:rPr lang="en-US" sz="2400" dirty="0">
                <a:solidFill>
                  <a:srgbClr val="000000"/>
                </a:solidFill>
                <a:latin typeface="Times New Roman" panose="02020603050405020304" pitchFamily="18" charset="0"/>
                <a:cs typeface="Times New Roman" panose="02020603050405020304" pitchFamily="18" charset="0"/>
              </a:rPr>
              <a:t>define completed events: </a:t>
            </a:r>
            <a:r>
              <a:rPr lang="en-US" sz="2400" i="1" dirty="0">
                <a:solidFill>
                  <a:srgbClr val="0070C0"/>
                </a:solidFill>
                <a:latin typeface="Times New Roman" panose="02020603050405020304" pitchFamily="18" charset="0"/>
                <a:cs typeface="Times New Roman" panose="02020603050405020304" pitchFamily="18" charset="0"/>
              </a:rPr>
              <a:t>Jack fell asleep.</a:t>
            </a:r>
          </a:p>
          <a:p>
            <a:pPr marL="0" indent="0">
              <a:lnSpc>
                <a:spcPct val="112000"/>
              </a:lnSpc>
              <a:buNone/>
            </a:pPr>
            <a:r>
              <a:rPr lang="en-US" sz="2400" i="1" kern="1200" dirty="0">
                <a:solidFill>
                  <a:srgbClr val="000000"/>
                </a:solidFill>
                <a:latin typeface="Times New Roman" panose="02020603050405020304" pitchFamily="18" charset="0"/>
                <a:cs typeface="Times New Roman" panose="02020603050405020304" pitchFamily="18" charset="0"/>
                <a:sym typeface="Symbol" pitchFamily="18" charset="2"/>
              </a:rPr>
              <a:t>                                         </a:t>
            </a: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They climbed the mountain in two days.</a:t>
            </a:r>
          </a:p>
          <a:p>
            <a:pPr marL="0" indent="0">
              <a:lnSpc>
                <a:spcPct val="112000"/>
              </a:lnSpc>
              <a:buNone/>
            </a:pPr>
            <a:r>
              <a:rPr lang="en-US" sz="2400" b="1" i="1" kern="1200" dirty="0">
                <a:solidFill>
                  <a:srgbClr val="C00000"/>
                </a:solidFill>
                <a:latin typeface="Times New Roman" panose="02020603050405020304" pitchFamily="18" charset="0"/>
                <a:cs typeface="Times New Roman" panose="02020603050405020304" pitchFamily="18" charset="0"/>
                <a:sym typeface="Symbol" pitchFamily="18" charset="2"/>
              </a:rPr>
              <a:t>Encoding Tense</a:t>
            </a:r>
          </a:p>
          <a:p>
            <a:pPr marL="0" indent="0">
              <a:lnSpc>
                <a:spcPct val="112000"/>
              </a:lnSpc>
              <a:buNone/>
            </a:pPr>
            <a:r>
              <a:rPr lang="en-US" sz="2400" dirty="0">
                <a:latin typeface="Times New Roman" panose="02020603050405020304" pitchFamily="18" charset="0"/>
                <a:cs typeface="Times New Roman" panose="02020603050405020304" pitchFamily="18" charset="0"/>
              </a:rPr>
              <a:t>Tense operators can also be represented directly in the temporal logic without the need for modal operators.</a:t>
            </a:r>
          </a:p>
          <a:p>
            <a:pPr marL="0" indent="0">
              <a:buNone/>
            </a:pPr>
            <a:r>
              <a:rPr lang="en-US" sz="2400" dirty="0">
                <a:solidFill>
                  <a:srgbClr val="000000"/>
                </a:solidFill>
                <a:latin typeface="Times New Roman" panose="02020603050405020304" pitchFamily="18" charset="0"/>
                <a:cs typeface="Times New Roman" panose="02020603050405020304" pitchFamily="18" charset="0"/>
              </a:rPr>
              <a:t>                                  </a:t>
            </a:r>
            <a:endParaRPr lang="en-US" dirty="0">
              <a:solidFill>
                <a:srgbClr val="0070C0"/>
              </a:solidFill>
            </a:endParaRPr>
          </a:p>
        </p:txBody>
      </p:sp>
    </p:spTree>
    <p:extLst>
      <p:ext uri="{BB962C8B-B14F-4D97-AF65-F5344CB8AC3E}">
        <p14:creationId xmlns:p14="http://schemas.microsoft.com/office/powerpoint/2010/main" val="2389998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1066800"/>
            <a:ext cx="8458200" cy="5562600"/>
          </a:xfrm>
        </p:spPr>
        <p:txBody>
          <a:bodyPr/>
          <a:lstStyle/>
          <a:p>
            <a:pPr marL="0" indent="0">
              <a:lnSpc>
                <a:spcPct val="112000"/>
              </a:lnSpc>
              <a:spcAft>
                <a:spcPts val="0"/>
              </a:spcAft>
              <a:buNone/>
            </a:pPr>
            <a:r>
              <a:rPr lang="en-US" sz="2400" b="1" kern="1200" dirty="0">
                <a:solidFill>
                  <a:srgbClr val="0070C0"/>
                </a:solidFill>
                <a:latin typeface="Times New Roman" panose="02020603050405020304" pitchFamily="18" charset="0"/>
                <a:cs typeface="Times New Roman" panose="02020603050405020304" pitchFamily="18" charset="0"/>
                <a:sym typeface="Symbol" pitchFamily="18" charset="2"/>
              </a:rPr>
              <a:t>11.5  Time and Aspectual Classes of Verbs</a:t>
            </a:r>
          </a:p>
          <a:p>
            <a:pPr marL="0" indent="0">
              <a:lnSpc>
                <a:spcPct val="112000"/>
              </a:lnSpc>
              <a:spcAft>
                <a:spcPts val="0"/>
              </a:spcAft>
              <a:buNone/>
            </a:pPr>
            <a:r>
              <a:rPr lang="en-US" sz="2400" kern="1200" dirty="0">
                <a:latin typeface="Times New Roman" panose="02020603050405020304" pitchFamily="18" charset="0"/>
                <a:cs typeface="Times New Roman" panose="02020603050405020304" pitchFamily="18" charset="0"/>
                <a:sym typeface="Symbol" pitchFamily="18" charset="2"/>
              </a:rPr>
              <a:t>-   Let’s  assume that the constant NOW denotes the current time.</a:t>
            </a:r>
          </a:p>
          <a:p>
            <a:pPr>
              <a:lnSpc>
                <a:spcPct val="112000"/>
              </a:lnSpc>
              <a:spcAft>
                <a:spcPts val="0"/>
              </a:spcAft>
              <a:buFontTx/>
              <a:buChar char="-"/>
            </a:pPr>
            <a:r>
              <a:rPr lang="en-US" sz="2400" kern="1200" dirty="0">
                <a:latin typeface="Times New Roman" panose="02020603050405020304" pitchFamily="18" charset="0"/>
                <a:cs typeface="Times New Roman" panose="02020603050405020304" pitchFamily="18" charset="0"/>
                <a:sym typeface="Symbol" pitchFamily="18" charset="2"/>
              </a:rPr>
              <a:t>Given this we could map the PAST operator into a formula that existentially quantifies over a time before now.</a:t>
            </a:r>
          </a:p>
          <a:p>
            <a:pPr>
              <a:lnSpc>
                <a:spcPct val="112000"/>
              </a:lnSpc>
              <a:spcAft>
                <a:spcPts val="0"/>
              </a:spcAft>
              <a:buFontTx/>
              <a:buChar char="-"/>
            </a:pPr>
            <a:r>
              <a:rPr lang="en-US" sz="2400" kern="1200" dirty="0">
                <a:latin typeface="Times New Roman" panose="02020603050405020304" pitchFamily="18" charset="0"/>
                <a:cs typeface="Times New Roman" panose="02020603050405020304" pitchFamily="18" charset="0"/>
                <a:sym typeface="Symbol" pitchFamily="18" charset="2"/>
              </a:rPr>
              <a:t>The sentence </a:t>
            </a:r>
            <a:r>
              <a:rPr lang="en-US" sz="2400" i="1" kern="1200" dirty="0">
                <a:solidFill>
                  <a:srgbClr val="0070C0"/>
                </a:solidFill>
                <a:latin typeface="Times New Roman" panose="02020603050405020304" pitchFamily="18" charset="0"/>
                <a:cs typeface="Times New Roman" panose="02020603050405020304" pitchFamily="18" charset="0"/>
              </a:rPr>
              <a:t>John was happy </a:t>
            </a:r>
            <a:r>
              <a:rPr lang="en-US" sz="2400" kern="1200" dirty="0">
                <a:latin typeface="Times New Roman" panose="02020603050405020304" pitchFamily="18" charset="0"/>
                <a:cs typeface="Times New Roman" panose="02020603050405020304" pitchFamily="18" charset="0"/>
              </a:rPr>
              <a:t>would map to the KR expression:</a:t>
            </a:r>
          </a:p>
          <a:p>
            <a:pPr marL="0" lvl="0" indent="0" eaLnBrk="1" hangingPunct="1">
              <a:lnSpc>
                <a:spcPct val="112000"/>
              </a:lnSpc>
              <a:spcBef>
                <a:spcPct val="50000"/>
              </a:spcBef>
              <a:spcAft>
                <a:spcPts val="0"/>
              </a:spcAft>
              <a:buNone/>
              <a:tabLst>
                <a:tab pos="571500" algn="l"/>
                <a:tab pos="3200400" algn="l"/>
              </a:tabLst>
            </a:pPr>
            <a:r>
              <a:rPr lang="en-US" sz="2400" i="1" kern="1200" dirty="0">
                <a:solidFill>
                  <a:srgbClr val="0070C0"/>
                </a:solidFill>
                <a:latin typeface="Times New Roman" panose="02020603050405020304" pitchFamily="18" charset="0"/>
                <a:cs typeface="Times New Roman" panose="02020603050405020304" pitchFamily="18" charset="0"/>
              </a:rPr>
              <a:t>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T1 . T1 &lt; NOW1 . Happy ( Jack1, T1)</a:t>
            </a:r>
          </a:p>
          <a:p>
            <a:pPr lvl="0" eaLnBrk="1" hangingPunct="1">
              <a:lnSpc>
                <a:spcPct val="112000"/>
              </a:lnSpc>
              <a:spcBef>
                <a:spcPct val="50000"/>
              </a:spcBef>
              <a:spcAft>
                <a:spcPts val="0"/>
              </a:spcAft>
              <a:buFontTx/>
              <a:buChar char="-"/>
              <a:tabLst>
                <a:tab pos="571500" algn="l"/>
                <a:tab pos="3200400" algn="l"/>
              </a:tabLst>
            </a:pPr>
            <a:r>
              <a:rPr lang="en-US" sz="2400" i="1" dirty="0">
                <a:latin typeface="Times New Roman" panose="02020603050405020304" pitchFamily="18" charset="0"/>
                <a:cs typeface="Times New Roman" panose="02020603050405020304" pitchFamily="18" charset="0"/>
              </a:rPr>
              <a:t>The same sentence in the simple present  </a:t>
            </a:r>
            <a:r>
              <a:rPr lang="en-US" sz="2400" i="1" kern="1200" dirty="0">
                <a:solidFill>
                  <a:srgbClr val="3333CC"/>
                </a:solidFill>
                <a:latin typeface="Times New Roman" panose="02020603050405020304" pitchFamily="18" charset="0"/>
                <a:cs typeface="Times New Roman" panose="02020603050405020304" pitchFamily="18" charset="0"/>
                <a:sym typeface="Symbol" pitchFamily="18" charset="2"/>
              </a:rPr>
              <a:t>Jack is happy</a:t>
            </a:r>
            <a:r>
              <a:rPr lang="en-US" sz="2400" kern="1200" dirty="0">
                <a:solidFill>
                  <a:srgbClr val="3333CC"/>
                </a:solidFill>
                <a:latin typeface="Times New Roman" panose="02020603050405020304" pitchFamily="18" charset="0"/>
                <a:cs typeface="Times New Roman" panose="02020603050405020304" pitchFamily="18" charset="0"/>
                <a:sym typeface="Symbol" pitchFamily="18" charset="2"/>
              </a:rPr>
              <a:t>: </a:t>
            </a:r>
          </a:p>
          <a:p>
            <a:pPr marL="0" lvl="0" indent="0" eaLnBrk="1" hangingPunct="1">
              <a:lnSpc>
                <a:spcPct val="112000"/>
              </a:lnSpc>
              <a:spcBef>
                <a:spcPct val="50000"/>
              </a:spcBef>
              <a:spcAft>
                <a:spcPts val="0"/>
              </a:spcAft>
              <a:buNone/>
              <a:tabLst>
                <a:tab pos="571500" algn="l"/>
                <a:tab pos="3200400" algn="l"/>
              </a:tabLst>
            </a:pPr>
            <a:r>
              <a:rPr lang="en-US" sz="2400" b="1" kern="1200" dirty="0">
                <a:solidFill>
                  <a:srgbClr val="000000"/>
                </a:solidFill>
                <a:latin typeface="VNI-Times" pitchFamily="2" charset="0"/>
                <a:sym typeface="Symbol" pitchFamily="18" charset="2"/>
              </a:rPr>
              <a:t>     </a:t>
            </a: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T1 . NOW1 ⸦ T1 . Happy (John1 , NOW1)</a:t>
            </a:r>
          </a:p>
          <a:p>
            <a:pPr lvl="0" eaLnBrk="1" hangingPunct="1">
              <a:lnSpc>
                <a:spcPct val="112000"/>
              </a:lnSpc>
              <a:spcBef>
                <a:spcPct val="50000"/>
              </a:spcBef>
              <a:spcAft>
                <a:spcPts val="0"/>
              </a:spcAft>
              <a:buFontTx/>
              <a:buChar char="-"/>
              <a:tabLst>
                <a:tab pos="571500" algn="l"/>
                <a:tab pos="3200400" algn="l"/>
              </a:tabLst>
            </a:pPr>
            <a:r>
              <a:rPr lang="en-US" sz="2400" kern="1200" dirty="0">
                <a:latin typeface="Times New Roman" panose="02020603050405020304" pitchFamily="18" charset="0"/>
                <a:cs typeface="Times New Roman" panose="02020603050405020304" pitchFamily="18" charset="0"/>
                <a:sym typeface="Symbol" pitchFamily="18" charset="2"/>
              </a:rPr>
              <a:t>And the simple future  </a:t>
            </a: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Jack will be happy:</a:t>
            </a:r>
          </a:p>
          <a:p>
            <a:pPr marL="0" lvl="0" indent="0" eaLnBrk="1" hangingPunct="1">
              <a:lnSpc>
                <a:spcPct val="112000"/>
              </a:lnSpc>
              <a:spcBef>
                <a:spcPct val="50000"/>
              </a:spcBef>
              <a:spcAft>
                <a:spcPts val="0"/>
              </a:spcAft>
              <a:buNone/>
              <a:tabLst>
                <a:tab pos="571500" algn="l"/>
                <a:tab pos="3200400" algn="l"/>
              </a:tabLst>
            </a:pPr>
            <a:r>
              <a:rPr lang="en-US" sz="2400" kern="1200" dirty="0">
                <a:solidFill>
                  <a:srgbClr val="0070C0"/>
                </a:solidFill>
                <a:latin typeface="Times New Roman" panose="02020603050405020304" pitchFamily="18" charset="0"/>
                <a:cs typeface="Times New Roman" panose="02020603050405020304" pitchFamily="18" charset="0"/>
                <a:sym typeface="Symbol" pitchFamily="18" charset="2"/>
              </a:rPr>
              <a:t>       T1 . T1 &gt; NOW1 . Happy ( Jack1, T1)</a:t>
            </a:r>
          </a:p>
          <a:p>
            <a:pPr marL="0" lvl="0" indent="0" eaLnBrk="1" hangingPunct="1">
              <a:spcBef>
                <a:spcPct val="50000"/>
              </a:spcBef>
              <a:buNone/>
              <a:tabLst>
                <a:tab pos="571500" algn="l"/>
                <a:tab pos="3200400" algn="l"/>
              </a:tabLst>
            </a:pPr>
            <a:endPar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endParaRPr>
          </a:p>
          <a:p>
            <a:pPr lvl="0" eaLnBrk="1" hangingPunct="1">
              <a:spcBef>
                <a:spcPct val="50000"/>
              </a:spcBef>
              <a:buFontTx/>
              <a:buChar char="-"/>
              <a:tabLst>
                <a:tab pos="571500" algn="l"/>
                <a:tab pos="3200400" algn="l"/>
              </a:tabLst>
            </a:pPr>
            <a:endPar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endParaRPr>
          </a:p>
          <a:p>
            <a:pPr marL="0" indent="0">
              <a:buNone/>
            </a:pPr>
            <a:endParaRPr lang="en-US" i="1" dirty="0">
              <a:solidFill>
                <a:srgbClr val="0070C0"/>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a:off x="2759529" y="4800600"/>
            <a:ext cx="114300"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81307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990600"/>
            <a:ext cx="8229600" cy="5135563"/>
          </a:xfrm>
        </p:spPr>
        <p:txBody>
          <a:bodyPr/>
          <a:lstStyle/>
          <a:p>
            <a:pPr marL="0" lvl="0" indent="0">
              <a:lnSpc>
                <a:spcPct val="112000"/>
              </a:lnSpc>
              <a:spcAft>
                <a:spcPts val="0"/>
              </a:spcAft>
              <a:buNone/>
            </a:pPr>
            <a:r>
              <a:rPr lang="en-US" sz="2400" b="1" kern="1200" dirty="0">
                <a:solidFill>
                  <a:srgbClr val="0070C0"/>
                </a:solidFill>
                <a:latin typeface="Times New Roman" panose="02020603050405020304" pitchFamily="18" charset="0"/>
                <a:cs typeface="Times New Roman" panose="02020603050405020304" pitchFamily="18" charset="0"/>
                <a:sym typeface="Symbol" pitchFamily="18" charset="2"/>
              </a:rPr>
              <a:t>11.5  Time and Aspectual Classes of Verbs</a:t>
            </a:r>
          </a:p>
          <a:p>
            <a:pPr marL="0" indent="0">
              <a:buNone/>
            </a:pPr>
            <a:r>
              <a:rPr lang="en-US" sz="2400" dirty="0">
                <a:latin typeface="Times New Roman" panose="02020603050405020304" pitchFamily="18" charset="0"/>
                <a:cs typeface="Times New Roman" panose="02020603050405020304" pitchFamily="18" charset="0"/>
              </a:rPr>
              <a:t>Specifically, </a:t>
            </a:r>
            <a:r>
              <a:rPr lang="en-US" sz="2400" dirty="0" err="1">
                <a:latin typeface="Times New Roman" panose="02020603050405020304" pitchFamily="18" charset="0"/>
                <a:cs typeface="Times New Roman" panose="02020603050405020304" pitchFamily="18" charset="0"/>
              </a:rPr>
              <a:t>Reichenbach</a:t>
            </a:r>
            <a:r>
              <a:rPr lang="en-US" sz="2400" dirty="0">
                <a:latin typeface="Times New Roman" panose="02020603050405020304" pitchFamily="18" charset="0"/>
                <a:cs typeface="Times New Roman" panose="02020603050405020304" pitchFamily="18" charset="0"/>
              </a:rPr>
              <a:t> (1947) developed a theory that tense gives information about three times:</a:t>
            </a:r>
          </a:p>
          <a:p>
            <a:pPr marL="0" indent="0">
              <a:buNone/>
            </a:pPr>
            <a:endParaRPr lang="en-US" sz="2400" dirty="0">
              <a:latin typeface="Times New Roman" panose="02020603050405020304" pitchFamily="18" charset="0"/>
              <a:cs typeface="Times New Roman" panose="02020603050405020304" pitchFamily="18" charset="0"/>
            </a:endParaRPr>
          </a:p>
          <a:p>
            <a:pPr marL="0" lvl="0" indent="0" eaLnBrk="1" hangingPunct="1">
              <a:lnSpc>
                <a:spcPct val="112000"/>
              </a:lnSpc>
              <a:spcBef>
                <a:spcPts val="0"/>
              </a:spcBef>
              <a:buNone/>
              <a:tabLst>
                <a:tab pos="571500" algn="l"/>
                <a:tab pos="3200400" algn="l"/>
              </a:tabLst>
            </a:pPr>
            <a:r>
              <a:rPr lang="en-US" sz="2400" b="1" kern="1200" dirty="0">
                <a:solidFill>
                  <a:srgbClr val="000000"/>
                </a:solidFill>
                <a:latin typeface="VNI-Times" pitchFamily="2" charset="0"/>
                <a:sym typeface="Symbol" pitchFamily="18" charset="2"/>
              </a:rPr>
              <a:t>       </a:t>
            </a: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S –the time of speech</a:t>
            </a:r>
            <a:b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b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	E – the time of event /state</a:t>
            </a:r>
          </a:p>
          <a:p>
            <a:pPr marL="0" lvl="0" indent="0" eaLnBrk="1" hangingPunct="1">
              <a:lnSpc>
                <a:spcPct val="112000"/>
              </a:lnSpc>
              <a:spcBef>
                <a:spcPts val="0"/>
              </a:spcBef>
              <a:buNone/>
              <a:tabLst>
                <a:tab pos="571500" algn="l"/>
                <a:tab pos="3200400" algn="l"/>
              </a:tabLst>
            </a:pP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       R  - the reference time</a:t>
            </a:r>
          </a:p>
          <a:p>
            <a:pPr marL="0" lvl="0" indent="0" eaLnBrk="1" hangingPunct="1">
              <a:spcBef>
                <a:spcPct val="50000"/>
              </a:spcBef>
              <a:buNone/>
              <a:tabLst>
                <a:tab pos="571500" algn="l"/>
                <a:tab pos="3200400" algn="l"/>
              </a:tabLst>
            </a:pPr>
            <a:r>
              <a:rPr lang="en-US" sz="2400" b="1" i="1" kern="1200" dirty="0">
                <a:solidFill>
                  <a:srgbClr val="000000"/>
                </a:solidFill>
                <a:latin typeface="Times New Roman" panose="02020603050405020304" pitchFamily="18" charset="0"/>
                <a:cs typeface="Times New Roman" panose="02020603050405020304" pitchFamily="18" charset="0"/>
                <a:sym typeface="Symbol" pitchFamily="18" charset="2"/>
              </a:rPr>
              <a:t>Example: </a:t>
            </a:r>
            <a:r>
              <a:rPr lang="en-US" sz="2400" b="1" kern="1200" dirty="0">
                <a:solidFill>
                  <a:srgbClr val="000000"/>
                </a:solidFill>
                <a:latin typeface="VNI-Times" pitchFamily="2" charset="0"/>
                <a:sym typeface="Symbol" pitchFamily="18" charset="2"/>
              </a:rPr>
              <a:t> </a:t>
            </a: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Jack sings</a:t>
            </a:r>
            <a:r>
              <a:rPr lang="en-US" sz="2400" b="1" kern="1200" dirty="0">
                <a:solidFill>
                  <a:srgbClr val="000000"/>
                </a:solidFill>
                <a:latin typeface="VNI-Times" pitchFamily="2" charset="0"/>
                <a:sym typeface="Symbol" pitchFamily="18" charset="2"/>
              </a:rPr>
              <a:t>	</a:t>
            </a: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simple present : S = R , E = R</a:t>
            </a:r>
            <a:b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br>
            <a:r>
              <a:rPr lang="en-US" sz="2400" b="1" kern="1200" dirty="0">
                <a:solidFill>
                  <a:srgbClr val="000000"/>
                </a:solidFill>
                <a:latin typeface="VNI-Times" pitchFamily="2" charset="0"/>
                <a:sym typeface="Symbol" pitchFamily="18" charset="2"/>
              </a:rPr>
              <a:t>	</a:t>
            </a:r>
            <a:r>
              <a:rPr lang="en-US" sz="2400" b="1" kern="1200" dirty="0">
                <a:solidFill>
                  <a:srgbClr val="0070C0"/>
                </a:solidFill>
                <a:latin typeface="VNI-Times" pitchFamily="2" charset="0"/>
                <a:sym typeface="Symbol" pitchFamily="18" charset="2"/>
              </a:rPr>
              <a:t>          </a:t>
            </a: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Jack sang</a:t>
            </a: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	simple past :      R &lt; S , E = R</a:t>
            </a:r>
            <a:b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b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	          </a:t>
            </a:r>
            <a:r>
              <a:rPr lang="en-US" sz="2400" i="1" kern="1200" dirty="0">
                <a:solidFill>
                  <a:srgbClr val="0070C0"/>
                </a:solidFill>
                <a:latin typeface="Times New Roman" panose="02020603050405020304" pitchFamily="18" charset="0"/>
                <a:cs typeface="Times New Roman" panose="02020603050405020304" pitchFamily="18" charset="0"/>
                <a:sym typeface="Symbol" pitchFamily="18" charset="2"/>
              </a:rPr>
              <a:t>Jack will sing</a:t>
            </a: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	simple future :   S &lt; R , E = R</a:t>
            </a:r>
          </a:p>
          <a:p>
            <a:pPr marL="0" lvl="0" indent="0" eaLnBrk="1" hangingPunct="1">
              <a:lnSpc>
                <a:spcPct val="112000"/>
              </a:lnSpc>
              <a:spcBef>
                <a:spcPts val="0"/>
              </a:spcBef>
              <a:buNone/>
              <a:tabLst>
                <a:tab pos="571500" algn="l"/>
                <a:tab pos="3200400" algn="l"/>
              </a:tabLst>
            </a:pPr>
            <a:endParaRPr lang="en-US" sz="2400" b="1" i="1" kern="1200" dirty="0">
              <a:solidFill>
                <a:srgbClr val="000000"/>
              </a:solidFill>
              <a:latin typeface="Times New Roman" panose="02020603050405020304" pitchFamily="18" charset="0"/>
              <a:cs typeface="Times New Roman" panose="02020603050405020304" pitchFamily="18" charset="0"/>
              <a:sym typeface="Symbol" pitchFamily="18" charset="2"/>
            </a:endParaRPr>
          </a:p>
          <a:p>
            <a:pPr marL="0" lvl="0" indent="0" eaLnBrk="1" hangingPunct="1">
              <a:lnSpc>
                <a:spcPct val="112000"/>
              </a:lnSpc>
              <a:spcBef>
                <a:spcPts val="0"/>
              </a:spcBef>
              <a:buNone/>
              <a:tabLst>
                <a:tab pos="571500" algn="l"/>
                <a:tab pos="3200400" algn="l"/>
              </a:tabLst>
            </a:pPr>
            <a:r>
              <a:rPr lang="en-US" sz="2400" kern="1200" dirty="0">
                <a:solidFill>
                  <a:srgbClr val="000000"/>
                </a:solidFill>
                <a:latin typeface="Times New Roman" panose="02020603050405020304" pitchFamily="18" charset="0"/>
                <a:cs typeface="Times New Roman" panose="02020603050405020304" pitchFamily="18" charset="0"/>
                <a:sym typeface="Symbol" pitchFamily="18" charset="2"/>
              </a:rPr>
              <a:t> (see at figure </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6864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3"/>
          <a:srcRect/>
          <a:stretch>
            <a:fillRect/>
          </a:stretch>
        </p:blipFill>
        <p:spPr bwMode="auto">
          <a:xfrm>
            <a:off x="0" y="1524000"/>
            <a:ext cx="9144000" cy="4724400"/>
          </a:xfrm>
          <a:prstGeom prst="rect">
            <a:avLst/>
          </a:prstGeom>
          <a:noFill/>
          <a:ln w="9525">
            <a:noFill/>
            <a:miter lim="800000"/>
            <a:headEnd/>
            <a:tailEnd/>
          </a:ln>
        </p:spPr>
      </p:pic>
      <p:sp>
        <p:nvSpPr>
          <p:cNvPr id="2" name="Rectangle 1"/>
          <p:cNvSpPr/>
          <p:nvPr/>
        </p:nvSpPr>
        <p:spPr>
          <a:xfrm>
            <a:off x="1" y="5867400"/>
            <a:ext cx="9144000" cy="587829"/>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Figure 11.2: Some temporal configurations allowed by the tenses</a:t>
            </a:r>
          </a:p>
        </p:txBody>
      </p:sp>
      <p:sp>
        <p:nvSpPr>
          <p:cNvPr id="4" name="Title 3"/>
          <p:cNvSpPr>
            <a:spLocks noGrp="1"/>
          </p:cNvSpPr>
          <p:nvPr>
            <p:ph type="title"/>
          </p:nvPr>
        </p:nvSpPr>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6" name="Content Placeholder 5"/>
          <p:cNvSpPr>
            <a:spLocks noGrp="1"/>
          </p:cNvSpPr>
          <p:nvPr>
            <p:ph idx="1"/>
          </p:nvPr>
        </p:nvSpPr>
        <p:spPr>
          <a:xfrm>
            <a:off x="1" y="1143000"/>
            <a:ext cx="9144000" cy="4525963"/>
          </a:xfrm>
        </p:spPr>
        <p:txBody>
          <a:bodyPr/>
          <a:lstStyle/>
          <a:p>
            <a:pPr marL="0" lvl="0" indent="0">
              <a:lnSpc>
                <a:spcPct val="112000"/>
              </a:lnSpc>
              <a:spcAft>
                <a:spcPts val="0"/>
              </a:spcAft>
              <a:buNone/>
            </a:pPr>
            <a:r>
              <a:rPr lang="en-US" sz="2400" b="1" kern="1200" dirty="0">
                <a:solidFill>
                  <a:srgbClr val="0070C0"/>
                </a:solidFill>
                <a:latin typeface="Times New Roman" panose="02020603050405020304" pitchFamily="18" charset="0"/>
                <a:cs typeface="Times New Roman" panose="02020603050405020304" pitchFamily="18" charset="0"/>
                <a:sym typeface="Symbol" pitchFamily="18" charset="2"/>
              </a:rPr>
              <a:t>   11.5  Time and Aspectual Classes of Verbs</a:t>
            </a:r>
          </a:p>
          <a:p>
            <a:endParaRPr lang="en-US" dirty="0"/>
          </a:p>
        </p:txBody>
      </p:sp>
    </p:spTree>
    <p:extLst>
      <p:ext uri="{BB962C8B-B14F-4D97-AF65-F5344CB8AC3E}">
        <p14:creationId xmlns:p14="http://schemas.microsoft.com/office/powerpoint/2010/main" val="1717613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09600"/>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152400" y="914400"/>
            <a:ext cx="8839200" cy="5715000"/>
          </a:xfrm>
        </p:spPr>
        <p:txBody>
          <a:bodyPr/>
          <a:lstStyle/>
          <a:p>
            <a:pPr marL="0" indent="0">
              <a:lnSpc>
                <a:spcPct val="112000"/>
              </a:lnSpc>
              <a:spcBef>
                <a:spcPts val="0"/>
              </a:spcBef>
              <a:spcAft>
                <a:spcPts val="600"/>
              </a:spcAft>
              <a:buNone/>
            </a:pPr>
            <a:r>
              <a:rPr lang="en-US" sz="2600" b="1" kern="1200" dirty="0">
                <a:solidFill>
                  <a:srgbClr val="0070C0"/>
                </a:solidFill>
                <a:effectLst>
                  <a:outerShdw blurRad="38100" dist="38100" dir="2700000" algn="tl">
                    <a:srgbClr val="C0C0C0"/>
                  </a:outerShdw>
                </a:effectLst>
                <a:latin typeface="VNI-Times" pitchFamily="2" charset="0"/>
              </a:rPr>
              <a:t>11.6 Procedural Semantics and Question Answering</a:t>
            </a:r>
          </a:p>
          <a:p>
            <a:pPr>
              <a:lnSpc>
                <a:spcPct val="112000"/>
              </a:lnSpc>
              <a:spcBef>
                <a:spcPts val="0"/>
              </a:spcBef>
              <a:spcAft>
                <a:spcPts val="600"/>
              </a:spcAft>
              <a:buFontTx/>
              <a:buChar char="-"/>
            </a:pPr>
            <a:r>
              <a:rPr lang="en-US" sz="2400" kern="1200" dirty="0">
                <a:latin typeface="Times New Roman" panose="02020603050405020304" pitchFamily="18" charset="0"/>
                <a:cs typeface="Times New Roman" panose="02020603050405020304" pitchFamily="18" charset="0"/>
              </a:rPr>
              <a:t>Procedurally based techniques are frequently used in database query applications, </a:t>
            </a:r>
          </a:p>
          <a:p>
            <a:pPr>
              <a:lnSpc>
                <a:spcPct val="112000"/>
              </a:lnSpc>
              <a:spcBef>
                <a:spcPts val="0"/>
              </a:spcBef>
              <a:spcAft>
                <a:spcPts val="600"/>
              </a:spcAft>
              <a:buFontTx/>
              <a:buChar char="-"/>
            </a:pPr>
            <a:r>
              <a:rPr lang="en-US" sz="2400" kern="1200" dirty="0">
                <a:latin typeface="Times New Roman" panose="02020603050405020304" pitchFamily="18" charset="0"/>
                <a:cs typeface="Times New Roman" panose="02020603050405020304" pitchFamily="18" charset="0"/>
              </a:rPr>
              <a:t>where there is a large difference in expressive power between the logical form language and database language.</a:t>
            </a:r>
          </a:p>
          <a:p>
            <a:pPr>
              <a:lnSpc>
                <a:spcPct val="112000"/>
              </a:lnSpc>
              <a:spcBef>
                <a:spcPts val="0"/>
              </a:spcBef>
              <a:spcAft>
                <a:spcPts val="600"/>
              </a:spcAft>
              <a:buFontTx/>
              <a:buChar char="-"/>
            </a:pPr>
            <a:r>
              <a:rPr lang="en-US" sz="2400" kern="1200" dirty="0">
                <a:latin typeface="Times New Roman" panose="02020603050405020304" pitchFamily="18" charset="0"/>
                <a:cs typeface="Times New Roman" panose="02020603050405020304" pitchFamily="18" charset="0"/>
              </a:rPr>
              <a:t>Rather than convert the logical form language into extended FOPC , the logical forms are treated as expressions in a query language. </a:t>
            </a:r>
          </a:p>
          <a:p>
            <a:pPr marL="0" indent="0">
              <a:lnSpc>
                <a:spcPct val="112000"/>
              </a:lnSpc>
              <a:spcBef>
                <a:spcPts val="0"/>
              </a:spcBef>
              <a:spcAft>
                <a:spcPts val="600"/>
              </a:spcAft>
              <a:buNone/>
            </a:pPr>
            <a:r>
              <a:rPr lang="en-US" sz="2400" b="1" i="1" kern="1200" dirty="0">
                <a:latin typeface="Times New Roman" panose="02020603050405020304" pitchFamily="18" charset="0"/>
                <a:cs typeface="Times New Roman" panose="02020603050405020304" pitchFamily="18" charset="0"/>
              </a:rPr>
              <a:t>Example:</a:t>
            </a:r>
            <a:r>
              <a:rPr lang="en-US" sz="2400" kern="1200" dirty="0">
                <a:latin typeface="Times New Roman" panose="02020603050405020304" pitchFamily="18" charset="0"/>
                <a:cs typeface="Times New Roman" panose="02020603050405020304" pitchFamily="18" charset="0"/>
              </a:rPr>
              <a:t> the query </a:t>
            </a:r>
            <a:r>
              <a:rPr lang="en-US" sz="2400" i="1" kern="1200" dirty="0">
                <a:solidFill>
                  <a:srgbClr val="0070C0"/>
                </a:solidFill>
                <a:latin typeface="Times New Roman" panose="02020603050405020304" pitchFamily="18" charset="0"/>
                <a:cs typeface="Times New Roman" panose="02020603050405020304" pitchFamily="18" charset="0"/>
              </a:rPr>
              <a:t>Does every flight to Chicago serve breakfast ? </a:t>
            </a:r>
            <a:r>
              <a:rPr lang="en-US" sz="2400" i="1" kern="1200" dirty="0">
                <a:latin typeface="Times New Roman" panose="02020603050405020304" pitchFamily="18" charset="0"/>
                <a:cs typeface="Times New Roman" panose="02020603050405020304" pitchFamily="18" charset="0"/>
              </a:rPr>
              <a:t>with logical form:</a:t>
            </a:r>
          </a:p>
          <a:p>
            <a:pPr marL="0" indent="0">
              <a:lnSpc>
                <a:spcPct val="112000"/>
              </a:lnSpc>
              <a:spcBef>
                <a:spcPts val="0"/>
              </a:spcBef>
              <a:spcAft>
                <a:spcPts val="600"/>
              </a:spcAft>
              <a:buNone/>
            </a:pPr>
            <a:r>
              <a:rPr lang="en-US" sz="2400" kern="1200" dirty="0">
                <a:solidFill>
                  <a:srgbClr val="0070C0"/>
                </a:solidFill>
                <a:latin typeface="Times New Roman" panose="02020603050405020304" pitchFamily="18" charset="0"/>
                <a:cs typeface="Times New Roman" panose="02020603050405020304" pitchFamily="18" charset="0"/>
              </a:rPr>
              <a:t>  (EVERY f1 : ( &amp; (FLIGHT  f1) (DEST f1  (NAME c1 “Chicago” ))) </a:t>
            </a:r>
          </a:p>
          <a:p>
            <a:pPr marL="0" indent="0">
              <a:lnSpc>
                <a:spcPct val="112000"/>
              </a:lnSpc>
              <a:spcBef>
                <a:spcPts val="0"/>
              </a:spcBef>
              <a:spcAft>
                <a:spcPts val="600"/>
              </a:spcAft>
              <a:buNone/>
            </a:pPr>
            <a:r>
              <a:rPr lang="en-US" sz="2400" kern="1200" dirty="0">
                <a:solidFill>
                  <a:srgbClr val="0070C0"/>
                </a:solidFill>
                <a:latin typeface="Times New Roman" panose="02020603050405020304" pitchFamily="18" charset="0"/>
                <a:cs typeface="Times New Roman" panose="02020603050405020304" pitchFamily="18" charset="0"/>
              </a:rPr>
              <a:t>       ( SERVE – BREAKFAST  f1 ))</a:t>
            </a:r>
          </a:p>
          <a:p>
            <a:pPr marL="0" indent="0">
              <a:lnSpc>
                <a:spcPct val="112000"/>
              </a:lnSpc>
              <a:spcBef>
                <a:spcPts val="0"/>
              </a:spcBef>
              <a:spcAft>
                <a:spcPts val="600"/>
              </a:spcAft>
              <a:buNone/>
            </a:pPr>
            <a:r>
              <a:rPr lang="en-US" sz="2400" kern="1200" dirty="0">
                <a:latin typeface="Times New Roman" panose="02020603050405020304" pitchFamily="18" charset="0"/>
                <a:cs typeface="Times New Roman" panose="02020603050405020304" pitchFamily="18" charset="0"/>
              </a:rPr>
              <a:t>would be interpreted as a procedure as follows:</a:t>
            </a:r>
          </a:p>
          <a:p>
            <a:pPr>
              <a:buFontTx/>
              <a:buChar char="-"/>
            </a:pPr>
            <a:endParaRPr lang="en-US" sz="2400" b="1" i="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5733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914400"/>
            <a:ext cx="8229600" cy="5638800"/>
          </a:xfrm>
        </p:spPr>
        <p:txBody>
          <a:bodyPr/>
          <a:lstStyle/>
          <a:p>
            <a:pPr marL="0" lvl="0" indent="0">
              <a:lnSpc>
                <a:spcPct val="112000"/>
              </a:lnSpc>
              <a:spcBef>
                <a:spcPts val="0"/>
              </a:spcBef>
              <a:spcAft>
                <a:spcPts val="600"/>
              </a:spcAft>
              <a:buNone/>
            </a:pPr>
            <a:r>
              <a:rPr lang="en-US" sz="2600" b="1" kern="1200" dirty="0">
                <a:solidFill>
                  <a:srgbClr val="0070C0"/>
                </a:solidFill>
                <a:effectLst>
                  <a:outerShdw blurRad="38100" dist="38100" dir="2700000" algn="tl">
                    <a:srgbClr val="C0C0C0"/>
                  </a:outerShdw>
                </a:effectLst>
                <a:latin typeface="VNI-Times" pitchFamily="2" charset="0"/>
              </a:rPr>
              <a:t>11.6 Procedural Semantics and Question Answering</a:t>
            </a:r>
          </a:p>
          <a:p>
            <a:pPr marL="457200" indent="-457200">
              <a:lnSpc>
                <a:spcPct val="112000"/>
              </a:lnSpc>
              <a:spcAft>
                <a:spcPts val="600"/>
              </a:spcAft>
              <a:buAutoNum type="arabicPeriod"/>
            </a:pPr>
            <a:r>
              <a:rPr lang="en-US" sz="2400" dirty="0">
                <a:latin typeface="Times New Roman" panose="02020603050405020304" pitchFamily="18" charset="0"/>
                <a:cs typeface="Times New Roman" panose="02020603050405020304" pitchFamily="18" charset="0"/>
              </a:rPr>
              <a:t>Find all flights in the database with destination CHI ( the database symbol for Chicago);</a:t>
            </a:r>
          </a:p>
          <a:p>
            <a:pPr marL="457200" indent="-457200">
              <a:lnSpc>
                <a:spcPct val="112000"/>
              </a:lnSpc>
              <a:spcAft>
                <a:spcPts val="600"/>
              </a:spcAft>
              <a:buAutoNum type="arabicPeriod"/>
            </a:pPr>
            <a:r>
              <a:rPr lang="en-US" sz="2400" dirty="0">
                <a:latin typeface="Times New Roman" panose="02020603050405020304" pitchFamily="18" charset="0"/>
                <a:cs typeface="Times New Roman" panose="02020603050405020304" pitchFamily="18" charset="0"/>
              </a:rPr>
              <a:t>For each flight found, check if it serve breakfast. If all do, return yes, otherwise return no.</a:t>
            </a:r>
          </a:p>
          <a:p>
            <a:pPr>
              <a:lnSpc>
                <a:spcPct val="112000"/>
              </a:lnSpc>
              <a:spcAft>
                <a:spcPts val="1200"/>
              </a:spcAft>
              <a:buFontTx/>
              <a:buChar char="-"/>
            </a:pPr>
            <a:r>
              <a:rPr lang="en-US" sz="2400" dirty="0">
                <a:latin typeface="Times New Roman" panose="02020603050405020304" pitchFamily="18" charset="0"/>
                <a:cs typeface="Times New Roman" panose="02020603050405020304" pitchFamily="18" charset="0"/>
              </a:rPr>
              <a:t>To interpret logical form expression as procedure, a method of interpretation often called </a:t>
            </a:r>
            <a:r>
              <a:rPr lang="en-US" sz="2400" dirty="0">
                <a:solidFill>
                  <a:srgbClr val="FF0000"/>
                </a:solidFill>
                <a:latin typeface="Times New Roman" panose="02020603050405020304" pitchFamily="18" charset="0"/>
                <a:cs typeface="Times New Roman" panose="02020603050405020304" pitchFamily="18" charset="0"/>
              </a:rPr>
              <a:t>procedural semantics.</a:t>
            </a:r>
          </a:p>
          <a:p>
            <a:pPr marL="0" indent="0">
              <a:lnSpc>
                <a:spcPct val="112000"/>
              </a:lnSpc>
              <a:spcAft>
                <a:spcPts val="1200"/>
              </a:spcAft>
              <a:buNone/>
            </a:pPr>
            <a:r>
              <a:rPr lang="en-US" sz="2400" dirty="0">
                <a:latin typeface="Times New Roman" panose="02020603050405020304" pitchFamily="18" charset="0"/>
                <a:cs typeface="Times New Roman" panose="02020603050405020304" pitchFamily="18" charset="0"/>
              </a:rPr>
              <a:t>-   Two database functions are assumed:</a:t>
            </a:r>
          </a:p>
          <a:p>
            <a:pPr marL="0" indent="0">
              <a:lnSpc>
                <a:spcPct val="112000"/>
              </a:lnSpc>
              <a:spcAft>
                <a:spcPts val="600"/>
              </a:spcAft>
              <a:buNone/>
            </a:pPr>
            <a:r>
              <a:rPr lang="en-US" sz="2400" kern="1200" dirty="0">
                <a:solidFill>
                  <a:srgbClr val="0070C0"/>
                </a:solidFill>
                <a:latin typeface="Times New Roman" panose="02020603050405020304" pitchFamily="18" charset="0"/>
                <a:cs typeface="Times New Roman" panose="02020603050405020304" pitchFamily="18" charset="0"/>
              </a:rPr>
              <a:t>(Test&lt;literal&gt;</a:t>
            </a:r>
            <a:r>
              <a:rPr lang="en-US" sz="2000" kern="1200" dirty="0">
                <a:solidFill>
                  <a:srgbClr val="0070C0"/>
                </a:solidFill>
                <a:latin typeface="Times New Roman" panose="02020603050405020304" pitchFamily="18" charset="0"/>
                <a:cs typeface="Times New Roman" panose="02020603050405020304" pitchFamily="18" charset="0"/>
              </a:rPr>
              <a:t>1</a:t>
            </a:r>
            <a:r>
              <a:rPr lang="en-US" sz="2400" kern="1200" dirty="0">
                <a:solidFill>
                  <a:srgbClr val="0070C0"/>
                </a:solidFill>
                <a:latin typeface="Times New Roman" panose="02020603050405020304" pitchFamily="18" charset="0"/>
                <a:cs typeface="Times New Roman" panose="02020603050405020304" pitchFamily="18" charset="0"/>
              </a:rPr>
              <a:t> ... , &lt;literal&gt;</a:t>
            </a:r>
            <a:r>
              <a:rPr lang="en-US" sz="2000" kern="1200" dirty="0">
                <a:solidFill>
                  <a:srgbClr val="0070C0"/>
                </a:solidFill>
                <a:latin typeface="Times New Roman" panose="02020603050405020304" pitchFamily="18" charset="0"/>
                <a:cs typeface="Times New Roman" panose="02020603050405020304" pitchFamily="18" charset="0"/>
              </a:rPr>
              <a:t> n</a:t>
            </a:r>
            <a:r>
              <a:rPr lang="en-US" sz="2400" kern="1200" dirty="0">
                <a:solidFill>
                  <a:srgbClr val="0070C0"/>
                </a:solidFill>
                <a:latin typeface="Times New Roman" panose="02020603050405020304" pitchFamily="18" charset="0"/>
                <a:cs typeface="Times New Roman" panose="02020603050405020304" pitchFamily="18" charset="0"/>
              </a:rPr>
              <a:t>)  </a:t>
            </a:r>
            <a:r>
              <a:rPr lang="en-US" sz="2400" kern="1200" dirty="0">
                <a:latin typeface="Times New Roman" panose="02020603050405020304" pitchFamily="18" charset="0"/>
                <a:cs typeface="Times New Roman" panose="02020603050405020304" pitchFamily="18" charset="0"/>
              </a:rPr>
              <a:t>- return true if there is some binding of the variables such that each literal is found in the database.</a:t>
            </a:r>
          </a:p>
          <a:p>
            <a:pPr marL="0" indent="0">
              <a:lnSpc>
                <a:spcPct val="112000"/>
              </a:lnSpc>
              <a:spcAft>
                <a:spcPts val="600"/>
              </a:spcAft>
              <a:buNone/>
            </a:pPr>
            <a:r>
              <a:rPr lang="en-US" sz="2400" kern="1200" dirty="0">
                <a:solidFill>
                  <a:srgbClr val="3333CC"/>
                </a:solidFill>
                <a:latin typeface="Times New Roman" panose="02020603050405020304" pitchFamily="18" charset="0"/>
                <a:cs typeface="Times New Roman" panose="02020603050405020304" pitchFamily="18" charset="0"/>
              </a:rPr>
              <a:t> </a:t>
            </a:r>
            <a:endParaRPr lang="en-US" sz="2400" dirty="0">
              <a:solidFill>
                <a:srgbClr val="33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4813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457200" y="914400"/>
            <a:ext cx="8229600" cy="5715000"/>
          </a:xfrm>
        </p:spPr>
        <p:txBody>
          <a:bodyPr/>
          <a:lstStyle/>
          <a:p>
            <a:pPr marL="0" lvl="0" indent="0">
              <a:lnSpc>
                <a:spcPct val="112000"/>
              </a:lnSpc>
              <a:spcBef>
                <a:spcPts val="0"/>
              </a:spcBef>
              <a:spcAft>
                <a:spcPts val="600"/>
              </a:spcAft>
              <a:buNone/>
            </a:pPr>
            <a:r>
              <a:rPr lang="en-US" sz="2600" b="1" kern="1200" dirty="0">
                <a:solidFill>
                  <a:srgbClr val="0070C0"/>
                </a:solidFill>
                <a:effectLst>
                  <a:outerShdw blurRad="38100" dist="38100" dir="2700000" algn="tl">
                    <a:srgbClr val="C0C0C0"/>
                  </a:outerShdw>
                </a:effectLst>
                <a:latin typeface="VNI-Times" pitchFamily="2" charset="0"/>
              </a:rPr>
              <a:t>11.6 Procedural Semantics and Question Answering</a:t>
            </a:r>
            <a:endParaRPr lang="en-US" sz="2400" kern="1200" dirty="0">
              <a:solidFill>
                <a:srgbClr val="3333CC"/>
              </a:solidFill>
              <a:latin typeface="Times New Roman" panose="02020603050405020304" pitchFamily="18" charset="0"/>
              <a:cs typeface="Times New Roman" panose="02020603050405020304" pitchFamily="18" charset="0"/>
            </a:endParaRPr>
          </a:p>
          <a:p>
            <a:pPr marL="0" lvl="0" indent="0">
              <a:lnSpc>
                <a:spcPct val="112000"/>
              </a:lnSpc>
              <a:spcAft>
                <a:spcPts val="600"/>
              </a:spcAft>
              <a:buNone/>
            </a:pPr>
            <a:r>
              <a:rPr lang="en-US" sz="2400" kern="1200" dirty="0">
                <a:solidFill>
                  <a:srgbClr val="3333CC"/>
                </a:solidFill>
                <a:latin typeface="Times New Roman" panose="02020603050405020304" pitchFamily="18" charset="0"/>
                <a:cs typeface="Times New Roman" panose="02020603050405020304" pitchFamily="18" charset="0"/>
              </a:rPr>
              <a:t>(Retrieve &lt; </a:t>
            </a:r>
            <a:r>
              <a:rPr lang="en-US" sz="2400" kern="1200" dirty="0" err="1">
                <a:solidFill>
                  <a:srgbClr val="3333CC"/>
                </a:solidFill>
                <a:latin typeface="Times New Roman" panose="02020603050405020304" pitchFamily="18" charset="0"/>
                <a:cs typeface="Times New Roman" panose="02020603050405020304" pitchFamily="18" charset="0"/>
              </a:rPr>
              <a:t>var</a:t>
            </a:r>
            <a:r>
              <a:rPr lang="en-US" sz="2400" kern="1200" dirty="0">
                <a:solidFill>
                  <a:srgbClr val="3333CC"/>
                </a:solidFill>
                <a:latin typeface="Times New Roman" panose="02020603050405020304" pitchFamily="18" charset="0"/>
                <a:cs typeface="Times New Roman" panose="02020603050405020304" pitchFamily="18" charset="0"/>
              </a:rPr>
              <a:t>&gt; &lt;literal&gt;</a:t>
            </a:r>
            <a:r>
              <a:rPr lang="en-US" sz="2000" kern="1200" dirty="0">
                <a:solidFill>
                  <a:srgbClr val="3333CC"/>
                </a:solidFill>
                <a:latin typeface="Times New Roman" panose="02020603050405020304" pitchFamily="18" charset="0"/>
                <a:cs typeface="Times New Roman" panose="02020603050405020304" pitchFamily="18" charset="0"/>
              </a:rPr>
              <a:t>1 </a:t>
            </a:r>
            <a:r>
              <a:rPr lang="en-US" sz="2400" kern="1200" dirty="0">
                <a:solidFill>
                  <a:srgbClr val="3333CC"/>
                </a:solidFill>
                <a:latin typeface="Times New Roman" panose="02020603050405020304" pitchFamily="18" charset="0"/>
                <a:cs typeface="Times New Roman" panose="02020603050405020304" pitchFamily="18" charset="0"/>
              </a:rPr>
              <a:t>... , &lt;literal&gt;n) – </a:t>
            </a:r>
            <a:r>
              <a:rPr lang="en-US" sz="2400" kern="1200" dirty="0">
                <a:latin typeface="Times New Roman" panose="02020603050405020304" pitchFamily="18" charset="0"/>
                <a:cs typeface="Times New Roman" panose="02020603050405020304" pitchFamily="18" charset="0"/>
              </a:rPr>
              <a:t>like Test, but if it succeeds it returns every instance of the indicated variable that provides a solution.</a:t>
            </a:r>
          </a:p>
          <a:p>
            <a:pPr marL="0" lvl="0" indent="0">
              <a:lnSpc>
                <a:spcPct val="112000"/>
              </a:lnSpc>
              <a:spcAft>
                <a:spcPts val="600"/>
              </a:spcAft>
              <a:buNone/>
            </a:pPr>
            <a:r>
              <a:rPr lang="en-US" sz="2400" kern="1200" dirty="0">
                <a:latin typeface="Times New Roman" panose="02020603050405020304" pitchFamily="18" charset="0"/>
                <a:cs typeface="Times New Roman" panose="02020603050405020304" pitchFamily="18" charset="0"/>
              </a:rPr>
              <a:t>- For example, given the database in figure 11.3, the query:</a:t>
            </a:r>
          </a:p>
          <a:p>
            <a:pPr marL="0" lvl="0" indent="0" eaLnBrk="1" hangingPunct="1">
              <a:lnSpc>
                <a:spcPct val="112000"/>
              </a:lnSpc>
              <a:spcBef>
                <a:spcPct val="50000"/>
              </a:spcBef>
              <a:spcAft>
                <a:spcPts val="600"/>
              </a:spcAft>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(Retrieve ? x ( FLIGHT ? x ) ( ATIME ? x CH1 1000 HR ))</a:t>
            </a:r>
          </a:p>
          <a:p>
            <a:pPr marL="0" lvl="0" indent="0" eaLnBrk="1" hangingPunct="1">
              <a:lnSpc>
                <a:spcPct val="112000"/>
              </a:lnSpc>
              <a:spcBef>
                <a:spcPct val="50000"/>
              </a:spcBef>
              <a:spcAft>
                <a:spcPts val="600"/>
              </a:spcAft>
              <a:buNone/>
              <a:tabLst>
                <a:tab pos="571500" algn="l"/>
              </a:tabLst>
            </a:pPr>
            <a:r>
              <a:rPr lang="en-US" sz="2400" kern="1200" dirty="0">
                <a:latin typeface="Times New Roman" panose="02020603050405020304" pitchFamily="18" charset="0"/>
                <a:cs typeface="Times New Roman" panose="02020603050405020304" pitchFamily="18" charset="0"/>
              </a:rPr>
              <a:t>will return the list (F2) because F2 is only binding of  ?x where both these literals are in the database.</a:t>
            </a:r>
          </a:p>
          <a:p>
            <a:pPr marL="0" lvl="0" indent="0" eaLnBrk="1" hangingPunct="1">
              <a:lnSpc>
                <a:spcPct val="112000"/>
              </a:lnSpc>
              <a:spcBef>
                <a:spcPct val="50000"/>
              </a:spcBef>
              <a:spcAft>
                <a:spcPts val="600"/>
              </a:spcAft>
              <a:buNone/>
              <a:tabLst>
                <a:tab pos="571500" algn="l"/>
              </a:tabLst>
            </a:pPr>
            <a:r>
              <a:rPr lang="en-US" sz="2400" kern="1200" dirty="0">
                <a:latin typeface="Times New Roman" panose="02020603050405020304" pitchFamily="18" charset="0"/>
                <a:cs typeface="Times New Roman" panose="02020603050405020304" pitchFamily="18" charset="0"/>
              </a:rPr>
              <a:t>- The  procedural semantics approach gets more interesting as it interprets logical connective and quantifiers, which have no corresponding construct in the relational database.</a:t>
            </a:r>
          </a:p>
          <a:p>
            <a:pPr marL="0" lvl="0" indent="0" eaLnBrk="1" hangingPunct="1">
              <a:lnSpc>
                <a:spcPct val="112000"/>
              </a:lnSpc>
              <a:spcBef>
                <a:spcPct val="50000"/>
              </a:spcBef>
              <a:spcAft>
                <a:spcPts val="600"/>
              </a:spcAft>
              <a:buNone/>
              <a:tabLst>
                <a:tab pos="571500" algn="l"/>
              </a:tabLst>
            </a:pPr>
            <a:endParaRPr lang="en-US" sz="2400" kern="1200" dirty="0">
              <a:latin typeface="Times New Roman" panose="02020603050405020304" pitchFamily="18" charset="0"/>
              <a:cs typeface="Times New Roman" panose="02020603050405020304" pitchFamily="18" charset="0"/>
            </a:endParaRPr>
          </a:p>
          <a:p>
            <a:pPr marL="0" lvl="0" indent="0">
              <a:lnSpc>
                <a:spcPct val="112000"/>
              </a:lnSpc>
              <a:spcAft>
                <a:spcPts val="600"/>
              </a:spcAft>
              <a:buNone/>
            </a:pPr>
            <a:endParaRPr lang="en-US" sz="2400" dirty="0">
              <a:solidFill>
                <a:srgbClr val="3333CC"/>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96068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1295400"/>
            <a:ext cx="5791200" cy="2971800"/>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dirty="0"/>
              <a:t>           (FLIGHT F1)             (ATIME F1  CHI  1700HR)</a:t>
            </a:r>
          </a:p>
          <a:p>
            <a:pPr lvl="0"/>
            <a:r>
              <a:rPr lang="en-US" dirty="0"/>
              <a:t>           (FLIGHT F2)             </a:t>
            </a:r>
            <a:r>
              <a:rPr lang="en-US" dirty="0">
                <a:solidFill>
                  <a:srgbClr val="000000"/>
                </a:solidFill>
              </a:rPr>
              <a:t>(ATIME F2  CHI  1000HR)</a:t>
            </a:r>
            <a:endParaRPr lang="en-US" dirty="0"/>
          </a:p>
          <a:p>
            <a:pPr lvl="0"/>
            <a:r>
              <a:rPr lang="en-US" dirty="0">
                <a:solidFill>
                  <a:srgbClr val="000000"/>
                </a:solidFill>
              </a:rPr>
              <a:t>           (FLIGHT F3)             (ATIME F3  CHI    900HR)</a:t>
            </a:r>
          </a:p>
          <a:p>
            <a:pPr lvl="0"/>
            <a:r>
              <a:rPr lang="en-US" dirty="0">
                <a:solidFill>
                  <a:srgbClr val="000000"/>
                </a:solidFill>
              </a:rPr>
              <a:t>           (FLIGHT F4)             (ATIME F4 BOS  1700HR)</a:t>
            </a:r>
          </a:p>
          <a:p>
            <a:pPr lvl="0"/>
            <a:r>
              <a:rPr lang="en-US" dirty="0">
                <a:solidFill>
                  <a:srgbClr val="000000"/>
                </a:solidFill>
              </a:rPr>
              <a:t>           (AIRPORT BOS)      (DTIME F1  BOS  1600HR)</a:t>
            </a:r>
          </a:p>
          <a:p>
            <a:r>
              <a:rPr lang="en-US" dirty="0"/>
              <a:t>           (AIRPORT CH)        (</a:t>
            </a:r>
            <a:r>
              <a:rPr lang="en-US" dirty="0">
                <a:solidFill>
                  <a:srgbClr val="000000"/>
                </a:solidFill>
              </a:rPr>
              <a:t>DTIME F2  BOS   900HR)</a:t>
            </a:r>
          </a:p>
          <a:p>
            <a:r>
              <a:rPr lang="en-US" dirty="0">
                <a:solidFill>
                  <a:srgbClr val="000000"/>
                </a:solidFill>
              </a:rPr>
              <a:t>                                            (DTIME F3  BOS   800HR)</a:t>
            </a:r>
          </a:p>
          <a:p>
            <a:r>
              <a:rPr lang="en-US" dirty="0">
                <a:solidFill>
                  <a:srgbClr val="000000"/>
                </a:solidFill>
              </a:rPr>
              <a:t>                                            (DTIME F4  CHI   1600HR</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4419600"/>
            <a:ext cx="7086600" cy="576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40666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487362"/>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152400" y="914400"/>
            <a:ext cx="8839200" cy="5943600"/>
          </a:xfrm>
        </p:spPr>
        <p:txBody>
          <a:bodyPr/>
          <a:lstStyle/>
          <a:p>
            <a:pPr marL="0" lvl="0" indent="0">
              <a:lnSpc>
                <a:spcPct val="112000"/>
              </a:lnSpc>
              <a:spcBef>
                <a:spcPts val="0"/>
              </a:spcBef>
              <a:spcAft>
                <a:spcPts val="600"/>
              </a:spcAft>
              <a:buNone/>
            </a:pPr>
            <a:r>
              <a:rPr lang="en-US" sz="2600" b="1" kern="1200" dirty="0">
                <a:solidFill>
                  <a:srgbClr val="0070C0"/>
                </a:solidFill>
                <a:effectLst>
                  <a:outerShdw blurRad="38100" dist="38100" dir="2700000" algn="tl">
                    <a:srgbClr val="C0C0C0"/>
                  </a:outerShdw>
                </a:effectLst>
                <a:latin typeface="VNI-Times" pitchFamily="2" charset="0"/>
              </a:rPr>
              <a:t>11.6 Procedural Semantics and Question Answering</a:t>
            </a:r>
            <a:endParaRPr lang="en-US" sz="2400" kern="1200" dirty="0">
              <a:solidFill>
                <a:srgbClr val="3333CC"/>
              </a:solidFill>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The logical operators are interpreted as follows.</a:t>
            </a: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  Conjunctions (&amp; R1 , ... Rn) – will translate</a:t>
            </a:r>
            <a:r>
              <a:rPr lang="en-US" sz="2400" kern="1200" dirty="0">
                <a:solidFill>
                  <a:srgbClr val="000000"/>
                </a:solidFill>
                <a:latin typeface="Times New Roman" panose="02020603050405020304" pitchFamily="18" charset="0"/>
                <a:cs typeface="Times New Roman" panose="02020603050405020304" pitchFamily="18" charset="0"/>
              </a:rPr>
              <a:t> into a program of the form   </a:t>
            </a:r>
            <a:r>
              <a:rPr lang="en-US" sz="2400" kern="1200" dirty="0">
                <a:solidFill>
                  <a:srgbClr val="3333CC"/>
                </a:solidFill>
                <a:latin typeface="Times New Roman" panose="02020603050405020304" pitchFamily="18" charset="0"/>
                <a:cs typeface="Times New Roman" panose="02020603050405020304" pitchFamily="18" charset="0"/>
              </a:rPr>
              <a:t>(CHECK – ALL – TRUE (R1) , ... T (Rn))</a:t>
            </a: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  Disjunctions: ( OR R1 , ... Rn )</a:t>
            </a:r>
            <a:r>
              <a:rPr lang="en-US" sz="2400" b="1" kern="1200" dirty="0">
                <a:solidFill>
                  <a:srgbClr val="000000"/>
                </a:solidFill>
                <a:latin typeface="VNI-Times" pitchFamily="2" charset="0"/>
              </a:rPr>
              <a:t> – </a:t>
            </a:r>
            <a:r>
              <a:rPr lang="en-US" sz="2400" kern="1200" dirty="0">
                <a:solidFill>
                  <a:srgbClr val="000000"/>
                </a:solidFill>
                <a:latin typeface="Times New Roman" panose="02020603050405020304" pitchFamily="18" charset="0"/>
                <a:cs typeface="Times New Roman" panose="02020603050405020304" pitchFamily="18" charset="0"/>
              </a:rPr>
              <a:t>will translate into  a program of the form</a:t>
            </a:r>
            <a:r>
              <a:rPr lang="en-US" sz="2400" b="1" kern="1200" dirty="0">
                <a:solidFill>
                  <a:srgbClr val="000000"/>
                </a:solidFill>
                <a:latin typeface="VNI-Times" pitchFamily="2" charset="0"/>
              </a:rPr>
              <a:t> </a:t>
            </a:r>
            <a:r>
              <a:rPr lang="en-US" sz="2400" kern="1200" dirty="0">
                <a:solidFill>
                  <a:srgbClr val="3333CC"/>
                </a:solidFill>
                <a:latin typeface="Times New Roman" panose="02020603050405020304" pitchFamily="18" charset="0"/>
                <a:cs typeface="Times New Roman" panose="02020603050405020304" pitchFamily="18" charset="0"/>
              </a:rPr>
              <a:t>( FIND – ONE – TRUE  T ( R1 ) , ... , T ( Rn ))</a:t>
            </a:r>
          </a:p>
          <a:p>
            <a:pPr marL="0" lvl="0" indent="0" eaLnBrk="1" hangingPunct="1">
              <a:spcBef>
                <a:spcPct val="50000"/>
              </a:spcBef>
              <a:buNone/>
              <a:tabLst>
                <a:tab pos="571500" algn="l"/>
              </a:tabLst>
            </a:pPr>
            <a:endParaRPr lang="en-US" sz="2400" kern="1200" dirty="0">
              <a:solidFill>
                <a:srgbClr val="3333CC"/>
              </a:solidFill>
              <a:latin typeface="Times New Roman" panose="02020603050405020304" pitchFamily="18" charset="0"/>
              <a:cs typeface="Times New Roman" panose="02020603050405020304" pitchFamily="18" charset="0"/>
            </a:endParaRPr>
          </a:p>
          <a:p>
            <a:pPr marL="0" lvl="0" indent="0" eaLnBrk="1" hangingPunct="1">
              <a:spcBef>
                <a:spcPct val="50000"/>
              </a:spcBef>
              <a:buNone/>
              <a:tabLst>
                <a:tab pos="571500" algn="l"/>
              </a:tabLst>
            </a:pPr>
            <a:r>
              <a:rPr lang="en-US" sz="2400" b="1" kern="1200" dirty="0">
                <a:solidFill>
                  <a:srgbClr val="000000"/>
                </a:solidFill>
                <a:latin typeface="VNI-Times" pitchFamily="2" charset="0"/>
              </a:rPr>
              <a:t>- </a:t>
            </a:r>
            <a:r>
              <a:rPr lang="en-US" sz="2400" kern="1200" dirty="0">
                <a:solidFill>
                  <a:srgbClr val="000000"/>
                </a:solidFill>
                <a:latin typeface="Times New Roman" panose="02020603050405020304" pitchFamily="18" charset="0"/>
                <a:cs typeface="Times New Roman" panose="02020603050405020304" pitchFamily="18" charset="0"/>
              </a:rPr>
              <a:t>The procedure for negation is interpreted as follows.</a:t>
            </a: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(NOT R) </a:t>
            </a:r>
            <a:r>
              <a:rPr lang="en-US" sz="2400" kern="1200" dirty="0">
                <a:solidFill>
                  <a:srgbClr val="000000"/>
                </a:solidFill>
                <a:latin typeface="Times New Roman" panose="02020603050405020304" pitchFamily="18" charset="0"/>
                <a:cs typeface="Times New Roman" panose="02020603050405020304" pitchFamily="18" charset="0"/>
              </a:rPr>
              <a:t>– translates into a program of the form </a:t>
            </a:r>
            <a:r>
              <a:rPr lang="en-US" sz="2400" kern="1200" dirty="0">
                <a:solidFill>
                  <a:srgbClr val="3333CC"/>
                </a:solidFill>
                <a:latin typeface="Times New Roman" panose="02020603050405020304" pitchFamily="18" charset="0"/>
                <a:cs typeface="Times New Roman" panose="02020603050405020304" pitchFamily="18" charset="0"/>
              </a:rPr>
              <a:t>(UNLESS T(R)).</a:t>
            </a: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a:t>
            </a:r>
          </a:p>
          <a:p>
            <a:pPr marL="0" lvl="0" indent="0" eaLnBrk="1" hangingPunct="1">
              <a:spcBef>
                <a:spcPct val="50000"/>
              </a:spcBef>
              <a:buNone/>
              <a:tabLst>
                <a:tab pos="571500" algn="l"/>
              </a:tabLst>
            </a:pPr>
            <a:endParaRPr lang="en-US" sz="2400" kern="1200" dirty="0">
              <a:solidFill>
                <a:srgbClr val="3333CC"/>
              </a:solidFill>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8179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381000" y="838200"/>
            <a:ext cx="8610600" cy="5334000"/>
          </a:xfrm>
        </p:spPr>
        <p:txBody>
          <a:bodyPr/>
          <a:lstStyle/>
          <a:p>
            <a:pPr marL="0" lvl="0" indent="0">
              <a:lnSpc>
                <a:spcPct val="112000"/>
              </a:lnSpc>
              <a:spcBef>
                <a:spcPts val="0"/>
              </a:spcBef>
              <a:spcAft>
                <a:spcPts val="600"/>
              </a:spcAft>
              <a:buNone/>
            </a:pPr>
            <a:r>
              <a:rPr lang="en-US" sz="2600" b="1" kern="1200" dirty="0">
                <a:solidFill>
                  <a:srgbClr val="0070C0"/>
                </a:solidFill>
                <a:effectLst>
                  <a:outerShdw blurRad="38100" dist="38100" dir="2700000" algn="tl">
                    <a:srgbClr val="C0C0C0"/>
                  </a:outerShdw>
                </a:effectLst>
                <a:latin typeface="VNI-Times" pitchFamily="2" charset="0"/>
              </a:rPr>
              <a:t>11.6 Procedural Semantics and Question Answering</a:t>
            </a:r>
            <a:endParaRPr lang="en-US" sz="2400" kern="1200" dirty="0">
              <a:solidFill>
                <a:srgbClr val="3333CC"/>
              </a:solidFill>
              <a:latin typeface="Times New Roman" panose="02020603050405020304" pitchFamily="18" charset="0"/>
              <a:cs typeface="Times New Roman" panose="02020603050405020304" pitchFamily="18" charset="0"/>
            </a:endParaRP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Three quantifiers important in question-answering applications: THE, EACH, and WH</a:t>
            </a: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   (THE  x : Rx  </a:t>
            </a:r>
            <a:r>
              <a:rPr lang="en-US" sz="2400" kern="1200" dirty="0" err="1">
                <a:solidFill>
                  <a:srgbClr val="3333CC"/>
                </a:solidFill>
                <a:latin typeface="Times New Roman" panose="02020603050405020304" pitchFamily="18" charset="0"/>
                <a:cs typeface="Times New Roman" panose="02020603050405020304" pitchFamily="18" charset="0"/>
              </a:rPr>
              <a:t>Px</a:t>
            </a:r>
            <a:r>
              <a:rPr lang="en-US" sz="2400" kern="1200" dirty="0">
                <a:solidFill>
                  <a:srgbClr val="3333CC"/>
                </a:solidFill>
                <a:latin typeface="Times New Roman" panose="02020603050405020304" pitchFamily="18" charset="0"/>
                <a:cs typeface="Times New Roman" panose="02020603050405020304" pitchFamily="18" charset="0"/>
              </a:rPr>
              <a:t>) </a:t>
            </a:r>
            <a:r>
              <a:rPr lang="en-US" sz="2400" kern="1200" dirty="0">
                <a:solidFill>
                  <a:srgbClr val="000000"/>
                </a:solidFill>
                <a:latin typeface="Times New Roman" panose="02020603050405020304" pitchFamily="18" charset="0"/>
                <a:cs typeface="Times New Roman" panose="02020603050405020304" pitchFamily="18" charset="0"/>
              </a:rPr>
              <a:t>– translates into a program </a:t>
            </a:r>
            <a:r>
              <a:rPr lang="en-US" sz="2400" kern="1200" dirty="0">
                <a:solidFill>
                  <a:srgbClr val="3333CC"/>
                </a:solidFill>
                <a:latin typeface="Times New Roman" panose="02020603050405020304" pitchFamily="18" charset="0"/>
                <a:cs typeface="Times New Roman" panose="02020603050405020304" pitchFamily="18" charset="0"/>
              </a:rPr>
              <a:t>(FIND –THE ?x T(R ?x) T (p ?x))</a:t>
            </a: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 ( EACH x : Rx  </a:t>
            </a:r>
            <a:r>
              <a:rPr lang="en-US" sz="2400" kern="1200" dirty="0" err="1">
                <a:solidFill>
                  <a:srgbClr val="3333CC"/>
                </a:solidFill>
                <a:latin typeface="Times New Roman" panose="02020603050405020304" pitchFamily="18" charset="0"/>
                <a:cs typeface="Times New Roman" panose="02020603050405020304" pitchFamily="18" charset="0"/>
              </a:rPr>
              <a:t>Px</a:t>
            </a:r>
            <a:r>
              <a:rPr lang="en-US" sz="2400" kern="1200" dirty="0">
                <a:solidFill>
                  <a:srgbClr val="3333CC"/>
                </a:solidFill>
                <a:latin typeface="Times New Roman" panose="02020603050405020304" pitchFamily="18" charset="0"/>
                <a:cs typeface="Times New Roman" panose="02020603050405020304" pitchFamily="18" charset="0"/>
              </a:rPr>
              <a:t> ) – </a:t>
            </a:r>
            <a:r>
              <a:rPr lang="en-US" sz="2400" kern="1200" dirty="0">
                <a:latin typeface="Times New Roman" panose="02020603050405020304" pitchFamily="18" charset="0"/>
                <a:cs typeface="Times New Roman" panose="02020603050405020304" pitchFamily="18" charset="0"/>
              </a:rPr>
              <a:t>translates to  a program </a:t>
            </a:r>
            <a:r>
              <a:rPr lang="en-US" sz="2400" kern="1200" dirty="0">
                <a:solidFill>
                  <a:srgbClr val="3333CC"/>
                </a:solidFill>
                <a:latin typeface="Times New Roman" panose="02020603050405020304" pitchFamily="18" charset="0"/>
                <a:cs typeface="Times New Roman" panose="02020603050405020304" pitchFamily="18" charset="0"/>
              </a:rPr>
              <a:t>(ITERATE ?x       T ( R ? x ) T ( P ? x ))</a:t>
            </a:r>
          </a:p>
          <a:p>
            <a:pPr marL="0" lvl="0" indent="0" eaLnBrk="1" hangingPunct="1">
              <a:spcBef>
                <a:spcPct val="50000"/>
              </a:spcBef>
              <a:tabLst>
                <a:tab pos="571500" algn="l"/>
              </a:tabLst>
            </a:pPr>
            <a:r>
              <a:rPr lang="en-US" sz="2400" b="1" kern="1200" dirty="0">
                <a:solidFill>
                  <a:srgbClr val="000000"/>
                </a:solidFill>
                <a:latin typeface="VNI-Times" pitchFamily="2" charset="0"/>
              </a:rPr>
              <a:t>    </a:t>
            </a:r>
            <a:r>
              <a:rPr lang="en-US" sz="2400" kern="1200" dirty="0">
                <a:solidFill>
                  <a:srgbClr val="3333CC"/>
                </a:solidFill>
                <a:latin typeface="Times New Roman" panose="02020603050405020304" pitchFamily="18" charset="0"/>
                <a:cs typeface="Times New Roman" panose="02020603050405020304" pitchFamily="18" charset="0"/>
              </a:rPr>
              <a:t>+ ( WH x : Rx </a:t>
            </a:r>
            <a:r>
              <a:rPr lang="en-US" sz="2400" kern="1200" dirty="0" err="1">
                <a:solidFill>
                  <a:srgbClr val="3333CC"/>
                </a:solidFill>
                <a:latin typeface="Times New Roman" panose="02020603050405020304" pitchFamily="18" charset="0"/>
                <a:cs typeface="Times New Roman" panose="02020603050405020304" pitchFamily="18" charset="0"/>
              </a:rPr>
              <a:t>Px</a:t>
            </a:r>
            <a:r>
              <a:rPr lang="en-US" sz="2400" kern="1200" dirty="0">
                <a:solidFill>
                  <a:srgbClr val="3333CC"/>
                </a:solidFill>
                <a:latin typeface="Times New Roman" panose="02020603050405020304" pitchFamily="18" charset="0"/>
                <a:cs typeface="Times New Roman" panose="02020603050405020304" pitchFamily="18" charset="0"/>
              </a:rPr>
              <a:t> ) – </a:t>
            </a:r>
            <a:r>
              <a:rPr lang="en-US" sz="2400" kern="1200" dirty="0">
                <a:latin typeface="Times New Roman" panose="02020603050405020304" pitchFamily="18" charset="0"/>
                <a:cs typeface="Times New Roman" panose="02020603050405020304" pitchFamily="18" charset="0"/>
              </a:rPr>
              <a:t>translates to a program </a:t>
            </a:r>
            <a:r>
              <a:rPr lang="en-US" sz="2400" kern="1200" dirty="0">
                <a:solidFill>
                  <a:srgbClr val="3333CC"/>
                </a:solidFill>
                <a:latin typeface="Times New Roman" panose="02020603050405020304" pitchFamily="18" charset="0"/>
                <a:cs typeface="Times New Roman" panose="02020603050405020304" pitchFamily="18" charset="0"/>
              </a:rPr>
              <a:t>PRINT – ALL ?x </a:t>
            </a: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T( R ? x ) T ( P ? x ))</a:t>
            </a: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To show some examples using the database in figure 12.3.</a:t>
            </a:r>
          </a:p>
          <a:p>
            <a:pPr marL="0" lvl="0" indent="0" eaLnBrk="1" hangingPunct="1">
              <a:spcBef>
                <a:spcPct val="500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a:t>
            </a:r>
          </a:p>
          <a:p>
            <a:pPr marL="0" lvl="0" indent="0" eaLnBrk="1" hangingPunct="1">
              <a:spcBef>
                <a:spcPct val="50000"/>
              </a:spcBef>
              <a:buNone/>
              <a:tabLst>
                <a:tab pos="571500" algn="l"/>
              </a:tabLst>
            </a:pPr>
            <a:endParaRPr lang="en-US" sz="2400" kern="1200" dirty="0">
              <a:solidFill>
                <a:srgbClr val="3333CC"/>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8742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sz="3200" b="1" kern="1200" dirty="0">
                <a:solidFill>
                  <a:srgbClr val="0099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Knowledge Representation and Reasoning</a:t>
            </a:r>
            <a:endParaRPr lang="en-US" dirty="0"/>
          </a:p>
        </p:txBody>
      </p:sp>
      <p:sp>
        <p:nvSpPr>
          <p:cNvPr id="3" name="Content Placeholder 2"/>
          <p:cNvSpPr>
            <a:spLocks noGrp="1"/>
          </p:cNvSpPr>
          <p:nvPr>
            <p:ph idx="1"/>
          </p:nvPr>
        </p:nvSpPr>
        <p:spPr>
          <a:xfrm>
            <a:off x="152400" y="914400"/>
            <a:ext cx="8763000" cy="5791200"/>
          </a:xfrm>
        </p:spPr>
        <p:txBody>
          <a:bodyPr/>
          <a:lstStyle/>
          <a:p>
            <a:pPr marL="0" lvl="0" indent="0">
              <a:lnSpc>
                <a:spcPct val="112000"/>
              </a:lnSpc>
              <a:spcBef>
                <a:spcPts val="0"/>
              </a:spcBef>
              <a:spcAft>
                <a:spcPts val="600"/>
              </a:spcAft>
              <a:buNone/>
            </a:pPr>
            <a:r>
              <a:rPr lang="en-US" sz="2600" b="1" kern="1200" dirty="0">
                <a:solidFill>
                  <a:srgbClr val="0070C0"/>
                </a:solidFill>
                <a:effectLst>
                  <a:outerShdw blurRad="38100" dist="38100" dir="2700000" algn="tl">
                    <a:srgbClr val="C0C0C0"/>
                  </a:outerShdw>
                </a:effectLst>
                <a:latin typeface="VNI-Times" pitchFamily="2" charset="0"/>
              </a:rPr>
              <a:t>11.6 Procedural Semantics and Question Answering</a:t>
            </a:r>
            <a:endParaRPr lang="en-US" sz="2400" kern="1200" dirty="0">
              <a:solidFill>
                <a:srgbClr val="3333CC"/>
              </a:solidFill>
              <a:latin typeface="Times New Roman" panose="02020603050405020304" pitchFamily="18" charset="0"/>
              <a:cs typeface="Times New Roman" panose="02020603050405020304" pitchFamily="18" charset="0"/>
            </a:endParaRPr>
          </a:p>
          <a:p>
            <a:pPr marL="0" lvl="0" indent="0" eaLnBrk="1" hangingPunct="1">
              <a:lnSpc>
                <a:spcPct val="112000"/>
              </a:lnSpc>
              <a:spcBef>
                <a:spcPts val="1200"/>
              </a:spcBef>
              <a:buNone/>
              <a:tabLst>
                <a:tab pos="571500" algn="l"/>
              </a:tabLst>
            </a:pPr>
            <a:r>
              <a:rPr lang="en-US" sz="2400" b="1" i="1" kern="1200" dirty="0">
                <a:solidFill>
                  <a:srgbClr val="000000"/>
                </a:solidFill>
                <a:latin typeface="VNI-Times" pitchFamily="2" charset="0"/>
              </a:rPr>
              <a:t>Example: </a:t>
            </a:r>
            <a:r>
              <a:rPr lang="en-US" sz="2400" kern="1200" dirty="0">
                <a:solidFill>
                  <a:srgbClr val="000000"/>
                </a:solidFill>
                <a:latin typeface="Times New Roman" panose="02020603050405020304" pitchFamily="18" charset="0"/>
                <a:cs typeface="Times New Roman" panose="02020603050405020304" pitchFamily="18" charset="0"/>
              </a:rPr>
              <a:t>the query </a:t>
            </a:r>
            <a:r>
              <a:rPr lang="en-US" sz="2400" i="1" kern="1200" dirty="0">
                <a:solidFill>
                  <a:srgbClr val="3333CC"/>
                </a:solidFill>
                <a:latin typeface="Times New Roman" panose="02020603050405020304" pitchFamily="18" charset="0"/>
                <a:cs typeface="Times New Roman" panose="02020603050405020304" pitchFamily="18" charset="0"/>
              </a:rPr>
              <a:t>Which flight to Chicago leaves at 4 PM ? </a:t>
            </a:r>
            <a:r>
              <a:rPr lang="en-US" sz="2400" kern="1200" dirty="0">
                <a:solidFill>
                  <a:srgbClr val="3333CC"/>
                </a:solidFill>
                <a:latin typeface="Times New Roman" panose="02020603050405020304" pitchFamily="18" charset="0"/>
                <a:cs typeface="Times New Roman" panose="02020603050405020304" pitchFamily="18" charset="0"/>
              </a:rPr>
              <a:t>would have the logical form (after scoping)</a:t>
            </a:r>
            <a:endParaRPr lang="en-US" sz="2400" b="1" kern="1200" dirty="0">
              <a:solidFill>
                <a:srgbClr val="000000"/>
              </a:solidFill>
              <a:latin typeface="VNI-Times" pitchFamily="2" charset="0"/>
            </a:endParaRPr>
          </a:p>
          <a:p>
            <a:pPr marL="0" lvl="0" indent="0" eaLnBrk="1" hangingPunct="1">
              <a:lnSpc>
                <a:spcPct val="112000"/>
              </a:lnSpc>
              <a:spcBef>
                <a:spcPts val="12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WH f1 : ( &amp; ( FLIGHT  f1 ) ( DEST  f1 ( NAME  c1  “Chicago” ))) ( LEAVE  l1  ( NAME  t1 “4 PM” )))</a:t>
            </a:r>
          </a:p>
          <a:p>
            <a:pPr marL="0" lvl="0" indent="0" eaLnBrk="1" hangingPunct="1">
              <a:lnSpc>
                <a:spcPct val="112000"/>
              </a:lnSpc>
              <a:spcBef>
                <a:spcPts val="1200"/>
              </a:spcBef>
              <a:buNone/>
              <a:tabLst>
                <a:tab pos="571500" algn="l"/>
              </a:tabLst>
            </a:pPr>
            <a:r>
              <a:rPr lang="en-US" sz="2400" b="1" kern="1200" dirty="0">
                <a:solidFill>
                  <a:srgbClr val="000000"/>
                </a:solidFill>
                <a:latin typeface="VNI-Times" pitchFamily="2" charset="0"/>
              </a:rPr>
              <a:t> </a:t>
            </a:r>
            <a:r>
              <a:rPr lang="en-US" sz="2400" kern="1200" dirty="0">
                <a:latin typeface="Times New Roman" panose="02020603050405020304" pitchFamily="18" charset="0"/>
                <a:cs typeface="Times New Roman" panose="02020603050405020304" pitchFamily="18" charset="0"/>
              </a:rPr>
              <a:t>This would translate into a query of the form</a:t>
            </a:r>
          </a:p>
          <a:p>
            <a:pPr marL="0" lvl="0" indent="0" eaLnBrk="1" hangingPunct="1">
              <a:lnSpc>
                <a:spcPct val="112000"/>
              </a:lnSpc>
              <a:spcBef>
                <a:spcPts val="1200"/>
              </a:spcBef>
              <a:buNone/>
              <a:tabLst>
                <a:tab pos="571500" algn="l"/>
              </a:tabLst>
            </a:pPr>
            <a:r>
              <a:rPr lang="en-US" sz="2400" kern="1200" dirty="0">
                <a:solidFill>
                  <a:srgbClr val="3333CC"/>
                </a:solidFill>
                <a:latin typeface="Times New Roman" panose="02020603050405020304" pitchFamily="18" charset="0"/>
                <a:cs typeface="Times New Roman" panose="02020603050405020304" pitchFamily="18" charset="0"/>
              </a:rPr>
              <a:t>( PRINT – ALL ? f  ( FLIGHT ?  f ) ( ATIME ?  f CH1 ?  t ) </a:t>
            </a:r>
            <a:br>
              <a:rPr lang="en-US" sz="2400" kern="1200" dirty="0">
                <a:solidFill>
                  <a:srgbClr val="3333CC"/>
                </a:solidFill>
                <a:latin typeface="Times New Roman" panose="02020603050405020304" pitchFamily="18" charset="0"/>
                <a:cs typeface="Times New Roman" panose="02020603050405020304" pitchFamily="18" charset="0"/>
              </a:rPr>
            </a:br>
            <a:r>
              <a:rPr lang="en-US" sz="2400" kern="1200" dirty="0">
                <a:solidFill>
                  <a:srgbClr val="3333CC"/>
                </a:solidFill>
                <a:latin typeface="Times New Roman" panose="02020603050405020304" pitchFamily="18" charset="0"/>
                <a:cs typeface="Times New Roman" panose="02020603050405020304" pitchFamily="18" charset="0"/>
              </a:rPr>
              <a:t>( DTIME ?  f ?  s 1600 HR ))</a:t>
            </a:r>
          </a:p>
          <a:p>
            <a:pPr marL="0" lvl="0" indent="0" eaLnBrk="1" hangingPunct="1">
              <a:lnSpc>
                <a:spcPct val="112000"/>
              </a:lnSpc>
              <a:spcBef>
                <a:spcPts val="1200"/>
              </a:spcBef>
              <a:buNone/>
              <a:tabLst>
                <a:tab pos="571500" algn="l"/>
              </a:tabLst>
            </a:pPr>
            <a:r>
              <a:rPr lang="en-US" sz="2400" kern="1200" dirty="0">
                <a:latin typeface="Times New Roman" panose="02020603050405020304" pitchFamily="18" charset="0"/>
                <a:cs typeface="Times New Roman" panose="02020603050405020304" pitchFamily="18" charset="0"/>
              </a:rPr>
              <a:t>The DEST  relation maps to an ATIME relation and the LEAVE  predicate maps into the DTIME relation. Note that the departure location was not specified in the logical form and so is treated as a variable here.</a:t>
            </a:r>
            <a:endParaRPr lang="en-US" dirty="0"/>
          </a:p>
        </p:txBody>
      </p:sp>
    </p:spTree>
    <p:extLst>
      <p:ext uri="{BB962C8B-B14F-4D97-AF65-F5344CB8AC3E}">
        <p14:creationId xmlns:p14="http://schemas.microsoft.com/office/powerpoint/2010/main" val="3187630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sz="4000" b="1" dirty="0">
                <a:solidFill>
                  <a:srgbClr val="0070C0"/>
                </a:solidFill>
                <a:latin typeface="Times New Roman" panose="02020603050405020304" pitchFamily="18" charset="0"/>
                <a:cs typeface="Times New Roman" panose="02020603050405020304" pitchFamily="18" charset="0"/>
              </a:rPr>
              <a:t>EXERCISE OF CHAPTER 11</a:t>
            </a:r>
          </a:p>
        </p:txBody>
      </p:sp>
      <p:sp>
        <p:nvSpPr>
          <p:cNvPr id="3" name="Content Placeholder 2"/>
          <p:cNvSpPr>
            <a:spLocks noGrp="1"/>
          </p:cNvSpPr>
          <p:nvPr>
            <p:ph idx="1"/>
          </p:nvPr>
        </p:nvSpPr>
        <p:spPr>
          <a:xfrm>
            <a:off x="76200" y="990600"/>
            <a:ext cx="9067800" cy="5791200"/>
          </a:xfrm>
        </p:spPr>
        <p:txBody>
          <a:bodyPr/>
          <a:lstStyle/>
          <a:p>
            <a:pPr marL="457200" indent="-457200">
              <a:buAutoNum type="arabicParenR"/>
            </a:pPr>
            <a:r>
              <a:rPr lang="en-US" sz="2400" dirty="0">
                <a:latin typeface="Times New Roman" panose="02020603050405020304" pitchFamily="18" charset="0"/>
                <a:cs typeface="Times New Roman" panose="02020603050405020304" pitchFamily="18" charset="0"/>
              </a:rPr>
              <a:t>Give a plausible logic-based representation for the meaning of the following sentences. Focusing on the interpretation of the quantifiers. If the sentence has a collective/distributive ambiguity, give both interpretations</a:t>
            </a:r>
          </a:p>
          <a:p>
            <a:pPr marL="0" indent="0">
              <a:buNone/>
            </a:pP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Several men cried</a:t>
            </a:r>
          </a:p>
          <a:p>
            <a:pPr marL="0" indent="0">
              <a:buNone/>
            </a:pPr>
            <a:r>
              <a:rPr lang="en-US" sz="2400" i="1" dirty="0">
                <a:latin typeface="Times New Roman" panose="02020603050405020304" pitchFamily="18" charset="0"/>
                <a:cs typeface="Times New Roman" panose="02020603050405020304" pitchFamily="18" charset="0"/>
              </a:rPr>
              <a:t>        Seven men in the book met in the park.</a:t>
            </a:r>
          </a:p>
          <a:p>
            <a:pPr marL="0" indent="0">
              <a:buNone/>
            </a:pPr>
            <a:r>
              <a:rPr lang="en-US" sz="2400" i="1" dirty="0">
                <a:latin typeface="Times New Roman" panose="02020603050405020304" pitchFamily="18" charset="0"/>
                <a:cs typeface="Times New Roman" panose="02020603050405020304" pitchFamily="18" charset="0"/>
              </a:rPr>
              <a:t>        All but three men bought a suit.</a:t>
            </a:r>
          </a:p>
          <a:p>
            <a:pPr marL="0" indent="0">
              <a:buNone/>
            </a:pPr>
            <a:r>
              <a:rPr lang="en-US" sz="2400" dirty="0">
                <a:latin typeface="Times New Roman" panose="02020603050405020304" pitchFamily="18" charset="0"/>
                <a:cs typeface="Times New Roman" panose="02020603050405020304" pitchFamily="18" charset="0"/>
              </a:rPr>
              <a:t>2) Given the sentence </a:t>
            </a:r>
            <a:r>
              <a:rPr lang="en-US" sz="2400" i="1" dirty="0">
                <a:latin typeface="Times New Roman" panose="02020603050405020304" pitchFamily="18" charset="0"/>
                <a:cs typeface="Times New Roman" panose="02020603050405020304" pitchFamily="18" charset="0"/>
              </a:rPr>
              <a:t>What arrived time of each flight from Boston is ?.</a:t>
            </a:r>
          </a:p>
          <a:p>
            <a:pPr marL="0" indent="0">
              <a:buNone/>
            </a:pP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Translate the query into a logical form.</a:t>
            </a:r>
          </a:p>
          <a:p>
            <a:pPr marL="457200" indent="-457200">
              <a:buAutoNum type="alphaLcParenR" startAt="2"/>
            </a:pPr>
            <a:r>
              <a:rPr lang="en-US" sz="2400" dirty="0">
                <a:latin typeface="Times New Roman" panose="02020603050405020304" pitchFamily="18" charset="0"/>
                <a:cs typeface="Times New Roman" panose="02020603050405020304" pitchFamily="18" charset="0"/>
              </a:rPr>
              <a:t>Translate the logical form of a) into a procedural semantics based on the database in figure 11.3.</a:t>
            </a:r>
          </a:p>
          <a:p>
            <a:pPr marL="457200" indent="-457200">
              <a:buAutoNum type="alphaLcParenR" startAt="2"/>
            </a:pPr>
            <a:r>
              <a:rPr lang="en-US" sz="2400" dirty="0">
                <a:latin typeface="Times New Roman" panose="02020603050405020304" pitchFamily="18" charset="0"/>
                <a:cs typeface="Times New Roman" panose="02020603050405020304" pitchFamily="18" charset="0"/>
              </a:rPr>
              <a:t>Present  step by step  how the computer performs the procedural semantics to export the answer.</a:t>
            </a:r>
          </a:p>
          <a:p>
            <a:pPr marL="457200" indent="-457200">
              <a:buAutoNum type="alphaLcParenR" startAt="2"/>
            </a:pPr>
            <a:endParaRPr lang="en-US"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718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1897</TotalTime>
  <Words>5484</Words>
  <Application>Microsoft Office PowerPoint</Application>
  <PresentationFormat>On-screen Show (4:3)</PresentationFormat>
  <Paragraphs>365</Paragraphs>
  <Slides>38</Slides>
  <Notes>17</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38</vt:i4>
      </vt:variant>
    </vt:vector>
  </HeadingPairs>
  <TitlesOfParts>
    <vt:vector size="47" baseType="lpstr">
      <vt:lpstr>Arial</vt:lpstr>
      <vt:lpstr>Calibri</vt:lpstr>
      <vt:lpstr>Times New Roman</vt:lpstr>
      <vt:lpstr>VNI-Times</vt:lpstr>
      <vt:lpstr>Wingdings</vt:lpstr>
      <vt:lpstr>Office Theme</vt:lpstr>
      <vt:lpstr>Default Design</vt:lpstr>
      <vt:lpstr>1_Default Design</vt:lpstr>
      <vt:lpstr>2_Default Design</vt:lpstr>
      <vt:lpstr>Chapter 11: 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PowerPoint Presentation</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Knowledge Representation and Reasoning</vt:lpstr>
      <vt:lpstr>PowerPoint Presentation</vt:lpstr>
      <vt:lpstr>Knowledge Representation and Reasoning</vt:lpstr>
      <vt:lpstr>Knowledge Representation and Reasoning</vt:lpstr>
      <vt:lpstr>Knowledge Representation and Reasoning</vt:lpstr>
      <vt:lpstr>EXERCISE OF CHAPTER 11</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Knowledge Representation and Reasoning</dc:title>
  <dc:creator>Hoang Thai Lan</dc:creator>
  <cp:lastModifiedBy>VO THANH HUNG</cp:lastModifiedBy>
  <cp:revision>97</cp:revision>
  <dcterms:created xsi:type="dcterms:W3CDTF">2018-06-02T02:24:31Z</dcterms:created>
  <dcterms:modified xsi:type="dcterms:W3CDTF">2023-04-18T04:15:19Z</dcterms:modified>
</cp:coreProperties>
</file>