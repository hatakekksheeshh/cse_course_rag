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1"/>
  </p:sldMasterIdLst>
  <p:notesMasterIdLst>
    <p:notesMasterId r:id="rId49"/>
  </p:notesMasterIdLst>
  <p:handoutMasterIdLst>
    <p:handoutMasterId r:id="rId50"/>
  </p:handoutMasterIdLst>
  <p:sldIdLst>
    <p:sldId id="299" r:id="rId2"/>
    <p:sldId id="257" r:id="rId3"/>
    <p:sldId id="258" r:id="rId4"/>
    <p:sldId id="259" r:id="rId5"/>
    <p:sldId id="261" r:id="rId6"/>
    <p:sldId id="316" r:id="rId7"/>
    <p:sldId id="262" r:id="rId8"/>
    <p:sldId id="263" r:id="rId9"/>
    <p:sldId id="264" r:id="rId10"/>
    <p:sldId id="265" r:id="rId11"/>
    <p:sldId id="266" r:id="rId12"/>
    <p:sldId id="267" r:id="rId13"/>
    <p:sldId id="260" r:id="rId14"/>
    <p:sldId id="269" r:id="rId15"/>
    <p:sldId id="268" r:id="rId16"/>
    <p:sldId id="270" r:id="rId17"/>
    <p:sldId id="317" r:id="rId18"/>
    <p:sldId id="271" r:id="rId19"/>
    <p:sldId id="272" r:id="rId20"/>
    <p:sldId id="315" r:id="rId21"/>
    <p:sldId id="273" r:id="rId22"/>
    <p:sldId id="318"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8" r:id="rId36"/>
    <p:sldId id="289" r:id="rId37"/>
    <p:sldId id="291" r:id="rId38"/>
    <p:sldId id="292" r:id="rId39"/>
    <p:sldId id="293" r:id="rId40"/>
    <p:sldId id="294" r:id="rId41"/>
    <p:sldId id="295" r:id="rId42"/>
    <p:sldId id="297" r:id="rId43"/>
    <p:sldId id="298" r:id="rId44"/>
    <p:sldId id="319" r:id="rId45"/>
    <p:sldId id="320" r:id="rId46"/>
    <p:sldId id="321" r:id="rId47"/>
    <p:sldId id="314" r:id="rId48"/>
  </p:sldIdLst>
  <p:sldSz cx="9144000" cy="6858000" type="screen4x3"/>
  <p:notesSz cx="6997700" cy="92837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88">
          <p15:clr>
            <a:srgbClr val="A4A3A4"/>
          </p15:clr>
        </p15:guide>
        <p15:guide id="2" pos="5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11"/>
    <p:restoredTop sz="94643"/>
  </p:normalViewPr>
  <p:slideViewPr>
    <p:cSldViewPr snapToGrid="0">
      <p:cViewPr varScale="1">
        <p:scale>
          <a:sx n="81" d="100"/>
          <a:sy n="81" d="100"/>
        </p:scale>
        <p:origin x="950" y="62"/>
      </p:cViewPr>
      <p:guideLst>
        <p:guide orient="horz" pos="788"/>
        <p:guide pos="5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B775EC43-202E-D445-B18C-F7FCC57D01C1}"/>
              </a:ext>
            </a:extLst>
          </p:cNvPr>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defTabSz="923925" eaLnBrk="1" hangingPunct="1">
              <a:defRPr sz="1200">
                <a:latin typeface="Times New Roman" pitchFamily="18" charset="0"/>
                <a:ea typeface="+mn-ea"/>
                <a:cs typeface="+mn-cs"/>
              </a:defRPr>
            </a:lvl1pPr>
          </a:lstStyle>
          <a:p>
            <a:pPr>
              <a:defRPr/>
            </a:pPr>
            <a:endParaRPr lang="en-US"/>
          </a:p>
        </p:txBody>
      </p:sp>
      <p:sp>
        <p:nvSpPr>
          <p:cNvPr id="179203" name="Rectangle 3">
            <a:extLst>
              <a:ext uri="{FF2B5EF4-FFF2-40B4-BE49-F238E27FC236}">
                <a16:creationId xmlns:a16="http://schemas.microsoft.com/office/drawing/2014/main" id="{1E9A978D-7CFE-504E-8E7B-D21DDA662B20}"/>
              </a:ext>
            </a:extLst>
          </p:cNvPr>
          <p:cNvSpPr>
            <a:spLocks noGrp="1" noChangeArrowheads="1"/>
          </p:cNvSpPr>
          <p:nvPr>
            <p:ph type="dt" sz="quarter" idx="1"/>
          </p:nvPr>
        </p:nvSpPr>
        <p:spPr bwMode="auto">
          <a:xfrm>
            <a:off x="396240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defTabSz="923925" eaLnBrk="1" hangingPunct="1">
              <a:defRPr sz="1200">
                <a:latin typeface="Times New Roman" pitchFamily="18" charset="0"/>
                <a:ea typeface="+mn-ea"/>
                <a:cs typeface="+mn-cs"/>
              </a:defRPr>
            </a:lvl1pPr>
          </a:lstStyle>
          <a:p>
            <a:pPr>
              <a:defRPr/>
            </a:pPr>
            <a:endParaRPr lang="en-US"/>
          </a:p>
        </p:txBody>
      </p:sp>
      <p:sp>
        <p:nvSpPr>
          <p:cNvPr id="179204" name="Rectangle 4">
            <a:extLst>
              <a:ext uri="{FF2B5EF4-FFF2-40B4-BE49-F238E27FC236}">
                <a16:creationId xmlns:a16="http://schemas.microsoft.com/office/drawing/2014/main" id="{6994ADF6-913B-ED41-9BB1-CABDE033CC92}"/>
              </a:ext>
            </a:extLst>
          </p:cNvPr>
          <p:cNvSpPr>
            <a:spLocks noGrp="1" noChangeArrowheads="1"/>
          </p:cNvSpPr>
          <p:nvPr>
            <p:ph type="ftr" sz="quarter" idx="2"/>
          </p:nvPr>
        </p:nvSpPr>
        <p:spPr bwMode="auto">
          <a:xfrm>
            <a:off x="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defTabSz="923925" eaLnBrk="1" hangingPunct="1">
              <a:defRPr sz="1200">
                <a:latin typeface="Times New Roman" pitchFamily="18" charset="0"/>
                <a:ea typeface="+mn-ea"/>
                <a:cs typeface="+mn-cs"/>
              </a:defRPr>
            </a:lvl1pPr>
          </a:lstStyle>
          <a:p>
            <a:pPr>
              <a:defRPr/>
            </a:pPr>
            <a:endParaRPr lang="en-US"/>
          </a:p>
        </p:txBody>
      </p:sp>
      <p:sp>
        <p:nvSpPr>
          <p:cNvPr id="179205" name="Rectangle 5">
            <a:extLst>
              <a:ext uri="{FF2B5EF4-FFF2-40B4-BE49-F238E27FC236}">
                <a16:creationId xmlns:a16="http://schemas.microsoft.com/office/drawing/2014/main" id="{BEA78B25-E6BF-5740-8BCE-9C40574271ED}"/>
              </a:ext>
            </a:extLst>
          </p:cNvPr>
          <p:cNvSpPr>
            <a:spLocks noGrp="1" noChangeArrowheads="1"/>
          </p:cNvSpPr>
          <p:nvPr>
            <p:ph type="sldNum" sz="quarter" idx="3"/>
          </p:nvPr>
        </p:nvSpPr>
        <p:spPr bwMode="auto">
          <a:xfrm>
            <a:off x="396240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defTabSz="923925" eaLnBrk="1" hangingPunct="1">
              <a:defRPr sz="1200">
                <a:latin typeface="Times New Roman" panose="02020603050405020304" pitchFamily="18" charset="0"/>
              </a:defRPr>
            </a:lvl1pPr>
          </a:lstStyle>
          <a:p>
            <a:fld id="{6542CFFF-EDB1-174E-8846-12EB4BC02AD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3B2D298D-3063-CA4A-934C-D89B859074C9}"/>
              </a:ext>
            </a:extLst>
          </p:cNvPr>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defTabSz="923925" eaLnBrk="1" hangingPunct="1">
              <a:defRPr sz="1200">
                <a:latin typeface="Times New Roman" pitchFamily="18" charset="0"/>
                <a:ea typeface="+mn-ea"/>
                <a:cs typeface="+mn-cs"/>
              </a:defRPr>
            </a:lvl1pPr>
          </a:lstStyle>
          <a:p>
            <a:pPr>
              <a:defRPr/>
            </a:pPr>
            <a:endParaRPr lang="en-US"/>
          </a:p>
        </p:txBody>
      </p:sp>
      <p:sp>
        <p:nvSpPr>
          <p:cNvPr id="135171" name="Rectangle 3">
            <a:extLst>
              <a:ext uri="{FF2B5EF4-FFF2-40B4-BE49-F238E27FC236}">
                <a16:creationId xmlns:a16="http://schemas.microsoft.com/office/drawing/2014/main" id="{AB3BE8D7-41CD-9246-8CDB-056758C8EA8E}"/>
              </a:ext>
            </a:extLst>
          </p:cNvPr>
          <p:cNvSpPr>
            <a:spLocks noGrp="1" noChangeArrowheads="1"/>
          </p:cNvSpPr>
          <p:nvPr>
            <p:ph type="dt" idx="1"/>
          </p:nvPr>
        </p:nvSpPr>
        <p:spPr bwMode="auto">
          <a:xfrm>
            <a:off x="396240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defTabSz="923925" eaLnBrk="1" hangingPunct="1">
              <a:defRPr sz="1200">
                <a:latin typeface="Times New Roman" pitchFamily="18" charset="0"/>
                <a:ea typeface="+mn-ea"/>
                <a:cs typeface="+mn-cs"/>
              </a:defRPr>
            </a:lvl1pPr>
          </a:lstStyle>
          <a:p>
            <a:pPr>
              <a:defRPr/>
            </a:pPr>
            <a:endParaRPr lang="en-US"/>
          </a:p>
        </p:txBody>
      </p:sp>
      <p:sp>
        <p:nvSpPr>
          <p:cNvPr id="48132" name="Rectangle 4">
            <a:extLst>
              <a:ext uri="{FF2B5EF4-FFF2-40B4-BE49-F238E27FC236}">
                <a16:creationId xmlns:a16="http://schemas.microsoft.com/office/drawing/2014/main" id="{FD482013-2D01-CA4B-88FC-8EB8243716BF}"/>
              </a:ext>
            </a:extLst>
          </p:cNvPr>
          <p:cNvSpPr>
            <a:spLocks noGrp="1" noRot="1" noChangeAspect="1" noChangeArrowheads="1" noTextEdit="1"/>
          </p:cNvSpPr>
          <p:nvPr>
            <p:ph type="sldImg" idx="2"/>
          </p:nvPr>
        </p:nvSpPr>
        <p:spPr bwMode="auto">
          <a:xfrm>
            <a:off x="1177925"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3" name="Rectangle 5">
            <a:extLst>
              <a:ext uri="{FF2B5EF4-FFF2-40B4-BE49-F238E27FC236}">
                <a16:creationId xmlns:a16="http://schemas.microsoft.com/office/drawing/2014/main" id="{1BEA2CED-78FF-BB47-9AA1-CB46E403B1F6}"/>
              </a:ext>
            </a:extLst>
          </p:cNvPr>
          <p:cNvSpPr>
            <a:spLocks noGrp="1" noChangeArrowheads="1"/>
          </p:cNvSpPr>
          <p:nvPr>
            <p:ph type="body" sz="quarter" idx="3"/>
          </p:nvPr>
        </p:nvSpPr>
        <p:spPr bwMode="auto">
          <a:xfrm>
            <a:off x="700088" y="4410075"/>
            <a:ext cx="5599112" cy="4178300"/>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5174" name="Rectangle 6">
            <a:extLst>
              <a:ext uri="{FF2B5EF4-FFF2-40B4-BE49-F238E27FC236}">
                <a16:creationId xmlns:a16="http://schemas.microsoft.com/office/drawing/2014/main" id="{82E82B5B-FA7C-5D4A-9C62-739FCB0B17D2}"/>
              </a:ext>
            </a:extLst>
          </p:cNvPr>
          <p:cNvSpPr>
            <a:spLocks noGrp="1" noChangeArrowheads="1"/>
          </p:cNvSpPr>
          <p:nvPr>
            <p:ph type="ftr" sz="quarter" idx="4"/>
          </p:nvPr>
        </p:nvSpPr>
        <p:spPr bwMode="auto">
          <a:xfrm>
            <a:off x="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defTabSz="923925" eaLnBrk="1" hangingPunct="1">
              <a:defRPr sz="1200">
                <a:latin typeface="Times New Roman" pitchFamily="18" charset="0"/>
                <a:ea typeface="+mn-ea"/>
                <a:cs typeface="+mn-cs"/>
              </a:defRPr>
            </a:lvl1pPr>
          </a:lstStyle>
          <a:p>
            <a:pPr>
              <a:defRPr/>
            </a:pPr>
            <a:endParaRPr lang="en-US"/>
          </a:p>
        </p:txBody>
      </p:sp>
      <p:sp>
        <p:nvSpPr>
          <p:cNvPr id="135175" name="Rectangle 7">
            <a:extLst>
              <a:ext uri="{FF2B5EF4-FFF2-40B4-BE49-F238E27FC236}">
                <a16:creationId xmlns:a16="http://schemas.microsoft.com/office/drawing/2014/main" id="{848C7569-B7F7-7F46-921E-587ED1FD772D}"/>
              </a:ext>
            </a:extLst>
          </p:cNvPr>
          <p:cNvSpPr>
            <a:spLocks noGrp="1" noChangeArrowheads="1"/>
          </p:cNvSpPr>
          <p:nvPr>
            <p:ph type="sldNum" sz="quarter" idx="5"/>
          </p:nvPr>
        </p:nvSpPr>
        <p:spPr bwMode="auto">
          <a:xfrm>
            <a:off x="396240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defTabSz="923925" eaLnBrk="1" hangingPunct="1">
              <a:defRPr sz="1200">
                <a:latin typeface="Times New Roman" panose="02020603050405020304" pitchFamily="18" charset="0"/>
              </a:defRPr>
            </a:lvl1pPr>
          </a:lstStyle>
          <a:p>
            <a:fld id="{A67108B8-47A8-3342-9ACC-A2097730E52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E805D905-ABA3-C446-B231-890367E9BF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B601FD-154D-494D-BC10-6AEEF4D66BDC}"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9227C251-7F0F-4C4E-A63E-1B10292D48C1}"/>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E797837C-F130-8D45-AC6A-9723A05FDA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4B5D47E2-5292-D441-A695-B30212F402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A63E59D-2BB0-1943-B111-0CFB4AEC54C4}"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50179" name="Rectangle 2">
            <a:extLst>
              <a:ext uri="{FF2B5EF4-FFF2-40B4-BE49-F238E27FC236}">
                <a16:creationId xmlns:a16="http://schemas.microsoft.com/office/drawing/2014/main" id="{EC64AA44-4172-C243-9D99-D9F6DD8376BC}"/>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B08A0CEE-212B-2A40-AEAC-2D8BF5D38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C8997ED7-D01A-1F4F-8104-3346CE6DEC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B7AB653-BB74-1945-B5F9-E773A5099790}"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51203" name="Rectangle 2">
            <a:extLst>
              <a:ext uri="{FF2B5EF4-FFF2-40B4-BE49-F238E27FC236}">
                <a16:creationId xmlns:a16="http://schemas.microsoft.com/office/drawing/2014/main" id="{6BFB6FD0-A8F4-E248-A85D-F2C41B18CE39}"/>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A293CA2B-C42A-A641-91CE-1220A8F64B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FEEAB3E-7278-4D4D-BAAF-56FBEFC445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5FF2DA9-0E33-6E4E-89F1-0A36655B1E24}"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52227" name="Rectangle 2">
            <a:extLst>
              <a:ext uri="{FF2B5EF4-FFF2-40B4-BE49-F238E27FC236}">
                <a16:creationId xmlns:a16="http://schemas.microsoft.com/office/drawing/2014/main" id="{B1528595-9DFD-C44A-90B2-69DC71B8173D}"/>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6A660DC8-ED78-194C-8180-5E65A6C755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7957A780-1E40-CA41-9FA0-D962694DC0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45CA5A7-4747-7E44-A75C-05814946BFB4}"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FD6379CC-0C86-C749-B4FA-72E189003988}"/>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D10B756-9C21-D24A-A58E-40E900FF64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D0515EF8-2341-5642-9E8F-3879A2402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BF7B9-E13C-D640-AB8C-8FAC6A836716}"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54275" name="Rectangle 2">
            <a:extLst>
              <a:ext uri="{FF2B5EF4-FFF2-40B4-BE49-F238E27FC236}">
                <a16:creationId xmlns:a16="http://schemas.microsoft.com/office/drawing/2014/main" id="{DB284CF3-A90F-6647-A93C-5EF6EEB62205}"/>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4DE4AA03-9EDD-BA42-8889-498FDC9EEC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2AB743A-5CB4-2F42-959D-0B7CC940B6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6EE399-FFD1-9746-9D92-D6CA53C23F0E}"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FB619EF2-42C7-A343-9C3F-9DDD26722749}"/>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63B8A710-180A-614B-893E-80D246C5CD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975A2D39-06F9-4348-A8A5-2594A69499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A4F8090-7C1F-0E49-A26F-4CE06098F126}"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56323" name="Rectangle 2">
            <a:extLst>
              <a:ext uri="{FF2B5EF4-FFF2-40B4-BE49-F238E27FC236}">
                <a16:creationId xmlns:a16="http://schemas.microsoft.com/office/drawing/2014/main" id="{BC99BD07-8A65-F945-A2DF-5482EDEE672C}"/>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4BC585A6-1B7A-2744-A1D3-EB17145F29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6D31ECC-7DA9-0749-A160-4BC6139D95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A6AEFD-BC4D-3648-842C-FF9E5320CDC7}"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57347" name="Rectangle 2">
            <a:extLst>
              <a:ext uri="{FF2B5EF4-FFF2-40B4-BE49-F238E27FC236}">
                <a16:creationId xmlns:a16="http://schemas.microsoft.com/office/drawing/2014/main" id="{073A9E41-82A9-0F41-B19D-78F8D9FFFA47}"/>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14F0241E-2CB1-4A4B-BA01-9E2D63195C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E57BA6A0-9C13-B645-9D4C-C75A8F0CE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91567C-A218-2D49-A83F-AF6F4461F050}"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58371" name="Rectangle 2">
            <a:extLst>
              <a:ext uri="{FF2B5EF4-FFF2-40B4-BE49-F238E27FC236}">
                <a16:creationId xmlns:a16="http://schemas.microsoft.com/office/drawing/2014/main" id="{FBB45E97-355F-4148-8983-EAA287F8A7A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65850905-CC08-9E48-8B7B-87C93F3635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57C326FC-D8AD-0A47-88B1-4CCBA08062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C8FD37-CE28-8443-BA9D-0D7B978566EE}"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97DDCA5A-639D-5344-9233-3ED2EB6CA7D4}"/>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65551FC3-0CD4-ED40-8516-08D4730A9A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73DC079-DE87-854F-8CC9-9DEF556D3A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7862B1-78F0-D740-86FD-70C850631985}"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60419" name="Rectangle 2">
            <a:extLst>
              <a:ext uri="{FF2B5EF4-FFF2-40B4-BE49-F238E27FC236}">
                <a16:creationId xmlns:a16="http://schemas.microsoft.com/office/drawing/2014/main" id="{0BD58F7E-A2FE-614A-8A4F-3147CFB722D8}"/>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9F0F60CE-475D-364A-A39E-15DE422F7A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7FF1AB96-8557-A141-AC70-CD17EC24C9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3B22E3-3621-C849-AEB3-D35F8E69C813}"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1B21481B-3F97-8747-ABDA-7282C9C2055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372F6682-A032-5143-9125-193F20F940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1C6E473-F287-C249-B91B-60EFC16DE0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1C8A7E-D7E0-0444-A336-E63604FCA882}"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66B026CC-F7D2-D74B-A15B-95440BFDC480}"/>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CA8876F6-1972-5E4E-A059-8DD3C26080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C57D1134-D8E8-DD43-85D8-5D0301931C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A9DE58-3D21-534B-BE90-46BE2BC4E3AA}"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227786C0-AB3B-294E-8C68-5B6C79BA59BE}"/>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683351DB-7412-604B-88D2-0F4F558DDA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B7F7704E-F117-354B-A8C5-FC017EBDF8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16A8C7-8AF6-1F49-A6BA-2205CF4ABE9B}"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F322290A-65E5-5341-9E93-E4E8A8EC430E}"/>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4475AF8A-0531-BB4B-82B6-B411E2F7A0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7F74788B-C2CF-6542-ACF6-0601190964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031A888-9D56-9243-9AEB-3143E7B53BE4}"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EBFFFD44-AFDC-944E-AD03-A0EC6C040089}"/>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FBBC8CED-6820-0443-B926-F01EEF1F66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20F54147-3BCB-814B-BFFC-4682F29633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464A9F6-4A71-584F-B0C4-0CFE491FF7D9}"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81FC4600-B79B-B641-897A-E280557DD924}"/>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675D59D6-8C94-C64F-9564-967FBBBD5F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F669B11-50A7-FA41-A9F5-81297D3D83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8582A5-59EA-264E-B3A9-F83D5E3E399C}"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67587" name="Rectangle 2">
            <a:extLst>
              <a:ext uri="{FF2B5EF4-FFF2-40B4-BE49-F238E27FC236}">
                <a16:creationId xmlns:a16="http://schemas.microsoft.com/office/drawing/2014/main" id="{C0211DB6-C481-A746-825C-63215DA06D5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4B471E41-E297-8240-B90D-245EDA0A92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5FE636E0-C9FD-8D43-9672-0912EA9D5C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8DF9AE6-0FB3-6C4B-A115-C06B73B7FCC5}"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9CD17870-86B7-6849-8748-54723C14B762}"/>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4F437DE9-C727-DC4F-BC45-746B2CE6CC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48E3CE2C-F2DE-C74C-B6F4-F5C6EFDBBB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D62A9-9AE1-6C48-9779-F699098FD81E}"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77306108-4FEE-994F-AF4A-CF8D7DA3D17B}"/>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402D90D6-F0B9-124B-8DB7-F7D0E4B90C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87D37B99-AE20-2449-8472-5760E66E53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8D9665-0B75-3949-94D5-705F971AB5DE}"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45F32DF0-349F-1241-9CFB-C89ADA1835F6}"/>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C2749FDF-DF76-EE46-9C4E-20A0FC4EE6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FCA29F9-9182-224F-8358-5016CCB012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CCD59F-D768-9C45-91DE-6353693B74DC}"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160DE212-0D02-864B-A634-49AACEA14199}"/>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E3D5BC6E-0990-0049-A91C-96346245E0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575086E2-F620-2F43-A501-997DA9ED86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AF4C563-CA07-574B-8122-1269426A2883}"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72707" name="Rectangle 2">
            <a:extLst>
              <a:ext uri="{FF2B5EF4-FFF2-40B4-BE49-F238E27FC236}">
                <a16:creationId xmlns:a16="http://schemas.microsoft.com/office/drawing/2014/main" id="{B4DE1862-0AED-D844-8CCE-6C4B0EBE05A0}"/>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A7418272-0142-9B46-BB15-93269F43B1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DB4F7B6-09AB-364F-BC8C-D86573E54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CE6856-D8CF-7342-9065-4DAC944BFFDA}"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01F905F1-BEDE-6045-8E76-03239C62D659}"/>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0C27D8FF-EA6F-2047-A2C1-6C8C0369B2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49AA87E-75A2-8143-9247-ACF0DD6DC8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277507-A587-2447-9358-FB0084E3EC01}"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74755" name="Rectangle 2">
            <a:extLst>
              <a:ext uri="{FF2B5EF4-FFF2-40B4-BE49-F238E27FC236}">
                <a16:creationId xmlns:a16="http://schemas.microsoft.com/office/drawing/2014/main" id="{B501C977-61DF-AD46-A463-F28574D21C86}"/>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E89AF210-1562-254B-A190-CB7DC2DA6E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80C2184C-79D2-D841-AECB-49EDAD509E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0154FA-7CFE-8847-8B76-8F4F8B2E34EF}"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8754E86C-943F-2542-8588-7A52DA2C66D5}"/>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66900060-56FF-E849-B30A-C18DB33E50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261F0908-B0A4-394F-95A2-21C38DDC1A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F5E3465-0144-344B-96E9-F72C593CA243}"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76803" name="Rectangle 2">
            <a:extLst>
              <a:ext uri="{FF2B5EF4-FFF2-40B4-BE49-F238E27FC236}">
                <a16:creationId xmlns:a16="http://schemas.microsoft.com/office/drawing/2014/main" id="{FCEE87DE-3B64-7F4C-8CDB-8C0CCBA33B00}"/>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25DA8126-489C-764C-82E1-945863010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AF68912F-5EE4-844F-B337-DC86CD08D9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CB7186-E07C-E642-97DB-8C6DC42B48A5}"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77827" name="Rectangle 2">
            <a:extLst>
              <a:ext uri="{FF2B5EF4-FFF2-40B4-BE49-F238E27FC236}">
                <a16:creationId xmlns:a16="http://schemas.microsoft.com/office/drawing/2014/main" id="{A3E5E839-207A-654F-ACAC-3C2A863B011F}"/>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FD3CB65E-169E-D34E-8EDB-0DA276462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3125921-7135-DE4F-BEF5-9FFF2D415A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2CD5AB-BE56-0E4D-8365-5C4E3E932F57}"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79C99AD-C4F8-E44D-AB60-B8DE5A2F02CF}"/>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BB97EB39-39FE-C248-BE9D-DB5B4F300E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740425A-D69F-EF44-98F2-AB78DCCA09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B0A8012-E13D-BB46-92A3-A0DA837247F4}"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79875" name="Rectangle 2">
            <a:extLst>
              <a:ext uri="{FF2B5EF4-FFF2-40B4-BE49-F238E27FC236}">
                <a16:creationId xmlns:a16="http://schemas.microsoft.com/office/drawing/2014/main" id="{1204F9C0-6FAA-FC45-B2BB-73FF63EC3463}"/>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33448AB8-DC1A-8A4F-A896-F8FFB0BF41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D4B6F6FA-7BB9-AB4C-93F5-3F3517E8C4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10D5CE-29F0-8146-94A8-32C05973DDE8}"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9AE8F306-9CC0-2C42-96A7-2891E2BE5427}"/>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DA546E-F645-524C-9659-DBD6375A0B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255CFC48-3D46-6441-871B-6904592567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161E91-C85F-8448-BD6C-98AC861839C4}"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81923" name="Rectangle 2">
            <a:extLst>
              <a:ext uri="{FF2B5EF4-FFF2-40B4-BE49-F238E27FC236}">
                <a16:creationId xmlns:a16="http://schemas.microsoft.com/office/drawing/2014/main" id="{38161473-7C33-0747-A853-6DD0C25A46A7}"/>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ED09760E-FD80-9048-9475-6917B7973D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F156CAC4-7EB8-214B-9969-79CC8B8C8B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918428F-B6DF-614D-B468-8DD464A239D6}"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AB5B34A7-6F44-5940-B986-43A6D9A39FBF}"/>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08FB004D-9C9C-4147-8204-37DC13742E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E81C12D3-3C25-694E-9D3A-50F301836B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8315A2D-DBD4-5640-A30D-D3C67ACF855F}"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83971" name="Rectangle 2">
            <a:extLst>
              <a:ext uri="{FF2B5EF4-FFF2-40B4-BE49-F238E27FC236}">
                <a16:creationId xmlns:a16="http://schemas.microsoft.com/office/drawing/2014/main" id="{C7330C63-F587-3B46-8A18-6FB852D31B21}"/>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32EBF7E2-AF9A-D845-A270-8F58F12FC5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6087B3AF-9882-E04B-84CC-01533A8822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3DA858-DF02-7640-A2FE-49B4322ABC6B}"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74005691-C8CE-3C4F-BA2F-776D664A0410}"/>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244B3D69-834C-7443-AD10-D055A9050C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B5A3007E-D3BC-3040-9221-0DCF5251BF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3C24968-6EB4-FB41-8AE1-81C8451C5E07}"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86019" name="Rectangle 2">
            <a:extLst>
              <a:ext uri="{FF2B5EF4-FFF2-40B4-BE49-F238E27FC236}">
                <a16:creationId xmlns:a16="http://schemas.microsoft.com/office/drawing/2014/main" id="{822F1B7A-C935-0C41-BA22-35033E4827C5}"/>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1D6670C8-01B3-AE4C-BDC7-D9FEC11E7E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0EB608E0-8087-9E4F-97A7-AE1A28FDAC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1C09CA8-9BCF-C04E-A6A1-2FD308522636}"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01AF343B-6358-444F-965E-AA5060DA7F5E}"/>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1F541DB-5582-A748-80F5-F14DE12B2E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9B25502-2FF5-3E44-92A8-61947F3D8C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9E668B-FCD9-5F42-9FC2-683C687950EB}"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88067" name="Rectangle 2">
            <a:extLst>
              <a:ext uri="{FF2B5EF4-FFF2-40B4-BE49-F238E27FC236}">
                <a16:creationId xmlns:a16="http://schemas.microsoft.com/office/drawing/2014/main" id="{A6A7D276-8930-C84F-B589-F75418FB56F6}"/>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D5861D84-128B-1444-8026-5464BE4522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6749EE8-6FD3-E242-8F55-2D86CAC739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808329-26F3-1C4A-9ACF-47572FDE2EF8}"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A3D2845E-AC91-3846-A578-49C4DF3776FD}"/>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DB13B71E-7852-0945-B374-ACF47CB415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35787E99-DCC3-3F49-BC76-AB94C4E5D0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0C4941A-4C5E-D741-A359-C2371E2AA77E}"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90115" name="Rectangle 2">
            <a:extLst>
              <a:ext uri="{FF2B5EF4-FFF2-40B4-BE49-F238E27FC236}">
                <a16:creationId xmlns:a16="http://schemas.microsoft.com/office/drawing/2014/main" id="{4A7104C0-17B8-BD4F-83ED-16076AC0FBFB}"/>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097AB5D9-BF11-7C41-8B3C-4EAC276F39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013F1D3B-84E8-6F46-B659-B30CA75DC1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FCDAAAB-7F00-4049-8D83-5D242D09AB73}"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4D903C29-37BC-2648-B9F1-A1E94D82285A}"/>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944B11B0-A293-BB41-B4F5-9520B6E614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A26CB28E-0BA4-A349-9118-1930CB20BE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655C1D-DBBD-1242-AFA4-3EC912B9ED56}"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92163" name="Rectangle 2">
            <a:extLst>
              <a:ext uri="{FF2B5EF4-FFF2-40B4-BE49-F238E27FC236}">
                <a16:creationId xmlns:a16="http://schemas.microsoft.com/office/drawing/2014/main" id="{66269E7D-4A53-834E-92AA-8A70A1F5384F}"/>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77B8CA0B-FC84-D34B-9296-B323AA5C36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A6C52B06-F13B-3B44-9775-AF0F9B91E5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0509319-7841-B949-9562-48F6555C47AD}"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F4CFE287-EBF4-4448-8252-0119318ACDC4}"/>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D5617F1E-C3DB-1B49-8061-050EFB3676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CE36EE-05D9-9540-9A29-1E822A54EB91}"/>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AF9EEEF-636F-0E4C-A531-C7519579E19D}"/>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sp>
          <p:nvSpPr>
            <p:cNvPr id="5" name="Rectangle 5">
              <a:extLst>
                <a:ext uri="{FF2B5EF4-FFF2-40B4-BE49-F238E27FC236}">
                  <a16:creationId xmlns:a16="http://schemas.microsoft.com/office/drawing/2014/main" id="{C25BFCC2-5B5A-6D4B-879D-94990960268B}"/>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sp>
          <p:nvSpPr>
            <p:cNvPr id="6" name="Rectangle 6">
              <a:extLst>
                <a:ext uri="{FF2B5EF4-FFF2-40B4-BE49-F238E27FC236}">
                  <a16:creationId xmlns:a16="http://schemas.microsoft.com/office/drawing/2014/main" id="{372CC58E-F1D6-3F4E-8F96-BBFF843B9CBD}"/>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grpSp>
      <p:sp>
        <p:nvSpPr>
          <p:cNvPr id="7" name="Text Box 7">
            <a:extLst>
              <a:ext uri="{FF2B5EF4-FFF2-40B4-BE49-F238E27FC236}">
                <a16:creationId xmlns:a16="http://schemas.microsoft.com/office/drawing/2014/main" id="{37490F7D-90BC-3645-B9B1-5DB45D101682}"/>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6D05CDD4-DB9F-2D41-8E22-D501E315F3D8}"/>
              </a:ext>
            </a:extLst>
          </p:cNvPr>
          <p:cNvSpPr txBox="1">
            <a:spLocks noChangeArrowheads="1"/>
          </p:cNvSpPr>
          <p:nvPr/>
        </p:nvSpPr>
        <p:spPr bwMode="auto">
          <a:xfrm>
            <a:off x="26988" y="6613525"/>
            <a:ext cx="193198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336699"/>
                </a:solidFill>
                <a:latin typeface="Helvetica" pitchFamily="2" charset="0"/>
              </a:rPr>
              <a:t>Operating System Concepts</a:t>
            </a:r>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pic>
        <p:nvPicPr>
          <p:cNvPr id="11" name="Picture 10">
            <a:extLst>
              <a:ext uri="{FF2B5EF4-FFF2-40B4-BE49-F238E27FC236}">
                <a16:creationId xmlns:a16="http://schemas.microsoft.com/office/drawing/2014/main" id="{4382D20C-7028-504C-9A1D-BA83B74F07BF}"/>
              </a:ext>
            </a:extLst>
          </p:cNvPr>
          <p:cNvPicPr>
            <a:picLocks noChangeAspect="1"/>
          </p:cNvPicPr>
          <p:nvPr/>
        </p:nvPicPr>
        <p:blipFill>
          <a:blip r:embed="rId2"/>
          <a:stretch>
            <a:fillRect/>
          </a:stretch>
        </p:blipFill>
        <p:spPr>
          <a:xfrm>
            <a:off x="2673275" y="3531208"/>
            <a:ext cx="3797451" cy="2842958"/>
          </a:xfrm>
          <a:prstGeom prst="rect">
            <a:avLst/>
          </a:prstGeom>
        </p:spPr>
      </p:pic>
    </p:spTree>
    <p:extLst>
      <p:ext uri="{BB962C8B-B14F-4D97-AF65-F5344CB8AC3E}">
        <p14:creationId xmlns:p14="http://schemas.microsoft.com/office/powerpoint/2010/main" val="432695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370472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Line 6">
            <a:extLst>
              <a:ext uri="{FF2B5EF4-FFF2-40B4-BE49-F238E27FC236}">
                <a16:creationId xmlns:a16="http://schemas.microsoft.com/office/drawing/2014/main" id="{EC79F471-96B9-5F48-AE95-4752EB27D653}"/>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000"/>
            </a:lvl1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7033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Line 6">
            <a:extLst>
              <a:ext uri="{FF2B5EF4-FFF2-40B4-BE49-F238E27FC236}">
                <a16:creationId xmlns:a16="http://schemas.microsoft.com/office/drawing/2014/main" id="{8FDA7D86-6757-6341-8015-8A71AC163B4B}"/>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0330" y="1420008"/>
            <a:ext cx="4134679" cy="5007295"/>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7287" y="1420008"/>
            <a:ext cx="4055165" cy="500729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0403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81760" y="257966"/>
            <a:ext cx="7490567" cy="586753"/>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4935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014330"/>
            <a:ext cx="4040188" cy="438646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227302" cy="64935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014330"/>
            <a:ext cx="4227302" cy="438646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97591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1761" y="268941"/>
            <a:ext cx="7430936" cy="566884"/>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B24A6ED9-6FA3-104C-BA12-E59DD6538BFC}"/>
              </a:ext>
            </a:extLst>
          </p:cNvPr>
          <p:cNvSpPr>
            <a:spLocks noGrp="1"/>
          </p:cNvSpPr>
          <p:nvPr>
            <p:ph type="pic" idx="1"/>
          </p:nvPr>
        </p:nvSpPr>
        <p:spPr>
          <a:xfrm>
            <a:off x="3496234" y="1376979"/>
            <a:ext cx="5329713" cy="5037072"/>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490331" y="1376980"/>
            <a:ext cx="2866056" cy="5037071"/>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74040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op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1760" y="285136"/>
            <a:ext cx="744418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81782" y="1376979"/>
            <a:ext cx="8344166" cy="3096698"/>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4601497"/>
            <a:ext cx="8344166" cy="1828800"/>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34020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ottom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81782" y="3334870"/>
            <a:ext cx="8344166"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31694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placeholders">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788568" y="3334870"/>
            <a:ext cx="4037379"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4">
            <a:extLst>
              <a:ext uri="{FF2B5EF4-FFF2-40B4-BE49-F238E27FC236}">
                <a16:creationId xmlns:a16="http://schemas.microsoft.com/office/drawing/2014/main" id="{FB9E3C4B-5E95-A940-9CF4-A2896A1FB445}"/>
              </a:ext>
            </a:extLst>
          </p:cNvPr>
          <p:cNvSpPr>
            <a:spLocks noGrp="1"/>
          </p:cNvSpPr>
          <p:nvPr>
            <p:ph sz="quarter" idx="10"/>
          </p:nvPr>
        </p:nvSpPr>
        <p:spPr>
          <a:xfrm>
            <a:off x="481782" y="3334870"/>
            <a:ext cx="4174439" cy="317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2960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placeholders with left Picture">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64519" y="3334869"/>
            <a:ext cx="4037379"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4">
            <a:extLst>
              <a:ext uri="{FF2B5EF4-FFF2-40B4-BE49-F238E27FC236}">
                <a16:creationId xmlns:a16="http://schemas.microsoft.com/office/drawing/2014/main" id="{FB9E3C4B-5E95-A940-9CF4-A2896A1FB445}"/>
              </a:ext>
            </a:extLst>
          </p:cNvPr>
          <p:cNvSpPr>
            <a:spLocks noGrp="1"/>
          </p:cNvSpPr>
          <p:nvPr>
            <p:ph sz="quarter" idx="10"/>
          </p:nvPr>
        </p:nvSpPr>
        <p:spPr>
          <a:xfrm>
            <a:off x="4653865" y="3334868"/>
            <a:ext cx="4174439" cy="317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76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riple Content">
    <p:spTree>
      <p:nvGrpSpPr>
        <p:cNvPr id="1" name=""/>
        <p:cNvGrpSpPr/>
        <p:nvPr/>
      </p:nvGrpSpPr>
      <p:grpSpPr>
        <a:xfrm>
          <a:off x="0" y="0"/>
          <a:ext cx="0" cy="0"/>
          <a:chOff x="0" y="0"/>
          <a:chExt cx="0" cy="0"/>
        </a:xfrm>
      </p:grpSpPr>
      <p:sp>
        <p:nvSpPr>
          <p:cNvPr id="2" name="Title 1"/>
          <p:cNvSpPr>
            <a:spLocks noGrp="1"/>
          </p:cNvSpPr>
          <p:nvPr>
            <p:ph type="title"/>
          </p:nvPr>
        </p:nvSpPr>
        <p:spPr>
          <a:xfrm>
            <a:off x="1651299" y="268941"/>
            <a:ext cx="7161397" cy="566884"/>
          </a:xfrm>
        </p:spPr>
        <p:txBody>
          <a:bodyPr/>
          <a:lstStyle>
            <a:lvl1pPr algn="ctr">
              <a:defRPr lang="en-US" sz="28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490330" y="2974694"/>
            <a:ext cx="4048215" cy="3439357"/>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862332FD-5017-BB4E-9D08-B3E025FA1B18}"/>
              </a:ext>
            </a:extLst>
          </p:cNvPr>
          <p:cNvSpPr>
            <a:spLocks noGrp="1"/>
          </p:cNvSpPr>
          <p:nvPr>
            <p:ph sz="half" idx="2" hasCustomPrompt="1"/>
          </p:nvPr>
        </p:nvSpPr>
        <p:spPr>
          <a:xfrm>
            <a:off x="490331" y="1376979"/>
            <a:ext cx="8344166" cy="1435669"/>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Content Placeholder 2">
            <a:extLst>
              <a:ext uri="{FF2B5EF4-FFF2-40B4-BE49-F238E27FC236}">
                <a16:creationId xmlns:a16="http://schemas.microsoft.com/office/drawing/2014/main" id="{4F349085-6470-FF4A-9ACD-18A7D8B083F2}"/>
              </a:ext>
            </a:extLst>
          </p:cNvPr>
          <p:cNvSpPr>
            <a:spLocks noGrp="1"/>
          </p:cNvSpPr>
          <p:nvPr>
            <p:ph sz="half" idx="11"/>
          </p:nvPr>
        </p:nvSpPr>
        <p:spPr>
          <a:xfrm>
            <a:off x="4716965" y="2974694"/>
            <a:ext cx="4117531" cy="3439357"/>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11640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Line 6">
            <a:extLst>
              <a:ext uri="{FF2B5EF4-FFF2-40B4-BE49-F238E27FC236}">
                <a16:creationId xmlns:a16="http://schemas.microsoft.com/office/drawing/2014/main" id="{9E0F0151-74CD-6844-ACA6-4954E9168013}"/>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2356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1441524"/>
            <a:ext cx="1921358" cy="4680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90330" y="1441525"/>
            <a:ext cx="6248608" cy="46809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9913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2874-CCA4-4B4E-88E6-AE54EDB7895F}"/>
              </a:ext>
            </a:extLst>
          </p:cNvPr>
          <p:cNvSpPr>
            <a:spLocks noGrp="1"/>
          </p:cNvSpPr>
          <p:nvPr>
            <p:ph type="title"/>
          </p:nvPr>
        </p:nvSpPr>
        <p:spPr>
          <a:xfrm>
            <a:off x="1381760" y="257966"/>
            <a:ext cx="7490567" cy="586753"/>
          </a:xfrm>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4127483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40145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Right 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51299" y="268941"/>
            <a:ext cx="7161397" cy="566884"/>
          </a:xfrm>
        </p:spPr>
        <p:txBody>
          <a:bodyPr/>
          <a:lstStyle>
            <a:lvl1pPr algn="ctr">
              <a:defRPr lang="en-US" sz="28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B24A6ED9-6FA3-104C-BA12-E59DD6538BFC}"/>
              </a:ext>
            </a:extLst>
          </p:cNvPr>
          <p:cNvSpPr>
            <a:spLocks noGrp="1"/>
          </p:cNvSpPr>
          <p:nvPr>
            <p:ph type="pic" idx="1"/>
          </p:nvPr>
        </p:nvSpPr>
        <p:spPr>
          <a:xfrm>
            <a:off x="482099" y="1376979"/>
            <a:ext cx="5329713" cy="5037072"/>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5965448" y="1376980"/>
            <a:ext cx="2866056" cy="5037071"/>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402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782A5125-203A-834E-9201-F7E7164E8896}"/>
              </a:ext>
            </a:extLst>
          </p:cNvPr>
          <p:cNvSpPr>
            <a:spLocks noGrp="1" noChangeArrowheads="1"/>
          </p:cNvSpPr>
          <p:nvPr>
            <p:ph type="title"/>
          </p:nvPr>
        </p:nvSpPr>
        <p:spPr bwMode="auto">
          <a:xfrm>
            <a:off x="1379221" y="277813"/>
            <a:ext cx="747268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4">
            <a:extLst>
              <a:ext uri="{FF2B5EF4-FFF2-40B4-BE49-F238E27FC236}">
                <a16:creationId xmlns:a16="http://schemas.microsoft.com/office/drawing/2014/main" id="{E43018F0-BEC7-1044-AAEB-1337A9D18AC4}"/>
              </a:ext>
            </a:extLst>
          </p:cNvPr>
          <p:cNvSpPr>
            <a:spLocks noGrp="1" noChangeArrowheads="1"/>
          </p:cNvSpPr>
          <p:nvPr>
            <p:ph type="body" idx="1"/>
          </p:nvPr>
        </p:nvSpPr>
        <p:spPr bwMode="auto">
          <a:xfrm>
            <a:off x="490538" y="1398494"/>
            <a:ext cx="8361362"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2" name="Line 6">
            <a:extLst>
              <a:ext uri="{FF2B5EF4-FFF2-40B4-BE49-F238E27FC236}">
                <a16:creationId xmlns:a16="http://schemas.microsoft.com/office/drawing/2014/main" id="{5379D03F-22E6-5647-AB90-772852545043}"/>
              </a:ext>
            </a:extLst>
          </p:cNvPr>
          <p:cNvSpPr>
            <a:spLocks noChangeShapeType="1"/>
          </p:cNvSpPr>
          <p:nvPr/>
        </p:nvSpPr>
        <p:spPr bwMode="auto">
          <a:xfrm>
            <a:off x="1379221" y="866775"/>
            <a:ext cx="7472679" cy="0"/>
          </a:xfrm>
          <a:prstGeom prst="line">
            <a:avLst/>
          </a:prstGeom>
          <a:noFill/>
          <a:ln w="3810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309045" y="6613525"/>
            <a:ext cx="341760"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fld id="{23FB9004-5CA7-3B41-9B70-CD9EED42E16C}" type="slidenum">
              <a:rPr lang="en-US" altLang="en-US" sz="1000" b="1" smtClean="0">
                <a:solidFill>
                  <a:srgbClr val="006699"/>
                </a:solidFill>
                <a:latin typeface="Helvetica" pitchFamily="2" charset="0"/>
              </a:rPr>
              <a:pPr algn="ctr">
                <a:spcBef>
                  <a:spcPct val="50000"/>
                </a:spcBef>
                <a:defRPr/>
              </a:pPr>
              <a:t>‹#›</a:t>
            </a:fld>
            <a:endParaRPr lang="en-US" altLang="en-US" sz="1000" b="1" dirty="0">
              <a:solidFill>
                <a:srgbClr val="006699"/>
              </a:solidFill>
              <a:latin typeface="Helvetica" pitchFamily="2" charset="0"/>
            </a:endParaRP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228600" y="6608763"/>
            <a:ext cx="19050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006699"/>
                </a:solidFill>
                <a:latin typeface="Helvetica" pitchFamily="2" charset="0"/>
              </a:rPr>
              <a:t>Operating System Concepts </a:t>
            </a:r>
          </a:p>
        </p:txBody>
      </p:sp>
      <p:pic>
        <p:nvPicPr>
          <p:cNvPr id="1036" name="Picture 2">
            <a:extLst>
              <a:ext uri="{FF2B5EF4-FFF2-40B4-BE49-F238E27FC236}">
                <a16:creationId xmlns:a16="http://schemas.microsoft.com/office/drawing/2014/main" id="{C76FE807-484C-804F-BD4B-45F326DCC7A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6720" y="187551"/>
            <a:ext cx="754380" cy="67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7161" y="6622368"/>
            <a:ext cx="248919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spcBef>
                <a:spcPct val="50000"/>
              </a:spcBef>
              <a:defRPr/>
            </a:pPr>
            <a:r>
              <a:rPr lang="en-US" altLang="en-US" sz="1000" b="1" dirty="0">
                <a:solidFill>
                  <a:srgbClr val="006699"/>
                </a:solidFill>
                <a:latin typeface="Helvetica" pitchFamily="2" charset="0"/>
              </a:rPr>
              <a:t>Silberschatz, Galvin and Gagne ©2018</a:t>
            </a:r>
          </a:p>
        </p:txBody>
      </p:sp>
      <p:pic>
        <p:nvPicPr>
          <p:cNvPr id="3" name="Picture 12" descr="dino_6">
            <a:extLst>
              <a:ext uri="{FF2B5EF4-FFF2-40B4-BE49-F238E27FC236}">
                <a16:creationId xmlns:a16="http://schemas.microsoft.com/office/drawing/2014/main" id="{4D81C6D4-006D-6C4B-B74F-24D40B3104E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15553" y="6262457"/>
            <a:ext cx="1160876" cy="32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6C6CC5FA-2F14-274D-837F-9ABE04428BD1}"/>
              </a:ext>
            </a:extLst>
          </p:cNvPr>
          <p:cNvPicPr>
            <a:picLocks noChangeAspect="1"/>
          </p:cNvPicPr>
          <p:nvPr/>
        </p:nvPicPr>
        <p:blipFill>
          <a:blip r:embed="rId20"/>
          <a:stretch>
            <a:fillRect/>
          </a:stretch>
        </p:blipFill>
        <p:spPr>
          <a:xfrm>
            <a:off x="6967593" y="6184266"/>
            <a:ext cx="1905000" cy="438102"/>
          </a:xfrm>
          <a:prstGeom prst="rect">
            <a:avLst/>
          </a:prstGeom>
        </p:spPr>
      </p:pic>
    </p:spTree>
    <p:extLst>
      <p:ext uri="{BB962C8B-B14F-4D97-AF65-F5344CB8AC3E}">
        <p14:creationId xmlns:p14="http://schemas.microsoft.com/office/powerpoint/2010/main" val="3731834823"/>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 id="2147483865" r:id="rId15"/>
    <p:sldLayoutId id="2147483866" r:id="rId16"/>
  </p:sldLayoutIdLst>
  <p:txStyles>
    <p:titleStyle>
      <a:lvl1pPr algn="ctr" rtl="0" eaLnBrk="1" fontAlgn="base" hangingPunct="1">
        <a:spcBef>
          <a:spcPct val="0"/>
        </a:spcBef>
        <a:spcAft>
          <a:spcPct val="0"/>
        </a:spcAft>
        <a:defRPr sz="2800" b="1">
          <a:solidFill>
            <a:srgbClr val="006699"/>
          </a:solidFill>
          <a:latin typeface="+mj-lt"/>
          <a:ea typeface="MS PGothic" pitchFamily="34" charset="-128"/>
          <a:cs typeface="ＭＳ Ｐゴシック" charset="-128"/>
        </a:defRPr>
      </a:lvl1pPr>
      <a:lvl2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eaLnBrk="1" fontAlgn="base" hangingPunct="1">
        <a:spcBef>
          <a:spcPct val="0"/>
        </a:spcBef>
        <a:spcAft>
          <a:spcPct val="0"/>
        </a:spcAft>
        <a:defRPr sz="3200" b="1">
          <a:solidFill>
            <a:srgbClr val="006699"/>
          </a:solidFill>
          <a:latin typeface="Arial" charset="0"/>
        </a:defRPr>
      </a:lvl6pPr>
      <a:lvl7pPr marL="914400" algn="ctr" rtl="0" eaLnBrk="1" fontAlgn="base" hangingPunct="1">
        <a:spcBef>
          <a:spcPct val="0"/>
        </a:spcBef>
        <a:spcAft>
          <a:spcPct val="0"/>
        </a:spcAft>
        <a:defRPr sz="3200" b="1">
          <a:solidFill>
            <a:srgbClr val="006699"/>
          </a:solidFill>
          <a:latin typeface="Arial" charset="0"/>
        </a:defRPr>
      </a:lvl7pPr>
      <a:lvl8pPr marL="1371600" algn="ctr" rtl="0" eaLnBrk="1" fontAlgn="base" hangingPunct="1">
        <a:spcBef>
          <a:spcPct val="0"/>
        </a:spcBef>
        <a:spcAft>
          <a:spcPct val="0"/>
        </a:spcAft>
        <a:defRPr sz="3200" b="1">
          <a:solidFill>
            <a:srgbClr val="006699"/>
          </a:solidFill>
          <a:latin typeface="Arial" charset="0"/>
        </a:defRPr>
      </a:lvl8pPr>
      <a:lvl9pPr marL="1828800" algn="ctr" rtl="0" eaLnBrk="1" fontAlgn="base" hangingPunct="1">
        <a:spcBef>
          <a:spcPct val="0"/>
        </a:spcBef>
        <a:spcAft>
          <a:spcPct val="0"/>
        </a:spcAft>
        <a:defRPr sz="3200" b="1">
          <a:solidFill>
            <a:srgbClr val="006699"/>
          </a:solidFill>
          <a:latin typeface="Arial" charset="0"/>
        </a:defRPr>
      </a:lvl9pPr>
    </p:titleStyle>
    <p:bodyStyle>
      <a:lvl1pPr marL="342900" indent="-342900" algn="l" rtl="0" eaLnBrk="1" fontAlgn="base" hangingPunct="1">
        <a:lnSpc>
          <a:spcPct val="100000"/>
        </a:lnSpc>
        <a:spcBef>
          <a:spcPts val="800"/>
        </a:spcBef>
        <a:spcAft>
          <a:spcPts val="800"/>
        </a:spcAft>
        <a:buClr>
          <a:srgbClr val="993300"/>
        </a:buClr>
        <a:buSzPct val="90000"/>
        <a:buFont typeface="Monotype Sorts" pitchFamily="2" charset="2"/>
        <a:buChar char="n"/>
        <a:defRPr kumimoji="1" sz="2000">
          <a:solidFill>
            <a:schemeClr val="tx1"/>
          </a:solidFill>
          <a:latin typeface="+mn-lt"/>
          <a:ea typeface="MS PGothic" pitchFamily="34" charset="-128"/>
          <a:cs typeface="ＭＳ Ｐゴシック" charset="-128"/>
        </a:defRPr>
      </a:lvl1pPr>
      <a:lvl2pPr marL="742950" indent="-285750" algn="l" rtl="0" eaLnBrk="1" fontAlgn="base" hangingPunct="1">
        <a:lnSpc>
          <a:spcPct val="100000"/>
        </a:lnSpc>
        <a:spcBef>
          <a:spcPts val="800"/>
        </a:spcBef>
        <a:spcAft>
          <a:spcPts val="800"/>
        </a:spcAft>
        <a:buClr>
          <a:srgbClr val="CC6600"/>
        </a:buClr>
        <a:buSzPct val="80000"/>
        <a:buFont typeface="Monotype Sorts" pitchFamily="2" charset="2"/>
        <a:buChar char="l"/>
        <a:defRPr kumimoji="1">
          <a:solidFill>
            <a:schemeClr val="tx1"/>
          </a:solidFill>
          <a:latin typeface="+mn-lt"/>
          <a:ea typeface="MS PGothic" pitchFamily="34" charset="-128"/>
        </a:defRPr>
      </a:lvl2pPr>
      <a:lvl3pPr marL="1085850" indent="-228600" algn="l" rtl="0" eaLnBrk="1" fontAlgn="base" hangingPunct="1">
        <a:lnSpc>
          <a:spcPct val="100000"/>
        </a:lnSpc>
        <a:spcBef>
          <a:spcPts val="800"/>
        </a:spcBef>
        <a:spcAft>
          <a:spcPts val="800"/>
        </a:spcAft>
        <a:buClr>
          <a:srgbClr val="009900"/>
        </a:buClr>
        <a:buSzPct val="75000"/>
        <a:buFont typeface="Webdings" pitchFamily="2" charset="2"/>
        <a:buChar char="4"/>
        <a:defRPr kumimoji="1" sz="1600">
          <a:solidFill>
            <a:schemeClr val="tx1"/>
          </a:solidFill>
          <a:latin typeface="+mn-lt"/>
          <a:ea typeface="MS PGothic" pitchFamily="34" charset="-128"/>
        </a:defRPr>
      </a:lvl3pPr>
      <a:lvl4pPr marL="1428750" indent="-228600" algn="l" rtl="0" eaLnBrk="1" fontAlgn="base" hangingPunct="1">
        <a:lnSpc>
          <a:spcPct val="100000"/>
        </a:lnSpc>
        <a:spcBef>
          <a:spcPts val="800"/>
        </a:spcBef>
        <a:spcAft>
          <a:spcPts val="800"/>
        </a:spcAft>
        <a:buClr>
          <a:schemeClr val="hlink"/>
        </a:buClr>
        <a:buSzPct val="75000"/>
        <a:buChar char="–"/>
        <a:defRPr kumimoji="1" sz="1400">
          <a:solidFill>
            <a:schemeClr val="tx1"/>
          </a:solidFill>
          <a:latin typeface="+mn-lt"/>
          <a:ea typeface="MS PGothic" pitchFamily="34" charset="-128"/>
        </a:defRPr>
      </a:lvl4pPr>
      <a:lvl5pPr marL="1771650" indent="-228600" algn="l" rtl="0" eaLnBrk="1" fontAlgn="base" hangingPunct="1">
        <a:lnSpc>
          <a:spcPct val="100000"/>
        </a:lnSpc>
        <a:spcBef>
          <a:spcPts val="800"/>
        </a:spcBef>
        <a:spcAft>
          <a:spcPts val="800"/>
        </a:spcAft>
        <a:buClr>
          <a:srgbClr val="FF0066"/>
        </a:buClr>
        <a:buSzPct val="75000"/>
        <a:buChar char="»"/>
        <a:defRPr kumimoji="1" sz="1200">
          <a:solidFill>
            <a:schemeClr val="tx1"/>
          </a:solidFill>
          <a:latin typeface="+mn-lt"/>
          <a:ea typeface="MS PGothic" pitchFamily="34" charset="-128"/>
        </a:defRPr>
      </a:lvl5pPr>
      <a:lvl6pPr marL="22288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8086948-BE66-9045-8010-948C2F8A0887}"/>
              </a:ext>
            </a:extLst>
          </p:cNvPr>
          <p:cNvSpPr>
            <a:spLocks noGrp="1" noChangeArrowheads="1"/>
          </p:cNvSpPr>
          <p:nvPr>
            <p:ph type="ctrTitle"/>
          </p:nvPr>
        </p:nvSpPr>
        <p:spPr/>
        <p:txBody>
          <a:bodyPr/>
          <a:lstStyle/>
          <a:p>
            <a:r>
              <a:rPr lang="en-US" altLang="en-US"/>
              <a:t>Chapter 10.A: </a:t>
            </a:r>
            <a:br>
              <a:rPr lang="en-US" altLang="en-US" dirty="0"/>
            </a:br>
            <a:r>
              <a:rPr lang="en-US" altLang="en-US" dirty="0"/>
              <a:t>File-System Interface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814ED24-6574-2044-991F-3A42B66257CD}"/>
              </a:ext>
            </a:extLst>
          </p:cNvPr>
          <p:cNvSpPr>
            <a:spLocks noGrp="1" noChangeArrowheads="1"/>
          </p:cNvSpPr>
          <p:nvPr>
            <p:ph type="title"/>
          </p:nvPr>
        </p:nvSpPr>
        <p:spPr/>
        <p:txBody>
          <a:bodyPr/>
          <a:lstStyle/>
          <a:p>
            <a:r>
              <a:rPr lang="en-US" altLang="en-US"/>
              <a:t>Chapter 10.A: Outline</a:t>
            </a:r>
            <a:endParaRPr lang="en-US" altLang="en-US" dirty="0"/>
          </a:p>
        </p:txBody>
      </p:sp>
      <p:sp>
        <p:nvSpPr>
          <p:cNvPr id="4099" name="Rectangle 3">
            <a:extLst>
              <a:ext uri="{FF2B5EF4-FFF2-40B4-BE49-F238E27FC236}">
                <a16:creationId xmlns:a16="http://schemas.microsoft.com/office/drawing/2014/main" id="{81BDC9D6-FC3F-2445-A2A9-1379FDC7F850}"/>
              </a:ext>
            </a:extLst>
          </p:cNvPr>
          <p:cNvSpPr>
            <a:spLocks noGrp="1" noChangeArrowheads="1"/>
          </p:cNvSpPr>
          <p:nvPr>
            <p:ph idx="1"/>
          </p:nvPr>
        </p:nvSpPr>
        <p:spPr/>
        <p:txBody>
          <a:bodyPr/>
          <a:lstStyle/>
          <a:p>
            <a:r>
              <a:rPr lang="en-US" altLang="en-US" dirty="0"/>
              <a:t>File Concept</a:t>
            </a:r>
          </a:p>
          <a:p>
            <a:r>
              <a:rPr lang="en-US" altLang="en-US" dirty="0"/>
              <a:t>Access Methods</a:t>
            </a:r>
          </a:p>
          <a:p>
            <a:r>
              <a:rPr lang="en-US" altLang="en-US" dirty="0"/>
              <a:t>Disk and Directory Structure</a:t>
            </a:r>
          </a:p>
          <a:p>
            <a:r>
              <a:rPr lang="en-US" altLang="en-US" dirty="0"/>
              <a:t>File-System Mounting</a:t>
            </a:r>
          </a:p>
          <a:p>
            <a:r>
              <a:rPr lang="en-US" altLang="en-US" dirty="0"/>
              <a:t>File Sharing</a:t>
            </a:r>
          </a:p>
          <a:p>
            <a:r>
              <a:rPr lang="en-US" altLang="en-US" dirty="0"/>
              <a:t>Protection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9B093D0-D7BB-E545-B578-FCEF4BEFEDA5}"/>
              </a:ext>
            </a:extLst>
          </p:cNvPr>
          <p:cNvSpPr>
            <a:spLocks noGrp="1" noChangeArrowheads="1"/>
          </p:cNvSpPr>
          <p:nvPr>
            <p:ph type="title"/>
          </p:nvPr>
        </p:nvSpPr>
        <p:spPr/>
        <p:txBody>
          <a:bodyPr/>
          <a:lstStyle/>
          <a:p>
            <a:r>
              <a:rPr lang="en-US" altLang="en-US"/>
              <a:t>Objectives</a:t>
            </a:r>
          </a:p>
        </p:txBody>
      </p:sp>
      <p:sp>
        <p:nvSpPr>
          <p:cNvPr id="5123" name="Rectangle 3">
            <a:extLst>
              <a:ext uri="{FF2B5EF4-FFF2-40B4-BE49-F238E27FC236}">
                <a16:creationId xmlns:a16="http://schemas.microsoft.com/office/drawing/2014/main" id="{7D1725B5-E9A8-5F48-9D12-A918CF912CC4}"/>
              </a:ext>
            </a:extLst>
          </p:cNvPr>
          <p:cNvSpPr>
            <a:spLocks noGrp="1" noChangeArrowheads="1"/>
          </p:cNvSpPr>
          <p:nvPr>
            <p:ph idx="1"/>
          </p:nvPr>
        </p:nvSpPr>
        <p:spPr/>
        <p:txBody>
          <a:bodyPr/>
          <a:lstStyle/>
          <a:p>
            <a:r>
              <a:rPr lang="en-US" altLang="en-US" dirty="0"/>
              <a:t>To explain the </a:t>
            </a:r>
            <a:r>
              <a:rPr lang="en-US" altLang="en-US" i="1" dirty="0">
                <a:solidFill>
                  <a:srgbClr val="0070C0"/>
                </a:solidFill>
              </a:rPr>
              <a:t>function of file systems</a:t>
            </a:r>
          </a:p>
          <a:p>
            <a:r>
              <a:rPr lang="en-US" altLang="en-US" dirty="0"/>
              <a:t>To describe the </a:t>
            </a:r>
            <a:r>
              <a:rPr lang="en-US" altLang="en-US" i="1" dirty="0">
                <a:solidFill>
                  <a:srgbClr val="0070C0"/>
                </a:solidFill>
              </a:rPr>
              <a:t>interfaces to file systems</a:t>
            </a:r>
          </a:p>
          <a:p>
            <a:r>
              <a:rPr lang="en-US" altLang="en-US" dirty="0"/>
              <a:t>To discuss </a:t>
            </a:r>
            <a:r>
              <a:rPr lang="en-US" altLang="en-US" i="1" dirty="0">
                <a:solidFill>
                  <a:srgbClr val="0070C0"/>
                </a:solidFill>
              </a:rPr>
              <a:t>file-system design tradeoffs</a:t>
            </a:r>
            <a:r>
              <a:rPr lang="en-US" altLang="en-US" dirty="0"/>
              <a:t>, including access methods, file sharing, file locking, and directory structures</a:t>
            </a:r>
          </a:p>
          <a:p>
            <a:r>
              <a:rPr lang="en-US" altLang="en-US" dirty="0"/>
              <a:t>To explore </a:t>
            </a:r>
            <a:r>
              <a:rPr lang="en-US" altLang="en-US" i="1" dirty="0">
                <a:solidFill>
                  <a:srgbClr val="0070C0"/>
                </a:solidFill>
              </a:rPr>
              <a:t>file-system protection</a:t>
            </a:r>
          </a:p>
          <a:p>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E9B8EDA-D73D-9E49-A5B6-CD6EBDFBBE60}"/>
              </a:ext>
            </a:extLst>
          </p:cNvPr>
          <p:cNvSpPr>
            <a:spLocks noGrp="1" noChangeArrowheads="1"/>
          </p:cNvSpPr>
          <p:nvPr>
            <p:ph type="title"/>
          </p:nvPr>
        </p:nvSpPr>
        <p:spPr/>
        <p:txBody>
          <a:bodyPr/>
          <a:lstStyle/>
          <a:p>
            <a:r>
              <a:rPr lang="en-US" altLang="en-US"/>
              <a:t>File Concept</a:t>
            </a:r>
          </a:p>
        </p:txBody>
      </p:sp>
      <p:sp>
        <p:nvSpPr>
          <p:cNvPr id="6147" name="Rectangle 3">
            <a:extLst>
              <a:ext uri="{FF2B5EF4-FFF2-40B4-BE49-F238E27FC236}">
                <a16:creationId xmlns:a16="http://schemas.microsoft.com/office/drawing/2014/main" id="{74FB26AE-5D18-344A-92F4-D2FC486EECA8}"/>
              </a:ext>
            </a:extLst>
          </p:cNvPr>
          <p:cNvSpPr>
            <a:spLocks noGrp="1" noChangeArrowheads="1"/>
          </p:cNvSpPr>
          <p:nvPr>
            <p:ph idx="1"/>
          </p:nvPr>
        </p:nvSpPr>
        <p:spPr/>
        <p:txBody>
          <a:bodyPr/>
          <a:lstStyle/>
          <a:p>
            <a:pPr>
              <a:spcBef>
                <a:spcPts val="400"/>
              </a:spcBef>
              <a:spcAft>
                <a:spcPts val="400"/>
              </a:spcAft>
            </a:pPr>
            <a:r>
              <a:rPr lang="en-US" altLang="en-US" dirty="0"/>
              <a:t>Contiguous </a:t>
            </a:r>
            <a:r>
              <a:rPr lang="en-US" altLang="en-US" i="1" dirty="0">
                <a:solidFill>
                  <a:srgbClr val="0070C0"/>
                </a:solidFill>
              </a:rPr>
              <a:t>logical address space</a:t>
            </a:r>
          </a:p>
          <a:p>
            <a:pPr>
              <a:spcBef>
                <a:spcPts val="400"/>
              </a:spcBef>
              <a:spcAft>
                <a:spcPts val="400"/>
              </a:spcAft>
            </a:pPr>
            <a:r>
              <a:rPr lang="en-US" altLang="en-US" dirty="0"/>
              <a:t>Types: </a:t>
            </a:r>
          </a:p>
          <a:p>
            <a:pPr lvl="1">
              <a:spcBef>
                <a:spcPts val="400"/>
              </a:spcBef>
              <a:spcAft>
                <a:spcPts val="400"/>
              </a:spcAft>
            </a:pPr>
            <a:r>
              <a:rPr lang="en-US" altLang="en-US" dirty="0"/>
              <a:t>Data</a:t>
            </a:r>
          </a:p>
          <a:p>
            <a:pPr lvl="2">
              <a:spcBef>
                <a:spcPts val="400"/>
              </a:spcBef>
              <a:spcAft>
                <a:spcPts val="400"/>
              </a:spcAft>
            </a:pPr>
            <a:r>
              <a:rPr lang="en-US" altLang="en-US" dirty="0"/>
              <a:t>complex</a:t>
            </a:r>
          </a:p>
          <a:p>
            <a:pPr lvl="2">
              <a:spcBef>
                <a:spcPts val="400"/>
              </a:spcBef>
              <a:spcAft>
                <a:spcPts val="400"/>
              </a:spcAft>
            </a:pPr>
            <a:r>
              <a:rPr lang="en-US" altLang="en-US" dirty="0"/>
              <a:t>numeric</a:t>
            </a:r>
          </a:p>
          <a:p>
            <a:pPr lvl="2">
              <a:spcBef>
                <a:spcPts val="400"/>
              </a:spcBef>
              <a:spcAft>
                <a:spcPts val="400"/>
              </a:spcAft>
            </a:pPr>
            <a:r>
              <a:rPr lang="en-US" altLang="en-US" dirty="0"/>
              <a:t>character</a:t>
            </a:r>
          </a:p>
          <a:p>
            <a:pPr lvl="2">
              <a:spcBef>
                <a:spcPts val="400"/>
              </a:spcBef>
              <a:spcAft>
                <a:spcPts val="400"/>
              </a:spcAft>
            </a:pPr>
            <a:r>
              <a:rPr lang="en-US" altLang="en-US" dirty="0"/>
              <a:t>binary</a:t>
            </a:r>
          </a:p>
          <a:p>
            <a:pPr lvl="1">
              <a:spcBef>
                <a:spcPts val="400"/>
              </a:spcBef>
              <a:spcAft>
                <a:spcPts val="400"/>
              </a:spcAft>
            </a:pPr>
            <a:r>
              <a:rPr lang="en-US" altLang="en-US" dirty="0"/>
              <a:t>Program</a:t>
            </a:r>
          </a:p>
          <a:p>
            <a:pPr>
              <a:spcBef>
                <a:spcPts val="400"/>
              </a:spcBef>
              <a:spcAft>
                <a:spcPts val="400"/>
              </a:spcAft>
            </a:pPr>
            <a:r>
              <a:rPr lang="en-US" altLang="en-US" dirty="0"/>
              <a:t>Contents defined by file’s creator</a:t>
            </a:r>
          </a:p>
          <a:p>
            <a:pPr lvl="1">
              <a:spcBef>
                <a:spcPts val="400"/>
              </a:spcBef>
              <a:spcAft>
                <a:spcPts val="400"/>
              </a:spcAft>
            </a:pPr>
            <a:r>
              <a:rPr lang="en-US" altLang="en-US" dirty="0"/>
              <a:t>Many types</a:t>
            </a:r>
          </a:p>
          <a:p>
            <a:pPr lvl="2">
              <a:spcBef>
                <a:spcPts val="400"/>
              </a:spcBef>
              <a:spcAft>
                <a:spcPts val="400"/>
              </a:spcAft>
            </a:pPr>
            <a:r>
              <a:rPr lang="en-US" altLang="en-US" dirty="0"/>
              <a:t>Text file</a:t>
            </a:r>
          </a:p>
          <a:p>
            <a:pPr lvl="2">
              <a:spcBef>
                <a:spcPts val="400"/>
              </a:spcBef>
              <a:spcAft>
                <a:spcPts val="400"/>
              </a:spcAft>
            </a:pPr>
            <a:r>
              <a:rPr lang="en-US" altLang="en-US" dirty="0"/>
              <a:t>Source file</a:t>
            </a:r>
          </a:p>
          <a:p>
            <a:pPr lvl="2">
              <a:spcBef>
                <a:spcPts val="400"/>
              </a:spcBef>
              <a:spcAft>
                <a:spcPts val="400"/>
              </a:spcAft>
            </a:pPr>
            <a:r>
              <a:rPr lang="en-US" altLang="en-US" dirty="0"/>
              <a:t>Executable file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4E1BDAA-6618-FA49-A1E2-FA043CD8A5C7}"/>
              </a:ext>
            </a:extLst>
          </p:cNvPr>
          <p:cNvSpPr>
            <a:spLocks noGrp="1" noChangeArrowheads="1"/>
          </p:cNvSpPr>
          <p:nvPr>
            <p:ph type="title"/>
          </p:nvPr>
        </p:nvSpPr>
        <p:spPr/>
        <p:txBody>
          <a:bodyPr/>
          <a:lstStyle/>
          <a:p>
            <a:r>
              <a:rPr lang="en-US" altLang="en-US"/>
              <a:t>File Attributes</a:t>
            </a:r>
          </a:p>
        </p:txBody>
      </p:sp>
      <p:sp>
        <p:nvSpPr>
          <p:cNvPr id="7171" name="Rectangle 3">
            <a:extLst>
              <a:ext uri="{FF2B5EF4-FFF2-40B4-BE49-F238E27FC236}">
                <a16:creationId xmlns:a16="http://schemas.microsoft.com/office/drawing/2014/main" id="{25A6441F-0904-8043-8C6A-F844A293AAC4}"/>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Name</a:t>
            </a:r>
            <a:r>
              <a:rPr lang="en-US" altLang="en-US" dirty="0"/>
              <a:t> – only information kept in human-readable form</a:t>
            </a:r>
          </a:p>
          <a:p>
            <a:pPr>
              <a:spcBef>
                <a:spcPts val="400"/>
              </a:spcBef>
              <a:spcAft>
                <a:spcPts val="400"/>
              </a:spcAft>
            </a:pPr>
            <a:r>
              <a:rPr lang="en-US" altLang="en-US" i="1" dirty="0">
                <a:solidFill>
                  <a:srgbClr val="0070C0"/>
                </a:solidFill>
              </a:rPr>
              <a:t>Identifier</a:t>
            </a:r>
            <a:r>
              <a:rPr lang="en-US" altLang="en-US" dirty="0"/>
              <a:t> – unique tag (number) identifies file within file system</a:t>
            </a:r>
          </a:p>
          <a:p>
            <a:pPr>
              <a:spcBef>
                <a:spcPts val="400"/>
              </a:spcBef>
              <a:spcAft>
                <a:spcPts val="400"/>
              </a:spcAft>
            </a:pPr>
            <a:r>
              <a:rPr lang="en-US" altLang="en-US" i="1" dirty="0">
                <a:solidFill>
                  <a:srgbClr val="0070C0"/>
                </a:solidFill>
              </a:rPr>
              <a:t>Type</a:t>
            </a:r>
            <a:r>
              <a:rPr lang="en-US" altLang="en-US" dirty="0"/>
              <a:t> – needed for systems that support different types</a:t>
            </a:r>
          </a:p>
          <a:p>
            <a:pPr>
              <a:spcBef>
                <a:spcPts val="400"/>
              </a:spcBef>
              <a:spcAft>
                <a:spcPts val="400"/>
              </a:spcAft>
            </a:pPr>
            <a:r>
              <a:rPr lang="en-US" altLang="en-US" i="1" dirty="0">
                <a:solidFill>
                  <a:srgbClr val="0070C0"/>
                </a:solidFill>
              </a:rPr>
              <a:t>Location</a:t>
            </a:r>
            <a:r>
              <a:rPr lang="en-US" altLang="en-US" dirty="0"/>
              <a:t> – pointer to file location on device</a:t>
            </a:r>
          </a:p>
          <a:p>
            <a:pPr>
              <a:spcBef>
                <a:spcPts val="400"/>
              </a:spcBef>
              <a:spcAft>
                <a:spcPts val="400"/>
              </a:spcAft>
            </a:pPr>
            <a:r>
              <a:rPr lang="en-US" altLang="en-US" i="1" dirty="0">
                <a:solidFill>
                  <a:srgbClr val="0070C0"/>
                </a:solidFill>
              </a:rPr>
              <a:t>Size</a:t>
            </a:r>
            <a:r>
              <a:rPr lang="en-US" altLang="en-US" dirty="0"/>
              <a:t> – current file size</a:t>
            </a:r>
          </a:p>
          <a:p>
            <a:pPr>
              <a:spcBef>
                <a:spcPts val="400"/>
              </a:spcBef>
              <a:spcAft>
                <a:spcPts val="400"/>
              </a:spcAft>
            </a:pPr>
            <a:r>
              <a:rPr lang="en-US" altLang="en-US" i="1" dirty="0">
                <a:solidFill>
                  <a:srgbClr val="0070C0"/>
                </a:solidFill>
              </a:rPr>
              <a:t>Protection</a:t>
            </a:r>
            <a:r>
              <a:rPr lang="en-US" altLang="en-US" dirty="0"/>
              <a:t> – controls who can do reading, writing, executing</a:t>
            </a:r>
          </a:p>
          <a:p>
            <a:pPr>
              <a:spcBef>
                <a:spcPts val="400"/>
              </a:spcBef>
              <a:spcAft>
                <a:spcPts val="400"/>
              </a:spcAft>
            </a:pPr>
            <a:r>
              <a:rPr lang="en-US" altLang="en-US" i="1" dirty="0">
                <a:solidFill>
                  <a:srgbClr val="0070C0"/>
                </a:solidFill>
              </a:rPr>
              <a:t>Time, date, and user identification </a:t>
            </a:r>
            <a:r>
              <a:rPr lang="en-US" altLang="en-US" dirty="0"/>
              <a:t>– data for protection, security, and usage monitoring</a:t>
            </a:r>
          </a:p>
          <a:p>
            <a:pPr>
              <a:spcBef>
                <a:spcPts val="400"/>
              </a:spcBef>
              <a:spcAft>
                <a:spcPts val="400"/>
              </a:spcAft>
            </a:pPr>
            <a:r>
              <a:rPr lang="en-US" altLang="en-US" dirty="0"/>
              <a:t>Information about files are kept in the directory structure, which is maintained on the disk</a:t>
            </a:r>
          </a:p>
          <a:p>
            <a:pPr>
              <a:spcBef>
                <a:spcPts val="400"/>
              </a:spcBef>
              <a:spcAft>
                <a:spcPts val="400"/>
              </a:spcAft>
            </a:pPr>
            <a:r>
              <a:rPr lang="en-US" altLang="en-US" dirty="0"/>
              <a:t>Many variations, including extended file attributes such as file checksum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A78419C-1D7A-E446-89CC-3D7EEE45BE52}"/>
              </a:ext>
            </a:extLst>
          </p:cNvPr>
          <p:cNvSpPr>
            <a:spLocks noGrp="1" noChangeArrowheads="1"/>
          </p:cNvSpPr>
          <p:nvPr>
            <p:ph type="title"/>
          </p:nvPr>
        </p:nvSpPr>
        <p:spPr/>
        <p:txBody>
          <a:bodyPr/>
          <a:lstStyle/>
          <a:p>
            <a:r>
              <a:rPr lang="en-US" altLang="en-US" dirty="0"/>
              <a:t>A window of file info on Mac OS X</a:t>
            </a:r>
          </a:p>
        </p:txBody>
      </p:sp>
      <p:pic>
        <p:nvPicPr>
          <p:cNvPr id="8195" name="Picture 4" descr="11_01.pdf">
            <a:extLst>
              <a:ext uri="{FF2B5EF4-FFF2-40B4-BE49-F238E27FC236}">
                <a16:creationId xmlns:a16="http://schemas.microsoft.com/office/drawing/2014/main" id="{BCCA8189-121D-3F4F-844B-67A37187655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50344" y="1048512"/>
            <a:ext cx="2870168" cy="5369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8AA036F-2B4E-D54F-96B9-C49DD3B04FE2}"/>
              </a:ext>
            </a:extLst>
          </p:cNvPr>
          <p:cNvSpPr>
            <a:spLocks noGrp="1" noChangeArrowheads="1"/>
          </p:cNvSpPr>
          <p:nvPr>
            <p:ph type="title"/>
          </p:nvPr>
        </p:nvSpPr>
        <p:spPr/>
        <p:txBody>
          <a:bodyPr/>
          <a:lstStyle/>
          <a:p>
            <a:r>
              <a:rPr lang="en-US" altLang="en-US"/>
              <a:t>File Operations</a:t>
            </a:r>
          </a:p>
        </p:txBody>
      </p:sp>
      <p:sp>
        <p:nvSpPr>
          <p:cNvPr id="9219" name="Rectangle 3">
            <a:extLst>
              <a:ext uri="{FF2B5EF4-FFF2-40B4-BE49-F238E27FC236}">
                <a16:creationId xmlns:a16="http://schemas.microsoft.com/office/drawing/2014/main" id="{3694A510-D66C-6645-960B-BC96B648BD7E}"/>
              </a:ext>
            </a:extLst>
          </p:cNvPr>
          <p:cNvSpPr>
            <a:spLocks noGrp="1" noChangeArrowheads="1"/>
          </p:cNvSpPr>
          <p:nvPr>
            <p:ph idx="1"/>
          </p:nvPr>
        </p:nvSpPr>
        <p:spPr/>
        <p:txBody>
          <a:bodyPr/>
          <a:lstStyle/>
          <a:p>
            <a:r>
              <a:rPr lang="en-US" altLang="en-US" dirty="0"/>
              <a:t>File is an </a:t>
            </a:r>
            <a:r>
              <a:rPr lang="en-US" altLang="en-US" i="1" dirty="0">
                <a:solidFill>
                  <a:srgbClr val="0070C0"/>
                </a:solidFill>
              </a:rPr>
              <a:t>abstract data type</a:t>
            </a:r>
          </a:p>
          <a:p>
            <a:pPr lvl="1"/>
            <a:r>
              <a:rPr lang="en-US" altLang="en-US" i="1" dirty="0">
                <a:solidFill>
                  <a:srgbClr val="0070C0"/>
                </a:solidFill>
              </a:rPr>
              <a:t>Create</a:t>
            </a:r>
          </a:p>
          <a:p>
            <a:pPr lvl="1"/>
            <a:r>
              <a:rPr lang="en-US" altLang="en-US" i="1" dirty="0">
                <a:solidFill>
                  <a:srgbClr val="0070C0"/>
                </a:solidFill>
              </a:rPr>
              <a:t>Write</a:t>
            </a:r>
            <a:r>
              <a:rPr lang="en-US" altLang="en-US" dirty="0"/>
              <a:t> – at write pointer location</a:t>
            </a:r>
          </a:p>
          <a:p>
            <a:pPr lvl="1"/>
            <a:r>
              <a:rPr lang="en-US" altLang="en-US" i="1" dirty="0">
                <a:solidFill>
                  <a:srgbClr val="0070C0"/>
                </a:solidFill>
              </a:rPr>
              <a:t>Read</a:t>
            </a:r>
            <a:r>
              <a:rPr lang="en-US" altLang="en-US" dirty="0"/>
              <a:t> – at read pointer location</a:t>
            </a:r>
          </a:p>
          <a:p>
            <a:pPr lvl="1"/>
            <a:r>
              <a:rPr lang="en-US" altLang="en-US" i="1" dirty="0">
                <a:solidFill>
                  <a:srgbClr val="0070C0"/>
                </a:solidFill>
              </a:rPr>
              <a:t>Reposition</a:t>
            </a:r>
            <a:r>
              <a:rPr lang="en-US" altLang="en-US" dirty="0"/>
              <a:t> within file (or seek)</a:t>
            </a:r>
          </a:p>
          <a:p>
            <a:pPr lvl="1"/>
            <a:r>
              <a:rPr lang="en-US" altLang="en-US" i="1" dirty="0">
                <a:solidFill>
                  <a:srgbClr val="0070C0"/>
                </a:solidFill>
              </a:rPr>
              <a:t>Delete</a:t>
            </a:r>
          </a:p>
          <a:p>
            <a:pPr lvl="1"/>
            <a:r>
              <a:rPr lang="en-US" altLang="en-US" i="1" dirty="0">
                <a:solidFill>
                  <a:srgbClr val="0070C0"/>
                </a:solidFill>
              </a:rPr>
              <a:t>Truncate</a:t>
            </a:r>
          </a:p>
          <a:p>
            <a:r>
              <a:rPr lang="en-US" altLang="en-US" i="1" dirty="0">
                <a:solidFill>
                  <a:srgbClr val="0070C0"/>
                </a:solidFill>
              </a:rPr>
              <a:t>Open(F</a:t>
            </a:r>
            <a:r>
              <a:rPr lang="en-US" altLang="en-US" i="1" baseline="-25000" dirty="0">
                <a:solidFill>
                  <a:srgbClr val="0070C0"/>
                </a:solidFill>
              </a:rPr>
              <a:t>i</a:t>
            </a:r>
            <a:r>
              <a:rPr lang="en-US" altLang="en-US" i="1" dirty="0">
                <a:solidFill>
                  <a:srgbClr val="0070C0"/>
                </a:solidFill>
              </a:rPr>
              <a:t>) </a:t>
            </a:r>
            <a:r>
              <a:rPr lang="en-US" altLang="en-US" dirty="0"/>
              <a:t>– search the directory structure on disk for entry </a:t>
            </a:r>
            <a:r>
              <a:rPr lang="en-US" altLang="en-US" i="1" dirty="0"/>
              <a:t>F</a:t>
            </a:r>
            <a:r>
              <a:rPr lang="en-US" altLang="en-US" i="1" baseline="-25000" dirty="0"/>
              <a:t>i</a:t>
            </a:r>
            <a:r>
              <a:rPr lang="en-US" altLang="en-US" dirty="0"/>
              <a:t>, and move the content of entry to memory</a:t>
            </a:r>
          </a:p>
          <a:p>
            <a:r>
              <a:rPr lang="en-US" altLang="en-US" i="1" dirty="0">
                <a:solidFill>
                  <a:srgbClr val="0070C0"/>
                </a:solidFill>
              </a:rPr>
              <a:t>Close(F</a:t>
            </a:r>
            <a:r>
              <a:rPr lang="en-US" altLang="en-US" i="1" baseline="-25000" dirty="0">
                <a:solidFill>
                  <a:srgbClr val="0070C0"/>
                </a:solidFill>
              </a:rPr>
              <a:t>i</a:t>
            </a:r>
            <a:r>
              <a:rPr lang="en-US" altLang="en-US" i="1" dirty="0">
                <a:solidFill>
                  <a:srgbClr val="0070C0"/>
                </a:solidFill>
              </a:rPr>
              <a:t>) </a:t>
            </a:r>
            <a:r>
              <a:rPr lang="en-US" altLang="en-US" dirty="0"/>
              <a:t>– move the content of entry </a:t>
            </a:r>
            <a:r>
              <a:rPr lang="en-US" altLang="en-US" i="1" dirty="0"/>
              <a:t>F</a:t>
            </a:r>
            <a:r>
              <a:rPr lang="en-US" altLang="en-US" i="1" baseline="-25000" dirty="0"/>
              <a:t>i</a:t>
            </a:r>
            <a:r>
              <a:rPr lang="en-US" altLang="en-US" dirty="0"/>
              <a:t> in memory to directory structure on disk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019A0A6-5D6C-FD43-A487-78D1C887E599}"/>
              </a:ext>
            </a:extLst>
          </p:cNvPr>
          <p:cNvSpPr>
            <a:spLocks noGrp="1" noChangeArrowheads="1"/>
          </p:cNvSpPr>
          <p:nvPr>
            <p:ph type="title"/>
          </p:nvPr>
        </p:nvSpPr>
        <p:spPr/>
        <p:txBody>
          <a:bodyPr/>
          <a:lstStyle/>
          <a:p>
            <a:r>
              <a:rPr lang="en-US" altLang="en-US"/>
              <a:t>Open Files</a:t>
            </a:r>
          </a:p>
        </p:txBody>
      </p:sp>
      <p:sp>
        <p:nvSpPr>
          <p:cNvPr id="10243" name="Rectangle 3">
            <a:extLst>
              <a:ext uri="{FF2B5EF4-FFF2-40B4-BE49-F238E27FC236}">
                <a16:creationId xmlns:a16="http://schemas.microsoft.com/office/drawing/2014/main" id="{E93B0359-9DD1-E84D-88A1-761297614E33}"/>
              </a:ext>
            </a:extLst>
          </p:cNvPr>
          <p:cNvSpPr>
            <a:spLocks noGrp="1" noChangeArrowheads="1"/>
          </p:cNvSpPr>
          <p:nvPr>
            <p:ph idx="1"/>
          </p:nvPr>
        </p:nvSpPr>
        <p:spPr/>
        <p:txBody>
          <a:bodyPr/>
          <a:lstStyle/>
          <a:p>
            <a:r>
              <a:rPr lang="en-US" altLang="en-US" dirty="0"/>
              <a:t>Several pieces of data are needed to manage open files:</a:t>
            </a:r>
          </a:p>
          <a:p>
            <a:pPr lvl="1"/>
            <a:r>
              <a:rPr lang="en-US" altLang="en-US" i="1" dirty="0">
                <a:solidFill>
                  <a:srgbClr val="0070C0"/>
                </a:solidFill>
              </a:rPr>
              <a:t>Open-file table</a:t>
            </a:r>
            <a:r>
              <a:rPr lang="en-US" altLang="en-US" dirty="0"/>
              <a:t>: tracks open files</a:t>
            </a:r>
          </a:p>
          <a:p>
            <a:pPr lvl="1"/>
            <a:r>
              <a:rPr lang="en-US" altLang="en-US" i="1" dirty="0">
                <a:solidFill>
                  <a:srgbClr val="0070C0"/>
                </a:solidFill>
              </a:rPr>
              <a:t>File pointer</a:t>
            </a:r>
            <a:r>
              <a:rPr lang="en-US" altLang="en-US" dirty="0"/>
              <a:t>:  pointer to last read/write location, per process that has the file open</a:t>
            </a:r>
          </a:p>
          <a:p>
            <a:pPr lvl="1"/>
            <a:r>
              <a:rPr lang="en-US" altLang="en-US" i="1" dirty="0">
                <a:solidFill>
                  <a:srgbClr val="0070C0"/>
                </a:solidFill>
              </a:rPr>
              <a:t>File-open count</a:t>
            </a:r>
            <a:r>
              <a:rPr lang="en-US" altLang="en-US" dirty="0"/>
              <a:t>: counter of number of times a file is open – to allow removal of data from open-file table when last processes closes it</a:t>
            </a:r>
          </a:p>
          <a:p>
            <a:pPr lvl="1"/>
            <a:r>
              <a:rPr lang="en-US" altLang="en-US" i="1" dirty="0">
                <a:solidFill>
                  <a:srgbClr val="0070C0"/>
                </a:solidFill>
              </a:rPr>
              <a:t>Disk location of the file</a:t>
            </a:r>
            <a:r>
              <a:rPr lang="en-US" altLang="en-US" dirty="0"/>
              <a:t>: cache of data access information</a:t>
            </a:r>
          </a:p>
          <a:p>
            <a:pPr lvl="1"/>
            <a:r>
              <a:rPr lang="en-US" altLang="en-US" i="1" dirty="0">
                <a:solidFill>
                  <a:srgbClr val="0070C0"/>
                </a:solidFill>
              </a:rPr>
              <a:t>Access rights</a:t>
            </a:r>
            <a:r>
              <a:rPr lang="en-US" altLang="en-US" dirty="0"/>
              <a:t>: per-process access mode information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0519C92-A183-9B48-A883-92146F3F6F91}"/>
              </a:ext>
            </a:extLst>
          </p:cNvPr>
          <p:cNvSpPr>
            <a:spLocks noGrp="1" noChangeArrowheads="1"/>
          </p:cNvSpPr>
          <p:nvPr>
            <p:ph type="title"/>
          </p:nvPr>
        </p:nvSpPr>
        <p:spPr/>
        <p:txBody>
          <a:bodyPr/>
          <a:lstStyle/>
          <a:p>
            <a:r>
              <a:rPr lang="en-US" altLang="en-US"/>
              <a:t>Open File Locking</a:t>
            </a:r>
          </a:p>
        </p:txBody>
      </p:sp>
      <p:sp>
        <p:nvSpPr>
          <p:cNvPr id="11267" name="Rectangle 3">
            <a:extLst>
              <a:ext uri="{FF2B5EF4-FFF2-40B4-BE49-F238E27FC236}">
                <a16:creationId xmlns:a16="http://schemas.microsoft.com/office/drawing/2014/main" id="{C5E47C10-2F0F-2B43-8A8C-50AD67E243FD}"/>
              </a:ext>
            </a:extLst>
          </p:cNvPr>
          <p:cNvSpPr>
            <a:spLocks noGrp="1" noChangeArrowheads="1"/>
          </p:cNvSpPr>
          <p:nvPr>
            <p:ph idx="1"/>
          </p:nvPr>
        </p:nvSpPr>
        <p:spPr/>
        <p:txBody>
          <a:bodyPr/>
          <a:lstStyle/>
          <a:p>
            <a:r>
              <a:rPr lang="en-US" altLang="en-US" dirty="0"/>
              <a:t>Provided by some operating systems and file systems</a:t>
            </a:r>
          </a:p>
          <a:p>
            <a:pPr lvl="1"/>
            <a:r>
              <a:rPr lang="en-US" altLang="en-US" dirty="0"/>
              <a:t>Similar to </a:t>
            </a:r>
            <a:r>
              <a:rPr lang="en-US" altLang="en-US" i="1" dirty="0">
                <a:solidFill>
                  <a:srgbClr val="0070C0"/>
                </a:solidFill>
              </a:rPr>
              <a:t>reader-writer locks</a:t>
            </a:r>
          </a:p>
          <a:p>
            <a:pPr lvl="1"/>
            <a:r>
              <a:rPr lang="en-US" altLang="en-US" i="1" dirty="0">
                <a:solidFill>
                  <a:srgbClr val="0070C0"/>
                </a:solidFill>
              </a:rPr>
              <a:t>Shared lock </a:t>
            </a:r>
            <a:r>
              <a:rPr lang="en-US" altLang="en-US" dirty="0"/>
              <a:t>similar to reader lock – several processes can acquire concurrently</a:t>
            </a:r>
          </a:p>
          <a:p>
            <a:pPr lvl="1"/>
            <a:r>
              <a:rPr lang="en-US" altLang="en-US" i="1" dirty="0">
                <a:solidFill>
                  <a:srgbClr val="0070C0"/>
                </a:solidFill>
              </a:rPr>
              <a:t>Exclusive lock </a:t>
            </a:r>
            <a:r>
              <a:rPr lang="en-US" altLang="en-US" dirty="0"/>
              <a:t>similar to writer lock</a:t>
            </a:r>
          </a:p>
          <a:p>
            <a:r>
              <a:rPr lang="en-US" altLang="en-US" dirty="0"/>
              <a:t>Mediates access to a file</a:t>
            </a:r>
          </a:p>
          <a:p>
            <a:r>
              <a:rPr lang="en-US" altLang="en-US" dirty="0"/>
              <a:t>Mandatory or advisory:</a:t>
            </a:r>
          </a:p>
          <a:p>
            <a:pPr lvl="1"/>
            <a:r>
              <a:rPr lang="en-US" altLang="en-US" i="1" dirty="0">
                <a:solidFill>
                  <a:srgbClr val="0070C0"/>
                </a:solidFill>
              </a:rPr>
              <a:t>Mandatory</a:t>
            </a:r>
            <a:r>
              <a:rPr lang="en-US" altLang="en-US" dirty="0"/>
              <a:t> – access is denied depending on locks held and requested</a:t>
            </a:r>
          </a:p>
          <a:p>
            <a:pPr lvl="1"/>
            <a:r>
              <a:rPr lang="en-US" altLang="en-US" i="1" dirty="0">
                <a:solidFill>
                  <a:srgbClr val="0070C0"/>
                </a:solidFill>
              </a:rPr>
              <a:t>Advisory</a:t>
            </a:r>
            <a:r>
              <a:rPr lang="en-US" altLang="en-US" dirty="0"/>
              <a:t> – processes can find status of locks and decide what to 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70D8F13-E942-5A48-8096-1A3DB47C904C}"/>
              </a:ext>
            </a:extLst>
          </p:cNvPr>
          <p:cNvSpPr>
            <a:spLocks noGrp="1" noChangeArrowheads="1"/>
          </p:cNvSpPr>
          <p:nvPr>
            <p:ph type="title"/>
          </p:nvPr>
        </p:nvSpPr>
        <p:spPr/>
        <p:txBody>
          <a:bodyPr/>
          <a:lstStyle/>
          <a:p>
            <a:pPr eaLnBrk="1" hangingPunct="1"/>
            <a:r>
              <a:rPr lang="en-US" altLang="en-US"/>
              <a:t>File Locking Example – Java API</a:t>
            </a:r>
          </a:p>
        </p:txBody>
      </p:sp>
      <p:sp>
        <p:nvSpPr>
          <p:cNvPr id="12291" name="Rectangle 3">
            <a:extLst>
              <a:ext uri="{FF2B5EF4-FFF2-40B4-BE49-F238E27FC236}">
                <a16:creationId xmlns:a16="http://schemas.microsoft.com/office/drawing/2014/main" id="{F826A253-DCA0-9244-BD90-865AB0A874B9}"/>
              </a:ext>
            </a:extLst>
          </p:cNvPr>
          <p:cNvSpPr>
            <a:spLocks noGrp="1" noChangeArrowheads="1"/>
          </p:cNvSpPr>
          <p:nvPr>
            <p:ph idx="1"/>
          </p:nvPr>
        </p:nvSpPr>
        <p:spPr/>
        <p:txBody>
          <a:bodyPr/>
          <a:lstStyle/>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import </a:t>
            </a:r>
            <a:r>
              <a:rPr lang="en-US" altLang="en-US" sz="1400" b="1" dirty="0" err="1">
                <a:solidFill>
                  <a:srgbClr val="0033CC"/>
                </a:solidFill>
                <a:latin typeface="Courier New" panose="02070309020205020404" pitchFamily="49" charset="0"/>
                <a:cs typeface="Courier New" panose="02070309020205020404" pitchFamily="49" charset="0"/>
              </a:rPr>
              <a:t>java.io</a:t>
            </a:r>
            <a:r>
              <a:rPr lang="en-US" altLang="en-US" sz="14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import </a:t>
            </a:r>
            <a:r>
              <a:rPr lang="en-US" altLang="en-US" sz="1400" b="1" dirty="0" err="1">
                <a:solidFill>
                  <a:srgbClr val="0033CC"/>
                </a:solidFill>
                <a:latin typeface="Courier New" panose="02070309020205020404" pitchFamily="49" charset="0"/>
                <a:cs typeface="Courier New" panose="02070309020205020404" pitchFamily="49" charset="0"/>
              </a:rPr>
              <a:t>java.nio.channels</a:t>
            </a:r>
            <a:r>
              <a:rPr lang="en-US" altLang="en-US" sz="14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public class </a:t>
            </a:r>
            <a:r>
              <a:rPr lang="en-US" altLang="en-US" sz="1400" b="1" dirty="0" err="1">
                <a:solidFill>
                  <a:srgbClr val="0033CC"/>
                </a:solidFill>
                <a:latin typeface="Courier New" panose="02070309020205020404" pitchFamily="49" charset="0"/>
                <a:cs typeface="Courier New" panose="02070309020205020404" pitchFamily="49" charset="0"/>
              </a:rPr>
              <a:t>LockingExample</a:t>
            </a:r>
            <a:r>
              <a:rPr lang="en-US" altLang="en-US" sz="1400" b="1" dirty="0">
                <a:solidFill>
                  <a:srgbClr val="0033CC"/>
                </a:solidFill>
                <a:latin typeface="Courier New" panose="02070309020205020404" pitchFamily="49" charset="0"/>
                <a:cs typeface="Courier New" panose="02070309020205020404" pitchFamily="49" charset="0"/>
              </a:rPr>
              <a:t> { </a:t>
            </a:r>
          </a:p>
          <a:p>
            <a:pPr>
              <a:lnSpc>
                <a:spcPct val="80000"/>
              </a:lnSpc>
              <a:spcBef>
                <a:spcPts val="400"/>
              </a:spcBef>
              <a:spcAft>
                <a:spcPts val="400"/>
              </a:spcAft>
              <a:buFont typeface="Monotype Sorts" pitchFamily="2" charset="2"/>
              <a:buNone/>
            </a:pPr>
            <a:r>
              <a:rPr lang="en-US" altLang="en-US" sz="1400" b="1" i="1" dirty="0">
                <a:solidFill>
                  <a:srgbClr val="0033CC"/>
                </a:solidFill>
                <a:latin typeface="Courier New" panose="02070309020205020404" pitchFamily="49" charset="0"/>
                <a:cs typeface="Courier New" panose="02070309020205020404" pitchFamily="49" charset="0"/>
              </a:rPr>
              <a:t>	</a:t>
            </a:r>
            <a:r>
              <a:rPr lang="en-US" altLang="en-US" sz="1400" b="1" dirty="0">
                <a:solidFill>
                  <a:srgbClr val="0033CC"/>
                </a:solidFill>
                <a:latin typeface="Courier New" panose="02070309020205020404" pitchFamily="49" charset="0"/>
                <a:cs typeface="Courier New" panose="02070309020205020404" pitchFamily="49" charset="0"/>
              </a:rPr>
              <a:t>public static final </a:t>
            </a:r>
            <a:r>
              <a:rPr lang="en-US" altLang="en-US" sz="1400" b="1" dirty="0" err="1">
                <a:solidFill>
                  <a:srgbClr val="0033CC"/>
                </a:solidFill>
                <a:latin typeface="Courier New" panose="02070309020205020404" pitchFamily="49" charset="0"/>
                <a:cs typeface="Courier New" panose="02070309020205020404" pitchFamily="49" charset="0"/>
              </a:rPr>
              <a:t>boolean</a:t>
            </a:r>
            <a:r>
              <a:rPr lang="en-US" altLang="en-US" sz="1400" b="1" dirty="0">
                <a:solidFill>
                  <a:srgbClr val="0033CC"/>
                </a:solidFill>
                <a:latin typeface="Courier New" panose="02070309020205020404" pitchFamily="49" charset="0"/>
                <a:cs typeface="Courier New" panose="02070309020205020404" pitchFamily="49" charset="0"/>
              </a:rPr>
              <a:t> EXCLUSIVE = false;</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public static final </a:t>
            </a:r>
            <a:r>
              <a:rPr lang="en-US" altLang="en-US" sz="1400" b="1" dirty="0" err="1">
                <a:solidFill>
                  <a:srgbClr val="0033CC"/>
                </a:solidFill>
                <a:latin typeface="Courier New" panose="02070309020205020404" pitchFamily="49" charset="0"/>
                <a:cs typeface="Courier New" panose="02070309020205020404" pitchFamily="49" charset="0"/>
              </a:rPr>
              <a:t>boolean</a:t>
            </a:r>
            <a:r>
              <a:rPr lang="en-US" altLang="en-US" sz="1400" b="1" dirty="0">
                <a:solidFill>
                  <a:srgbClr val="0033CC"/>
                </a:solidFill>
                <a:latin typeface="Courier New" panose="02070309020205020404" pitchFamily="49" charset="0"/>
                <a:cs typeface="Courier New" panose="02070309020205020404" pitchFamily="49" charset="0"/>
              </a:rPr>
              <a:t> SHARED = true;</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public static void main(String </a:t>
            </a:r>
            <a:r>
              <a:rPr lang="en-US" altLang="en-US" sz="1400" b="1" dirty="0" err="1">
                <a:solidFill>
                  <a:srgbClr val="0033CC"/>
                </a:solidFill>
                <a:latin typeface="Courier New" panose="02070309020205020404" pitchFamily="49" charset="0"/>
                <a:cs typeface="Courier New" panose="02070309020205020404" pitchFamily="49" charset="0"/>
              </a:rPr>
              <a:t>arsg</a:t>
            </a:r>
            <a:r>
              <a:rPr lang="en-US" altLang="en-US" sz="1400" b="1" dirty="0">
                <a:solidFill>
                  <a:srgbClr val="0033CC"/>
                </a:solidFill>
                <a:latin typeface="Courier New" panose="02070309020205020404" pitchFamily="49" charset="0"/>
                <a:cs typeface="Courier New" panose="02070309020205020404" pitchFamily="49" charset="0"/>
              </a:rPr>
              <a:t>[]) throws </a:t>
            </a:r>
            <a:r>
              <a:rPr lang="en-US" altLang="en-US" sz="1400" b="1" dirty="0" err="1">
                <a:solidFill>
                  <a:srgbClr val="0033CC"/>
                </a:solidFill>
                <a:latin typeface="Courier New" panose="02070309020205020404" pitchFamily="49" charset="0"/>
                <a:cs typeface="Courier New" panose="02070309020205020404" pitchFamily="49" charset="0"/>
              </a:rPr>
              <a:t>IOException</a:t>
            </a: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i="1" dirty="0">
                <a:solidFill>
                  <a:srgbClr val="0033CC"/>
                </a:solidFill>
                <a:latin typeface="Courier New" panose="02070309020205020404" pitchFamily="49" charset="0"/>
                <a:cs typeface="Courier New" panose="02070309020205020404" pitchFamily="49" charset="0"/>
              </a:rPr>
              <a:t>{ </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FileLock</a:t>
            </a: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sharedLock</a:t>
            </a:r>
            <a:r>
              <a:rPr lang="en-US" altLang="en-US" sz="1400" b="1" dirty="0">
                <a:solidFill>
                  <a:srgbClr val="0033CC"/>
                </a:solidFill>
                <a:latin typeface="Courier New" panose="02070309020205020404" pitchFamily="49" charset="0"/>
                <a:cs typeface="Courier New" panose="02070309020205020404" pitchFamily="49" charset="0"/>
              </a:rPr>
              <a:t> = null;</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FileLock</a:t>
            </a: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exclusiveLock</a:t>
            </a:r>
            <a:r>
              <a:rPr lang="en-US" altLang="en-US" sz="1400" b="1" dirty="0">
                <a:solidFill>
                  <a:srgbClr val="0033CC"/>
                </a:solidFill>
                <a:latin typeface="Courier New" panose="02070309020205020404" pitchFamily="49" charset="0"/>
                <a:cs typeface="Courier New" panose="02070309020205020404" pitchFamily="49" charset="0"/>
              </a:rPr>
              <a:t> = null;</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try { </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RandomAccessFile</a:t>
            </a: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raf</a:t>
            </a:r>
            <a:r>
              <a:rPr lang="en-US" altLang="en-US" sz="1400" b="1" dirty="0">
                <a:solidFill>
                  <a:srgbClr val="0033CC"/>
                </a:solidFill>
                <a:latin typeface="Courier New" panose="02070309020205020404" pitchFamily="49" charset="0"/>
                <a:cs typeface="Courier New" panose="02070309020205020404" pitchFamily="49" charset="0"/>
              </a:rPr>
              <a:t> = new </a:t>
            </a:r>
            <a:r>
              <a:rPr lang="en-US" altLang="en-US" sz="1400" b="1" dirty="0" err="1">
                <a:solidFill>
                  <a:srgbClr val="0033CC"/>
                </a:solidFill>
                <a:latin typeface="Courier New" panose="02070309020205020404" pitchFamily="49" charset="0"/>
                <a:cs typeface="Courier New" panose="02070309020205020404" pitchFamily="49" charset="0"/>
              </a:rPr>
              <a:t>RandomAccessFile</a:t>
            </a:r>
            <a:r>
              <a:rPr lang="en-US" altLang="en-US" sz="1400" b="1" dirty="0">
                <a:solidFill>
                  <a:srgbClr val="0033CC"/>
                </a:solidFill>
                <a:latin typeface="Courier New" panose="02070309020205020404" pitchFamily="49" charset="0"/>
                <a:cs typeface="Courier New" panose="02070309020205020404" pitchFamily="49" charset="0"/>
              </a:rPr>
              <a:t>("</a:t>
            </a:r>
            <a:r>
              <a:rPr lang="en-US" altLang="en-US" sz="1400" b="1" dirty="0" err="1">
                <a:solidFill>
                  <a:srgbClr val="0033CC"/>
                </a:solidFill>
                <a:latin typeface="Courier New" panose="02070309020205020404" pitchFamily="49" charset="0"/>
                <a:cs typeface="Courier New" panose="02070309020205020404" pitchFamily="49" charset="0"/>
              </a:rPr>
              <a:t>file.txt</a:t>
            </a: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rw</a:t>
            </a:r>
            <a:r>
              <a:rPr lang="en-US" altLang="en-US" sz="14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 get the channel for the file</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FileChannel</a:t>
            </a: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ch</a:t>
            </a:r>
            <a:r>
              <a:rPr lang="en-US" altLang="en-US" sz="1400" b="1" dirty="0">
                <a:solidFill>
                  <a:srgbClr val="0033CC"/>
                </a:solidFill>
                <a:latin typeface="Courier New" panose="02070309020205020404" pitchFamily="49" charset="0"/>
                <a:cs typeface="Courier New" panose="02070309020205020404" pitchFamily="49" charset="0"/>
              </a:rPr>
              <a:t> = </a:t>
            </a:r>
            <a:r>
              <a:rPr lang="en-US" altLang="en-US" sz="1400" b="1" dirty="0" err="1">
                <a:solidFill>
                  <a:srgbClr val="0033CC"/>
                </a:solidFill>
                <a:latin typeface="Courier New" panose="02070309020205020404" pitchFamily="49" charset="0"/>
                <a:cs typeface="Courier New" panose="02070309020205020404" pitchFamily="49" charset="0"/>
              </a:rPr>
              <a:t>raf.getChannel</a:t>
            </a:r>
            <a:r>
              <a:rPr lang="en-US" altLang="en-US" sz="14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 this locks the first half of the file - exclusive</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exclusiveLock</a:t>
            </a:r>
            <a:r>
              <a:rPr lang="en-US" altLang="en-US" sz="1400" b="1" dirty="0">
                <a:solidFill>
                  <a:srgbClr val="0033CC"/>
                </a:solidFill>
                <a:latin typeface="Courier New" panose="02070309020205020404" pitchFamily="49" charset="0"/>
                <a:cs typeface="Courier New" panose="02070309020205020404" pitchFamily="49" charset="0"/>
              </a:rPr>
              <a:t> = </a:t>
            </a:r>
            <a:r>
              <a:rPr lang="en-US" altLang="en-US" sz="1400" b="1" dirty="0" err="1">
                <a:solidFill>
                  <a:srgbClr val="0033CC"/>
                </a:solidFill>
                <a:latin typeface="Courier New" panose="02070309020205020404" pitchFamily="49" charset="0"/>
                <a:cs typeface="Courier New" panose="02070309020205020404" pitchFamily="49" charset="0"/>
              </a:rPr>
              <a:t>ch.lock</a:t>
            </a:r>
            <a:r>
              <a:rPr lang="en-US" altLang="en-US" sz="1400" b="1" dirty="0">
                <a:solidFill>
                  <a:srgbClr val="0033CC"/>
                </a:solidFill>
                <a:latin typeface="Courier New" panose="02070309020205020404" pitchFamily="49" charset="0"/>
                <a:cs typeface="Courier New" panose="02070309020205020404" pitchFamily="49" charset="0"/>
              </a:rPr>
              <a:t>(0, </a:t>
            </a:r>
            <a:r>
              <a:rPr lang="en-US" altLang="en-US" sz="1400" b="1" dirty="0" err="1">
                <a:solidFill>
                  <a:srgbClr val="0033CC"/>
                </a:solidFill>
                <a:latin typeface="Courier New" panose="02070309020205020404" pitchFamily="49" charset="0"/>
                <a:cs typeface="Courier New" panose="02070309020205020404" pitchFamily="49" charset="0"/>
              </a:rPr>
              <a:t>raf.length</a:t>
            </a:r>
            <a:r>
              <a:rPr lang="en-US" altLang="en-US" sz="1400" b="1" dirty="0">
                <a:solidFill>
                  <a:srgbClr val="0033CC"/>
                </a:solidFill>
                <a:latin typeface="Courier New" panose="02070309020205020404" pitchFamily="49" charset="0"/>
                <a:cs typeface="Courier New" panose="02070309020205020404" pitchFamily="49" charset="0"/>
              </a:rPr>
              <a:t>()/2, EXCLUSIVE);</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 Now modify the data . . . */</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 release the lock</a:t>
            </a:r>
          </a:p>
          <a:p>
            <a:pPr>
              <a:lnSpc>
                <a:spcPct val="80000"/>
              </a:lnSpc>
              <a:spcBef>
                <a:spcPts val="400"/>
              </a:spcBef>
              <a:spcAft>
                <a:spcPts val="400"/>
              </a:spcAft>
              <a:buFont typeface="Monotype Sorts" pitchFamily="2" charset="2"/>
              <a:buNone/>
            </a:pPr>
            <a:r>
              <a:rPr lang="en-US" altLang="en-US" sz="1400" b="1" dirty="0">
                <a:solidFill>
                  <a:srgbClr val="0033CC"/>
                </a:solidFill>
                <a:latin typeface="Courier New" panose="02070309020205020404" pitchFamily="49" charset="0"/>
                <a:cs typeface="Courier New" panose="02070309020205020404" pitchFamily="49" charset="0"/>
              </a:rPr>
              <a:t>			</a:t>
            </a:r>
            <a:r>
              <a:rPr lang="en-US" altLang="en-US" sz="1400" b="1" dirty="0" err="1">
                <a:solidFill>
                  <a:srgbClr val="0033CC"/>
                </a:solidFill>
                <a:latin typeface="Courier New" panose="02070309020205020404" pitchFamily="49" charset="0"/>
                <a:cs typeface="Courier New" panose="02070309020205020404" pitchFamily="49" charset="0"/>
              </a:rPr>
              <a:t>exclusiveLock.release</a:t>
            </a:r>
            <a:r>
              <a:rPr lang="en-US" altLang="en-US" sz="14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endParaRPr lang="en-US" altLang="en-US" sz="1400" b="1" dirty="0">
              <a:solidFill>
                <a:srgbClr val="0033CC"/>
              </a:solidFill>
              <a:latin typeface="Courier New" panose="02070309020205020404" pitchFamily="49" charset="0"/>
              <a:cs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2521258-AFF4-5B40-A1B4-F219E5D1DBB9}"/>
              </a:ext>
            </a:extLst>
          </p:cNvPr>
          <p:cNvSpPr>
            <a:spLocks noGrp="1" noChangeArrowheads="1"/>
          </p:cNvSpPr>
          <p:nvPr>
            <p:ph type="title"/>
          </p:nvPr>
        </p:nvSpPr>
        <p:spPr/>
        <p:txBody>
          <a:bodyPr/>
          <a:lstStyle/>
          <a:p>
            <a:pPr eaLnBrk="1" hangingPunct="1"/>
            <a:r>
              <a:rPr lang="en-US" altLang="en-US" sz="3000"/>
              <a:t>File Locking Example – Java API (Cont.)</a:t>
            </a:r>
          </a:p>
        </p:txBody>
      </p:sp>
      <p:sp>
        <p:nvSpPr>
          <p:cNvPr id="13315" name="Rectangle 3">
            <a:extLst>
              <a:ext uri="{FF2B5EF4-FFF2-40B4-BE49-F238E27FC236}">
                <a16:creationId xmlns:a16="http://schemas.microsoft.com/office/drawing/2014/main" id="{DA9F212E-A981-A142-AA8F-882F52FBFE6F}"/>
              </a:ext>
            </a:extLst>
          </p:cNvPr>
          <p:cNvSpPr>
            <a:spLocks noGrp="1" noChangeArrowheads="1"/>
          </p:cNvSpPr>
          <p:nvPr>
            <p:ph idx="1"/>
          </p:nvPr>
        </p:nvSpPr>
        <p:spPr/>
        <p:txBody>
          <a:bodyPr/>
          <a:lstStyle/>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 this locks the second half of the file - shared</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a:t>
            </a:r>
            <a:r>
              <a:rPr lang="en-US" altLang="en-US" sz="1600" b="1" dirty="0" err="1">
                <a:solidFill>
                  <a:srgbClr val="0033CC"/>
                </a:solidFill>
                <a:latin typeface="Courier New" panose="02070309020205020404" pitchFamily="49" charset="0"/>
                <a:cs typeface="Courier New" panose="02070309020205020404" pitchFamily="49" charset="0"/>
              </a:rPr>
              <a:t>sharedLock</a:t>
            </a:r>
            <a:r>
              <a:rPr lang="en-US" altLang="en-US" sz="1600" b="1" dirty="0">
                <a:solidFill>
                  <a:srgbClr val="0033CC"/>
                </a:solidFill>
                <a:latin typeface="Courier New" panose="02070309020205020404" pitchFamily="49" charset="0"/>
                <a:cs typeface="Courier New" panose="02070309020205020404" pitchFamily="49" charset="0"/>
              </a:rPr>
              <a:t> = </a:t>
            </a:r>
            <a:r>
              <a:rPr lang="en-US" altLang="en-US" sz="1600" b="1" dirty="0" err="1">
                <a:solidFill>
                  <a:srgbClr val="0033CC"/>
                </a:solidFill>
                <a:latin typeface="Courier New" panose="02070309020205020404" pitchFamily="49" charset="0"/>
                <a:cs typeface="Courier New" panose="02070309020205020404" pitchFamily="49" charset="0"/>
              </a:rPr>
              <a:t>ch.lock</a:t>
            </a:r>
            <a:r>
              <a:rPr lang="en-US" altLang="en-US" sz="1600" b="1" dirty="0">
                <a:solidFill>
                  <a:srgbClr val="0033CC"/>
                </a:solidFill>
                <a:latin typeface="Courier New" panose="02070309020205020404" pitchFamily="49" charset="0"/>
                <a:cs typeface="Courier New" panose="02070309020205020404" pitchFamily="49" charset="0"/>
              </a:rPr>
              <a:t>(</a:t>
            </a:r>
            <a:r>
              <a:rPr lang="en-US" altLang="en-US" sz="1600" b="1" dirty="0" err="1">
                <a:solidFill>
                  <a:srgbClr val="0033CC"/>
                </a:solidFill>
                <a:latin typeface="Courier New" panose="02070309020205020404" pitchFamily="49" charset="0"/>
                <a:cs typeface="Courier New" panose="02070309020205020404" pitchFamily="49" charset="0"/>
              </a:rPr>
              <a:t>raf.length</a:t>
            </a:r>
            <a:r>
              <a:rPr lang="en-US" altLang="en-US" sz="1600" b="1" dirty="0">
                <a:solidFill>
                  <a:srgbClr val="0033CC"/>
                </a:solidFill>
                <a:latin typeface="Courier New" panose="02070309020205020404" pitchFamily="49" charset="0"/>
                <a:cs typeface="Courier New" panose="02070309020205020404" pitchFamily="49" charset="0"/>
              </a:rPr>
              <a:t>()/2+1, </a:t>
            </a:r>
            <a:r>
              <a:rPr lang="en-US" altLang="en-US" sz="1600" b="1" dirty="0" err="1">
                <a:solidFill>
                  <a:srgbClr val="0033CC"/>
                </a:solidFill>
                <a:latin typeface="Courier New" panose="02070309020205020404" pitchFamily="49" charset="0"/>
                <a:cs typeface="Courier New" panose="02070309020205020404" pitchFamily="49" charset="0"/>
              </a:rPr>
              <a:t>raf.length</a:t>
            </a:r>
            <a:r>
              <a:rPr lang="en-US" altLang="en-US" sz="1600" b="1" dirty="0">
                <a:solidFill>
                  <a:srgbClr val="0033CC"/>
                </a:solidFill>
                <a:latin typeface="Courier New" panose="02070309020205020404" pitchFamily="49" charset="0"/>
                <a:cs typeface="Courier New" panose="02070309020205020404" pitchFamily="49" charset="0"/>
              </a:rPr>
              <a:t>(), SHARED);</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 Now read the data . . . */</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 release the lock</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a:t>
            </a:r>
            <a:r>
              <a:rPr lang="en-US" altLang="en-US" sz="1600" b="1" dirty="0" err="1">
                <a:solidFill>
                  <a:srgbClr val="0033CC"/>
                </a:solidFill>
                <a:latin typeface="Courier New" panose="02070309020205020404" pitchFamily="49" charset="0"/>
                <a:cs typeface="Courier New" panose="02070309020205020404" pitchFamily="49" charset="0"/>
              </a:rPr>
              <a:t>sharedLock.release</a:t>
            </a:r>
            <a:r>
              <a:rPr lang="en-US" altLang="en-US" sz="16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600" b="1" i="1" dirty="0">
                <a:solidFill>
                  <a:srgbClr val="0033CC"/>
                </a:solidFill>
                <a:latin typeface="Courier New" panose="02070309020205020404" pitchFamily="49" charset="0"/>
                <a:cs typeface="Courier New" panose="02070309020205020404" pitchFamily="49" charset="0"/>
              </a:rPr>
              <a:t>		</a:t>
            </a:r>
            <a:r>
              <a:rPr lang="en-US" altLang="en-US" sz="1600" b="1" dirty="0">
                <a:solidFill>
                  <a:srgbClr val="0033CC"/>
                </a:solidFill>
                <a:latin typeface="Courier New" panose="02070309020205020404" pitchFamily="49" charset="0"/>
                <a:cs typeface="Courier New" panose="02070309020205020404" pitchFamily="49" charset="0"/>
              </a:rPr>
              <a:t>}</a:t>
            </a:r>
            <a:r>
              <a:rPr lang="en-US" altLang="en-US" sz="1600" b="1" i="1" dirty="0">
                <a:solidFill>
                  <a:srgbClr val="0033CC"/>
                </a:solidFill>
                <a:latin typeface="Courier New" panose="02070309020205020404" pitchFamily="49" charset="0"/>
                <a:cs typeface="Courier New" panose="02070309020205020404" pitchFamily="49" charset="0"/>
              </a:rPr>
              <a:t> </a:t>
            </a:r>
            <a:r>
              <a:rPr lang="en-US" altLang="en-US" sz="1600" b="1" dirty="0">
                <a:solidFill>
                  <a:srgbClr val="0033CC"/>
                </a:solidFill>
                <a:latin typeface="Courier New" panose="02070309020205020404" pitchFamily="49" charset="0"/>
                <a:cs typeface="Courier New" panose="02070309020205020404" pitchFamily="49" charset="0"/>
              </a:rPr>
              <a:t>catch (</a:t>
            </a:r>
            <a:r>
              <a:rPr lang="en-US" altLang="en-US" sz="1600" b="1" dirty="0" err="1">
                <a:solidFill>
                  <a:srgbClr val="0033CC"/>
                </a:solidFill>
                <a:latin typeface="Courier New" panose="02070309020205020404" pitchFamily="49" charset="0"/>
                <a:cs typeface="Courier New" panose="02070309020205020404" pitchFamily="49" charset="0"/>
              </a:rPr>
              <a:t>java.io.IOException</a:t>
            </a:r>
            <a:r>
              <a:rPr lang="en-US" altLang="en-US" sz="1600" b="1" dirty="0">
                <a:solidFill>
                  <a:srgbClr val="0033CC"/>
                </a:solidFill>
                <a:latin typeface="Courier New" panose="02070309020205020404" pitchFamily="49" charset="0"/>
                <a:cs typeface="Courier New" panose="02070309020205020404" pitchFamily="49" charset="0"/>
              </a:rPr>
              <a:t> </a:t>
            </a:r>
            <a:r>
              <a:rPr lang="en-US" altLang="en-US" sz="1600" b="1" dirty="0" err="1">
                <a:solidFill>
                  <a:srgbClr val="0033CC"/>
                </a:solidFill>
                <a:latin typeface="Courier New" panose="02070309020205020404" pitchFamily="49" charset="0"/>
                <a:cs typeface="Courier New" panose="02070309020205020404" pitchFamily="49" charset="0"/>
              </a:rPr>
              <a:t>ioe</a:t>
            </a:r>
            <a:r>
              <a:rPr lang="en-US" altLang="en-US" sz="1600" b="1" dirty="0">
                <a:solidFill>
                  <a:srgbClr val="0033CC"/>
                </a:solidFill>
                <a:latin typeface="Courier New" panose="02070309020205020404" pitchFamily="49" charset="0"/>
                <a:cs typeface="Courier New" panose="02070309020205020404" pitchFamily="49" charset="0"/>
              </a:rPr>
              <a:t>) {</a:t>
            </a:r>
            <a:r>
              <a:rPr lang="en-US" altLang="en-US" sz="1600" b="1" i="1" dirty="0">
                <a:solidFill>
                  <a:srgbClr val="0033CC"/>
                </a:solidFill>
                <a:latin typeface="Courier New" panose="02070309020205020404" pitchFamily="49" charset="0"/>
                <a:cs typeface="Courier New" panose="02070309020205020404" pitchFamily="49" charset="0"/>
              </a:rPr>
              <a:t> </a:t>
            </a:r>
          </a:p>
          <a:p>
            <a:pPr>
              <a:lnSpc>
                <a:spcPct val="80000"/>
              </a:lnSpc>
              <a:spcBef>
                <a:spcPts val="400"/>
              </a:spcBef>
              <a:spcAft>
                <a:spcPts val="400"/>
              </a:spcAft>
              <a:buFont typeface="Monotype Sorts" pitchFamily="2" charset="2"/>
              <a:buNone/>
            </a:pPr>
            <a:r>
              <a:rPr lang="en-US" altLang="en-US" sz="1600" b="1" i="1" dirty="0">
                <a:solidFill>
                  <a:srgbClr val="0033CC"/>
                </a:solidFill>
                <a:latin typeface="Courier New" panose="02070309020205020404" pitchFamily="49" charset="0"/>
                <a:cs typeface="Courier New" panose="02070309020205020404" pitchFamily="49" charset="0"/>
              </a:rPr>
              <a:t>			</a:t>
            </a:r>
            <a:r>
              <a:rPr lang="en-US" altLang="en-US" sz="1600" b="1" dirty="0" err="1">
                <a:solidFill>
                  <a:srgbClr val="0033CC"/>
                </a:solidFill>
                <a:latin typeface="Courier New" panose="02070309020205020404" pitchFamily="49" charset="0"/>
                <a:cs typeface="Courier New" panose="02070309020205020404" pitchFamily="49" charset="0"/>
              </a:rPr>
              <a:t>System.err.println</a:t>
            </a:r>
            <a:r>
              <a:rPr lang="en-US" altLang="en-US" sz="1600" b="1" dirty="0">
                <a:solidFill>
                  <a:srgbClr val="0033CC"/>
                </a:solidFill>
                <a:latin typeface="Courier New" panose="02070309020205020404" pitchFamily="49" charset="0"/>
                <a:cs typeface="Courier New" panose="02070309020205020404" pitchFamily="49" charset="0"/>
              </a:rPr>
              <a:t>(</a:t>
            </a:r>
            <a:r>
              <a:rPr lang="en-US" altLang="en-US" sz="1600" b="1" dirty="0" err="1">
                <a:solidFill>
                  <a:srgbClr val="0033CC"/>
                </a:solidFill>
                <a:latin typeface="Courier New" panose="02070309020205020404" pitchFamily="49" charset="0"/>
                <a:cs typeface="Courier New" panose="02070309020205020404" pitchFamily="49" charset="0"/>
              </a:rPr>
              <a:t>ioe</a:t>
            </a:r>
            <a:r>
              <a:rPr lang="en-US" altLang="en-US" sz="16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600" b="1" i="1" dirty="0">
                <a:solidFill>
                  <a:srgbClr val="0033CC"/>
                </a:solidFill>
                <a:latin typeface="Courier New" panose="02070309020205020404" pitchFamily="49" charset="0"/>
                <a:cs typeface="Courier New" panose="02070309020205020404" pitchFamily="49" charset="0"/>
              </a:rPr>
              <a:t>		</a:t>
            </a:r>
            <a:r>
              <a:rPr lang="en-US" altLang="en-US" sz="1600" b="1" dirty="0">
                <a:solidFill>
                  <a:srgbClr val="0033CC"/>
                </a:solidFill>
                <a:latin typeface="Courier New" panose="02070309020205020404" pitchFamily="49" charset="0"/>
                <a:cs typeface="Courier New" panose="02070309020205020404" pitchFamily="49" charset="0"/>
              </a:rPr>
              <a:t>}finally {</a:t>
            </a:r>
            <a:r>
              <a:rPr lang="en-US" altLang="en-US" sz="1600" b="1" i="1" dirty="0">
                <a:solidFill>
                  <a:srgbClr val="0033CC"/>
                </a:solidFill>
                <a:latin typeface="Courier New" panose="02070309020205020404" pitchFamily="49" charset="0"/>
                <a:cs typeface="Courier New" panose="02070309020205020404" pitchFamily="49" charset="0"/>
              </a:rPr>
              <a:t> </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if (</a:t>
            </a:r>
            <a:r>
              <a:rPr lang="en-US" altLang="en-US" sz="1600" b="1" dirty="0" err="1">
                <a:solidFill>
                  <a:srgbClr val="0033CC"/>
                </a:solidFill>
                <a:latin typeface="Courier New" panose="02070309020205020404" pitchFamily="49" charset="0"/>
                <a:cs typeface="Courier New" panose="02070309020205020404" pitchFamily="49" charset="0"/>
              </a:rPr>
              <a:t>exclusiveLock</a:t>
            </a:r>
            <a:r>
              <a:rPr lang="en-US" altLang="en-US" sz="1600" b="1" dirty="0">
                <a:solidFill>
                  <a:srgbClr val="0033CC"/>
                </a:solidFill>
                <a:latin typeface="Courier New" panose="02070309020205020404" pitchFamily="49" charset="0"/>
                <a:cs typeface="Courier New" panose="02070309020205020404" pitchFamily="49" charset="0"/>
              </a:rPr>
              <a:t> != null)</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a:t>
            </a:r>
            <a:r>
              <a:rPr lang="en-US" altLang="en-US" sz="1600" b="1" dirty="0" err="1">
                <a:solidFill>
                  <a:srgbClr val="0033CC"/>
                </a:solidFill>
                <a:latin typeface="Courier New" panose="02070309020205020404" pitchFamily="49" charset="0"/>
                <a:cs typeface="Courier New" panose="02070309020205020404" pitchFamily="49" charset="0"/>
              </a:rPr>
              <a:t>exclusiveLock.release</a:t>
            </a:r>
            <a:r>
              <a:rPr lang="en-US" altLang="en-US" sz="16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if (</a:t>
            </a:r>
            <a:r>
              <a:rPr lang="en-US" altLang="en-US" sz="1600" b="1" dirty="0" err="1">
                <a:solidFill>
                  <a:srgbClr val="0033CC"/>
                </a:solidFill>
                <a:latin typeface="Courier New" panose="02070309020205020404" pitchFamily="49" charset="0"/>
                <a:cs typeface="Courier New" panose="02070309020205020404" pitchFamily="49" charset="0"/>
              </a:rPr>
              <a:t>sharedLock</a:t>
            </a:r>
            <a:r>
              <a:rPr lang="en-US" altLang="en-US" sz="1600" b="1" dirty="0">
                <a:solidFill>
                  <a:srgbClr val="0033CC"/>
                </a:solidFill>
                <a:latin typeface="Courier New" panose="02070309020205020404" pitchFamily="49" charset="0"/>
                <a:cs typeface="Courier New" panose="02070309020205020404" pitchFamily="49" charset="0"/>
              </a:rPr>
              <a:t> != null)</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			</a:t>
            </a:r>
            <a:r>
              <a:rPr lang="en-US" altLang="en-US" sz="1600" b="1" dirty="0" err="1">
                <a:solidFill>
                  <a:srgbClr val="0033CC"/>
                </a:solidFill>
                <a:latin typeface="Courier New" panose="02070309020205020404" pitchFamily="49" charset="0"/>
                <a:cs typeface="Courier New" panose="02070309020205020404" pitchFamily="49" charset="0"/>
              </a:rPr>
              <a:t>sharedLock.release</a:t>
            </a:r>
            <a:r>
              <a:rPr lang="en-US" altLang="en-US" sz="16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600" b="1" i="1" dirty="0">
                <a:solidFill>
                  <a:srgbClr val="0033CC"/>
                </a:solidFill>
                <a:latin typeface="Courier New" panose="02070309020205020404" pitchFamily="49" charset="0"/>
                <a:cs typeface="Courier New" panose="02070309020205020404" pitchFamily="49" charset="0"/>
              </a:rPr>
              <a:t>		</a:t>
            </a:r>
            <a:r>
              <a:rPr lang="en-US" altLang="en-US" sz="16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600" b="1" i="1" dirty="0">
                <a:solidFill>
                  <a:srgbClr val="0033CC"/>
                </a:solidFill>
                <a:latin typeface="Courier New" panose="02070309020205020404" pitchFamily="49" charset="0"/>
                <a:cs typeface="Courier New" panose="02070309020205020404" pitchFamily="49" charset="0"/>
              </a:rPr>
              <a:t>	</a:t>
            </a:r>
            <a:r>
              <a:rPr lang="en-US" altLang="en-US" sz="16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buFont typeface="Monotype Sorts" pitchFamily="2" charset="2"/>
              <a:buNone/>
            </a:pPr>
            <a:r>
              <a:rPr lang="en-US" altLang="en-US" sz="1600" b="1" dirty="0">
                <a:solidFill>
                  <a:srgbClr val="0033CC"/>
                </a:solidFill>
                <a:latin typeface="Courier New" panose="02070309020205020404" pitchFamily="49" charset="0"/>
                <a:cs typeface="Courier New" panose="02070309020205020404" pitchFamily="49" charset="0"/>
              </a:rPr>
              <a:t>}</a:t>
            </a:r>
          </a:p>
          <a:p>
            <a:pPr>
              <a:lnSpc>
                <a:spcPct val="80000"/>
              </a:lnSpc>
              <a:spcBef>
                <a:spcPts val="400"/>
              </a:spcBef>
              <a:spcAft>
                <a:spcPts val="400"/>
              </a:spcAft>
            </a:pPr>
            <a:endParaRPr lang="en-US" altLang="en-US" sz="1600" b="1" dirty="0">
              <a:solidFill>
                <a:srgbClr val="0033CC"/>
              </a:solidFill>
              <a:latin typeface="Courier New" panose="02070309020205020404" pitchFamily="49" charset="0"/>
              <a:cs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F396D89-030E-464A-88CD-956F1CB95C4A}"/>
              </a:ext>
            </a:extLst>
          </p:cNvPr>
          <p:cNvSpPr>
            <a:spLocks noGrp="1" noChangeArrowheads="1"/>
          </p:cNvSpPr>
          <p:nvPr>
            <p:ph type="title"/>
          </p:nvPr>
        </p:nvSpPr>
        <p:spPr/>
        <p:txBody>
          <a:bodyPr/>
          <a:lstStyle/>
          <a:p>
            <a:pPr eaLnBrk="1" hangingPunct="1"/>
            <a:r>
              <a:rPr lang="en-US" altLang="en-US"/>
              <a:t>File Types – Name, Extension</a:t>
            </a:r>
          </a:p>
        </p:txBody>
      </p:sp>
      <p:pic>
        <p:nvPicPr>
          <p:cNvPr id="14339" name="Picture 4">
            <a:extLst>
              <a:ext uri="{FF2B5EF4-FFF2-40B4-BE49-F238E27FC236}">
                <a16:creationId xmlns:a16="http://schemas.microsoft.com/office/drawing/2014/main" id="{715514E5-2D50-FE4A-80A0-74AB8990A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715" t="1186" r="15715" b="1186"/>
          <a:stretch>
            <a:fillRect/>
          </a:stretch>
        </p:blipFill>
        <p:spPr bwMode="auto">
          <a:xfrm>
            <a:off x="2036064" y="1398494"/>
            <a:ext cx="4702175" cy="5022308"/>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5339DED-71EE-104B-BA9D-F36C992DE76D}"/>
              </a:ext>
            </a:extLst>
          </p:cNvPr>
          <p:cNvSpPr>
            <a:spLocks noGrp="1" noChangeArrowheads="1"/>
          </p:cNvSpPr>
          <p:nvPr>
            <p:ph type="title"/>
          </p:nvPr>
        </p:nvSpPr>
        <p:spPr/>
        <p:txBody>
          <a:bodyPr/>
          <a:lstStyle/>
          <a:p>
            <a:r>
              <a:rPr lang="en-US" altLang="en-US"/>
              <a:t>File Structure</a:t>
            </a:r>
          </a:p>
        </p:txBody>
      </p:sp>
      <p:sp>
        <p:nvSpPr>
          <p:cNvPr id="15363" name="Rectangle 3">
            <a:extLst>
              <a:ext uri="{FF2B5EF4-FFF2-40B4-BE49-F238E27FC236}">
                <a16:creationId xmlns:a16="http://schemas.microsoft.com/office/drawing/2014/main" id="{FB23BA98-6165-0D47-BA2C-1944B0E1B65F}"/>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None</a:t>
            </a:r>
            <a:r>
              <a:rPr lang="en-US" altLang="en-US" dirty="0"/>
              <a:t> - sequence of words or bytes</a:t>
            </a:r>
          </a:p>
          <a:p>
            <a:pPr>
              <a:spcBef>
                <a:spcPts val="400"/>
              </a:spcBef>
              <a:spcAft>
                <a:spcPts val="400"/>
              </a:spcAft>
            </a:pPr>
            <a:r>
              <a:rPr lang="en-US" altLang="en-US" i="1" dirty="0">
                <a:solidFill>
                  <a:srgbClr val="0070C0"/>
                </a:solidFill>
              </a:rPr>
              <a:t>Simple record structures</a:t>
            </a:r>
          </a:p>
          <a:p>
            <a:pPr lvl="1">
              <a:spcBef>
                <a:spcPts val="400"/>
              </a:spcBef>
              <a:spcAft>
                <a:spcPts val="400"/>
              </a:spcAft>
            </a:pPr>
            <a:r>
              <a:rPr lang="en-US" altLang="en-US" dirty="0"/>
              <a:t>Lines </a:t>
            </a:r>
          </a:p>
          <a:p>
            <a:pPr lvl="1">
              <a:spcBef>
                <a:spcPts val="400"/>
              </a:spcBef>
              <a:spcAft>
                <a:spcPts val="400"/>
              </a:spcAft>
            </a:pPr>
            <a:r>
              <a:rPr lang="en-US" altLang="en-US" dirty="0"/>
              <a:t>Fixed length</a:t>
            </a:r>
          </a:p>
          <a:p>
            <a:pPr lvl="1">
              <a:spcBef>
                <a:spcPts val="400"/>
              </a:spcBef>
              <a:spcAft>
                <a:spcPts val="400"/>
              </a:spcAft>
            </a:pPr>
            <a:r>
              <a:rPr lang="en-US" altLang="en-US" dirty="0"/>
              <a:t>Variable length</a:t>
            </a:r>
          </a:p>
          <a:p>
            <a:pPr>
              <a:spcBef>
                <a:spcPts val="400"/>
              </a:spcBef>
              <a:spcAft>
                <a:spcPts val="400"/>
              </a:spcAft>
            </a:pPr>
            <a:r>
              <a:rPr lang="en-US" altLang="en-US" i="1" dirty="0">
                <a:solidFill>
                  <a:srgbClr val="0070C0"/>
                </a:solidFill>
              </a:rPr>
              <a:t>Complex structures</a:t>
            </a:r>
          </a:p>
          <a:p>
            <a:pPr lvl="1">
              <a:spcBef>
                <a:spcPts val="400"/>
              </a:spcBef>
              <a:spcAft>
                <a:spcPts val="400"/>
              </a:spcAft>
            </a:pPr>
            <a:r>
              <a:rPr lang="en-US" altLang="en-US" dirty="0"/>
              <a:t>Formatted document</a:t>
            </a:r>
          </a:p>
          <a:p>
            <a:pPr lvl="1">
              <a:spcBef>
                <a:spcPts val="400"/>
              </a:spcBef>
              <a:spcAft>
                <a:spcPts val="400"/>
              </a:spcAft>
            </a:pPr>
            <a:r>
              <a:rPr lang="en-US" altLang="en-US" dirty="0"/>
              <a:t>Relocatable load file (i.e., executable file)</a:t>
            </a:r>
          </a:p>
          <a:p>
            <a:pPr>
              <a:spcBef>
                <a:spcPts val="400"/>
              </a:spcBef>
              <a:spcAft>
                <a:spcPts val="400"/>
              </a:spcAft>
            </a:pPr>
            <a:r>
              <a:rPr lang="en-US" altLang="en-US" dirty="0"/>
              <a:t>Can simulate last two with first method by inserting appropriate control characters</a:t>
            </a:r>
          </a:p>
          <a:p>
            <a:pPr>
              <a:spcBef>
                <a:spcPts val="400"/>
              </a:spcBef>
              <a:spcAft>
                <a:spcPts val="400"/>
              </a:spcAft>
            </a:pPr>
            <a:r>
              <a:rPr lang="en-US" altLang="en-US" dirty="0"/>
              <a:t>Who decides:</a:t>
            </a:r>
          </a:p>
          <a:p>
            <a:pPr lvl="1">
              <a:spcBef>
                <a:spcPts val="400"/>
              </a:spcBef>
              <a:spcAft>
                <a:spcPts val="400"/>
              </a:spcAft>
            </a:pPr>
            <a:r>
              <a:rPr lang="en-US" altLang="en-US" dirty="0"/>
              <a:t>Operating system</a:t>
            </a:r>
          </a:p>
          <a:p>
            <a:pPr lvl="1">
              <a:spcBef>
                <a:spcPts val="400"/>
              </a:spcBef>
              <a:spcAft>
                <a:spcPts val="400"/>
              </a:spcAft>
            </a:pPr>
            <a:r>
              <a:rPr lang="en-US" altLang="en-US" dirty="0"/>
              <a:t>Program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8BF8EDC-67D3-4B42-96A6-AE719392768F}"/>
              </a:ext>
            </a:extLst>
          </p:cNvPr>
          <p:cNvSpPr>
            <a:spLocks noGrp="1" noChangeArrowheads="1"/>
          </p:cNvSpPr>
          <p:nvPr>
            <p:ph type="title"/>
          </p:nvPr>
        </p:nvSpPr>
        <p:spPr/>
        <p:txBody>
          <a:bodyPr/>
          <a:lstStyle/>
          <a:p>
            <a:r>
              <a:rPr lang="en-US" altLang="en-US" dirty="0"/>
              <a:t>Sequential-Access File</a:t>
            </a:r>
          </a:p>
        </p:txBody>
      </p:sp>
      <p:pic>
        <p:nvPicPr>
          <p:cNvPr id="16387" name="Picture 5">
            <a:extLst>
              <a:ext uri="{FF2B5EF4-FFF2-40B4-BE49-F238E27FC236}">
                <a16:creationId xmlns:a16="http://schemas.microsoft.com/office/drawing/2014/main" id="{BCDD7966-0AAF-A24F-88BD-C1C8E3D74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6342" y="2517140"/>
            <a:ext cx="5946775"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BEC0062-2548-4449-946B-CE74242DE5E5}"/>
              </a:ext>
            </a:extLst>
          </p:cNvPr>
          <p:cNvSpPr>
            <a:spLocks noGrp="1" noChangeArrowheads="1"/>
          </p:cNvSpPr>
          <p:nvPr>
            <p:ph type="title"/>
          </p:nvPr>
        </p:nvSpPr>
        <p:spPr/>
        <p:txBody>
          <a:bodyPr/>
          <a:lstStyle/>
          <a:p>
            <a:pPr eaLnBrk="1" hangingPunct="1"/>
            <a:r>
              <a:rPr lang="en-US" altLang="en-US"/>
              <a:t>Access Methods</a:t>
            </a:r>
          </a:p>
        </p:txBody>
      </p:sp>
      <p:sp>
        <p:nvSpPr>
          <p:cNvPr id="17411" name="Rectangle 3">
            <a:extLst>
              <a:ext uri="{FF2B5EF4-FFF2-40B4-BE49-F238E27FC236}">
                <a16:creationId xmlns:a16="http://schemas.microsoft.com/office/drawing/2014/main" id="{B220C36A-4021-0F4B-B1EA-E29EC1BB98EA}"/>
              </a:ext>
            </a:extLst>
          </p:cNvPr>
          <p:cNvSpPr>
            <a:spLocks noGrp="1" noChangeArrowheads="1"/>
          </p:cNvSpPr>
          <p:nvPr>
            <p:ph sz="half" idx="1"/>
          </p:nvPr>
        </p:nvSpPr>
        <p:spPr/>
        <p:txBody>
          <a:bodyPr/>
          <a:lstStyle/>
          <a:p>
            <a:pPr>
              <a:lnSpc>
                <a:spcPct val="90000"/>
              </a:lnSpc>
              <a:spcBef>
                <a:spcPts val="400"/>
              </a:spcBef>
              <a:spcAft>
                <a:spcPts val="400"/>
              </a:spcAft>
              <a:tabLst>
                <a:tab pos="3203575" algn="l"/>
                <a:tab pos="4056063" algn="l"/>
              </a:tabLst>
            </a:pPr>
            <a:r>
              <a:rPr lang="en-US" altLang="en-US" i="1" dirty="0">
                <a:solidFill>
                  <a:srgbClr val="0070C0"/>
                </a:solidFill>
              </a:rPr>
              <a:t>Sequential Access</a:t>
            </a:r>
          </a:p>
          <a:p>
            <a:pPr>
              <a:lnSpc>
                <a:spcPct val="90000"/>
              </a:lnSpc>
              <a:spcBef>
                <a:spcPts val="400"/>
              </a:spcBef>
              <a:spcAft>
                <a:spcPts val="400"/>
              </a:spcAft>
              <a:buFont typeface="Monotype Sorts" pitchFamily="2" charset="2"/>
              <a:buNone/>
              <a:tabLst>
                <a:tab pos="3203575" algn="l"/>
                <a:tab pos="4056063" algn="l"/>
              </a:tabLst>
            </a:pPr>
            <a:r>
              <a:rPr lang="en-US" altLang="en-US" sz="1600" dirty="0">
                <a:solidFill>
                  <a:srgbClr val="000000"/>
                </a:solidFill>
              </a:rPr>
              <a:t>	</a:t>
            </a:r>
            <a:r>
              <a:rPr lang="en-US" altLang="en-US" sz="1800" b="1" dirty="0">
                <a:solidFill>
                  <a:srgbClr val="000000"/>
                </a:solidFill>
                <a:latin typeface="Courier New" panose="02070309020205020404" pitchFamily="49" charset="0"/>
                <a:cs typeface="Courier New" panose="02070309020205020404" pitchFamily="49" charset="0"/>
              </a:rPr>
              <a:t>read next</a:t>
            </a:r>
          </a:p>
          <a:p>
            <a:pPr>
              <a:lnSpc>
                <a:spcPct val="90000"/>
              </a:lnSpc>
              <a:spcBef>
                <a:spcPts val="400"/>
              </a:spcBef>
              <a:spcAft>
                <a:spcPts val="400"/>
              </a:spcAft>
              <a:buFont typeface="Monotype Sorts" pitchFamily="2" charset="2"/>
              <a:buNone/>
              <a:tabLst>
                <a:tab pos="3203575" algn="l"/>
                <a:tab pos="4056063" algn="l"/>
              </a:tabLst>
            </a:pPr>
            <a:r>
              <a:rPr lang="en-US" altLang="en-US" sz="1800" b="1" dirty="0">
                <a:solidFill>
                  <a:srgbClr val="000000"/>
                </a:solidFill>
                <a:latin typeface="Courier New" panose="02070309020205020404" pitchFamily="49" charset="0"/>
                <a:cs typeface="Courier New" panose="02070309020205020404" pitchFamily="49" charset="0"/>
              </a:rPr>
              <a:t>	write next </a:t>
            </a:r>
          </a:p>
          <a:p>
            <a:pPr>
              <a:lnSpc>
                <a:spcPct val="90000"/>
              </a:lnSpc>
              <a:spcBef>
                <a:spcPts val="400"/>
              </a:spcBef>
              <a:spcAft>
                <a:spcPts val="400"/>
              </a:spcAft>
              <a:buFont typeface="Monotype Sorts" pitchFamily="2" charset="2"/>
              <a:buNone/>
              <a:tabLst>
                <a:tab pos="3203575" algn="l"/>
                <a:tab pos="4056063" algn="l"/>
              </a:tabLst>
            </a:pPr>
            <a:r>
              <a:rPr lang="en-US" altLang="en-US" sz="1800" b="1" dirty="0">
                <a:solidFill>
                  <a:srgbClr val="000000"/>
                </a:solidFill>
                <a:latin typeface="Courier New" panose="02070309020205020404" pitchFamily="49" charset="0"/>
                <a:cs typeface="Courier New" panose="02070309020205020404" pitchFamily="49" charset="0"/>
              </a:rPr>
              <a:t>	reset</a:t>
            </a:r>
          </a:p>
          <a:p>
            <a:pPr>
              <a:lnSpc>
                <a:spcPct val="90000"/>
              </a:lnSpc>
              <a:spcBef>
                <a:spcPts val="400"/>
              </a:spcBef>
              <a:spcAft>
                <a:spcPts val="400"/>
              </a:spcAft>
              <a:buFont typeface="Monotype Sorts" pitchFamily="2" charset="2"/>
              <a:buNone/>
              <a:tabLst>
                <a:tab pos="3203575" algn="l"/>
                <a:tab pos="4056063" algn="l"/>
              </a:tabLst>
            </a:pPr>
            <a:r>
              <a:rPr lang="en-US" altLang="en-US" sz="1800" dirty="0">
                <a:solidFill>
                  <a:srgbClr val="000000"/>
                </a:solidFill>
              </a:rPr>
              <a:t>	no read after last write</a:t>
            </a:r>
          </a:p>
          <a:p>
            <a:pPr>
              <a:lnSpc>
                <a:spcPct val="90000"/>
              </a:lnSpc>
              <a:spcBef>
                <a:spcPts val="400"/>
              </a:spcBef>
              <a:spcAft>
                <a:spcPts val="400"/>
              </a:spcAft>
              <a:buFont typeface="Monotype Sorts" pitchFamily="2" charset="2"/>
              <a:buNone/>
              <a:tabLst>
                <a:tab pos="3203575" algn="l"/>
                <a:tab pos="4056063" algn="l"/>
              </a:tabLst>
            </a:pPr>
            <a:r>
              <a:rPr lang="en-US" altLang="en-US" sz="1800" dirty="0">
                <a:solidFill>
                  <a:srgbClr val="000000"/>
                </a:solidFill>
              </a:rPr>
              <a:t>	(rewrite)</a:t>
            </a:r>
          </a:p>
        </p:txBody>
      </p:sp>
      <p:sp>
        <p:nvSpPr>
          <p:cNvPr id="2" name="Content Placeholder 1">
            <a:extLst>
              <a:ext uri="{FF2B5EF4-FFF2-40B4-BE49-F238E27FC236}">
                <a16:creationId xmlns:a16="http://schemas.microsoft.com/office/drawing/2014/main" id="{A91EA6EF-18FC-7946-8B33-5525E91EC710}"/>
              </a:ext>
            </a:extLst>
          </p:cNvPr>
          <p:cNvSpPr>
            <a:spLocks noGrp="1"/>
          </p:cNvSpPr>
          <p:nvPr>
            <p:ph sz="half" idx="2"/>
          </p:nvPr>
        </p:nvSpPr>
        <p:spPr/>
        <p:txBody>
          <a:bodyPr/>
          <a:lstStyle/>
          <a:p>
            <a:pPr>
              <a:lnSpc>
                <a:spcPct val="90000"/>
              </a:lnSpc>
              <a:spcBef>
                <a:spcPts val="400"/>
              </a:spcBef>
              <a:spcAft>
                <a:spcPts val="400"/>
              </a:spcAft>
              <a:tabLst>
                <a:tab pos="3203575" algn="l"/>
                <a:tab pos="4056063" algn="l"/>
              </a:tabLst>
            </a:pPr>
            <a:r>
              <a:rPr lang="en-US" altLang="en-US" i="1" dirty="0">
                <a:solidFill>
                  <a:srgbClr val="0070C0"/>
                </a:solidFill>
              </a:rPr>
              <a:t>Direct Access </a:t>
            </a:r>
            <a:r>
              <a:rPr lang="en-US" altLang="en-US" b="1" dirty="0">
                <a:solidFill>
                  <a:srgbClr val="000000"/>
                </a:solidFill>
              </a:rPr>
              <a:t>– </a:t>
            </a:r>
            <a:r>
              <a:rPr lang="en-US" altLang="en-US" dirty="0">
                <a:solidFill>
                  <a:srgbClr val="000000"/>
                </a:solidFill>
              </a:rPr>
              <a:t>file is </a:t>
            </a:r>
            <a:r>
              <a:rPr lang="en-US" altLang="en-US" i="1" dirty="0">
                <a:solidFill>
                  <a:srgbClr val="0070C0"/>
                </a:solidFill>
              </a:rPr>
              <a:t>fixed-length logical records</a:t>
            </a:r>
          </a:p>
          <a:p>
            <a:pPr>
              <a:lnSpc>
                <a:spcPct val="90000"/>
              </a:lnSpc>
              <a:spcBef>
                <a:spcPts val="400"/>
              </a:spcBef>
              <a:spcAft>
                <a:spcPts val="400"/>
              </a:spcAft>
              <a:buNone/>
              <a:tabLst>
                <a:tab pos="3203575" algn="l"/>
                <a:tab pos="4056063" algn="l"/>
              </a:tabLst>
            </a:pPr>
            <a:r>
              <a:rPr lang="en-US" altLang="en-US" sz="1600" dirty="0">
                <a:solidFill>
                  <a:srgbClr val="000000"/>
                </a:solidFill>
              </a:rPr>
              <a:t>	</a:t>
            </a:r>
            <a:r>
              <a:rPr lang="en-US" altLang="en-US" sz="1800" b="1" dirty="0">
                <a:solidFill>
                  <a:srgbClr val="000000"/>
                </a:solidFill>
                <a:latin typeface="Courier New" panose="02070309020205020404" pitchFamily="49" charset="0"/>
                <a:cs typeface="Courier New" panose="02070309020205020404" pitchFamily="49" charset="0"/>
              </a:rPr>
              <a:t>read </a:t>
            </a:r>
            <a:r>
              <a:rPr lang="en-US" altLang="en-US" sz="1800" b="1" i="1" dirty="0">
                <a:solidFill>
                  <a:srgbClr val="000000"/>
                </a:solidFill>
                <a:latin typeface="Courier New" panose="02070309020205020404" pitchFamily="49" charset="0"/>
                <a:cs typeface="Courier New" panose="02070309020205020404" pitchFamily="49" charset="0"/>
              </a:rPr>
              <a:t>n</a:t>
            </a:r>
          </a:p>
          <a:p>
            <a:pPr>
              <a:lnSpc>
                <a:spcPct val="90000"/>
              </a:lnSpc>
              <a:spcBef>
                <a:spcPts val="400"/>
              </a:spcBef>
              <a:spcAft>
                <a:spcPts val="400"/>
              </a:spcAft>
              <a:buNone/>
              <a:tabLst>
                <a:tab pos="3203575" algn="l"/>
                <a:tab pos="4056063" algn="l"/>
              </a:tabLst>
            </a:pPr>
            <a:r>
              <a:rPr lang="en-US" altLang="en-US" sz="1800" b="1" dirty="0">
                <a:solidFill>
                  <a:srgbClr val="000000"/>
                </a:solidFill>
                <a:latin typeface="Courier New" panose="02070309020205020404" pitchFamily="49" charset="0"/>
                <a:cs typeface="Courier New" panose="02070309020205020404" pitchFamily="49" charset="0"/>
              </a:rPr>
              <a:t>	write </a:t>
            </a:r>
            <a:r>
              <a:rPr lang="en-US" altLang="en-US" sz="1800" b="1" i="1" dirty="0">
                <a:solidFill>
                  <a:srgbClr val="000000"/>
                </a:solidFill>
                <a:latin typeface="Courier New" panose="02070309020205020404" pitchFamily="49" charset="0"/>
                <a:cs typeface="Courier New" panose="02070309020205020404" pitchFamily="49" charset="0"/>
              </a:rPr>
              <a:t>n</a:t>
            </a:r>
          </a:p>
          <a:p>
            <a:pPr>
              <a:lnSpc>
                <a:spcPct val="90000"/>
              </a:lnSpc>
              <a:spcBef>
                <a:spcPts val="400"/>
              </a:spcBef>
              <a:spcAft>
                <a:spcPts val="400"/>
              </a:spcAft>
              <a:buNone/>
              <a:tabLst>
                <a:tab pos="3203575" algn="l"/>
                <a:tab pos="4056063" algn="l"/>
              </a:tabLst>
            </a:pPr>
            <a:r>
              <a:rPr lang="en-US" altLang="en-US" sz="1800" b="1" dirty="0">
                <a:solidFill>
                  <a:srgbClr val="000000"/>
                </a:solidFill>
                <a:latin typeface="Courier New" panose="02070309020205020404" pitchFamily="49" charset="0"/>
                <a:cs typeface="Courier New" panose="02070309020205020404" pitchFamily="49" charset="0"/>
              </a:rPr>
              <a:t>	position to </a:t>
            </a:r>
            <a:r>
              <a:rPr lang="en-US" altLang="en-US" sz="1800" b="1" i="1" dirty="0">
                <a:solidFill>
                  <a:srgbClr val="000000"/>
                </a:solidFill>
                <a:latin typeface="Courier New" panose="02070309020205020404" pitchFamily="49" charset="0"/>
                <a:cs typeface="Courier New" panose="02070309020205020404" pitchFamily="49" charset="0"/>
              </a:rPr>
              <a:t>n</a:t>
            </a:r>
          </a:p>
          <a:p>
            <a:pPr>
              <a:lnSpc>
                <a:spcPct val="90000"/>
              </a:lnSpc>
              <a:spcBef>
                <a:spcPts val="400"/>
              </a:spcBef>
              <a:spcAft>
                <a:spcPts val="400"/>
              </a:spcAft>
              <a:buNone/>
              <a:tabLst>
                <a:tab pos="3203575" algn="l"/>
                <a:tab pos="4056063" algn="l"/>
              </a:tabLst>
            </a:pPr>
            <a:r>
              <a:rPr lang="en-US" altLang="en-US" sz="1800" b="1" dirty="0">
                <a:solidFill>
                  <a:srgbClr val="000000"/>
                </a:solidFill>
                <a:latin typeface="Courier New" panose="02070309020205020404" pitchFamily="49" charset="0"/>
                <a:cs typeface="Courier New" panose="02070309020205020404" pitchFamily="49" charset="0"/>
              </a:rPr>
              <a:t>	read next</a:t>
            </a:r>
          </a:p>
          <a:p>
            <a:pPr>
              <a:lnSpc>
                <a:spcPct val="90000"/>
              </a:lnSpc>
              <a:spcBef>
                <a:spcPts val="400"/>
              </a:spcBef>
              <a:spcAft>
                <a:spcPts val="400"/>
              </a:spcAft>
              <a:buNone/>
              <a:tabLst>
                <a:tab pos="3203575" algn="l"/>
                <a:tab pos="4056063" algn="l"/>
              </a:tabLst>
            </a:pPr>
            <a:r>
              <a:rPr lang="en-US" altLang="en-US" sz="1800" b="1" dirty="0">
                <a:solidFill>
                  <a:srgbClr val="000000"/>
                </a:solidFill>
                <a:latin typeface="Courier New" panose="02070309020205020404" pitchFamily="49" charset="0"/>
                <a:cs typeface="Courier New" panose="02070309020205020404" pitchFamily="49" charset="0"/>
              </a:rPr>
              <a:t>	write next </a:t>
            </a:r>
          </a:p>
          <a:p>
            <a:pPr>
              <a:lnSpc>
                <a:spcPct val="90000"/>
              </a:lnSpc>
              <a:spcBef>
                <a:spcPts val="400"/>
              </a:spcBef>
              <a:spcAft>
                <a:spcPts val="400"/>
              </a:spcAft>
              <a:buNone/>
              <a:tabLst>
                <a:tab pos="3203575" algn="l"/>
                <a:tab pos="4056063" algn="l"/>
              </a:tabLst>
            </a:pPr>
            <a:r>
              <a:rPr lang="en-US" altLang="en-US" sz="1800" b="1" dirty="0">
                <a:solidFill>
                  <a:srgbClr val="000000"/>
                </a:solidFill>
                <a:latin typeface="Courier New" panose="02070309020205020404" pitchFamily="49" charset="0"/>
                <a:cs typeface="Courier New" panose="02070309020205020404" pitchFamily="49" charset="0"/>
              </a:rPr>
              <a:t>	rewrite </a:t>
            </a:r>
            <a:r>
              <a:rPr lang="en-US" altLang="en-US" sz="1800" b="1" i="1" dirty="0">
                <a:solidFill>
                  <a:srgbClr val="000000"/>
                </a:solidFill>
                <a:latin typeface="Courier New" panose="02070309020205020404" pitchFamily="49" charset="0"/>
                <a:cs typeface="Courier New" panose="02070309020205020404" pitchFamily="49" charset="0"/>
              </a:rPr>
              <a:t>n</a:t>
            </a:r>
          </a:p>
          <a:p>
            <a:pPr>
              <a:lnSpc>
                <a:spcPct val="90000"/>
              </a:lnSpc>
              <a:spcBef>
                <a:spcPts val="400"/>
              </a:spcBef>
              <a:spcAft>
                <a:spcPts val="400"/>
              </a:spcAft>
              <a:buNone/>
              <a:tabLst>
                <a:tab pos="1411288" algn="l"/>
                <a:tab pos="3203575" algn="l"/>
                <a:tab pos="4056063" algn="l"/>
              </a:tabLst>
            </a:pPr>
            <a:r>
              <a:rPr lang="en-US" altLang="en-US" sz="1800" dirty="0"/>
              <a:t>	</a:t>
            </a:r>
          </a:p>
          <a:p>
            <a:pPr>
              <a:lnSpc>
                <a:spcPct val="90000"/>
              </a:lnSpc>
              <a:spcBef>
                <a:spcPts val="400"/>
              </a:spcBef>
              <a:spcAft>
                <a:spcPts val="400"/>
              </a:spcAft>
              <a:buNone/>
              <a:tabLst>
                <a:tab pos="1411288" algn="l"/>
                <a:tab pos="3203575" algn="l"/>
                <a:tab pos="4056063" algn="l"/>
              </a:tabLst>
            </a:pPr>
            <a:r>
              <a:rPr lang="en-US" altLang="en-US" sz="1800" b="1" i="1" dirty="0">
                <a:solidFill>
                  <a:srgbClr val="000000"/>
                </a:solidFill>
                <a:latin typeface="Courier New" panose="02070309020205020404" pitchFamily="49" charset="0"/>
                <a:cs typeface="Courier New" panose="02070309020205020404" pitchFamily="49" charset="0"/>
              </a:rPr>
              <a:t>n</a:t>
            </a:r>
            <a:r>
              <a:rPr lang="en-US" altLang="en-US" sz="1800" dirty="0"/>
              <a:t> = </a:t>
            </a:r>
            <a:r>
              <a:rPr lang="en-US" altLang="en-US" sz="1800" i="1" dirty="0">
                <a:solidFill>
                  <a:srgbClr val="0070C0"/>
                </a:solidFill>
              </a:rPr>
              <a:t>relative block number</a:t>
            </a:r>
            <a:endParaRPr lang="en-US" altLang="en-US" sz="1600" dirty="0"/>
          </a:p>
          <a:p>
            <a:pPr lvl="1">
              <a:lnSpc>
                <a:spcPct val="90000"/>
              </a:lnSpc>
              <a:spcBef>
                <a:spcPts val="400"/>
              </a:spcBef>
              <a:spcAft>
                <a:spcPts val="400"/>
              </a:spcAft>
              <a:tabLst>
                <a:tab pos="3203575" algn="l"/>
                <a:tab pos="4056063" algn="l"/>
              </a:tabLst>
            </a:pPr>
            <a:r>
              <a:rPr lang="en-US" altLang="en-US" dirty="0"/>
              <a:t>Relative block numbers allow OS to decide where file should be placed</a:t>
            </a:r>
          </a:p>
          <a:p>
            <a:pPr lvl="1">
              <a:lnSpc>
                <a:spcPct val="90000"/>
              </a:lnSpc>
              <a:spcBef>
                <a:spcPts val="400"/>
              </a:spcBef>
              <a:spcAft>
                <a:spcPts val="400"/>
              </a:spcAft>
              <a:tabLst>
                <a:tab pos="3203575" algn="l"/>
                <a:tab pos="4056063" algn="l"/>
              </a:tabLst>
            </a:pPr>
            <a:r>
              <a:rPr lang="en-US" altLang="en-US" sz="1600" dirty="0"/>
              <a:t>See </a:t>
            </a:r>
            <a:r>
              <a:rPr lang="en-US" altLang="en-US" sz="1600" i="1" dirty="0">
                <a:solidFill>
                  <a:srgbClr val="0070C0"/>
                </a:solidFill>
              </a:rPr>
              <a:t>allocation problem </a:t>
            </a:r>
            <a:r>
              <a:rPr lang="en-US" altLang="en-US" sz="1600" dirty="0"/>
              <a:t>in Chapter </a:t>
            </a:r>
            <a:r>
              <a:rPr lang="en-US" altLang="en-US" dirty="0"/>
              <a:t>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8068A10-91BC-D244-A48F-B0EE22AD0495}"/>
              </a:ext>
            </a:extLst>
          </p:cNvPr>
          <p:cNvSpPr>
            <a:spLocks noGrp="1" noChangeArrowheads="1"/>
          </p:cNvSpPr>
          <p:nvPr>
            <p:ph type="title"/>
          </p:nvPr>
        </p:nvSpPr>
        <p:spPr/>
        <p:txBody>
          <a:bodyPr/>
          <a:lstStyle/>
          <a:p>
            <a:r>
              <a:rPr lang="en-US" altLang="en-US" dirty="0"/>
              <a:t>Simulation of Sequential-Access on Direct-Access File</a:t>
            </a:r>
          </a:p>
        </p:txBody>
      </p:sp>
      <p:pic>
        <p:nvPicPr>
          <p:cNvPr id="18435" name="Picture 6">
            <a:extLst>
              <a:ext uri="{FF2B5EF4-FFF2-40B4-BE49-F238E27FC236}">
                <a16:creationId xmlns:a16="http://schemas.microsoft.com/office/drawing/2014/main" id="{4EDFD6A0-9874-BA45-865D-C140B5DBD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2557018"/>
            <a:ext cx="6129338"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1205915-5567-414A-9EEB-7778C1D5991F}"/>
              </a:ext>
            </a:extLst>
          </p:cNvPr>
          <p:cNvSpPr>
            <a:spLocks noGrp="1" noChangeArrowheads="1"/>
          </p:cNvSpPr>
          <p:nvPr>
            <p:ph type="title"/>
          </p:nvPr>
        </p:nvSpPr>
        <p:spPr/>
        <p:txBody>
          <a:bodyPr/>
          <a:lstStyle/>
          <a:p>
            <a:r>
              <a:rPr lang="en-US" altLang="en-US"/>
              <a:t>Other Access Methods</a:t>
            </a:r>
          </a:p>
        </p:txBody>
      </p:sp>
      <p:sp>
        <p:nvSpPr>
          <p:cNvPr id="19459" name="Rectangle 3">
            <a:extLst>
              <a:ext uri="{FF2B5EF4-FFF2-40B4-BE49-F238E27FC236}">
                <a16:creationId xmlns:a16="http://schemas.microsoft.com/office/drawing/2014/main" id="{9FF00785-B4BC-954A-A5CD-0E9EEFD1F484}"/>
              </a:ext>
            </a:extLst>
          </p:cNvPr>
          <p:cNvSpPr>
            <a:spLocks noGrp="1" noChangeArrowheads="1"/>
          </p:cNvSpPr>
          <p:nvPr>
            <p:ph idx="1"/>
          </p:nvPr>
        </p:nvSpPr>
        <p:spPr/>
        <p:txBody>
          <a:bodyPr/>
          <a:lstStyle/>
          <a:p>
            <a:r>
              <a:rPr lang="en-US" altLang="en-US" dirty="0"/>
              <a:t>Can be built on top of base methods</a:t>
            </a:r>
          </a:p>
          <a:p>
            <a:r>
              <a:rPr lang="en-US" altLang="en-US" dirty="0"/>
              <a:t>General involve creation of an </a:t>
            </a:r>
            <a:r>
              <a:rPr lang="en-US" altLang="en-US" i="1" dirty="0">
                <a:solidFill>
                  <a:srgbClr val="0070C0"/>
                </a:solidFill>
              </a:rPr>
              <a:t>index</a:t>
            </a:r>
            <a:r>
              <a:rPr lang="en-US" altLang="en-US" dirty="0"/>
              <a:t> for the file</a:t>
            </a:r>
          </a:p>
          <a:p>
            <a:r>
              <a:rPr lang="en-US" altLang="en-US" dirty="0"/>
              <a:t>Keep index in memory for fast determination of location of data to be operated on (consider UPC code plus record of data about that item)</a:t>
            </a:r>
          </a:p>
          <a:p>
            <a:r>
              <a:rPr lang="en-US" altLang="en-US" dirty="0"/>
              <a:t>If too large, index (in memory) of the index (on disk)</a:t>
            </a:r>
          </a:p>
          <a:p>
            <a:r>
              <a:rPr lang="en-US" altLang="en-US" dirty="0"/>
              <a:t>E.g., </a:t>
            </a:r>
            <a:r>
              <a:rPr lang="en-US" altLang="en-US" b="1" dirty="0">
                <a:solidFill>
                  <a:srgbClr val="0070C0"/>
                </a:solidFill>
              </a:rPr>
              <a:t>IBM</a:t>
            </a:r>
            <a:r>
              <a:rPr lang="en-US" altLang="en-US" dirty="0"/>
              <a:t> </a:t>
            </a:r>
            <a:r>
              <a:rPr lang="en-US" altLang="en-US" i="1" dirty="0">
                <a:solidFill>
                  <a:srgbClr val="0070C0"/>
                </a:solidFill>
              </a:rPr>
              <a:t>Indexed Sequential-Access Method </a:t>
            </a:r>
            <a:r>
              <a:rPr lang="en-US" altLang="en-US" dirty="0"/>
              <a:t>(</a:t>
            </a:r>
            <a:r>
              <a:rPr lang="en-US" altLang="en-US" b="1" dirty="0">
                <a:solidFill>
                  <a:srgbClr val="0070C0"/>
                </a:solidFill>
              </a:rPr>
              <a:t>ISAM</a:t>
            </a:r>
            <a:r>
              <a:rPr lang="en-US" altLang="en-US" dirty="0"/>
              <a:t>)</a:t>
            </a:r>
          </a:p>
          <a:p>
            <a:pPr lvl="1"/>
            <a:r>
              <a:rPr lang="en-US" altLang="en-US" dirty="0"/>
              <a:t>Small master index, points to disk blocks of secondary index</a:t>
            </a:r>
          </a:p>
          <a:p>
            <a:pPr lvl="1"/>
            <a:r>
              <a:rPr lang="en-US" altLang="en-US" dirty="0"/>
              <a:t>File kept sorted on a defined key</a:t>
            </a:r>
          </a:p>
          <a:p>
            <a:pPr lvl="1"/>
            <a:r>
              <a:rPr lang="en-US" altLang="en-US" dirty="0"/>
              <a:t>All done by the OS</a:t>
            </a:r>
          </a:p>
          <a:p>
            <a:r>
              <a:rPr lang="en-US" altLang="en-US" b="1" dirty="0">
                <a:solidFill>
                  <a:srgbClr val="0070C0"/>
                </a:solidFill>
              </a:rPr>
              <a:t>VMS</a:t>
            </a:r>
            <a:r>
              <a:rPr lang="en-US" altLang="en-US" dirty="0"/>
              <a:t> operating system provides index and relative files as another example (see next slide)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55AD51D-7861-2A4D-863D-CC380E01C738}"/>
              </a:ext>
            </a:extLst>
          </p:cNvPr>
          <p:cNvSpPr>
            <a:spLocks noGrp="1" noChangeArrowheads="1"/>
          </p:cNvSpPr>
          <p:nvPr>
            <p:ph type="title"/>
          </p:nvPr>
        </p:nvSpPr>
        <p:spPr/>
        <p:txBody>
          <a:bodyPr/>
          <a:lstStyle/>
          <a:p>
            <a:r>
              <a:rPr lang="en-US" altLang="en-US"/>
              <a:t>Example of Index and Relative Files</a:t>
            </a:r>
          </a:p>
        </p:txBody>
      </p:sp>
      <p:pic>
        <p:nvPicPr>
          <p:cNvPr id="20483" name="Picture 5">
            <a:extLst>
              <a:ext uri="{FF2B5EF4-FFF2-40B4-BE49-F238E27FC236}">
                <a16:creationId xmlns:a16="http://schemas.microsoft.com/office/drawing/2014/main" id="{A8050919-49F3-CE48-B8F5-BE12FB529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1820672"/>
            <a:ext cx="5902325"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23D7C5B-23B9-E848-BD6E-5DF9DB7DDED9}"/>
              </a:ext>
            </a:extLst>
          </p:cNvPr>
          <p:cNvSpPr>
            <a:spLocks noGrp="1" noChangeArrowheads="1"/>
          </p:cNvSpPr>
          <p:nvPr>
            <p:ph type="title"/>
          </p:nvPr>
        </p:nvSpPr>
        <p:spPr/>
        <p:txBody>
          <a:bodyPr/>
          <a:lstStyle/>
          <a:p>
            <a:r>
              <a:rPr lang="en-US" altLang="en-US"/>
              <a:t>Directory Structure</a:t>
            </a:r>
          </a:p>
        </p:txBody>
      </p:sp>
      <p:sp>
        <p:nvSpPr>
          <p:cNvPr id="21507" name="Rectangle 3">
            <a:extLst>
              <a:ext uri="{FF2B5EF4-FFF2-40B4-BE49-F238E27FC236}">
                <a16:creationId xmlns:a16="http://schemas.microsoft.com/office/drawing/2014/main" id="{8C7DF140-CBB1-6E42-9C84-87CBDE6EE3C6}"/>
              </a:ext>
            </a:extLst>
          </p:cNvPr>
          <p:cNvSpPr>
            <a:spLocks noGrp="1" noChangeArrowheads="1"/>
          </p:cNvSpPr>
          <p:nvPr>
            <p:ph idx="1"/>
          </p:nvPr>
        </p:nvSpPr>
        <p:spPr/>
        <p:txBody>
          <a:bodyPr/>
          <a:lstStyle/>
          <a:p>
            <a:r>
              <a:rPr lang="en-US" altLang="en-US" dirty="0"/>
              <a:t>A </a:t>
            </a:r>
            <a:r>
              <a:rPr lang="en-US" altLang="en-US" i="1" dirty="0">
                <a:solidFill>
                  <a:srgbClr val="0070C0"/>
                </a:solidFill>
              </a:rPr>
              <a:t>collection of nodes </a:t>
            </a:r>
            <a:r>
              <a:rPr lang="en-US" altLang="en-US" dirty="0"/>
              <a:t>containing information about all files</a:t>
            </a:r>
          </a:p>
        </p:txBody>
      </p:sp>
      <p:sp>
        <p:nvSpPr>
          <p:cNvPr id="21508" name="Oval 4">
            <a:extLst>
              <a:ext uri="{FF2B5EF4-FFF2-40B4-BE49-F238E27FC236}">
                <a16:creationId xmlns:a16="http://schemas.microsoft.com/office/drawing/2014/main" id="{F79057EE-5786-E94C-B12E-A55F48396E5B}"/>
              </a:ext>
            </a:extLst>
          </p:cNvPr>
          <p:cNvSpPr>
            <a:spLocks noChangeArrowheads="1"/>
          </p:cNvSpPr>
          <p:nvPr/>
        </p:nvSpPr>
        <p:spPr bwMode="auto">
          <a:xfrm>
            <a:off x="2819400" y="2286000"/>
            <a:ext cx="533400" cy="45720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21509" name="Oval 5">
            <a:extLst>
              <a:ext uri="{FF2B5EF4-FFF2-40B4-BE49-F238E27FC236}">
                <a16:creationId xmlns:a16="http://schemas.microsoft.com/office/drawing/2014/main" id="{FBD61372-4C9B-884C-AD32-2D7AE8A6940A}"/>
              </a:ext>
            </a:extLst>
          </p:cNvPr>
          <p:cNvSpPr>
            <a:spLocks noChangeArrowheads="1"/>
          </p:cNvSpPr>
          <p:nvPr/>
        </p:nvSpPr>
        <p:spPr bwMode="auto">
          <a:xfrm>
            <a:off x="3581400" y="2286000"/>
            <a:ext cx="533400" cy="45720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21510" name="Oval 6">
            <a:extLst>
              <a:ext uri="{FF2B5EF4-FFF2-40B4-BE49-F238E27FC236}">
                <a16:creationId xmlns:a16="http://schemas.microsoft.com/office/drawing/2014/main" id="{08F41E70-37FA-E34D-AE79-76CD87B48AF6}"/>
              </a:ext>
            </a:extLst>
          </p:cNvPr>
          <p:cNvSpPr>
            <a:spLocks noChangeArrowheads="1"/>
          </p:cNvSpPr>
          <p:nvPr/>
        </p:nvSpPr>
        <p:spPr bwMode="auto">
          <a:xfrm>
            <a:off x="4343400" y="2286000"/>
            <a:ext cx="533400" cy="45720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21511" name="Oval 7">
            <a:extLst>
              <a:ext uri="{FF2B5EF4-FFF2-40B4-BE49-F238E27FC236}">
                <a16:creationId xmlns:a16="http://schemas.microsoft.com/office/drawing/2014/main" id="{BC88AC2E-3BDD-D842-9F85-E63DF8C71EB5}"/>
              </a:ext>
            </a:extLst>
          </p:cNvPr>
          <p:cNvSpPr>
            <a:spLocks noChangeArrowheads="1"/>
          </p:cNvSpPr>
          <p:nvPr/>
        </p:nvSpPr>
        <p:spPr bwMode="auto">
          <a:xfrm>
            <a:off x="5105400" y="2286000"/>
            <a:ext cx="533400" cy="45720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21512" name="Oval 8">
            <a:extLst>
              <a:ext uri="{FF2B5EF4-FFF2-40B4-BE49-F238E27FC236}">
                <a16:creationId xmlns:a16="http://schemas.microsoft.com/office/drawing/2014/main" id="{F9649FF5-6922-124E-B2E9-B294374F0538}"/>
              </a:ext>
            </a:extLst>
          </p:cNvPr>
          <p:cNvSpPr>
            <a:spLocks noChangeArrowheads="1"/>
          </p:cNvSpPr>
          <p:nvPr/>
        </p:nvSpPr>
        <p:spPr bwMode="auto">
          <a:xfrm>
            <a:off x="5867400" y="2590800"/>
            <a:ext cx="533400" cy="45720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21513" name="Rectangle 9">
            <a:extLst>
              <a:ext uri="{FF2B5EF4-FFF2-40B4-BE49-F238E27FC236}">
                <a16:creationId xmlns:a16="http://schemas.microsoft.com/office/drawing/2014/main" id="{28E056BD-6C16-9349-8285-598C02D4E77C}"/>
              </a:ext>
            </a:extLst>
          </p:cNvPr>
          <p:cNvSpPr>
            <a:spLocks noChangeArrowheads="1"/>
          </p:cNvSpPr>
          <p:nvPr/>
        </p:nvSpPr>
        <p:spPr bwMode="auto">
          <a:xfrm>
            <a:off x="2819400" y="4267200"/>
            <a:ext cx="457200" cy="60960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itchFamily="2" charset="0"/>
              </a:rPr>
              <a:t>F 1</a:t>
            </a:r>
          </a:p>
        </p:txBody>
      </p:sp>
      <p:sp>
        <p:nvSpPr>
          <p:cNvPr id="21514" name="Rectangle 10">
            <a:extLst>
              <a:ext uri="{FF2B5EF4-FFF2-40B4-BE49-F238E27FC236}">
                <a16:creationId xmlns:a16="http://schemas.microsoft.com/office/drawing/2014/main" id="{1772BE7D-07AE-804A-B07A-549F67BA7309}"/>
              </a:ext>
            </a:extLst>
          </p:cNvPr>
          <p:cNvSpPr>
            <a:spLocks noChangeArrowheads="1"/>
          </p:cNvSpPr>
          <p:nvPr/>
        </p:nvSpPr>
        <p:spPr bwMode="auto">
          <a:xfrm>
            <a:off x="3581400" y="4267200"/>
            <a:ext cx="457200" cy="53340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itchFamily="2" charset="0"/>
              </a:rPr>
              <a:t>F 2</a:t>
            </a:r>
          </a:p>
        </p:txBody>
      </p:sp>
      <p:sp>
        <p:nvSpPr>
          <p:cNvPr id="21515" name="Rectangle 11">
            <a:extLst>
              <a:ext uri="{FF2B5EF4-FFF2-40B4-BE49-F238E27FC236}">
                <a16:creationId xmlns:a16="http://schemas.microsoft.com/office/drawing/2014/main" id="{D38CC72D-B369-EF40-B7D5-40D17E84A02F}"/>
              </a:ext>
            </a:extLst>
          </p:cNvPr>
          <p:cNvSpPr>
            <a:spLocks noChangeArrowheads="1"/>
          </p:cNvSpPr>
          <p:nvPr/>
        </p:nvSpPr>
        <p:spPr bwMode="auto">
          <a:xfrm>
            <a:off x="4343400" y="4267200"/>
            <a:ext cx="457200" cy="83820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itchFamily="2" charset="0"/>
              </a:rPr>
              <a:t>F 3</a:t>
            </a:r>
          </a:p>
        </p:txBody>
      </p:sp>
      <p:sp>
        <p:nvSpPr>
          <p:cNvPr id="21516" name="Rectangle 12">
            <a:extLst>
              <a:ext uri="{FF2B5EF4-FFF2-40B4-BE49-F238E27FC236}">
                <a16:creationId xmlns:a16="http://schemas.microsoft.com/office/drawing/2014/main" id="{D41698B4-AE34-7F41-A3E4-C528B0202922}"/>
              </a:ext>
            </a:extLst>
          </p:cNvPr>
          <p:cNvSpPr>
            <a:spLocks noChangeArrowheads="1"/>
          </p:cNvSpPr>
          <p:nvPr/>
        </p:nvSpPr>
        <p:spPr bwMode="auto">
          <a:xfrm>
            <a:off x="5105400" y="4267200"/>
            <a:ext cx="457200" cy="45720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itchFamily="2" charset="0"/>
              </a:rPr>
              <a:t>F 4</a:t>
            </a:r>
          </a:p>
        </p:txBody>
      </p:sp>
      <p:sp>
        <p:nvSpPr>
          <p:cNvPr id="21517" name="Rectangle 13">
            <a:extLst>
              <a:ext uri="{FF2B5EF4-FFF2-40B4-BE49-F238E27FC236}">
                <a16:creationId xmlns:a16="http://schemas.microsoft.com/office/drawing/2014/main" id="{5B317352-5A2A-4B48-BA12-6F38429E6965}"/>
              </a:ext>
            </a:extLst>
          </p:cNvPr>
          <p:cNvSpPr>
            <a:spLocks noChangeArrowheads="1"/>
          </p:cNvSpPr>
          <p:nvPr/>
        </p:nvSpPr>
        <p:spPr bwMode="auto">
          <a:xfrm>
            <a:off x="5867400" y="4648200"/>
            <a:ext cx="457200" cy="60960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en-US" altLang="en-US">
                <a:latin typeface="Helvetica" pitchFamily="2" charset="0"/>
              </a:rPr>
              <a:t>F n</a:t>
            </a:r>
          </a:p>
        </p:txBody>
      </p:sp>
      <p:sp>
        <p:nvSpPr>
          <p:cNvPr id="21518" name="Line 14">
            <a:extLst>
              <a:ext uri="{FF2B5EF4-FFF2-40B4-BE49-F238E27FC236}">
                <a16:creationId xmlns:a16="http://schemas.microsoft.com/office/drawing/2014/main" id="{5184CE50-2020-FB4A-9835-501B00A9919D}"/>
              </a:ext>
            </a:extLst>
          </p:cNvPr>
          <p:cNvSpPr>
            <a:spLocks noChangeShapeType="1"/>
          </p:cNvSpPr>
          <p:nvPr/>
        </p:nvSpPr>
        <p:spPr bwMode="auto">
          <a:xfrm>
            <a:off x="3838575" y="2743200"/>
            <a:ext cx="0" cy="15240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9" name="Line 15">
            <a:extLst>
              <a:ext uri="{FF2B5EF4-FFF2-40B4-BE49-F238E27FC236}">
                <a16:creationId xmlns:a16="http://schemas.microsoft.com/office/drawing/2014/main" id="{698B1B93-3E66-654D-A3FD-C04E8F422F22}"/>
              </a:ext>
            </a:extLst>
          </p:cNvPr>
          <p:cNvSpPr>
            <a:spLocks noChangeShapeType="1"/>
          </p:cNvSpPr>
          <p:nvPr/>
        </p:nvSpPr>
        <p:spPr bwMode="auto">
          <a:xfrm>
            <a:off x="4572000" y="2743200"/>
            <a:ext cx="0" cy="15240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0" name="Line 16">
            <a:extLst>
              <a:ext uri="{FF2B5EF4-FFF2-40B4-BE49-F238E27FC236}">
                <a16:creationId xmlns:a16="http://schemas.microsoft.com/office/drawing/2014/main" id="{09A9F183-ADA5-A34E-BF60-FDCD2A1791FF}"/>
              </a:ext>
            </a:extLst>
          </p:cNvPr>
          <p:cNvSpPr>
            <a:spLocks noChangeShapeType="1"/>
          </p:cNvSpPr>
          <p:nvPr/>
        </p:nvSpPr>
        <p:spPr bwMode="auto">
          <a:xfrm>
            <a:off x="6096000" y="3048000"/>
            <a:ext cx="0" cy="16002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1" name="Line 17">
            <a:extLst>
              <a:ext uri="{FF2B5EF4-FFF2-40B4-BE49-F238E27FC236}">
                <a16:creationId xmlns:a16="http://schemas.microsoft.com/office/drawing/2014/main" id="{5891FD8D-92A2-7640-B093-45A1BDCA0548}"/>
              </a:ext>
            </a:extLst>
          </p:cNvPr>
          <p:cNvSpPr>
            <a:spLocks noChangeShapeType="1"/>
          </p:cNvSpPr>
          <p:nvPr/>
        </p:nvSpPr>
        <p:spPr bwMode="auto">
          <a:xfrm>
            <a:off x="5334000" y="2743200"/>
            <a:ext cx="0" cy="15240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2" name="Line 18">
            <a:extLst>
              <a:ext uri="{FF2B5EF4-FFF2-40B4-BE49-F238E27FC236}">
                <a16:creationId xmlns:a16="http://schemas.microsoft.com/office/drawing/2014/main" id="{1078EC5C-B839-AD41-8308-30F0D0558966}"/>
              </a:ext>
            </a:extLst>
          </p:cNvPr>
          <p:cNvSpPr>
            <a:spLocks noChangeShapeType="1"/>
          </p:cNvSpPr>
          <p:nvPr/>
        </p:nvSpPr>
        <p:spPr bwMode="auto">
          <a:xfrm>
            <a:off x="3048000" y="2743200"/>
            <a:ext cx="0" cy="15240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23" name="Freeform 19">
            <a:extLst>
              <a:ext uri="{FF2B5EF4-FFF2-40B4-BE49-F238E27FC236}">
                <a16:creationId xmlns:a16="http://schemas.microsoft.com/office/drawing/2014/main" id="{42E4170C-73F5-7743-B466-63380C1F15A2}"/>
              </a:ext>
            </a:extLst>
          </p:cNvPr>
          <p:cNvSpPr>
            <a:spLocks/>
          </p:cNvSpPr>
          <p:nvPr/>
        </p:nvSpPr>
        <p:spPr bwMode="auto">
          <a:xfrm>
            <a:off x="2538413" y="1962150"/>
            <a:ext cx="4186237" cy="1473200"/>
          </a:xfrm>
          <a:custGeom>
            <a:avLst/>
            <a:gdLst>
              <a:gd name="T0" fmla="*/ 2147483647 w 2637"/>
              <a:gd name="T1" fmla="*/ 2147483647 h 928"/>
              <a:gd name="T2" fmla="*/ 2147483647 w 2637"/>
              <a:gd name="T3" fmla="*/ 2147483647 h 928"/>
              <a:gd name="T4" fmla="*/ 2147483647 w 2637"/>
              <a:gd name="T5" fmla="*/ 2147483647 h 928"/>
              <a:gd name="T6" fmla="*/ 2147483647 w 2637"/>
              <a:gd name="T7" fmla="*/ 2147483647 h 928"/>
              <a:gd name="T8" fmla="*/ 2147483647 w 2637"/>
              <a:gd name="T9" fmla="*/ 0 h 928"/>
              <a:gd name="T10" fmla="*/ 2147483647 w 2637"/>
              <a:gd name="T11" fmla="*/ 2147483647 h 928"/>
              <a:gd name="T12" fmla="*/ 2147483647 w 2637"/>
              <a:gd name="T13" fmla="*/ 2147483647 h 928"/>
              <a:gd name="T14" fmla="*/ 2147483647 w 2637"/>
              <a:gd name="T15" fmla="*/ 2147483647 h 928"/>
              <a:gd name="T16" fmla="*/ 2147483647 w 2637"/>
              <a:gd name="T17" fmla="*/ 2147483647 h 928"/>
              <a:gd name="T18" fmla="*/ 2147483647 w 2637"/>
              <a:gd name="T19" fmla="*/ 2147483647 h 928"/>
              <a:gd name="T20" fmla="*/ 2147483647 w 2637"/>
              <a:gd name="T21" fmla="*/ 2147483647 h 928"/>
              <a:gd name="T22" fmla="*/ 2147483647 w 2637"/>
              <a:gd name="T23" fmla="*/ 2147483647 h 928"/>
              <a:gd name="T24" fmla="*/ 2147483647 w 2637"/>
              <a:gd name="T25" fmla="*/ 2147483647 h 928"/>
              <a:gd name="T26" fmla="*/ 2147483647 w 2637"/>
              <a:gd name="T27" fmla="*/ 2147483647 h 928"/>
              <a:gd name="T28" fmla="*/ 2147483647 w 2637"/>
              <a:gd name="T29" fmla="*/ 2147483647 h 928"/>
              <a:gd name="T30" fmla="*/ 2147483647 w 2637"/>
              <a:gd name="T31" fmla="*/ 2147483647 h 928"/>
              <a:gd name="T32" fmla="*/ 2147483647 w 2637"/>
              <a:gd name="T33" fmla="*/ 2147483647 h 928"/>
              <a:gd name="T34" fmla="*/ 2147483647 w 2637"/>
              <a:gd name="T35" fmla="*/ 2147483647 h 928"/>
              <a:gd name="T36" fmla="*/ 2147483647 w 2637"/>
              <a:gd name="T37" fmla="*/ 2147483647 h 928"/>
              <a:gd name="T38" fmla="*/ 2147483647 w 2637"/>
              <a:gd name="T39" fmla="*/ 2147483647 h 928"/>
              <a:gd name="T40" fmla="*/ 2147483647 w 2637"/>
              <a:gd name="T41" fmla="*/ 2147483647 h 928"/>
              <a:gd name="T42" fmla="*/ 2147483647 w 2637"/>
              <a:gd name="T43" fmla="*/ 2147483647 h 928"/>
              <a:gd name="T44" fmla="*/ 2147483647 w 2637"/>
              <a:gd name="T45" fmla="*/ 2147483647 h 928"/>
              <a:gd name="T46" fmla="*/ 2147483647 w 2637"/>
              <a:gd name="T47" fmla="*/ 2147483647 h 928"/>
              <a:gd name="T48" fmla="*/ 2147483647 w 2637"/>
              <a:gd name="T49" fmla="*/ 2147483647 h 928"/>
              <a:gd name="T50" fmla="*/ 2147483647 w 2637"/>
              <a:gd name="T51" fmla="*/ 2147483647 h 92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637"/>
              <a:gd name="T79" fmla="*/ 0 h 928"/>
              <a:gd name="T80" fmla="*/ 2637 w 2637"/>
              <a:gd name="T81" fmla="*/ 928 h 92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637" h="928">
                <a:moveTo>
                  <a:pt x="10" y="328"/>
                </a:moveTo>
                <a:cubicBezTo>
                  <a:pt x="14" y="291"/>
                  <a:pt x="6" y="248"/>
                  <a:pt x="28" y="219"/>
                </a:cubicBezTo>
                <a:cubicBezTo>
                  <a:pt x="124" y="92"/>
                  <a:pt x="264" y="66"/>
                  <a:pt x="410" y="37"/>
                </a:cubicBezTo>
                <a:cubicBezTo>
                  <a:pt x="516" y="16"/>
                  <a:pt x="457" y="14"/>
                  <a:pt x="583" y="10"/>
                </a:cubicBezTo>
                <a:cubicBezTo>
                  <a:pt x="728" y="5"/>
                  <a:pt x="874" y="3"/>
                  <a:pt x="1019" y="0"/>
                </a:cubicBezTo>
                <a:cubicBezTo>
                  <a:pt x="1146" y="3"/>
                  <a:pt x="1274" y="3"/>
                  <a:pt x="1401" y="10"/>
                </a:cubicBezTo>
                <a:cubicBezTo>
                  <a:pt x="1485" y="15"/>
                  <a:pt x="1571" y="41"/>
                  <a:pt x="1655" y="55"/>
                </a:cubicBezTo>
                <a:cubicBezTo>
                  <a:pt x="1733" y="86"/>
                  <a:pt x="1819" y="108"/>
                  <a:pt x="1901" y="128"/>
                </a:cubicBezTo>
                <a:cubicBezTo>
                  <a:pt x="1942" y="148"/>
                  <a:pt x="1975" y="152"/>
                  <a:pt x="2019" y="164"/>
                </a:cubicBezTo>
                <a:cubicBezTo>
                  <a:pt x="2098" y="185"/>
                  <a:pt x="2162" y="200"/>
                  <a:pt x="2246" y="210"/>
                </a:cubicBezTo>
                <a:cubicBezTo>
                  <a:pt x="2293" y="226"/>
                  <a:pt x="2338" y="230"/>
                  <a:pt x="2382" y="255"/>
                </a:cubicBezTo>
                <a:cubicBezTo>
                  <a:pt x="2439" y="287"/>
                  <a:pt x="2477" y="343"/>
                  <a:pt x="2519" y="391"/>
                </a:cubicBezTo>
                <a:cubicBezTo>
                  <a:pt x="2536" y="410"/>
                  <a:pt x="2562" y="423"/>
                  <a:pt x="2573" y="446"/>
                </a:cubicBezTo>
                <a:cubicBezTo>
                  <a:pt x="2594" y="488"/>
                  <a:pt x="2606" y="529"/>
                  <a:pt x="2619" y="573"/>
                </a:cubicBezTo>
                <a:cubicBezTo>
                  <a:pt x="2624" y="591"/>
                  <a:pt x="2637" y="628"/>
                  <a:pt x="2637" y="628"/>
                </a:cubicBezTo>
                <a:cubicBezTo>
                  <a:pt x="2634" y="654"/>
                  <a:pt x="2634" y="707"/>
                  <a:pt x="2619" y="737"/>
                </a:cubicBezTo>
                <a:cubicBezTo>
                  <a:pt x="2582" y="812"/>
                  <a:pt x="2477" y="854"/>
                  <a:pt x="2401" y="873"/>
                </a:cubicBezTo>
                <a:cubicBezTo>
                  <a:pt x="2341" y="911"/>
                  <a:pt x="2270" y="909"/>
                  <a:pt x="2201" y="919"/>
                </a:cubicBezTo>
                <a:cubicBezTo>
                  <a:pt x="1832" y="915"/>
                  <a:pt x="1500" y="928"/>
                  <a:pt x="1146" y="873"/>
                </a:cubicBezTo>
                <a:cubicBezTo>
                  <a:pt x="917" y="837"/>
                  <a:pt x="702" y="728"/>
                  <a:pt x="474" y="700"/>
                </a:cubicBezTo>
                <a:cubicBezTo>
                  <a:pt x="465" y="697"/>
                  <a:pt x="455" y="695"/>
                  <a:pt x="446" y="691"/>
                </a:cubicBezTo>
                <a:cubicBezTo>
                  <a:pt x="434" y="686"/>
                  <a:pt x="423" y="677"/>
                  <a:pt x="410" y="673"/>
                </a:cubicBezTo>
                <a:cubicBezTo>
                  <a:pt x="297" y="636"/>
                  <a:pt x="185" y="632"/>
                  <a:pt x="83" y="564"/>
                </a:cubicBezTo>
                <a:cubicBezTo>
                  <a:pt x="47" y="512"/>
                  <a:pt x="45" y="458"/>
                  <a:pt x="28" y="400"/>
                </a:cubicBezTo>
                <a:cubicBezTo>
                  <a:pt x="28" y="400"/>
                  <a:pt x="5" y="332"/>
                  <a:pt x="1" y="319"/>
                </a:cubicBezTo>
                <a:cubicBezTo>
                  <a:pt x="0" y="315"/>
                  <a:pt x="7" y="325"/>
                  <a:pt x="10" y="328"/>
                </a:cubicBezTo>
                <a:close/>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524" name="Freeform 20">
            <a:extLst>
              <a:ext uri="{FF2B5EF4-FFF2-40B4-BE49-F238E27FC236}">
                <a16:creationId xmlns:a16="http://schemas.microsoft.com/office/drawing/2014/main" id="{E45C8622-3E53-B545-8B1B-DCE5BACDBB80}"/>
              </a:ext>
            </a:extLst>
          </p:cNvPr>
          <p:cNvSpPr>
            <a:spLocks/>
          </p:cNvSpPr>
          <p:nvPr/>
        </p:nvSpPr>
        <p:spPr bwMode="auto">
          <a:xfrm>
            <a:off x="2362200" y="3886200"/>
            <a:ext cx="4262438" cy="1600200"/>
          </a:xfrm>
          <a:custGeom>
            <a:avLst/>
            <a:gdLst>
              <a:gd name="T0" fmla="*/ 2147483647 w 2637"/>
              <a:gd name="T1" fmla="*/ 2147483647 h 928"/>
              <a:gd name="T2" fmla="*/ 2147483647 w 2637"/>
              <a:gd name="T3" fmla="*/ 2147483647 h 928"/>
              <a:gd name="T4" fmla="*/ 2147483647 w 2637"/>
              <a:gd name="T5" fmla="*/ 2147483647 h 928"/>
              <a:gd name="T6" fmla="*/ 2147483647 w 2637"/>
              <a:gd name="T7" fmla="*/ 2147483647 h 928"/>
              <a:gd name="T8" fmla="*/ 2147483647 w 2637"/>
              <a:gd name="T9" fmla="*/ 0 h 928"/>
              <a:gd name="T10" fmla="*/ 2147483647 w 2637"/>
              <a:gd name="T11" fmla="*/ 2147483647 h 928"/>
              <a:gd name="T12" fmla="*/ 2147483647 w 2637"/>
              <a:gd name="T13" fmla="*/ 2147483647 h 928"/>
              <a:gd name="T14" fmla="*/ 2147483647 w 2637"/>
              <a:gd name="T15" fmla="*/ 2147483647 h 928"/>
              <a:gd name="T16" fmla="*/ 2147483647 w 2637"/>
              <a:gd name="T17" fmla="*/ 2147483647 h 928"/>
              <a:gd name="T18" fmla="*/ 2147483647 w 2637"/>
              <a:gd name="T19" fmla="*/ 2147483647 h 928"/>
              <a:gd name="T20" fmla="*/ 2147483647 w 2637"/>
              <a:gd name="T21" fmla="*/ 2147483647 h 928"/>
              <a:gd name="T22" fmla="*/ 2147483647 w 2637"/>
              <a:gd name="T23" fmla="*/ 2147483647 h 928"/>
              <a:gd name="T24" fmla="*/ 2147483647 w 2637"/>
              <a:gd name="T25" fmla="*/ 2147483647 h 928"/>
              <a:gd name="T26" fmla="*/ 2147483647 w 2637"/>
              <a:gd name="T27" fmla="*/ 2147483647 h 928"/>
              <a:gd name="T28" fmla="*/ 2147483647 w 2637"/>
              <a:gd name="T29" fmla="*/ 2147483647 h 928"/>
              <a:gd name="T30" fmla="*/ 2147483647 w 2637"/>
              <a:gd name="T31" fmla="*/ 2147483647 h 928"/>
              <a:gd name="T32" fmla="*/ 2147483647 w 2637"/>
              <a:gd name="T33" fmla="*/ 2147483647 h 928"/>
              <a:gd name="T34" fmla="*/ 2147483647 w 2637"/>
              <a:gd name="T35" fmla="*/ 2147483647 h 928"/>
              <a:gd name="T36" fmla="*/ 2147483647 w 2637"/>
              <a:gd name="T37" fmla="*/ 2147483647 h 928"/>
              <a:gd name="T38" fmla="*/ 2147483647 w 2637"/>
              <a:gd name="T39" fmla="*/ 2147483647 h 928"/>
              <a:gd name="T40" fmla="*/ 2147483647 w 2637"/>
              <a:gd name="T41" fmla="*/ 2147483647 h 928"/>
              <a:gd name="T42" fmla="*/ 2147483647 w 2637"/>
              <a:gd name="T43" fmla="*/ 2147483647 h 928"/>
              <a:gd name="T44" fmla="*/ 2147483647 w 2637"/>
              <a:gd name="T45" fmla="*/ 2147483647 h 928"/>
              <a:gd name="T46" fmla="*/ 2147483647 w 2637"/>
              <a:gd name="T47" fmla="*/ 2147483647 h 928"/>
              <a:gd name="T48" fmla="*/ 2147483647 w 2637"/>
              <a:gd name="T49" fmla="*/ 2147483647 h 928"/>
              <a:gd name="T50" fmla="*/ 2147483647 w 2637"/>
              <a:gd name="T51" fmla="*/ 2147483647 h 92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637"/>
              <a:gd name="T79" fmla="*/ 0 h 928"/>
              <a:gd name="T80" fmla="*/ 2637 w 2637"/>
              <a:gd name="T81" fmla="*/ 928 h 92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637" h="928">
                <a:moveTo>
                  <a:pt x="10" y="328"/>
                </a:moveTo>
                <a:cubicBezTo>
                  <a:pt x="14" y="291"/>
                  <a:pt x="6" y="248"/>
                  <a:pt x="28" y="219"/>
                </a:cubicBezTo>
                <a:cubicBezTo>
                  <a:pt x="124" y="92"/>
                  <a:pt x="264" y="66"/>
                  <a:pt x="410" y="37"/>
                </a:cubicBezTo>
                <a:cubicBezTo>
                  <a:pt x="516" y="16"/>
                  <a:pt x="457" y="14"/>
                  <a:pt x="583" y="10"/>
                </a:cubicBezTo>
                <a:cubicBezTo>
                  <a:pt x="728" y="5"/>
                  <a:pt x="874" y="3"/>
                  <a:pt x="1019" y="0"/>
                </a:cubicBezTo>
                <a:cubicBezTo>
                  <a:pt x="1146" y="3"/>
                  <a:pt x="1274" y="3"/>
                  <a:pt x="1401" y="10"/>
                </a:cubicBezTo>
                <a:cubicBezTo>
                  <a:pt x="1485" y="15"/>
                  <a:pt x="1571" y="41"/>
                  <a:pt x="1655" y="55"/>
                </a:cubicBezTo>
                <a:cubicBezTo>
                  <a:pt x="1733" y="86"/>
                  <a:pt x="1819" y="108"/>
                  <a:pt x="1901" y="128"/>
                </a:cubicBezTo>
                <a:cubicBezTo>
                  <a:pt x="1942" y="148"/>
                  <a:pt x="1975" y="152"/>
                  <a:pt x="2019" y="164"/>
                </a:cubicBezTo>
                <a:cubicBezTo>
                  <a:pt x="2098" y="185"/>
                  <a:pt x="2162" y="200"/>
                  <a:pt x="2246" y="210"/>
                </a:cubicBezTo>
                <a:cubicBezTo>
                  <a:pt x="2293" y="226"/>
                  <a:pt x="2338" y="230"/>
                  <a:pt x="2382" y="255"/>
                </a:cubicBezTo>
                <a:cubicBezTo>
                  <a:pt x="2439" y="287"/>
                  <a:pt x="2477" y="343"/>
                  <a:pt x="2519" y="391"/>
                </a:cubicBezTo>
                <a:cubicBezTo>
                  <a:pt x="2536" y="410"/>
                  <a:pt x="2562" y="423"/>
                  <a:pt x="2573" y="446"/>
                </a:cubicBezTo>
                <a:cubicBezTo>
                  <a:pt x="2594" y="488"/>
                  <a:pt x="2606" y="529"/>
                  <a:pt x="2619" y="573"/>
                </a:cubicBezTo>
                <a:cubicBezTo>
                  <a:pt x="2624" y="591"/>
                  <a:pt x="2637" y="628"/>
                  <a:pt x="2637" y="628"/>
                </a:cubicBezTo>
                <a:cubicBezTo>
                  <a:pt x="2634" y="654"/>
                  <a:pt x="2634" y="707"/>
                  <a:pt x="2619" y="737"/>
                </a:cubicBezTo>
                <a:cubicBezTo>
                  <a:pt x="2582" y="812"/>
                  <a:pt x="2477" y="854"/>
                  <a:pt x="2401" y="873"/>
                </a:cubicBezTo>
                <a:cubicBezTo>
                  <a:pt x="2341" y="911"/>
                  <a:pt x="2270" y="909"/>
                  <a:pt x="2201" y="919"/>
                </a:cubicBezTo>
                <a:cubicBezTo>
                  <a:pt x="1832" y="915"/>
                  <a:pt x="1500" y="928"/>
                  <a:pt x="1146" y="873"/>
                </a:cubicBezTo>
                <a:cubicBezTo>
                  <a:pt x="917" y="837"/>
                  <a:pt x="702" y="728"/>
                  <a:pt x="474" y="700"/>
                </a:cubicBezTo>
                <a:cubicBezTo>
                  <a:pt x="465" y="697"/>
                  <a:pt x="455" y="695"/>
                  <a:pt x="446" y="691"/>
                </a:cubicBezTo>
                <a:cubicBezTo>
                  <a:pt x="434" y="686"/>
                  <a:pt x="423" y="677"/>
                  <a:pt x="410" y="673"/>
                </a:cubicBezTo>
                <a:cubicBezTo>
                  <a:pt x="297" y="636"/>
                  <a:pt x="185" y="632"/>
                  <a:pt x="83" y="564"/>
                </a:cubicBezTo>
                <a:cubicBezTo>
                  <a:pt x="47" y="512"/>
                  <a:pt x="45" y="458"/>
                  <a:pt x="28" y="400"/>
                </a:cubicBezTo>
                <a:cubicBezTo>
                  <a:pt x="28" y="400"/>
                  <a:pt x="5" y="332"/>
                  <a:pt x="1" y="319"/>
                </a:cubicBezTo>
                <a:cubicBezTo>
                  <a:pt x="0" y="315"/>
                  <a:pt x="7" y="325"/>
                  <a:pt x="10" y="328"/>
                </a:cubicBezTo>
                <a:close/>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525" name="Text Box 21">
            <a:extLst>
              <a:ext uri="{FF2B5EF4-FFF2-40B4-BE49-F238E27FC236}">
                <a16:creationId xmlns:a16="http://schemas.microsoft.com/office/drawing/2014/main" id="{63FE91D9-D9EC-AA4D-B15D-2513E5B89D41}"/>
              </a:ext>
            </a:extLst>
          </p:cNvPr>
          <p:cNvSpPr txBox="1">
            <a:spLocks noChangeArrowheads="1"/>
          </p:cNvSpPr>
          <p:nvPr/>
        </p:nvSpPr>
        <p:spPr bwMode="auto">
          <a:xfrm>
            <a:off x="1295400" y="2286000"/>
            <a:ext cx="1098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itchFamily="2" charset="0"/>
              </a:rPr>
              <a:t>Directory</a:t>
            </a:r>
          </a:p>
        </p:txBody>
      </p:sp>
      <p:sp>
        <p:nvSpPr>
          <p:cNvPr id="21526" name="Text Box 22">
            <a:extLst>
              <a:ext uri="{FF2B5EF4-FFF2-40B4-BE49-F238E27FC236}">
                <a16:creationId xmlns:a16="http://schemas.microsoft.com/office/drawing/2014/main" id="{57FA0C61-1CF9-764E-95E0-C8774AE2A06B}"/>
              </a:ext>
            </a:extLst>
          </p:cNvPr>
          <p:cNvSpPr txBox="1">
            <a:spLocks noChangeArrowheads="1"/>
          </p:cNvSpPr>
          <p:nvPr/>
        </p:nvSpPr>
        <p:spPr bwMode="auto">
          <a:xfrm>
            <a:off x="1435100" y="4191000"/>
            <a:ext cx="666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itchFamily="2" charset="0"/>
              </a:rPr>
              <a:t>Files</a:t>
            </a:r>
          </a:p>
        </p:txBody>
      </p:sp>
      <p:sp>
        <p:nvSpPr>
          <p:cNvPr id="21527" name="Rectangle 23">
            <a:extLst>
              <a:ext uri="{FF2B5EF4-FFF2-40B4-BE49-F238E27FC236}">
                <a16:creationId xmlns:a16="http://schemas.microsoft.com/office/drawing/2014/main" id="{8A6FA0EB-8A23-0A41-9BDB-04C865B896FE}"/>
              </a:ext>
            </a:extLst>
          </p:cNvPr>
          <p:cNvSpPr>
            <a:spLocks noChangeArrowheads="1"/>
          </p:cNvSpPr>
          <p:nvPr/>
        </p:nvSpPr>
        <p:spPr bwMode="auto">
          <a:xfrm>
            <a:off x="990600" y="5638800"/>
            <a:ext cx="76025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a:latin typeface="Helvetica" pitchFamily="2" charset="0"/>
              </a:rPr>
              <a:t>Both the directory structure and the files reside on disk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2">
            <a:extLst>
              <a:ext uri="{FF2B5EF4-FFF2-40B4-BE49-F238E27FC236}">
                <a16:creationId xmlns:a16="http://schemas.microsoft.com/office/drawing/2014/main" id="{558DA7B8-7D06-2746-8F22-C87414FDDB15}"/>
              </a:ext>
            </a:extLst>
          </p:cNvPr>
          <p:cNvSpPr>
            <a:spLocks noGrp="1"/>
          </p:cNvSpPr>
          <p:nvPr>
            <p:ph type="title"/>
          </p:nvPr>
        </p:nvSpPr>
        <p:spPr/>
        <p:txBody>
          <a:bodyPr/>
          <a:lstStyle/>
          <a:p>
            <a:r>
              <a:rPr lang="en-US" altLang="en-US"/>
              <a:t>Disk Structure</a:t>
            </a:r>
          </a:p>
        </p:txBody>
      </p:sp>
      <p:sp>
        <p:nvSpPr>
          <p:cNvPr id="22531" name="Content Placeholder 3">
            <a:extLst>
              <a:ext uri="{FF2B5EF4-FFF2-40B4-BE49-F238E27FC236}">
                <a16:creationId xmlns:a16="http://schemas.microsoft.com/office/drawing/2014/main" id="{A1791ED1-1624-F948-995E-319F7B07A861}"/>
              </a:ext>
            </a:extLst>
          </p:cNvPr>
          <p:cNvSpPr>
            <a:spLocks noGrp="1"/>
          </p:cNvSpPr>
          <p:nvPr>
            <p:ph idx="1"/>
          </p:nvPr>
        </p:nvSpPr>
        <p:spPr/>
        <p:txBody>
          <a:bodyPr/>
          <a:lstStyle/>
          <a:p>
            <a:r>
              <a:rPr lang="en-US" altLang="en-US" i="1" dirty="0">
                <a:solidFill>
                  <a:srgbClr val="0070C0"/>
                </a:solidFill>
              </a:rPr>
              <a:t>Disk</a:t>
            </a:r>
            <a:r>
              <a:rPr lang="en-US" altLang="en-US" dirty="0"/>
              <a:t> can be subdivided into </a:t>
            </a:r>
            <a:r>
              <a:rPr lang="en-US" altLang="en-US" i="1" dirty="0">
                <a:solidFill>
                  <a:srgbClr val="0070C0"/>
                </a:solidFill>
              </a:rPr>
              <a:t>partitions</a:t>
            </a:r>
          </a:p>
          <a:p>
            <a:pPr lvl="1"/>
            <a:r>
              <a:rPr lang="en-US" altLang="en-US" dirty="0"/>
              <a:t>Disks or partitions can be </a:t>
            </a:r>
            <a:r>
              <a:rPr lang="en-US" altLang="en-US" b="1" dirty="0">
                <a:solidFill>
                  <a:srgbClr val="0070C0"/>
                </a:solidFill>
              </a:rPr>
              <a:t>RAID</a:t>
            </a:r>
            <a:r>
              <a:rPr lang="en-US" altLang="en-US" dirty="0"/>
              <a:t> protected against failure</a:t>
            </a:r>
          </a:p>
          <a:p>
            <a:pPr lvl="1"/>
            <a:r>
              <a:rPr lang="en-US" altLang="en-US" dirty="0"/>
              <a:t>Disk or partition can be used </a:t>
            </a:r>
            <a:r>
              <a:rPr lang="en-US" altLang="en-US" i="1" dirty="0">
                <a:solidFill>
                  <a:srgbClr val="0070C0"/>
                </a:solidFill>
              </a:rPr>
              <a:t>raw</a:t>
            </a:r>
            <a:r>
              <a:rPr lang="en-US" altLang="en-US" dirty="0"/>
              <a:t> – without a file system, or </a:t>
            </a:r>
            <a:r>
              <a:rPr lang="en-US" altLang="en-US" i="1" dirty="0">
                <a:solidFill>
                  <a:srgbClr val="0070C0"/>
                </a:solidFill>
              </a:rPr>
              <a:t>formatted</a:t>
            </a:r>
            <a:r>
              <a:rPr lang="en-US" altLang="en-US" dirty="0"/>
              <a:t> with a file system</a:t>
            </a:r>
          </a:p>
          <a:p>
            <a:r>
              <a:rPr lang="en-US" altLang="en-US" dirty="0"/>
              <a:t>Partitions also known as minidisks, slices</a:t>
            </a:r>
          </a:p>
          <a:p>
            <a:r>
              <a:rPr lang="en-US" altLang="en-US" dirty="0"/>
              <a:t>Entity containing file system known as a </a:t>
            </a:r>
            <a:r>
              <a:rPr lang="en-US" altLang="en-US" i="1" dirty="0">
                <a:solidFill>
                  <a:srgbClr val="0070C0"/>
                </a:solidFill>
              </a:rPr>
              <a:t>volume</a:t>
            </a:r>
          </a:p>
          <a:p>
            <a:pPr lvl="1"/>
            <a:r>
              <a:rPr lang="en-US" altLang="en-US" dirty="0"/>
              <a:t>Each volume containing file system also tracks that file system</a:t>
            </a:r>
            <a:r>
              <a:rPr lang="ja-JP" altLang="en-US"/>
              <a:t>’</a:t>
            </a:r>
            <a:r>
              <a:rPr lang="en-US" altLang="ja-JP" dirty="0"/>
              <a:t>s info in device directory or volume table of contents</a:t>
            </a:r>
          </a:p>
          <a:p>
            <a:r>
              <a:rPr lang="en-US" altLang="en-US" dirty="0"/>
              <a:t>As well as general-purpose file systems there are many special-purpose file systems, frequently all within the same operating system or computer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00EE94A-D5B8-5D48-B004-8EF3C748453C}"/>
              </a:ext>
            </a:extLst>
          </p:cNvPr>
          <p:cNvSpPr>
            <a:spLocks noGrp="1" noChangeArrowheads="1"/>
          </p:cNvSpPr>
          <p:nvPr>
            <p:ph type="title"/>
          </p:nvPr>
        </p:nvSpPr>
        <p:spPr/>
        <p:txBody>
          <a:bodyPr/>
          <a:lstStyle/>
          <a:p>
            <a:r>
              <a:rPr lang="en-US" altLang="en-US" dirty="0"/>
              <a:t>A Typical File-System Organization</a:t>
            </a:r>
          </a:p>
        </p:txBody>
      </p:sp>
      <p:pic>
        <p:nvPicPr>
          <p:cNvPr id="23555" name="Picture 6" descr="10">
            <a:extLst>
              <a:ext uri="{FF2B5EF4-FFF2-40B4-BE49-F238E27FC236}">
                <a16:creationId xmlns:a16="http://schemas.microsoft.com/office/drawing/2014/main" id="{EBAC4D3E-960B-2048-80CA-8C0D7551F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308" y="1398494"/>
            <a:ext cx="8355114" cy="4441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
            <a:extLst>
              <a:ext uri="{FF2B5EF4-FFF2-40B4-BE49-F238E27FC236}">
                <a16:creationId xmlns:a16="http://schemas.microsoft.com/office/drawing/2014/main" id="{018A71EB-3870-694C-94D4-C8ED8EAEE372}"/>
              </a:ext>
            </a:extLst>
          </p:cNvPr>
          <p:cNvSpPr>
            <a:spLocks noGrp="1"/>
          </p:cNvSpPr>
          <p:nvPr>
            <p:ph type="title"/>
          </p:nvPr>
        </p:nvSpPr>
        <p:spPr/>
        <p:txBody>
          <a:bodyPr/>
          <a:lstStyle/>
          <a:p>
            <a:pPr eaLnBrk="1" hangingPunct="1"/>
            <a:r>
              <a:rPr lang="en-US" altLang="en-US"/>
              <a:t>Types of File Systems</a:t>
            </a:r>
          </a:p>
        </p:txBody>
      </p:sp>
      <p:sp>
        <p:nvSpPr>
          <p:cNvPr id="24579" name="Content Placeholder 3">
            <a:extLst>
              <a:ext uri="{FF2B5EF4-FFF2-40B4-BE49-F238E27FC236}">
                <a16:creationId xmlns:a16="http://schemas.microsoft.com/office/drawing/2014/main" id="{7A837105-5741-6F40-A34B-E3A5F7A75CEB}"/>
              </a:ext>
            </a:extLst>
          </p:cNvPr>
          <p:cNvSpPr>
            <a:spLocks noGrp="1"/>
          </p:cNvSpPr>
          <p:nvPr>
            <p:ph idx="1"/>
          </p:nvPr>
        </p:nvSpPr>
        <p:spPr/>
        <p:txBody>
          <a:bodyPr/>
          <a:lstStyle/>
          <a:p>
            <a:r>
              <a:rPr lang="en-US" altLang="en-US" dirty="0"/>
              <a:t>We mostly talk of </a:t>
            </a:r>
            <a:r>
              <a:rPr lang="en-US" altLang="en-US" i="1" dirty="0">
                <a:solidFill>
                  <a:srgbClr val="0070C0"/>
                </a:solidFill>
              </a:rPr>
              <a:t>general-purpose file systems</a:t>
            </a:r>
          </a:p>
          <a:p>
            <a:r>
              <a:rPr lang="en-US" altLang="en-US" dirty="0"/>
              <a:t>But systems frequently have many file systems, some general- and some special- purpose</a:t>
            </a:r>
          </a:p>
          <a:p>
            <a:r>
              <a:rPr lang="en-US" altLang="en-US" dirty="0"/>
              <a:t>E.g., </a:t>
            </a:r>
            <a:r>
              <a:rPr lang="en-US" altLang="en-US" b="1" dirty="0">
                <a:solidFill>
                  <a:srgbClr val="0070C0"/>
                </a:solidFill>
              </a:rPr>
              <a:t>Solaris</a:t>
            </a:r>
            <a:r>
              <a:rPr lang="en-US" altLang="en-US" dirty="0"/>
              <a:t> has</a:t>
            </a:r>
          </a:p>
          <a:p>
            <a:pPr lvl="1"/>
            <a:r>
              <a:rPr lang="en-US" altLang="en-US" i="1" dirty="0" err="1">
                <a:solidFill>
                  <a:srgbClr val="0070C0"/>
                </a:solidFill>
              </a:rPr>
              <a:t>tmpfs</a:t>
            </a:r>
            <a:r>
              <a:rPr lang="en-US" altLang="en-US" dirty="0"/>
              <a:t> – memory-based volatile FS for fast, temporary I/O</a:t>
            </a:r>
          </a:p>
          <a:p>
            <a:pPr lvl="1"/>
            <a:r>
              <a:rPr lang="en-US" altLang="en-US" i="1" dirty="0" err="1">
                <a:solidFill>
                  <a:srgbClr val="0070C0"/>
                </a:solidFill>
              </a:rPr>
              <a:t>objfs</a:t>
            </a:r>
            <a:r>
              <a:rPr lang="en-US" altLang="en-US" dirty="0"/>
              <a:t> – interface into kernel memory to get kernel symbols for debugging</a:t>
            </a:r>
          </a:p>
          <a:p>
            <a:pPr lvl="1"/>
            <a:r>
              <a:rPr lang="en-US" altLang="en-US" i="1" dirty="0" err="1">
                <a:solidFill>
                  <a:srgbClr val="0070C0"/>
                </a:solidFill>
              </a:rPr>
              <a:t>ctfs</a:t>
            </a:r>
            <a:r>
              <a:rPr lang="en-US" altLang="en-US" dirty="0"/>
              <a:t> – contract file system for managing daemons </a:t>
            </a:r>
          </a:p>
          <a:p>
            <a:pPr lvl="1"/>
            <a:r>
              <a:rPr lang="en-US" altLang="en-US" i="1" dirty="0" err="1">
                <a:solidFill>
                  <a:srgbClr val="0070C0"/>
                </a:solidFill>
              </a:rPr>
              <a:t>lofs</a:t>
            </a:r>
            <a:r>
              <a:rPr lang="en-US" altLang="en-US" dirty="0"/>
              <a:t> – loopback file system allows one FS to be accessed in place of another</a:t>
            </a:r>
          </a:p>
          <a:p>
            <a:pPr lvl="1"/>
            <a:r>
              <a:rPr lang="en-US" altLang="en-US" i="1" dirty="0" err="1">
                <a:solidFill>
                  <a:srgbClr val="0070C0"/>
                </a:solidFill>
              </a:rPr>
              <a:t>procfs</a:t>
            </a:r>
            <a:r>
              <a:rPr lang="en-US" altLang="en-US" dirty="0"/>
              <a:t> – kernel interface to process structures</a:t>
            </a:r>
          </a:p>
          <a:p>
            <a:pPr lvl="1"/>
            <a:r>
              <a:rPr lang="en-US" altLang="en-US" i="1" dirty="0" err="1">
                <a:solidFill>
                  <a:srgbClr val="0070C0"/>
                </a:solidFill>
              </a:rPr>
              <a:t>ufs</a:t>
            </a:r>
            <a:r>
              <a:rPr lang="en-US" altLang="en-US" dirty="0"/>
              <a:t>, </a:t>
            </a:r>
            <a:r>
              <a:rPr lang="en-US" altLang="en-US" i="1" dirty="0" err="1">
                <a:solidFill>
                  <a:srgbClr val="0070C0"/>
                </a:solidFill>
              </a:rPr>
              <a:t>zfs</a:t>
            </a:r>
            <a:r>
              <a:rPr lang="en-US" altLang="en-US" dirty="0"/>
              <a:t> – general purpose file systems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A080058-F652-1446-9C85-3772B76E8BE9}"/>
              </a:ext>
            </a:extLst>
          </p:cNvPr>
          <p:cNvSpPr>
            <a:spLocks noGrp="1" noChangeArrowheads="1"/>
          </p:cNvSpPr>
          <p:nvPr>
            <p:ph type="title"/>
          </p:nvPr>
        </p:nvSpPr>
        <p:spPr/>
        <p:txBody>
          <a:bodyPr/>
          <a:lstStyle/>
          <a:p>
            <a:r>
              <a:rPr lang="en-US" altLang="en-US"/>
              <a:t>Operations Performed on Directory</a:t>
            </a:r>
          </a:p>
        </p:txBody>
      </p:sp>
      <p:sp>
        <p:nvSpPr>
          <p:cNvPr id="25603" name="Rectangle 3">
            <a:extLst>
              <a:ext uri="{FF2B5EF4-FFF2-40B4-BE49-F238E27FC236}">
                <a16:creationId xmlns:a16="http://schemas.microsoft.com/office/drawing/2014/main" id="{2B2ED4F0-9BE5-3A4D-8B3C-E331218B05FA}"/>
              </a:ext>
            </a:extLst>
          </p:cNvPr>
          <p:cNvSpPr>
            <a:spLocks noGrp="1" noChangeArrowheads="1"/>
          </p:cNvSpPr>
          <p:nvPr>
            <p:ph idx="1"/>
          </p:nvPr>
        </p:nvSpPr>
        <p:spPr/>
        <p:txBody>
          <a:bodyPr/>
          <a:lstStyle/>
          <a:p>
            <a:r>
              <a:rPr lang="en-US" altLang="en-US" i="1" dirty="0">
                <a:solidFill>
                  <a:srgbClr val="0070C0"/>
                </a:solidFill>
              </a:rPr>
              <a:t>Search</a:t>
            </a:r>
            <a:r>
              <a:rPr lang="en-US" altLang="en-US" dirty="0"/>
              <a:t> for a file</a:t>
            </a:r>
          </a:p>
          <a:p>
            <a:r>
              <a:rPr lang="en-US" altLang="en-US" i="1" dirty="0">
                <a:solidFill>
                  <a:srgbClr val="0070C0"/>
                </a:solidFill>
              </a:rPr>
              <a:t>Create</a:t>
            </a:r>
            <a:r>
              <a:rPr lang="en-US" altLang="en-US" dirty="0"/>
              <a:t> a file</a:t>
            </a:r>
          </a:p>
          <a:p>
            <a:r>
              <a:rPr lang="en-US" altLang="en-US" i="1" dirty="0">
                <a:solidFill>
                  <a:srgbClr val="0070C0"/>
                </a:solidFill>
              </a:rPr>
              <a:t>Delete</a:t>
            </a:r>
            <a:r>
              <a:rPr lang="en-US" altLang="en-US" dirty="0"/>
              <a:t> a file</a:t>
            </a:r>
          </a:p>
          <a:p>
            <a:r>
              <a:rPr lang="en-US" altLang="en-US" i="1" dirty="0">
                <a:solidFill>
                  <a:srgbClr val="0070C0"/>
                </a:solidFill>
              </a:rPr>
              <a:t>List</a:t>
            </a:r>
            <a:r>
              <a:rPr lang="en-US" altLang="en-US" dirty="0"/>
              <a:t> a directory</a:t>
            </a:r>
          </a:p>
          <a:p>
            <a:r>
              <a:rPr lang="en-US" altLang="en-US" i="1" dirty="0">
                <a:solidFill>
                  <a:srgbClr val="0070C0"/>
                </a:solidFill>
              </a:rPr>
              <a:t>Rename</a:t>
            </a:r>
            <a:r>
              <a:rPr lang="en-US" altLang="en-US" dirty="0"/>
              <a:t> a file</a:t>
            </a:r>
          </a:p>
          <a:p>
            <a:r>
              <a:rPr lang="en-US" altLang="en-US" i="1" dirty="0">
                <a:solidFill>
                  <a:srgbClr val="0070C0"/>
                </a:solidFill>
              </a:rPr>
              <a:t>Traverse</a:t>
            </a:r>
            <a:r>
              <a:rPr lang="en-US" altLang="en-US" dirty="0"/>
              <a:t> the file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DD25E4A-BD5A-0246-83AF-2E51B4A8F620}"/>
              </a:ext>
            </a:extLst>
          </p:cNvPr>
          <p:cNvSpPr>
            <a:spLocks noGrp="1" noChangeArrowheads="1"/>
          </p:cNvSpPr>
          <p:nvPr>
            <p:ph type="title"/>
          </p:nvPr>
        </p:nvSpPr>
        <p:spPr/>
        <p:txBody>
          <a:bodyPr/>
          <a:lstStyle/>
          <a:p>
            <a:r>
              <a:rPr lang="en-US" altLang="en-US"/>
              <a:t>Directory Organization</a:t>
            </a:r>
          </a:p>
        </p:txBody>
      </p:sp>
      <p:sp>
        <p:nvSpPr>
          <p:cNvPr id="26627" name="Rectangle 3">
            <a:extLst>
              <a:ext uri="{FF2B5EF4-FFF2-40B4-BE49-F238E27FC236}">
                <a16:creationId xmlns:a16="http://schemas.microsoft.com/office/drawing/2014/main" id="{F18FA9CE-374E-8C41-B6ED-34E2031F4761}"/>
              </a:ext>
            </a:extLst>
          </p:cNvPr>
          <p:cNvSpPr>
            <a:spLocks noGrp="1" noChangeArrowheads="1"/>
          </p:cNvSpPr>
          <p:nvPr>
            <p:ph idx="1"/>
          </p:nvPr>
        </p:nvSpPr>
        <p:spPr/>
        <p:txBody>
          <a:bodyPr/>
          <a:lstStyle/>
          <a:p>
            <a:r>
              <a:rPr lang="en-US" altLang="en-US" dirty="0">
                <a:latin typeface="Helvetica" pitchFamily="2" charset="0"/>
              </a:rPr>
              <a:t>The directory is organized logically to obtain </a:t>
            </a:r>
          </a:p>
          <a:p>
            <a:pPr lvl="1"/>
            <a:r>
              <a:rPr lang="en-US" altLang="en-US" i="1" dirty="0">
                <a:solidFill>
                  <a:srgbClr val="0070C0"/>
                </a:solidFill>
              </a:rPr>
              <a:t>Efficiency</a:t>
            </a:r>
            <a:r>
              <a:rPr lang="en-US" altLang="en-US" dirty="0"/>
              <a:t> – locating a file quickly</a:t>
            </a:r>
          </a:p>
          <a:p>
            <a:pPr lvl="1"/>
            <a:r>
              <a:rPr lang="en-US" altLang="en-US" i="1" dirty="0">
                <a:solidFill>
                  <a:srgbClr val="0070C0"/>
                </a:solidFill>
              </a:rPr>
              <a:t>Naming</a:t>
            </a:r>
            <a:r>
              <a:rPr lang="en-US" altLang="en-US" dirty="0"/>
              <a:t> – convenient to users</a:t>
            </a:r>
          </a:p>
          <a:p>
            <a:pPr lvl="2"/>
            <a:r>
              <a:rPr lang="en-US" altLang="en-US" dirty="0"/>
              <a:t>Two users can have same name for different files</a:t>
            </a:r>
          </a:p>
          <a:p>
            <a:pPr lvl="2"/>
            <a:r>
              <a:rPr lang="en-US" altLang="en-US" dirty="0"/>
              <a:t>The same file can have several different names</a:t>
            </a:r>
          </a:p>
          <a:p>
            <a:pPr lvl="1"/>
            <a:r>
              <a:rPr lang="en-US" altLang="en-US" i="1" dirty="0">
                <a:solidFill>
                  <a:srgbClr val="0070C0"/>
                </a:solidFill>
              </a:rPr>
              <a:t>Grouping</a:t>
            </a:r>
            <a:r>
              <a:rPr lang="en-US" altLang="en-US" dirty="0"/>
              <a:t> – logical grouping of files by properties, (e.g., all Java programs, all games,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902B133-0167-D74B-9B15-16D4B32B667B}"/>
              </a:ext>
            </a:extLst>
          </p:cNvPr>
          <p:cNvSpPr>
            <a:spLocks noGrp="1" noChangeArrowheads="1"/>
          </p:cNvSpPr>
          <p:nvPr>
            <p:ph type="title"/>
          </p:nvPr>
        </p:nvSpPr>
        <p:spPr/>
        <p:txBody>
          <a:bodyPr/>
          <a:lstStyle/>
          <a:p>
            <a:r>
              <a:rPr lang="en-US" altLang="en-US"/>
              <a:t>Single-Level Directory</a:t>
            </a:r>
          </a:p>
        </p:txBody>
      </p:sp>
      <p:sp>
        <p:nvSpPr>
          <p:cNvPr id="27651" name="Rectangle 3">
            <a:extLst>
              <a:ext uri="{FF2B5EF4-FFF2-40B4-BE49-F238E27FC236}">
                <a16:creationId xmlns:a16="http://schemas.microsoft.com/office/drawing/2014/main" id="{94032C98-74F6-B84A-843D-B82C1D525AAB}"/>
              </a:ext>
            </a:extLst>
          </p:cNvPr>
          <p:cNvSpPr>
            <a:spLocks noGrp="1" noChangeArrowheads="1"/>
          </p:cNvSpPr>
          <p:nvPr>
            <p:ph idx="1"/>
          </p:nvPr>
        </p:nvSpPr>
        <p:spPr/>
        <p:txBody>
          <a:bodyPr/>
          <a:lstStyle/>
          <a:p>
            <a:r>
              <a:rPr lang="en-US" altLang="en-US" i="1" dirty="0">
                <a:solidFill>
                  <a:srgbClr val="0070C0"/>
                </a:solidFill>
              </a:rPr>
              <a:t>A single directory for all users</a:t>
            </a:r>
          </a:p>
          <a:p>
            <a:endParaRPr lang="en-US" altLang="en-US" dirty="0"/>
          </a:p>
          <a:p>
            <a:endParaRPr lang="en-US" altLang="en-US" dirty="0"/>
          </a:p>
          <a:p>
            <a:endParaRPr lang="en-US" altLang="en-US" dirty="0"/>
          </a:p>
          <a:p>
            <a:endParaRPr lang="en-US" altLang="en-US" dirty="0"/>
          </a:p>
          <a:p>
            <a:endParaRPr lang="en-US" altLang="en-US" dirty="0"/>
          </a:p>
          <a:p>
            <a:r>
              <a:rPr lang="en-US" altLang="en-US" dirty="0"/>
              <a:t>Naming problem</a:t>
            </a:r>
          </a:p>
          <a:p>
            <a:r>
              <a:rPr lang="en-US" altLang="en-US" dirty="0"/>
              <a:t>Grouping problem</a:t>
            </a:r>
          </a:p>
          <a:p>
            <a:endParaRPr lang="en-US" altLang="en-US" dirty="0"/>
          </a:p>
          <a:p>
            <a:endParaRPr lang="en-US" altLang="en-US" dirty="0"/>
          </a:p>
          <a:p>
            <a:endParaRPr lang="en-US" altLang="en-US" dirty="0"/>
          </a:p>
        </p:txBody>
      </p:sp>
      <p:sp>
        <p:nvSpPr>
          <p:cNvPr id="27652" name="Rectangle 5">
            <a:extLst>
              <a:ext uri="{FF2B5EF4-FFF2-40B4-BE49-F238E27FC236}">
                <a16:creationId xmlns:a16="http://schemas.microsoft.com/office/drawing/2014/main" id="{822754C0-2FFB-A84C-B98A-5064A7B286E1}"/>
              </a:ext>
            </a:extLst>
          </p:cNvPr>
          <p:cNvSpPr>
            <a:spLocks noChangeArrowheads="1"/>
          </p:cNvSpPr>
          <p:nvPr/>
        </p:nvSpPr>
        <p:spPr bwMode="auto">
          <a:xfrm>
            <a:off x="1050925" y="3746500"/>
            <a:ext cx="4406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sz="2000">
              <a:latin typeface="Helvetica" pitchFamily="2" charset="0"/>
            </a:endParaRPr>
          </a:p>
        </p:txBody>
      </p:sp>
      <p:pic>
        <p:nvPicPr>
          <p:cNvPr id="27653" name="Picture 7">
            <a:extLst>
              <a:ext uri="{FF2B5EF4-FFF2-40B4-BE49-F238E27FC236}">
                <a16:creationId xmlns:a16="http://schemas.microsoft.com/office/drawing/2014/main" id="{2970771D-CFD8-8241-82E5-60914651C0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9146" y="2369343"/>
            <a:ext cx="6100762"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ECBEA4A-7669-B043-82FC-FB7E9C237968}"/>
              </a:ext>
            </a:extLst>
          </p:cNvPr>
          <p:cNvSpPr>
            <a:spLocks noGrp="1" noChangeArrowheads="1"/>
          </p:cNvSpPr>
          <p:nvPr>
            <p:ph type="title"/>
          </p:nvPr>
        </p:nvSpPr>
        <p:spPr/>
        <p:txBody>
          <a:bodyPr/>
          <a:lstStyle/>
          <a:p>
            <a:r>
              <a:rPr lang="en-US" altLang="en-US"/>
              <a:t>Two-Level Directory</a:t>
            </a:r>
          </a:p>
        </p:txBody>
      </p:sp>
      <p:sp>
        <p:nvSpPr>
          <p:cNvPr id="28675" name="Rectangle 3">
            <a:extLst>
              <a:ext uri="{FF2B5EF4-FFF2-40B4-BE49-F238E27FC236}">
                <a16:creationId xmlns:a16="http://schemas.microsoft.com/office/drawing/2014/main" id="{834025EB-A57C-3F4A-A1AF-91C79FCBAA4F}"/>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Separate directory for each user</a:t>
            </a:r>
          </a:p>
          <a:p>
            <a:pPr lvl="1">
              <a:spcBef>
                <a:spcPts val="400"/>
              </a:spcBef>
              <a:spcAft>
                <a:spcPts val="400"/>
              </a:spcAft>
            </a:pPr>
            <a:r>
              <a:rPr lang="en-US" altLang="en-US" dirty="0"/>
              <a:t>Master file directory (MFD)</a:t>
            </a:r>
          </a:p>
          <a:p>
            <a:pPr lvl="1">
              <a:spcBef>
                <a:spcPts val="400"/>
              </a:spcBef>
              <a:spcAft>
                <a:spcPts val="400"/>
              </a:spcAft>
            </a:pPr>
            <a:r>
              <a:rPr lang="en-US" altLang="en-US" dirty="0"/>
              <a:t>User file directory (UFD)</a:t>
            </a:r>
          </a:p>
          <a:p>
            <a:pPr>
              <a:spcBef>
                <a:spcPts val="400"/>
              </a:spcBef>
              <a:spcAft>
                <a:spcPts val="400"/>
              </a:spcAft>
            </a:pPr>
            <a:endParaRPr lang="en-US" altLang="en-US" dirty="0"/>
          </a:p>
          <a:p>
            <a:pPr>
              <a:spcBef>
                <a:spcPts val="400"/>
              </a:spcBef>
              <a:spcAft>
                <a:spcPts val="400"/>
              </a:spcAft>
            </a:pPr>
            <a:endParaRPr lang="en-US" altLang="en-US" dirty="0"/>
          </a:p>
          <a:p>
            <a:pPr>
              <a:spcBef>
                <a:spcPts val="400"/>
              </a:spcBef>
              <a:spcAft>
                <a:spcPts val="400"/>
              </a:spcAft>
            </a:pPr>
            <a:endParaRPr lang="en-US" altLang="en-US" dirty="0"/>
          </a:p>
          <a:p>
            <a:pPr>
              <a:spcBef>
                <a:spcPts val="400"/>
              </a:spcBef>
              <a:spcAft>
                <a:spcPts val="400"/>
              </a:spcAft>
            </a:pPr>
            <a:endParaRPr lang="en-US" altLang="en-US" dirty="0"/>
          </a:p>
          <a:p>
            <a:pPr>
              <a:spcBef>
                <a:spcPts val="400"/>
              </a:spcBef>
              <a:spcAft>
                <a:spcPts val="400"/>
              </a:spcAft>
            </a:pPr>
            <a:endParaRPr lang="en-US" altLang="en-US" dirty="0"/>
          </a:p>
          <a:p>
            <a:pPr>
              <a:spcBef>
                <a:spcPts val="400"/>
              </a:spcBef>
              <a:spcAft>
                <a:spcPts val="400"/>
              </a:spcAft>
            </a:pPr>
            <a:r>
              <a:rPr lang="en-US" altLang="en-US" dirty="0">
                <a:latin typeface="Helvetica" pitchFamily="2" charset="0"/>
              </a:rPr>
              <a:t>Path name</a:t>
            </a:r>
          </a:p>
          <a:p>
            <a:pPr>
              <a:spcBef>
                <a:spcPts val="400"/>
              </a:spcBef>
              <a:spcAft>
                <a:spcPts val="400"/>
              </a:spcAft>
            </a:pPr>
            <a:r>
              <a:rPr lang="en-US" altLang="en-US" dirty="0">
                <a:latin typeface="Helvetica" pitchFamily="2" charset="0"/>
              </a:rPr>
              <a:t>Can have the same file name for different user</a:t>
            </a:r>
          </a:p>
          <a:p>
            <a:pPr>
              <a:spcBef>
                <a:spcPts val="400"/>
              </a:spcBef>
              <a:spcAft>
                <a:spcPts val="400"/>
              </a:spcAft>
            </a:pPr>
            <a:r>
              <a:rPr lang="en-US" altLang="en-US" dirty="0">
                <a:latin typeface="Helvetica" pitchFamily="2" charset="0"/>
              </a:rPr>
              <a:t>Efficient searching</a:t>
            </a:r>
          </a:p>
          <a:p>
            <a:pPr>
              <a:spcBef>
                <a:spcPts val="400"/>
              </a:spcBef>
              <a:spcAft>
                <a:spcPts val="400"/>
              </a:spcAft>
            </a:pPr>
            <a:r>
              <a:rPr lang="en-US" altLang="en-US" dirty="0">
                <a:latin typeface="Helvetica" pitchFamily="2" charset="0"/>
              </a:rPr>
              <a:t>No grouping capability</a:t>
            </a:r>
          </a:p>
          <a:p>
            <a:endParaRPr lang="en-US" altLang="en-US" dirty="0"/>
          </a:p>
        </p:txBody>
      </p:sp>
      <p:pic>
        <p:nvPicPr>
          <p:cNvPr id="28677" name="Picture 8">
            <a:extLst>
              <a:ext uri="{FF2B5EF4-FFF2-40B4-BE49-F238E27FC236}">
                <a16:creationId xmlns:a16="http://schemas.microsoft.com/office/drawing/2014/main" id="{5E32826A-6A78-A44B-AFE4-C38853359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112" y="2450036"/>
            <a:ext cx="6427788" cy="219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8C1313F-A228-1941-8AB7-B5960D0220F8}"/>
              </a:ext>
            </a:extLst>
          </p:cNvPr>
          <p:cNvSpPr>
            <a:spLocks noGrp="1" noChangeArrowheads="1"/>
          </p:cNvSpPr>
          <p:nvPr>
            <p:ph type="title"/>
          </p:nvPr>
        </p:nvSpPr>
        <p:spPr/>
        <p:txBody>
          <a:bodyPr/>
          <a:lstStyle/>
          <a:p>
            <a:r>
              <a:rPr lang="en-US" altLang="en-US"/>
              <a:t>Tree-Structured Directories</a:t>
            </a:r>
          </a:p>
        </p:txBody>
      </p:sp>
      <p:pic>
        <p:nvPicPr>
          <p:cNvPr id="29699" name="Picture 6">
            <a:extLst>
              <a:ext uri="{FF2B5EF4-FFF2-40B4-BE49-F238E27FC236}">
                <a16:creationId xmlns:a16="http://schemas.microsoft.com/office/drawing/2014/main" id="{4F6904C4-BD12-CB4B-9690-1F8BEF7F9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976" y="1398494"/>
            <a:ext cx="7412355" cy="472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69A1C3D-5087-5540-BF9B-C23D38A305A6}"/>
              </a:ext>
            </a:extLst>
          </p:cNvPr>
          <p:cNvSpPr>
            <a:spLocks noGrp="1" noChangeArrowheads="1"/>
          </p:cNvSpPr>
          <p:nvPr>
            <p:ph type="title"/>
          </p:nvPr>
        </p:nvSpPr>
        <p:spPr/>
        <p:txBody>
          <a:bodyPr/>
          <a:lstStyle/>
          <a:p>
            <a:pPr eaLnBrk="1" hangingPunct="1"/>
            <a:r>
              <a:rPr lang="en-US" altLang="en-US"/>
              <a:t>Tree-Structured Directories (Cont.)</a:t>
            </a:r>
          </a:p>
        </p:txBody>
      </p:sp>
      <p:sp>
        <p:nvSpPr>
          <p:cNvPr id="30723" name="Rectangle 3">
            <a:extLst>
              <a:ext uri="{FF2B5EF4-FFF2-40B4-BE49-F238E27FC236}">
                <a16:creationId xmlns:a16="http://schemas.microsoft.com/office/drawing/2014/main" id="{077EDEBC-9F50-D94A-A285-0992AE8E08C3}"/>
              </a:ext>
            </a:extLst>
          </p:cNvPr>
          <p:cNvSpPr>
            <a:spLocks noGrp="1" noChangeArrowheads="1"/>
          </p:cNvSpPr>
          <p:nvPr>
            <p:ph idx="1"/>
          </p:nvPr>
        </p:nvSpPr>
        <p:spPr/>
        <p:txBody>
          <a:bodyPr/>
          <a:lstStyle/>
          <a:p>
            <a:r>
              <a:rPr lang="en-US" altLang="en-US" dirty="0"/>
              <a:t>Efficient searching</a:t>
            </a:r>
            <a:br>
              <a:rPr lang="en-US" altLang="en-US" dirty="0"/>
            </a:br>
            <a:endParaRPr lang="en-US" altLang="en-US" dirty="0"/>
          </a:p>
          <a:p>
            <a:r>
              <a:rPr lang="en-US" altLang="en-US" dirty="0"/>
              <a:t>Grouping Capability</a:t>
            </a:r>
            <a:br>
              <a:rPr lang="en-US" altLang="en-US" dirty="0"/>
            </a:br>
            <a:endParaRPr lang="en-US" altLang="en-US" dirty="0"/>
          </a:p>
          <a:p>
            <a:r>
              <a:rPr lang="en-US" altLang="en-US" dirty="0"/>
              <a:t>Current directory (or working directory)</a:t>
            </a:r>
          </a:p>
          <a:p>
            <a:pPr lvl="1"/>
            <a:r>
              <a:rPr lang="en-US" altLang="en-US" dirty="0"/>
              <a:t>E.g., For Linux OS,</a:t>
            </a:r>
          </a:p>
          <a:p>
            <a:pPr marL="857250" lvl="2" indent="0">
              <a:buNone/>
            </a:pPr>
            <a:r>
              <a:rPr lang="en-US" altLang="en-US" sz="1800" b="1" dirty="0">
                <a:solidFill>
                  <a:srgbClr val="000000"/>
                </a:solidFill>
                <a:latin typeface="Courier New" panose="02070309020205020404" pitchFamily="49" charset="0"/>
                <a:cs typeface="Courier New" panose="02070309020205020404" pitchFamily="49" charset="0"/>
              </a:rPr>
              <a:t>cd /spell/mail/prog</a:t>
            </a:r>
          </a:p>
          <a:p>
            <a:pPr marL="857250" lvl="2" indent="0">
              <a:buNone/>
            </a:pPr>
            <a:r>
              <a:rPr lang="en-US" altLang="en-US" sz="1800" b="1" dirty="0">
                <a:solidFill>
                  <a:srgbClr val="000000"/>
                </a:solidFill>
                <a:latin typeface="Courier New" panose="02070309020205020404" pitchFamily="49" charset="0"/>
                <a:cs typeface="Courier New" panose="02070309020205020404" pitchFamily="49" charset="0"/>
              </a:rPr>
              <a:t>type list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C5F4D63-2888-8540-9E03-42A92249B265}"/>
              </a:ext>
            </a:extLst>
          </p:cNvPr>
          <p:cNvSpPr>
            <a:spLocks noGrp="1" noChangeArrowheads="1"/>
          </p:cNvSpPr>
          <p:nvPr>
            <p:ph type="title"/>
          </p:nvPr>
        </p:nvSpPr>
        <p:spPr/>
        <p:txBody>
          <a:bodyPr/>
          <a:lstStyle/>
          <a:p>
            <a:r>
              <a:rPr lang="en-US" altLang="en-US"/>
              <a:t>Tree-Structured Directories (Cont.)</a:t>
            </a:r>
            <a:endParaRPr lang="en-US" altLang="en-US" dirty="0"/>
          </a:p>
        </p:txBody>
      </p:sp>
      <p:sp>
        <p:nvSpPr>
          <p:cNvPr id="31747" name="Rectangle 3">
            <a:extLst>
              <a:ext uri="{FF2B5EF4-FFF2-40B4-BE49-F238E27FC236}">
                <a16:creationId xmlns:a16="http://schemas.microsoft.com/office/drawing/2014/main" id="{45D971D0-FA9E-F44F-956F-8D4CF280DED0}"/>
              </a:ext>
            </a:extLst>
          </p:cNvPr>
          <p:cNvSpPr>
            <a:spLocks noGrp="1" noChangeArrowheads="1"/>
          </p:cNvSpPr>
          <p:nvPr>
            <p:ph idx="1"/>
          </p:nvPr>
        </p:nvSpPr>
        <p:spPr/>
        <p:txBody>
          <a:bodyPr/>
          <a:lstStyle/>
          <a:p>
            <a:r>
              <a:rPr lang="en-US" altLang="en-US" dirty="0"/>
              <a:t>Using </a:t>
            </a:r>
            <a:r>
              <a:rPr lang="en-US" altLang="en-US" i="1" dirty="0">
                <a:solidFill>
                  <a:srgbClr val="0070C0"/>
                </a:solidFill>
              </a:rPr>
              <a:t>absolute</a:t>
            </a:r>
            <a:r>
              <a:rPr lang="en-US" altLang="en-US" dirty="0"/>
              <a:t> or </a:t>
            </a:r>
            <a:r>
              <a:rPr lang="en-US" altLang="en-US" i="1" dirty="0">
                <a:solidFill>
                  <a:srgbClr val="0070C0"/>
                </a:solidFill>
              </a:rPr>
              <a:t>relative</a:t>
            </a:r>
            <a:r>
              <a:rPr lang="en-US" altLang="en-US" dirty="0"/>
              <a:t> path name</a:t>
            </a:r>
          </a:p>
          <a:p>
            <a:r>
              <a:rPr lang="en-US" altLang="en-US" dirty="0"/>
              <a:t>Creating a new file is done in current directory</a:t>
            </a:r>
          </a:p>
          <a:p>
            <a:r>
              <a:rPr lang="en-US" altLang="en-US" dirty="0"/>
              <a:t>Delete a file</a:t>
            </a:r>
          </a:p>
          <a:p>
            <a:pPr marL="0" indent="0">
              <a:buNone/>
            </a:pPr>
            <a:r>
              <a:rPr lang="en-US" altLang="en-US" dirty="0"/>
              <a:t>		</a:t>
            </a:r>
            <a:r>
              <a:rPr lang="en-US" altLang="en-US" sz="1800" b="1" dirty="0" err="1">
                <a:solidFill>
                  <a:srgbClr val="000000"/>
                </a:solidFill>
                <a:latin typeface="Courier New" panose="02070309020205020404" pitchFamily="49" charset="0"/>
                <a:cs typeface="Courier New" panose="02070309020205020404" pitchFamily="49" charset="0"/>
              </a:rPr>
              <a:t>rm</a:t>
            </a:r>
            <a:r>
              <a:rPr lang="en-US" altLang="en-US" sz="1800" b="1" dirty="0">
                <a:solidFill>
                  <a:srgbClr val="000000"/>
                </a:solidFill>
                <a:latin typeface="Courier New" panose="02070309020205020404" pitchFamily="49" charset="0"/>
                <a:cs typeface="Courier New" panose="02070309020205020404" pitchFamily="49" charset="0"/>
              </a:rPr>
              <a:t> &lt;file-name&gt;</a:t>
            </a:r>
          </a:p>
          <a:p>
            <a:r>
              <a:rPr lang="en-US" altLang="en-US" dirty="0"/>
              <a:t>Creating a new subdirectory is done in current directory</a:t>
            </a:r>
          </a:p>
          <a:p>
            <a:pPr marL="0" lvl="1" indent="0">
              <a:buClr>
                <a:srgbClr val="993300"/>
              </a:buClr>
              <a:buSzPct val="90000"/>
              <a:buNone/>
            </a:pPr>
            <a:r>
              <a:rPr lang="en-US" altLang="en-US" dirty="0"/>
              <a:t>		</a:t>
            </a:r>
            <a:r>
              <a:rPr lang="en-US" altLang="en-US" b="1" dirty="0" err="1">
                <a:solidFill>
                  <a:srgbClr val="000000"/>
                </a:solidFill>
                <a:latin typeface="Courier New" panose="02070309020205020404" pitchFamily="49" charset="0"/>
                <a:cs typeface="Courier New" panose="02070309020205020404" pitchFamily="49" charset="0"/>
              </a:rPr>
              <a:t>mkdir</a:t>
            </a:r>
            <a:r>
              <a:rPr lang="en-US" altLang="en-US" b="1" dirty="0">
                <a:solidFill>
                  <a:srgbClr val="000000"/>
                </a:solidFill>
                <a:latin typeface="Courier New" panose="02070309020205020404" pitchFamily="49" charset="0"/>
                <a:cs typeface="Courier New" panose="02070309020205020404" pitchFamily="49" charset="0"/>
              </a:rPr>
              <a:t> &lt;</a:t>
            </a:r>
            <a:r>
              <a:rPr lang="en-US" altLang="en-US" b="1" dirty="0" err="1">
                <a:solidFill>
                  <a:srgbClr val="000000"/>
                </a:solidFill>
                <a:latin typeface="Courier New" panose="02070309020205020404" pitchFamily="49" charset="0"/>
                <a:cs typeface="Courier New" panose="02070309020205020404" pitchFamily="49" charset="0"/>
              </a:rPr>
              <a:t>dir</a:t>
            </a:r>
            <a:r>
              <a:rPr lang="en-US" altLang="en-US" b="1" dirty="0">
                <a:solidFill>
                  <a:srgbClr val="000000"/>
                </a:solidFill>
                <a:latin typeface="Courier New" panose="02070309020205020404" pitchFamily="49" charset="0"/>
                <a:cs typeface="Courier New" panose="02070309020205020404" pitchFamily="49" charset="0"/>
              </a:rPr>
              <a:t>-name&gt;</a:t>
            </a:r>
          </a:p>
          <a:p>
            <a:pPr lvl="1"/>
            <a:r>
              <a:rPr lang="en-US" altLang="en-US" dirty="0"/>
              <a:t>Example:  if in current directory   </a:t>
            </a:r>
            <a:r>
              <a:rPr lang="en-US" altLang="en-US" b="1" dirty="0">
                <a:solidFill>
                  <a:srgbClr val="000000"/>
                </a:solidFill>
                <a:latin typeface="Courier New" panose="02070309020205020404" pitchFamily="49" charset="0"/>
                <a:cs typeface="Courier New" panose="02070309020205020404" pitchFamily="49" charset="0"/>
              </a:rPr>
              <a:t>/mail</a:t>
            </a:r>
          </a:p>
          <a:p>
            <a:pPr marL="0" lvl="1" indent="0">
              <a:buClr>
                <a:srgbClr val="993300"/>
              </a:buClr>
              <a:buSzPct val="90000"/>
              <a:buNone/>
            </a:pPr>
            <a:r>
              <a:rPr lang="en-US" altLang="en-US" dirty="0"/>
              <a:t>		</a:t>
            </a:r>
            <a:r>
              <a:rPr lang="en-US" altLang="en-US" b="1" dirty="0" err="1">
                <a:solidFill>
                  <a:srgbClr val="000000"/>
                </a:solidFill>
                <a:latin typeface="Courier New" panose="02070309020205020404" pitchFamily="49" charset="0"/>
                <a:cs typeface="Courier New" panose="02070309020205020404" pitchFamily="49" charset="0"/>
              </a:rPr>
              <a:t>mkdir</a:t>
            </a:r>
            <a:r>
              <a:rPr lang="en-US" altLang="en-US" b="1" dirty="0">
                <a:solidFill>
                  <a:srgbClr val="000000"/>
                </a:solidFill>
                <a:latin typeface="Courier New" panose="02070309020205020404" pitchFamily="49" charset="0"/>
                <a:cs typeface="Courier New" panose="02070309020205020404" pitchFamily="49" charset="0"/>
              </a:rPr>
              <a:t> count</a:t>
            </a:r>
          </a:p>
          <a:p>
            <a:pPr lvl="1"/>
            <a:endParaRPr lang="en-US" altLang="en-US" dirty="0"/>
          </a:p>
          <a:p>
            <a:pPr marL="457200" lvl="1" indent="0">
              <a:buNone/>
            </a:pPr>
            <a:endParaRPr lang="en-US" altLang="en-US" dirty="0"/>
          </a:p>
          <a:p>
            <a:pPr lvl="1"/>
            <a:endParaRPr lang="en-US" altLang="en-US" dirty="0"/>
          </a:p>
          <a:p>
            <a:pPr lvl="2"/>
            <a:r>
              <a:rPr lang="en-US" altLang="en-US" dirty="0"/>
              <a:t>Deleting </a:t>
            </a:r>
            <a:r>
              <a:rPr lang="ja-JP" altLang="en-US"/>
              <a:t>“</a:t>
            </a:r>
            <a:r>
              <a:rPr lang="en-US" altLang="ja-JP" dirty="0"/>
              <a:t>mail</a:t>
            </a:r>
            <a:r>
              <a:rPr lang="ja-JP" altLang="en-US"/>
              <a:t>”</a:t>
            </a:r>
            <a:r>
              <a:rPr lang="en-US" altLang="ja-JP" dirty="0"/>
              <a:t> </a:t>
            </a:r>
            <a:r>
              <a:rPr lang="en-US" altLang="ja-JP" dirty="0">
                <a:sym typeface="Symbol" pitchFamily="2" charset="2"/>
              </a:rPr>
              <a:t> deleting the entire subtree rooted by </a:t>
            </a:r>
            <a:r>
              <a:rPr lang="ja-JP" altLang="en-US">
                <a:sym typeface="Symbol" pitchFamily="2" charset="2"/>
              </a:rPr>
              <a:t>“</a:t>
            </a:r>
            <a:r>
              <a:rPr lang="en-US" altLang="ja-JP" dirty="0">
                <a:sym typeface="Symbol" pitchFamily="2" charset="2"/>
              </a:rPr>
              <a:t>mail</a:t>
            </a:r>
            <a:r>
              <a:rPr lang="ja-JP" altLang="en-US">
                <a:sym typeface="Symbol" pitchFamily="2" charset="2"/>
              </a:rPr>
              <a:t>”</a:t>
            </a:r>
            <a:endParaRPr lang="en-US" altLang="en-US" dirty="0"/>
          </a:p>
          <a:p>
            <a:pPr lvl="1"/>
            <a:endParaRPr lang="en-US" altLang="en-US" dirty="0"/>
          </a:p>
        </p:txBody>
      </p:sp>
      <p:pic>
        <p:nvPicPr>
          <p:cNvPr id="31749" name="Picture 1">
            <a:extLst>
              <a:ext uri="{FF2B5EF4-FFF2-40B4-BE49-F238E27FC236}">
                <a16:creationId xmlns:a16="http://schemas.microsoft.com/office/drawing/2014/main" id="{26B1C68C-2DA0-9D44-B099-C154B4A28D1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9492" y="5343526"/>
            <a:ext cx="3132137"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90EDA3C-AB3B-4E42-A45B-12858CC4F50D}"/>
              </a:ext>
            </a:extLst>
          </p:cNvPr>
          <p:cNvSpPr>
            <a:spLocks noGrp="1" noChangeArrowheads="1"/>
          </p:cNvSpPr>
          <p:nvPr>
            <p:ph type="title"/>
          </p:nvPr>
        </p:nvSpPr>
        <p:spPr/>
        <p:txBody>
          <a:bodyPr/>
          <a:lstStyle/>
          <a:p>
            <a:r>
              <a:rPr lang="en-US" altLang="en-US"/>
              <a:t>Acyclic-Graph Directories</a:t>
            </a:r>
          </a:p>
        </p:txBody>
      </p:sp>
      <p:sp>
        <p:nvSpPr>
          <p:cNvPr id="32771" name="Rectangle 3">
            <a:extLst>
              <a:ext uri="{FF2B5EF4-FFF2-40B4-BE49-F238E27FC236}">
                <a16:creationId xmlns:a16="http://schemas.microsoft.com/office/drawing/2014/main" id="{A8744A50-D511-E346-A2DD-1A08118B12D7}"/>
              </a:ext>
            </a:extLst>
          </p:cNvPr>
          <p:cNvSpPr>
            <a:spLocks noGrp="1" noChangeArrowheads="1"/>
          </p:cNvSpPr>
          <p:nvPr>
            <p:ph sz="half" idx="10"/>
          </p:nvPr>
        </p:nvSpPr>
        <p:spPr>
          <a:xfrm>
            <a:off x="4726379" y="1376980"/>
            <a:ext cx="4105125" cy="5037071"/>
          </a:xfrm>
        </p:spPr>
        <p:txBody>
          <a:bodyPr/>
          <a:lstStyle/>
          <a:p>
            <a:r>
              <a:rPr lang="en-US" altLang="en-US" dirty="0"/>
              <a:t>Have shared subdirectories and files</a:t>
            </a:r>
          </a:p>
          <a:p>
            <a:pPr lvl="1"/>
            <a:r>
              <a:rPr lang="en-US" altLang="en-US" dirty="0"/>
              <a:t>Two different names (</a:t>
            </a:r>
            <a:r>
              <a:rPr lang="en-US" altLang="en-US" i="1" dirty="0">
                <a:solidFill>
                  <a:srgbClr val="0070C0"/>
                </a:solidFill>
              </a:rPr>
              <a:t>aliasing</a:t>
            </a:r>
            <a:r>
              <a:rPr lang="en-US" altLang="en-US" dirty="0"/>
              <a:t>)</a:t>
            </a:r>
          </a:p>
          <a:p>
            <a:pPr lvl="2"/>
            <a:r>
              <a:rPr lang="en-US" altLang="en-US" dirty="0"/>
              <a:t>If </a:t>
            </a:r>
            <a:r>
              <a:rPr lang="en-US" altLang="en-US" i="1" dirty="0" err="1">
                <a:solidFill>
                  <a:srgbClr val="0070C0"/>
                </a:solidFill>
              </a:rPr>
              <a:t>dict</a:t>
            </a:r>
            <a:r>
              <a:rPr lang="en-US" altLang="en-US" dirty="0"/>
              <a:t> deletes </a:t>
            </a:r>
            <a:r>
              <a:rPr lang="en-US" altLang="en-US" i="1" dirty="0">
                <a:solidFill>
                  <a:srgbClr val="0070C0"/>
                </a:solidFill>
              </a:rPr>
              <a:t>list</a:t>
            </a:r>
            <a:r>
              <a:rPr lang="en-US" altLang="en-US" dirty="0"/>
              <a:t> </a:t>
            </a:r>
            <a:r>
              <a:rPr lang="en-US" altLang="en-US" dirty="0">
                <a:sym typeface="Symbol" pitchFamily="2" charset="2"/>
              </a:rPr>
              <a:t> dangling pointer. </a:t>
            </a:r>
          </a:p>
          <a:p>
            <a:pPr lvl="1"/>
            <a:r>
              <a:rPr lang="en-US" altLang="en-US" dirty="0"/>
              <a:t>Solutions:</a:t>
            </a:r>
          </a:p>
          <a:p>
            <a:pPr lvl="2"/>
            <a:r>
              <a:rPr lang="en-US" altLang="en-US" i="1" dirty="0" err="1">
                <a:solidFill>
                  <a:srgbClr val="0070C0"/>
                </a:solidFill>
              </a:rPr>
              <a:t>Backpointers</a:t>
            </a:r>
            <a:r>
              <a:rPr lang="en-US" altLang="en-US" dirty="0"/>
              <a:t>, so we can delete all pointers</a:t>
            </a:r>
            <a:br>
              <a:rPr lang="en-US" altLang="en-US" dirty="0"/>
            </a:br>
            <a:r>
              <a:rPr lang="en-US" altLang="en-US" dirty="0"/>
              <a:t>Variable size records a problem</a:t>
            </a:r>
          </a:p>
          <a:p>
            <a:pPr lvl="3"/>
            <a:r>
              <a:rPr lang="en-US" altLang="en-US" dirty="0" err="1"/>
              <a:t>Backpointers</a:t>
            </a:r>
            <a:r>
              <a:rPr lang="en-US" altLang="en-US" dirty="0"/>
              <a:t> using a daisy chain organization</a:t>
            </a:r>
          </a:p>
          <a:p>
            <a:pPr lvl="2"/>
            <a:r>
              <a:rPr lang="en-US" altLang="en-US" i="1" dirty="0">
                <a:solidFill>
                  <a:srgbClr val="0070C0"/>
                </a:solidFill>
              </a:rPr>
              <a:t>Entry-hold-count</a:t>
            </a:r>
            <a:r>
              <a:rPr lang="en-US" altLang="en-US" dirty="0"/>
              <a:t> solution</a:t>
            </a:r>
          </a:p>
        </p:txBody>
      </p:sp>
      <p:pic>
        <p:nvPicPr>
          <p:cNvPr id="32772" name="Picture 7" descr="10">
            <a:extLst>
              <a:ext uri="{FF2B5EF4-FFF2-40B4-BE49-F238E27FC236}">
                <a16:creationId xmlns:a16="http://schemas.microsoft.com/office/drawing/2014/main" id="{27250BB8-211E-3541-888E-134CB2183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099" y="1828929"/>
            <a:ext cx="4612415" cy="379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253D75D-59BE-B041-8A67-9F7DC9D6030E}"/>
              </a:ext>
            </a:extLst>
          </p:cNvPr>
          <p:cNvSpPr>
            <a:spLocks noGrp="1" noChangeArrowheads="1"/>
          </p:cNvSpPr>
          <p:nvPr>
            <p:ph type="title"/>
          </p:nvPr>
        </p:nvSpPr>
        <p:spPr/>
        <p:txBody>
          <a:bodyPr/>
          <a:lstStyle/>
          <a:p>
            <a:pPr eaLnBrk="1" hangingPunct="1"/>
            <a:r>
              <a:rPr lang="en-US" altLang="en-US"/>
              <a:t>Acyclic-Graph Directories (Cont.)</a:t>
            </a:r>
          </a:p>
        </p:txBody>
      </p:sp>
      <p:sp>
        <p:nvSpPr>
          <p:cNvPr id="33795" name="Rectangle 3">
            <a:extLst>
              <a:ext uri="{FF2B5EF4-FFF2-40B4-BE49-F238E27FC236}">
                <a16:creationId xmlns:a16="http://schemas.microsoft.com/office/drawing/2014/main" id="{C8B44101-75F8-C847-BFAF-CF9F1537661C}"/>
              </a:ext>
            </a:extLst>
          </p:cNvPr>
          <p:cNvSpPr>
            <a:spLocks noGrp="1" noChangeArrowheads="1"/>
          </p:cNvSpPr>
          <p:nvPr>
            <p:ph idx="1"/>
          </p:nvPr>
        </p:nvSpPr>
        <p:spPr/>
        <p:txBody>
          <a:bodyPr/>
          <a:lstStyle/>
          <a:p>
            <a:r>
              <a:rPr lang="en-US" altLang="en-US" dirty="0"/>
              <a:t>New directory entry type</a:t>
            </a:r>
          </a:p>
          <a:p>
            <a:pPr lvl="1"/>
            <a:r>
              <a:rPr lang="en-US" altLang="en-US" i="1" dirty="0">
                <a:solidFill>
                  <a:srgbClr val="0070C0"/>
                </a:solidFill>
              </a:rPr>
              <a:t>Link</a:t>
            </a:r>
            <a:r>
              <a:rPr lang="en-US" altLang="en-US" dirty="0"/>
              <a:t> – another name (pointer) to an existing file</a:t>
            </a:r>
          </a:p>
          <a:p>
            <a:pPr lvl="1"/>
            <a:r>
              <a:rPr lang="en-US" altLang="en-US" i="1" dirty="0">
                <a:solidFill>
                  <a:srgbClr val="0070C0"/>
                </a:solidFill>
              </a:rPr>
              <a:t>Resolve the link </a:t>
            </a:r>
            <a:r>
              <a:rPr lang="en-US" altLang="en-US" dirty="0"/>
              <a:t>– follow pointer to locate the file</a:t>
            </a:r>
            <a:endParaRPr lang="en-US" altLang="en-US"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430EDE5-932A-D648-A739-EA7C670EEFB8}"/>
              </a:ext>
            </a:extLst>
          </p:cNvPr>
          <p:cNvSpPr>
            <a:spLocks noGrp="1" noChangeArrowheads="1"/>
          </p:cNvSpPr>
          <p:nvPr>
            <p:ph type="title"/>
          </p:nvPr>
        </p:nvSpPr>
        <p:spPr/>
        <p:txBody>
          <a:bodyPr/>
          <a:lstStyle/>
          <a:p>
            <a:r>
              <a:rPr lang="en-US" altLang="en-US"/>
              <a:t>General Graph Directory</a:t>
            </a:r>
          </a:p>
        </p:txBody>
      </p:sp>
      <p:pic>
        <p:nvPicPr>
          <p:cNvPr id="34819" name="Picture 6" descr="10">
            <a:extLst>
              <a:ext uri="{FF2B5EF4-FFF2-40B4-BE49-F238E27FC236}">
                <a16:creationId xmlns:a16="http://schemas.microsoft.com/office/drawing/2014/main" id="{00645C4C-58EB-2A41-9629-28899EB20E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240" y="1398494"/>
            <a:ext cx="7584623" cy="449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22E252D-E270-A944-BAC2-5351EAA6F64D}"/>
              </a:ext>
            </a:extLst>
          </p:cNvPr>
          <p:cNvSpPr>
            <a:spLocks noGrp="1" noChangeArrowheads="1"/>
          </p:cNvSpPr>
          <p:nvPr>
            <p:ph type="title"/>
          </p:nvPr>
        </p:nvSpPr>
        <p:spPr/>
        <p:txBody>
          <a:bodyPr/>
          <a:lstStyle/>
          <a:p>
            <a:r>
              <a:rPr lang="en-US" altLang="en-US"/>
              <a:t>General Graph Directory (Cont.)</a:t>
            </a:r>
          </a:p>
        </p:txBody>
      </p:sp>
      <p:sp>
        <p:nvSpPr>
          <p:cNvPr id="35843" name="Rectangle 3">
            <a:extLst>
              <a:ext uri="{FF2B5EF4-FFF2-40B4-BE49-F238E27FC236}">
                <a16:creationId xmlns:a16="http://schemas.microsoft.com/office/drawing/2014/main" id="{CE148AF2-2336-734A-B99A-6C75D0E59E75}"/>
              </a:ext>
            </a:extLst>
          </p:cNvPr>
          <p:cNvSpPr>
            <a:spLocks noGrp="1" noChangeArrowheads="1"/>
          </p:cNvSpPr>
          <p:nvPr>
            <p:ph idx="1"/>
          </p:nvPr>
        </p:nvSpPr>
        <p:spPr/>
        <p:txBody>
          <a:bodyPr/>
          <a:lstStyle/>
          <a:p>
            <a:r>
              <a:rPr lang="en-US" altLang="en-US" dirty="0"/>
              <a:t>How do we guarantee no cycles?</a:t>
            </a:r>
          </a:p>
          <a:p>
            <a:pPr lvl="1"/>
            <a:r>
              <a:rPr lang="en-US" altLang="en-US" dirty="0"/>
              <a:t>Allow </a:t>
            </a:r>
            <a:r>
              <a:rPr lang="en-US" altLang="en-US" i="1" dirty="0">
                <a:solidFill>
                  <a:srgbClr val="0070C0"/>
                </a:solidFill>
              </a:rPr>
              <a:t>only links to file </a:t>
            </a:r>
            <a:r>
              <a:rPr lang="en-US" altLang="en-US" dirty="0"/>
              <a:t>not subdirectories</a:t>
            </a:r>
          </a:p>
          <a:p>
            <a:pPr lvl="1"/>
            <a:r>
              <a:rPr lang="en-US" altLang="en-US" i="1" dirty="0">
                <a:solidFill>
                  <a:srgbClr val="0070C0"/>
                </a:solidFill>
              </a:rPr>
              <a:t>Garbage collection</a:t>
            </a:r>
          </a:p>
          <a:p>
            <a:pPr lvl="1"/>
            <a:r>
              <a:rPr lang="en-US" altLang="en-US" dirty="0"/>
              <a:t>Every time a new link is added use a </a:t>
            </a:r>
            <a:r>
              <a:rPr lang="en-US" altLang="en-US" i="1" dirty="0">
                <a:solidFill>
                  <a:srgbClr val="0070C0"/>
                </a:solidFill>
              </a:rPr>
              <a:t>cycle detection algorithm </a:t>
            </a:r>
            <a:r>
              <a:rPr lang="en-US" altLang="en-US" dirty="0"/>
              <a:t>to determine whether it is OK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4CD39C9-37F5-B34A-99CF-EBB50F5D4E28}"/>
              </a:ext>
            </a:extLst>
          </p:cNvPr>
          <p:cNvSpPr>
            <a:spLocks noGrp="1" noChangeArrowheads="1"/>
          </p:cNvSpPr>
          <p:nvPr>
            <p:ph type="title"/>
          </p:nvPr>
        </p:nvSpPr>
        <p:spPr/>
        <p:txBody>
          <a:bodyPr/>
          <a:lstStyle/>
          <a:p>
            <a:r>
              <a:rPr lang="en-US" altLang="en-US"/>
              <a:t>File System Mounting</a:t>
            </a:r>
          </a:p>
        </p:txBody>
      </p:sp>
      <p:sp>
        <p:nvSpPr>
          <p:cNvPr id="36867" name="Rectangle 3">
            <a:extLst>
              <a:ext uri="{FF2B5EF4-FFF2-40B4-BE49-F238E27FC236}">
                <a16:creationId xmlns:a16="http://schemas.microsoft.com/office/drawing/2014/main" id="{70965406-E2D0-D343-9E53-8729B5E27CC4}"/>
              </a:ext>
            </a:extLst>
          </p:cNvPr>
          <p:cNvSpPr>
            <a:spLocks noGrp="1" noChangeArrowheads="1"/>
          </p:cNvSpPr>
          <p:nvPr>
            <p:ph idx="1"/>
          </p:nvPr>
        </p:nvSpPr>
        <p:spPr/>
        <p:txBody>
          <a:bodyPr/>
          <a:lstStyle/>
          <a:p>
            <a:r>
              <a:rPr lang="en-US" altLang="en-US" dirty="0"/>
              <a:t>A file system must be </a:t>
            </a:r>
            <a:r>
              <a:rPr lang="en-US" altLang="en-US" i="1" dirty="0">
                <a:solidFill>
                  <a:srgbClr val="0070C0"/>
                </a:solidFill>
              </a:rPr>
              <a:t>mounted</a:t>
            </a:r>
            <a:r>
              <a:rPr lang="en-US" altLang="en-US" dirty="0"/>
              <a:t> before it can be </a:t>
            </a:r>
            <a:r>
              <a:rPr lang="en-US" altLang="en-US" i="1" dirty="0">
                <a:solidFill>
                  <a:srgbClr val="0070C0"/>
                </a:solidFill>
              </a:rPr>
              <a:t>accessed</a:t>
            </a:r>
          </a:p>
          <a:p>
            <a:r>
              <a:rPr lang="en-US" altLang="en-US" dirty="0"/>
              <a:t>A unmounted file system (i.e., Fig. (b)) is mounted at a mount point</a:t>
            </a:r>
          </a:p>
        </p:txBody>
      </p:sp>
      <p:pic>
        <p:nvPicPr>
          <p:cNvPr id="36868" name="Picture 1" descr="11_14.pdf">
            <a:extLst>
              <a:ext uri="{FF2B5EF4-FFF2-40B4-BE49-F238E27FC236}">
                <a16:creationId xmlns:a16="http://schemas.microsoft.com/office/drawing/2014/main" id="{E84436CF-CEBF-E549-91CC-0A7D8E955A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2690432"/>
            <a:ext cx="5910262"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CB07FCDD-FEC5-6542-9397-4764609E7B21}"/>
              </a:ext>
            </a:extLst>
          </p:cNvPr>
          <p:cNvSpPr>
            <a:spLocks noGrp="1" noChangeArrowheads="1"/>
          </p:cNvSpPr>
          <p:nvPr>
            <p:ph type="title"/>
          </p:nvPr>
        </p:nvSpPr>
        <p:spPr/>
        <p:txBody>
          <a:bodyPr/>
          <a:lstStyle/>
          <a:p>
            <a:r>
              <a:rPr lang="en-US" altLang="en-US"/>
              <a:t>Mount Point</a:t>
            </a:r>
          </a:p>
        </p:txBody>
      </p:sp>
      <p:pic>
        <p:nvPicPr>
          <p:cNvPr id="37891" name="Picture 5">
            <a:extLst>
              <a:ext uri="{FF2B5EF4-FFF2-40B4-BE49-F238E27FC236}">
                <a16:creationId xmlns:a16="http://schemas.microsoft.com/office/drawing/2014/main" id="{0622B9B3-FEF5-8843-AE57-470A5CB458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9344" y="1791080"/>
            <a:ext cx="3368992" cy="3863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257A3BD-543B-9740-A3F9-63C8BE219E49}"/>
              </a:ext>
            </a:extLst>
          </p:cNvPr>
          <p:cNvSpPr>
            <a:spLocks noGrp="1" noChangeArrowheads="1"/>
          </p:cNvSpPr>
          <p:nvPr>
            <p:ph type="title"/>
          </p:nvPr>
        </p:nvSpPr>
        <p:spPr/>
        <p:txBody>
          <a:bodyPr/>
          <a:lstStyle/>
          <a:p>
            <a:r>
              <a:rPr lang="en-US" altLang="en-US"/>
              <a:t>File Sharing</a:t>
            </a:r>
          </a:p>
        </p:txBody>
      </p:sp>
      <p:sp>
        <p:nvSpPr>
          <p:cNvPr id="38915" name="Rectangle 3">
            <a:extLst>
              <a:ext uri="{FF2B5EF4-FFF2-40B4-BE49-F238E27FC236}">
                <a16:creationId xmlns:a16="http://schemas.microsoft.com/office/drawing/2014/main" id="{894926B8-CA69-B34F-A08F-E082AFAC42AA}"/>
              </a:ext>
            </a:extLst>
          </p:cNvPr>
          <p:cNvSpPr>
            <a:spLocks noGrp="1" noChangeArrowheads="1"/>
          </p:cNvSpPr>
          <p:nvPr>
            <p:ph idx="1"/>
          </p:nvPr>
        </p:nvSpPr>
        <p:spPr/>
        <p:txBody>
          <a:bodyPr/>
          <a:lstStyle/>
          <a:p>
            <a:r>
              <a:rPr lang="en-US" altLang="en-US" dirty="0"/>
              <a:t>Sharing of files on </a:t>
            </a:r>
            <a:r>
              <a:rPr lang="en-US" altLang="en-US" i="1" dirty="0">
                <a:solidFill>
                  <a:srgbClr val="0070C0"/>
                </a:solidFill>
              </a:rPr>
              <a:t>multi-user systems </a:t>
            </a:r>
            <a:r>
              <a:rPr lang="en-US" altLang="en-US" dirty="0"/>
              <a:t>is desirable</a:t>
            </a:r>
          </a:p>
          <a:p>
            <a:r>
              <a:rPr lang="en-US" altLang="en-US" dirty="0"/>
              <a:t>Sharing may be done through a protection scheme</a:t>
            </a:r>
          </a:p>
          <a:p>
            <a:r>
              <a:rPr lang="en-US" altLang="en-US" dirty="0"/>
              <a:t>On distributed systems, files may be shared across a network</a:t>
            </a:r>
          </a:p>
          <a:p>
            <a:pPr lvl="1"/>
            <a:r>
              <a:rPr lang="en-US" altLang="en-US" i="1" dirty="0">
                <a:solidFill>
                  <a:srgbClr val="0070C0"/>
                </a:solidFill>
              </a:rPr>
              <a:t>Network File System </a:t>
            </a:r>
            <a:r>
              <a:rPr lang="en-US" altLang="en-US" dirty="0"/>
              <a:t>(</a:t>
            </a:r>
            <a:r>
              <a:rPr lang="en-US" altLang="en-US" b="1" dirty="0">
                <a:solidFill>
                  <a:srgbClr val="0070C0"/>
                </a:solidFill>
              </a:rPr>
              <a:t>NFS</a:t>
            </a:r>
            <a:r>
              <a:rPr lang="en-US" altLang="en-US" dirty="0"/>
              <a:t>) is a common distributed file-sharing method</a:t>
            </a:r>
          </a:p>
          <a:p>
            <a:r>
              <a:rPr lang="en-US" altLang="en-US" dirty="0"/>
              <a:t>If multi-user system</a:t>
            </a:r>
          </a:p>
          <a:p>
            <a:pPr lvl="1"/>
            <a:r>
              <a:rPr lang="en-US" altLang="en-US" dirty="0"/>
              <a:t>Owner of a file / directory</a:t>
            </a:r>
          </a:p>
          <a:p>
            <a:pPr lvl="2"/>
            <a:r>
              <a:rPr lang="en-US" altLang="en-US" i="1" dirty="0">
                <a:solidFill>
                  <a:srgbClr val="0070C0"/>
                </a:solidFill>
              </a:rPr>
              <a:t>User IDs </a:t>
            </a:r>
            <a:r>
              <a:rPr lang="en-US" altLang="en-US" dirty="0"/>
              <a:t>identify users, allowing permissions and protections to be per-user</a:t>
            </a:r>
          </a:p>
          <a:p>
            <a:pPr lvl="1"/>
            <a:r>
              <a:rPr lang="en-US" altLang="en-US" dirty="0"/>
              <a:t>Group of a file / directory</a:t>
            </a:r>
          </a:p>
          <a:p>
            <a:pPr lvl="2"/>
            <a:r>
              <a:rPr lang="en-US" altLang="en-US" i="1" dirty="0">
                <a:solidFill>
                  <a:srgbClr val="0070C0"/>
                </a:solidFill>
              </a:rPr>
              <a:t>Group IDs </a:t>
            </a:r>
            <a:r>
              <a:rPr lang="en-US" altLang="en-US" dirty="0"/>
              <a:t>allow users to be in groups, permitting group access rights</a:t>
            </a:r>
          </a:p>
          <a:p>
            <a:pPr marL="0" indent="0">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AE3B8F6-DA20-BE4D-B20D-1191DDE737AD}"/>
              </a:ext>
            </a:extLst>
          </p:cNvPr>
          <p:cNvSpPr>
            <a:spLocks noGrp="1" noChangeArrowheads="1"/>
          </p:cNvSpPr>
          <p:nvPr>
            <p:ph type="title"/>
          </p:nvPr>
        </p:nvSpPr>
        <p:spPr/>
        <p:txBody>
          <a:bodyPr/>
          <a:lstStyle/>
          <a:p>
            <a:r>
              <a:rPr lang="en-US" altLang="en-US"/>
              <a:t>File Sharing – Remote File Systems</a:t>
            </a:r>
          </a:p>
        </p:txBody>
      </p:sp>
      <p:sp>
        <p:nvSpPr>
          <p:cNvPr id="39939" name="Rectangle 3">
            <a:extLst>
              <a:ext uri="{FF2B5EF4-FFF2-40B4-BE49-F238E27FC236}">
                <a16:creationId xmlns:a16="http://schemas.microsoft.com/office/drawing/2014/main" id="{9BE074B3-049A-334B-9D04-A04E8F8A766E}"/>
              </a:ext>
            </a:extLst>
          </p:cNvPr>
          <p:cNvSpPr>
            <a:spLocks noGrp="1" noChangeArrowheads="1"/>
          </p:cNvSpPr>
          <p:nvPr>
            <p:ph idx="1"/>
          </p:nvPr>
        </p:nvSpPr>
        <p:spPr/>
        <p:txBody>
          <a:bodyPr/>
          <a:lstStyle/>
          <a:p>
            <a:pPr>
              <a:spcBef>
                <a:spcPts val="400"/>
              </a:spcBef>
              <a:spcAft>
                <a:spcPts val="400"/>
              </a:spcAft>
            </a:pPr>
            <a:r>
              <a:rPr lang="en-US" altLang="en-US" dirty="0"/>
              <a:t>Uses </a:t>
            </a:r>
            <a:r>
              <a:rPr lang="en-US" altLang="en-US" i="1" dirty="0">
                <a:solidFill>
                  <a:srgbClr val="0070C0"/>
                </a:solidFill>
              </a:rPr>
              <a:t>networking</a:t>
            </a:r>
            <a:r>
              <a:rPr lang="en-US" altLang="en-US" dirty="0"/>
              <a:t> to allow file system access between systems</a:t>
            </a:r>
          </a:p>
          <a:p>
            <a:pPr lvl="1">
              <a:spcBef>
                <a:spcPts val="400"/>
              </a:spcBef>
              <a:spcAft>
                <a:spcPts val="400"/>
              </a:spcAft>
            </a:pPr>
            <a:r>
              <a:rPr lang="en-US" altLang="en-US" dirty="0"/>
              <a:t>Manually via programs like FTP</a:t>
            </a:r>
          </a:p>
          <a:p>
            <a:pPr lvl="1">
              <a:spcBef>
                <a:spcPts val="400"/>
              </a:spcBef>
              <a:spcAft>
                <a:spcPts val="400"/>
              </a:spcAft>
            </a:pPr>
            <a:r>
              <a:rPr lang="en-US" altLang="en-US" dirty="0"/>
              <a:t>Automatically, seamlessly using </a:t>
            </a:r>
            <a:r>
              <a:rPr lang="en-US" altLang="en-US" i="1" dirty="0">
                <a:solidFill>
                  <a:srgbClr val="0070C0"/>
                </a:solidFill>
              </a:rPr>
              <a:t>distributed file systems</a:t>
            </a:r>
          </a:p>
          <a:p>
            <a:pPr lvl="1">
              <a:spcBef>
                <a:spcPts val="400"/>
              </a:spcBef>
              <a:spcAft>
                <a:spcPts val="400"/>
              </a:spcAft>
            </a:pPr>
            <a:r>
              <a:rPr lang="en-US" altLang="en-US" dirty="0"/>
              <a:t>Semi automatically via the world wide web</a:t>
            </a:r>
          </a:p>
          <a:p>
            <a:pPr>
              <a:spcBef>
                <a:spcPts val="400"/>
              </a:spcBef>
              <a:spcAft>
                <a:spcPts val="400"/>
              </a:spcAft>
            </a:pPr>
            <a:r>
              <a:rPr lang="en-US" altLang="en-US" i="1" dirty="0">
                <a:solidFill>
                  <a:srgbClr val="0070C0"/>
                </a:solidFill>
              </a:rPr>
              <a:t>Client-server model </a:t>
            </a:r>
            <a:r>
              <a:rPr lang="en-US" altLang="en-US" dirty="0"/>
              <a:t>allows clients to mount remote file systems from servers</a:t>
            </a:r>
          </a:p>
          <a:p>
            <a:pPr lvl="1">
              <a:spcBef>
                <a:spcPts val="400"/>
              </a:spcBef>
              <a:spcAft>
                <a:spcPts val="400"/>
              </a:spcAft>
            </a:pPr>
            <a:r>
              <a:rPr lang="en-US" altLang="en-US" dirty="0"/>
              <a:t>Server can serve multiple clients</a:t>
            </a:r>
          </a:p>
          <a:p>
            <a:pPr lvl="1">
              <a:spcBef>
                <a:spcPts val="400"/>
              </a:spcBef>
              <a:spcAft>
                <a:spcPts val="400"/>
              </a:spcAft>
            </a:pPr>
            <a:r>
              <a:rPr lang="en-US" altLang="en-US" dirty="0"/>
              <a:t>Client and user-on-client identification is insecure or complicated</a:t>
            </a:r>
          </a:p>
          <a:p>
            <a:pPr lvl="1">
              <a:spcBef>
                <a:spcPts val="400"/>
              </a:spcBef>
              <a:spcAft>
                <a:spcPts val="400"/>
              </a:spcAft>
            </a:pPr>
            <a:r>
              <a:rPr lang="en-US" altLang="en-US" b="1" dirty="0">
                <a:solidFill>
                  <a:srgbClr val="0070C0"/>
                </a:solidFill>
              </a:rPr>
              <a:t>NFS</a:t>
            </a:r>
            <a:r>
              <a:rPr lang="en-US" altLang="en-US" dirty="0"/>
              <a:t> is standard UNIX client-server file sharing protocol</a:t>
            </a:r>
          </a:p>
          <a:p>
            <a:pPr lvl="1">
              <a:spcBef>
                <a:spcPts val="400"/>
              </a:spcBef>
              <a:spcAft>
                <a:spcPts val="400"/>
              </a:spcAft>
            </a:pPr>
            <a:r>
              <a:rPr lang="en-US" altLang="en-US" b="1" dirty="0">
                <a:solidFill>
                  <a:srgbClr val="0070C0"/>
                </a:solidFill>
              </a:rPr>
              <a:t>CIFS</a:t>
            </a:r>
            <a:r>
              <a:rPr lang="en-US" altLang="en-US" dirty="0"/>
              <a:t> is standard Windows protocol</a:t>
            </a:r>
          </a:p>
          <a:p>
            <a:pPr lvl="1">
              <a:spcBef>
                <a:spcPts val="400"/>
              </a:spcBef>
              <a:spcAft>
                <a:spcPts val="400"/>
              </a:spcAft>
            </a:pPr>
            <a:r>
              <a:rPr lang="en-US" altLang="en-US" dirty="0"/>
              <a:t>Standard operating system file calls are translated into remote calls</a:t>
            </a:r>
          </a:p>
          <a:p>
            <a:pPr>
              <a:spcBef>
                <a:spcPts val="400"/>
              </a:spcBef>
              <a:spcAft>
                <a:spcPts val="400"/>
              </a:spcAft>
            </a:pPr>
            <a:r>
              <a:rPr lang="en-US" altLang="en-US" i="1" dirty="0">
                <a:solidFill>
                  <a:srgbClr val="0070C0"/>
                </a:solidFill>
              </a:rPr>
              <a:t>Distributed Information Systems </a:t>
            </a:r>
            <a:r>
              <a:rPr lang="en-US" altLang="en-US" dirty="0"/>
              <a:t>(distributed naming services) such as </a:t>
            </a:r>
            <a:r>
              <a:rPr lang="en-US" altLang="en-US" b="1" dirty="0">
                <a:solidFill>
                  <a:srgbClr val="0070C0"/>
                </a:solidFill>
              </a:rPr>
              <a:t>LDAP</a:t>
            </a:r>
            <a:r>
              <a:rPr lang="en-US" altLang="en-US" dirty="0"/>
              <a:t>, </a:t>
            </a:r>
            <a:r>
              <a:rPr lang="en-US" altLang="en-US" b="1" dirty="0">
                <a:solidFill>
                  <a:srgbClr val="0070C0"/>
                </a:solidFill>
              </a:rPr>
              <a:t>DNS</a:t>
            </a:r>
            <a:r>
              <a:rPr lang="en-US" altLang="en-US" dirty="0"/>
              <a:t>, </a:t>
            </a:r>
            <a:r>
              <a:rPr lang="en-US" altLang="en-US" b="1" dirty="0">
                <a:solidFill>
                  <a:srgbClr val="0070C0"/>
                </a:solidFill>
              </a:rPr>
              <a:t>NIS</a:t>
            </a:r>
            <a:r>
              <a:rPr lang="en-US" altLang="en-US" dirty="0"/>
              <a:t>, </a:t>
            </a:r>
            <a:r>
              <a:rPr lang="en-US" altLang="en-US" b="1" dirty="0">
                <a:solidFill>
                  <a:srgbClr val="0070C0"/>
                </a:solidFill>
              </a:rPr>
              <a:t>Active Directory </a:t>
            </a:r>
            <a:r>
              <a:rPr lang="en-US" altLang="en-US" dirty="0"/>
              <a:t>implement unified access to information needed for remote computing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E96D192-9813-1542-BC21-A0B5D9CFD0E4}"/>
              </a:ext>
            </a:extLst>
          </p:cNvPr>
          <p:cNvSpPr>
            <a:spLocks noGrp="1" noChangeArrowheads="1"/>
          </p:cNvSpPr>
          <p:nvPr>
            <p:ph type="title"/>
          </p:nvPr>
        </p:nvSpPr>
        <p:spPr/>
        <p:txBody>
          <a:bodyPr/>
          <a:lstStyle/>
          <a:p>
            <a:r>
              <a:rPr lang="en-US" altLang="en-US"/>
              <a:t>File Sharing – Failure Modes</a:t>
            </a:r>
          </a:p>
        </p:txBody>
      </p:sp>
      <p:sp>
        <p:nvSpPr>
          <p:cNvPr id="40963" name="Rectangle 3">
            <a:extLst>
              <a:ext uri="{FF2B5EF4-FFF2-40B4-BE49-F238E27FC236}">
                <a16:creationId xmlns:a16="http://schemas.microsoft.com/office/drawing/2014/main" id="{5597B583-3F2B-4448-9917-254C82CEBBB5}"/>
              </a:ext>
            </a:extLst>
          </p:cNvPr>
          <p:cNvSpPr>
            <a:spLocks noGrp="1" noChangeArrowheads="1"/>
          </p:cNvSpPr>
          <p:nvPr>
            <p:ph idx="1"/>
          </p:nvPr>
        </p:nvSpPr>
        <p:spPr/>
        <p:txBody>
          <a:bodyPr/>
          <a:lstStyle/>
          <a:p>
            <a:r>
              <a:rPr lang="en-US" altLang="en-US" dirty="0"/>
              <a:t>All file systems have </a:t>
            </a:r>
            <a:r>
              <a:rPr lang="en-US" altLang="en-US" i="1" dirty="0">
                <a:solidFill>
                  <a:srgbClr val="0070C0"/>
                </a:solidFill>
              </a:rPr>
              <a:t>failure modes</a:t>
            </a:r>
          </a:p>
          <a:p>
            <a:pPr lvl="1"/>
            <a:r>
              <a:rPr lang="en-US" altLang="en-US" dirty="0"/>
              <a:t>For example corruption of directory structures or other non-user data, called </a:t>
            </a:r>
            <a:r>
              <a:rPr lang="en-US" altLang="en-US" i="1" dirty="0">
                <a:solidFill>
                  <a:srgbClr val="0070C0"/>
                </a:solidFill>
              </a:rPr>
              <a:t>metadata</a:t>
            </a:r>
          </a:p>
          <a:p>
            <a:r>
              <a:rPr lang="en-US" altLang="en-US" dirty="0"/>
              <a:t>Remote file systems add new failure modes, due to </a:t>
            </a:r>
            <a:r>
              <a:rPr lang="en-US" altLang="en-US" i="1" dirty="0">
                <a:solidFill>
                  <a:srgbClr val="0070C0"/>
                </a:solidFill>
              </a:rPr>
              <a:t>network failure</a:t>
            </a:r>
            <a:r>
              <a:rPr lang="en-US" altLang="en-US" dirty="0"/>
              <a:t>, </a:t>
            </a:r>
            <a:r>
              <a:rPr lang="en-US" altLang="en-US" i="1" dirty="0">
                <a:solidFill>
                  <a:srgbClr val="0070C0"/>
                </a:solidFill>
              </a:rPr>
              <a:t>server failure</a:t>
            </a:r>
          </a:p>
          <a:p>
            <a:r>
              <a:rPr lang="en-US" altLang="en-US" dirty="0"/>
              <a:t>Recovery from failure can involve state information about status of each remote request</a:t>
            </a:r>
          </a:p>
          <a:p>
            <a:r>
              <a:rPr lang="en-US" altLang="en-US" dirty="0"/>
              <a:t>Stateless protocols such as </a:t>
            </a:r>
            <a:r>
              <a:rPr lang="en-US" altLang="en-US" b="1" dirty="0">
                <a:solidFill>
                  <a:srgbClr val="0070C0"/>
                </a:solidFill>
              </a:rPr>
              <a:t>NFS v.3</a:t>
            </a:r>
            <a:r>
              <a:rPr lang="en-US" altLang="en-US" dirty="0"/>
              <a:t> include all information in each request, allowing easy recovery but less security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E6C6F18-C799-2A4E-B57D-9C6349B9B3BE}"/>
              </a:ext>
            </a:extLst>
          </p:cNvPr>
          <p:cNvSpPr>
            <a:spLocks noGrp="1" noChangeArrowheads="1"/>
          </p:cNvSpPr>
          <p:nvPr>
            <p:ph type="title"/>
          </p:nvPr>
        </p:nvSpPr>
        <p:spPr/>
        <p:txBody>
          <a:bodyPr/>
          <a:lstStyle/>
          <a:p>
            <a:r>
              <a:rPr lang="en-US" altLang="en-US"/>
              <a:t>File Sharing – Consistency Semantics</a:t>
            </a:r>
          </a:p>
        </p:txBody>
      </p:sp>
      <p:sp>
        <p:nvSpPr>
          <p:cNvPr id="41987" name="Rectangle 3">
            <a:extLst>
              <a:ext uri="{FF2B5EF4-FFF2-40B4-BE49-F238E27FC236}">
                <a16:creationId xmlns:a16="http://schemas.microsoft.com/office/drawing/2014/main" id="{E3C144CB-7DC6-0941-B7F3-C9534A2732FD}"/>
              </a:ext>
            </a:extLst>
          </p:cNvPr>
          <p:cNvSpPr>
            <a:spLocks noGrp="1" noChangeArrowheads="1"/>
          </p:cNvSpPr>
          <p:nvPr>
            <p:ph idx="1"/>
          </p:nvPr>
        </p:nvSpPr>
        <p:spPr/>
        <p:txBody>
          <a:bodyPr/>
          <a:lstStyle/>
          <a:p>
            <a:r>
              <a:rPr lang="en-US" altLang="en-US" dirty="0"/>
              <a:t>Specify how multiple users are to access a shared file simultaneously</a:t>
            </a:r>
          </a:p>
          <a:p>
            <a:pPr lvl="1"/>
            <a:r>
              <a:rPr lang="en-US" altLang="en-US" dirty="0"/>
              <a:t>Similar to Ch. 5 </a:t>
            </a:r>
            <a:r>
              <a:rPr lang="en-US" altLang="en-US" i="1" dirty="0">
                <a:solidFill>
                  <a:srgbClr val="0070C0"/>
                </a:solidFill>
              </a:rPr>
              <a:t>process synchronization algorithms</a:t>
            </a:r>
          </a:p>
          <a:p>
            <a:pPr lvl="2"/>
            <a:r>
              <a:rPr lang="en-US" altLang="en-US" dirty="0"/>
              <a:t>Tend to be less complex due to disk I/O and network latency (for remote file systems</a:t>
            </a:r>
          </a:p>
          <a:p>
            <a:pPr lvl="1"/>
            <a:r>
              <a:rPr lang="en-US" altLang="en-US" i="1" dirty="0">
                <a:solidFill>
                  <a:srgbClr val="0070C0"/>
                </a:solidFill>
              </a:rPr>
              <a:t>Andrew File System </a:t>
            </a:r>
            <a:r>
              <a:rPr lang="en-US" altLang="en-US" dirty="0"/>
              <a:t>(</a:t>
            </a:r>
            <a:r>
              <a:rPr lang="en-US" altLang="en-US" b="1" dirty="0">
                <a:solidFill>
                  <a:srgbClr val="0070C0"/>
                </a:solidFill>
              </a:rPr>
              <a:t>AFS</a:t>
            </a:r>
            <a:r>
              <a:rPr lang="en-US" altLang="en-US" dirty="0"/>
              <a:t>) implemented complex remote file sharing semantics</a:t>
            </a:r>
          </a:p>
          <a:p>
            <a:pPr lvl="2"/>
            <a:r>
              <a:rPr lang="en-US" altLang="en-US" dirty="0"/>
              <a:t>AFS has session semantics</a:t>
            </a:r>
          </a:p>
          <a:p>
            <a:pPr lvl="3"/>
            <a:r>
              <a:rPr lang="en-US" altLang="en-US" dirty="0"/>
              <a:t>Writes only visible to sessions starting after the file is closed</a:t>
            </a:r>
          </a:p>
          <a:p>
            <a:pPr lvl="1"/>
            <a:r>
              <a:rPr lang="en-US" altLang="en-US" i="1" dirty="0">
                <a:solidFill>
                  <a:srgbClr val="0070C0"/>
                </a:solidFill>
              </a:rPr>
              <a:t>Unix file system </a:t>
            </a:r>
            <a:r>
              <a:rPr lang="en-US" altLang="en-US" dirty="0"/>
              <a:t>(</a:t>
            </a:r>
            <a:r>
              <a:rPr lang="en-US" altLang="en-US" b="1" dirty="0">
                <a:solidFill>
                  <a:srgbClr val="0070C0"/>
                </a:solidFill>
              </a:rPr>
              <a:t>UFS</a:t>
            </a:r>
            <a:r>
              <a:rPr lang="en-US" altLang="en-US" dirty="0"/>
              <a:t>) implements:</a:t>
            </a:r>
          </a:p>
          <a:p>
            <a:pPr lvl="2"/>
            <a:r>
              <a:rPr lang="en-US" altLang="en-US" dirty="0"/>
              <a:t>Writes to an open file visible immediately to other users of the same open file</a:t>
            </a:r>
          </a:p>
          <a:p>
            <a:pPr lvl="2"/>
            <a:r>
              <a:rPr lang="en-US" altLang="en-US" dirty="0"/>
              <a:t>Sharing file pointer to allow multiple users to read and write concurrently</a:t>
            </a:r>
          </a:p>
          <a:p>
            <a:pPr lvl="2"/>
            <a:endParaRPr lang="en-US" altLang="en-US" dirty="0"/>
          </a:p>
          <a:p>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6D69172-CA53-A648-80EE-0DD4E6E7BD68}"/>
              </a:ext>
            </a:extLst>
          </p:cNvPr>
          <p:cNvSpPr>
            <a:spLocks noGrp="1" noChangeArrowheads="1"/>
          </p:cNvSpPr>
          <p:nvPr>
            <p:ph type="title"/>
          </p:nvPr>
        </p:nvSpPr>
        <p:spPr/>
        <p:txBody>
          <a:bodyPr/>
          <a:lstStyle/>
          <a:p>
            <a:r>
              <a:rPr lang="en-US" altLang="en-US"/>
              <a:t>Protection</a:t>
            </a:r>
          </a:p>
        </p:txBody>
      </p:sp>
      <p:sp>
        <p:nvSpPr>
          <p:cNvPr id="43011" name="Rectangle 3">
            <a:extLst>
              <a:ext uri="{FF2B5EF4-FFF2-40B4-BE49-F238E27FC236}">
                <a16:creationId xmlns:a16="http://schemas.microsoft.com/office/drawing/2014/main" id="{E34B4BF7-AF43-AB45-9299-30B5E2BA583E}"/>
              </a:ext>
            </a:extLst>
          </p:cNvPr>
          <p:cNvSpPr>
            <a:spLocks noGrp="1" noChangeArrowheads="1"/>
          </p:cNvSpPr>
          <p:nvPr>
            <p:ph idx="1"/>
          </p:nvPr>
        </p:nvSpPr>
        <p:spPr/>
        <p:txBody>
          <a:bodyPr/>
          <a:lstStyle/>
          <a:p>
            <a:r>
              <a:rPr lang="en-US" altLang="en-US" i="1" dirty="0">
                <a:solidFill>
                  <a:srgbClr val="0070C0"/>
                </a:solidFill>
              </a:rPr>
              <a:t>File owner/creator </a:t>
            </a:r>
            <a:r>
              <a:rPr lang="en-US" altLang="en-US" dirty="0"/>
              <a:t>should be able to control:</a:t>
            </a:r>
          </a:p>
          <a:p>
            <a:pPr lvl="1"/>
            <a:r>
              <a:rPr lang="en-US" altLang="en-US" dirty="0"/>
              <a:t>what can be done</a:t>
            </a:r>
          </a:p>
          <a:p>
            <a:pPr lvl="1"/>
            <a:r>
              <a:rPr lang="en-US" altLang="en-US" dirty="0"/>
              <a:t>by whom</a:t>
            </a:r>
          </a:p>
          <a:p>
            <a:r>
              <a:rPr lang="en-US" altLang="en-US" i="1" dirty="0">
                <a:solidFill>
                  <a:srgbClr val="0070C0"/>
                </a:solidFill>
              </a:rPr>
              <a:t>Types of access</a:t>
            </a:r>
          </a:p>
          <a:p>
            <a:pPr lvl="1"/>
            <a:r>
              <a:rPr lang="en-US" altLang="en-US" dirty="0"/>
              <a:t>Read</a:t>
            </a:r>
          </a:p>
          <a:p>
            <a:pPr lvl="1"/>
            <a:r>
              <a:rPr lang="en-US" altLang="en-US" dirty="0"/>
              <a:t>Write</a:t>
            </a:r>
          </a:p>
          <a:p>
            <a:pPr lvl="1"/>
            <a:r>
              <a:rPr lang="en-US" altLang="en-US" dirty="0"/>
              <a:t>Execute</a:t>
            </a:r>
          </a:p>
          <a:p>
            <a:pPr lvl="1"/>
            <a:r>
              <a:rPr lang="en-US" altLang="en-US" dirty="0"/>
              <a:t>Append</a:t>
            </a:r>
          </a:p>
          <a:p>
            <a:pPr lvl="1"/>
            <a:r>
              <a:rPr lang="en-US" altLang="en-US" dirty="0"/>
              <a:t>Delete</a:t>
            </a:r>
          </a:p>
          <a:p>
            <a:pPr lvl="1"/>
            <a:r>
              <a:rPr lang="en-US" altLang="en-US" dirty="0"/>
              <a:t>List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0D804D8-AB75-3C4F-BE3F-8EC444CED7DF}"/>
              </a:ext>
            </a:extLst>
          </p:cNvPr>
          <p:cNvSpPr>
            <a:spLocks noGrp="1" noChangeArrowheads="1"/>
          </p:cNvSpPr>
          <p:nvPr>
            <p:ph type="title"/>
          </p:nvPr>
        </p:nvSpPr>
        <p:spPr/>
        <p:txBody>
          <a:bodyPr/>
          <a:lstStyle/>
          <a:p>
            <a:pPr eaLnBrk="1" hangingPunct="1"/>
            <a:r>
              <a:rPr lang="en-US" altLang="en-US"/>
              <a:t>Access Lists and Groups</a:t>
            </a:r>
          </a:p>
        </p:txBody>
      </p:sp>
      <p:sp>
        <p:nvSpPr>
          <p:cNvPr id="44035" name="Rectangle 3">
            <a:extLst>
              <a:ext uri="{FF2B5EF4-FFF2-40B4-BE49-F238E27FC236}">
                <a16:creationId xmlns:a16="http://schemas.microsoft.com/office/drawing/2014/main" id="{13FE6471-1601-4D46-B1D2-1CB7D97742FC}"/>
              </a:ext>
            </a:extLst>
          </p:cNvPr>
          <p:cNvSpPr>
            <a:spLocks noGrp="1" noChangeArrowheads="1"/>
          </p:cNvSpPr>
          <p:nvPr>
            <p:ph idx="1"/>
          </p:nvPr>
        </p:nvSpPr>
        <p:spPr/>
        <p:txBody>
          <a:bodyPr/>
          <a:lstStyle/>
          <a:p>
            <a:pPr>
              <a:lnSpc>
                <a:spcPct val="90000"/>
              </a:lnSpc>
              <a:tabLst>
                <a:tab pos="1833563" algn="l"/>
                <a:tab pos="4459288" algn="l"/>
                <a:tab pos="5195888" algn="l"/>
                <a:tab pos="5888038" algn="l"/>
              </a:tabLst>
            </a:pPr>
            <a:r>
              <a:rPr lang="en-US" altLang="en-US" dirty="0"/>
              <a:t>Mode of access:  </a:t>
            </a:r>
            <a:r>
              <a:rPr lang="en-US" altLang="en-US" i="1" dirty="0">
                <a:solidFill>
                  <a:srgbClr val="0070C0"/>
                </a:solidFill>
              </a:rPr>
              <a:t>read</a:t>
            </a:r>
            <a:r>
              <a:rPr lang="en-US" altLang="en-US" dirty="0"/>
              <a:t> (R), </a:t>
            </a:r>
            <a:r>
              <a:rPr lang="en-US" altLang="en-US" i="1" dirty="0">
                <a:solidFill>
                  <a:srgbClr val="0070C0"/>
                </a:solidFill>
              </a:rPr>
              <a:t>write</a:t>
            </a:r>
            <a:r>
              <a:rPr lang="en-US" altLang="en-US" dirty="0"/>
              <a:t> (W), </a:t>
            </a:r>
            <a:r>
              <a:rPr lang="en-US" altLang="en-US" i="1" dirty="0">
                <a:solidFill>
                  <a:srgbClr val="0070C0"/>
                </a:solidFill>
              </a:rPr>
              <a:t>execute</a:t>
            </a:r>
            <a:r>
              <a:rPr lang="en-US" altLang="en-US" dirty="0"/>
              <a:t> (X)</a:t>
            </a:r>
          </a:p>
          <a:p>
            <a:pPr>
              <a:lnSpc>
                <a:spcPct val="90000"/>
              </a:lnSpc>
              <a:tabLst>
                <a:tab pos="1833563" algn="l"/>
                <a:tab pos="4459288" algn="l"/>
                <a:tab pos="5195888" algn="l"/>
                <a:tab pos="5888038" algn="l"/>
              </a:tabLst>
            </a:pPr>
            <a:r>
              <a:rPr lang="en-US" altLang="en-US" dirty="0"/>
              <a:t>Three classes of users on Unix / Linux</a:t>
            </a:r>
          </a:p>
          <a:p>
            <a:pPr>
              <a:lnSpc>
                <a:spcPct val="90000"/>
              </a:lnSpc>
              <a:spcBef>
                <a:spcPts val="400"/>
              </a:spcBef>
              <a:spcAft>
                <a:spcPts val="400"/>
              </a:spcAft>
              <a:buNone/>
              <a:tabLst>
                <a:tab pos="1833563" algn="l"/>
                <a:tab pos="4459288" algn="l"/>
                <a:tab pos="5195888" algn="l"/>
                <a:tab pos="5888038" algn="l"/>
              </a:tabLst>
            </a:pPr>
            <a:r>
              <a:rPr lang="en-US" altLang="en-US" sz="1600" dirty="0"/>
              <a:t>					RWX</a:t>
            </a:r>
          </a:p>
          <a:p>
            <a:pPr>
              <a:lnSpc>
                <a:spcPct val="90000"/>
              </a:lnSpc>
              <a:spcBef>
                <a:spcPts val="400"/>
              </a:spcBef>
              <a:spcAft>
                <a:spcPts val="400"/>
              </a:spcAft>
              <a:buNone/>
              <a:tabLst>
                <a:tab pos="1833563" algn="l"/>
                <a:tab pos="4459288" algn="l"/>
                <a:tab pos="5195888" algn="l"/>
                <a:tab pos="5888038" algn="l"/>
              </a:tabLst>
            </a:pPr>
            <a:r>
              <a:rPr lang="en-US" altLang="en-US" sz="1600" dirty="0"/>
              <a:t>		a) </a:t>
            </a:r>
            <a:r>
              <a:rPr lang="en-US" altLang="en-US" sz="1600" b="1" dirty="0"/>
              <a:t>owner access</a:t>
            </a:r>
            <a:r>
              <a:rPr lang="en-US" altLang="en-US" sz="1600" dirty="0"/>
              <a:t> 	7	</a:t>
            </a:r>
            <a:r>
              <a:rPr lang="en-US" altLang="en-US" sz="1600" dirty="0">
                <a:sym typeface="Symbol" pitchFamily="2" charset="2"/>
              </a:rPr>
              <a:t>	1 1 1</a:t>
            </a:r>
            <a:br>
              <a:rPr lang="en-US" altLang="en-US" sz="1600" dirty="0">
                <a:sym typeface="Symbol" pitchFamily="2" charset="2"/>
              </a:rPr>
            </a:br>
            <a:r>
              <a:rPr lang="en-US" altLang="en-US" sz="1600" dirty="0">
                <a:sym typeface="Symbol" pitchFamily="2" charset="2"/>
              </a:rPr>
              <a:t>				RWX</a:t>
            </a:r>
          </a:p>
          <a:p>
            <a:pPr>
              <a:lnSpc>
                <a:spcPct val="90000"/>
              </a:lnSpc>
              <a:spcBef>
                <a:spcPts val="400"/>
              </a:spcBef>
              <a:spcAft>
                <a:spcPts val="400"/>
              </a:spcAft>
              <a:buNone/>
              <a:tabLst>
                <a:tab pos="1833563" algn="l"/>
                <a:tab pos="4459288" algn="l"/>
                <a:tab pos="5195888" algn="l"/>
                <a:tab pos="5888038" algn="l"/>
              </a:tabLst>
            </a:pPr>
            <a:r>
              <a:rPr lang="en-US" altLang="en-US" sz="1600" dirty="0">
                <a:sym typeface="Symbol" pitchFamily="2" charset="2"/>
              </a:rPr>
              <a:t>		b) </a:t>
            </a:r>
            <a:r>
              <a:rPr lang="en-US" altLang="en-US" sz="1600" b="1" dirty="0">
                <a:sym typeface="Symbol" pitchFamily="2" charset="2"/>
              </a:rPr>
              <a:t>group access</a:t>
            </a:r>
            <a:r>
              <a:rPr lang="en-US" altLang="en-US" sz="1600" dirty="0">
                <a:sym typeface="Symbol" pitchFamily="2" charset="2"/>
              </a:rPr>
              <a:t> 	6	 	1 1 0</a:t>
            </a:r>
          </a:p>
          <a:p>
            <a:pPr>
              <a:lnSpc>
                <a:spcPct val="90000"/>
              </a:lnSpc>
              <a:spcBef>
                <a:spcPts val="400"/>
              </a:spcBef>
              <a:spcAft>
                <a:spcPts val="400"/>
              </a:spcAft>
              <a:buNone/>
              <a:tabLst>
                <a:tab pos="1833563" algn="l"/>
                <a:tab pos="4459288" algn="l"/>
                <a:tab pos="5195888" algn="l"/>
                <a:tab pos="5888038" algn="l"/>
              </a:tabLst>
            </a:pPr>
            <a:r>
              <a:rPr lang="en-US" altLang="en-US" sz="1600" dirty="0">
                <a:sym typeface="Symbol" pitchFamily="2" charset="2"/>
              </a:rPr>
              <a:t>					RWX</a:t>
            </a:r>
          </a:p>
          <a:p>
            <a:pPr>
              <a:lnSpc>
                <a:spcPct val="90000"/>
              </a:lnSpc>
              <a:spcBef>
                <a:spcPts val="400"/>
              </a:spcBef>
              <a:spcAft>
                <a:spcPts val="400"/>
              </a:spcAft>
              <a:buNone/>
              <a:tabLst>
                <a:tab pos="1833563" algn="l"/>
                <a:tab pos="4459288" algn="l"/>
                <a:tab pos="5195888" algn="l"/>
                <a:tab pos="5888038" algn="l"/>
              </a:tabLst>
            </a:pPr>
            <a:r>
              <a:rPr lang="en-US" altLang="en-US" sz="1600" dirty="0">
                <a:sym typeface="Symbol" pitchFamily="2" charset="2"/>
              </a:rPr>
              <a:t>		c) </a:t>
            </a:r>
            <a:r>
              <a:rPr lang="en-US" altLang="en-US" sz="1600" b="1" dirty="0">
                <a:sym typeface="Symbol" pitchFamily="2" charset="2"/>
              </a:rPr>
              <a:t>public access</a:t>
            </a:r>
            <a:r>
              <a:rPr lang="en-US" altLang="en-US" sz="1600" dirty="0">
                <a:sym typeface="Symbol" pitchFamily="2" charset="2"/>
              </a:rPr>
              <a:t>	1	 	0 0 1</a:t>
            </a:r>
          </a:p>
          <a:p>
            <a:pPr>
              <a:lnSpc>
                <a:spcPct val="90000"/>
              </a:lnSpc>
              <a:tabLst>
                <a:tab pos="1833563" algn="l"/>
                <a:tab pos="4459288" algn="l"/>
                <a:tab pos="5195888" algn="l"/>
                <a:tab pos="5888038" algn="l"/>
              </a:tabLst>
            </a:pPr>
            <a:r>
              <a:rPr lang="en-US" altLang="en-US" dirty="0">
                <a:sym typeface="Symbol" pitchFamily="2" charset="2"/>
              </a:rPr>
              <a:t>Ask manager to create a group (unique name), say G, and add some users to the group.</a:t>
            </a:r>
          </a:p>
          <a:p>
            <a:pPr>
              <a:lnSpc>
                <a:spcPct val="90000"/>
              </a:lnSpc>
              <a:tabLst>
                <a:tab pos="1833563" algn="l"/>
                <a:tab pos="4459288" algn="l"/>
                <a:tab pos="5195888" algn="l"/>
                <a:tab pos="5888038" algn="l"/>
              </a:tabLst>
            </a:pPr>
            <a:r>
              <a:rPr lang="en-US" altLang="en-US" dirty="0">
                <a:sym typeface="Symbol" pitchFamily="2" charset="2"/>
              </a:rPr>
              <a:t>For a particular file (say </a:t>
            </a:r>
            <a:r>
              <a:rPr lang="en-US" altLang="en-US" i="1" dirty="0">
                <a:sym typeface="Symbol" pitchFamily="2" charset="2"/>
              </a:rPr>
              <a:t>game</a:t>
            </a:r>
            <a:r>
              <a:rPr lang="en-US" altLang="en-US" dirty="0">
                <a:sym typeface="Symbol" pitchFamily="2" charset="2"/>
              </a:rPr>
              <a:t>) or subdirectory, define an appropriate access.</a:t>
            </a:r>
          </a:p>
        </p:txBody>
      </p:sp>
      <p:sp>
        <p:nvSpPr>
          <p:cNvPr id="44036" name="Rectangle 13">
            <a:extLst>
              <a:ext uri="{FF2B5EF4-FFF2-40B4-BE49-F238E27FC236}">
                <a16:creationId xmlns:a16="http://schemas.microsoft.com/office/drawing/2014/main" id="{DA3B3A61-87BC-D04D-A1D9-0D55332DB496}"/>
              </a:ext>
            </a:extLst>
          </p:cNvPr>
          <p:cNvSpPr>
            <a:spLocks noChangeArrowheads="1"/>
          </p:cNvSpPr>
          <p:nvPr/>
        </p:nvSpPr>
        <p:spPr bwMode="auto">
          <a:xfrm>
            <a:off x="798513" y="5643563"/>
            <a:ext cx="702945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1pPr>
            <a:lvl2pPr marL="742950" indent="-28575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2pPr>
            <a:lvl3pPr marL="1143000" indent="-2286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3pPr>
            <a:lvl4pPr marL="1600200" indent="-2286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4pPr>
            <a:lvl5pPr marL="2057400" indent="-2286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9pPr>
          </a:lstStyle>
          <a:p>
            <a:pPr>
              <a:spcBef>
                <a:spcPct val="20000"/>
              </a:spcBef>
              <a:buClr>
                <a:schemeClr val="folHlink"/>
              </a:buClr>
              <a:buFont typeface="Monotype Sorts" pitchFamily="2" charset="2"/>
              <a:buNone/>
            </a:pPr>
            <a:r>
              <a:rPr kumimoji="1" lang="en-US" altLang="en-US">
                <a:latin typeface="Arial" panose="020B0604020202020204" pitchFamily="34" charset="0"/>
                <a:sym typeface="Symbol" pitchFamily="2" charset="2"/>
              </a:rPr>
              <a:t>Attach a group to a file</a:t>
            </a:r>
            <a:br>
              <a:rPr kumimoji="1" lang="en-US" altLang="en-US">
                <a:latin typeface="Arial" panose="020B0604020202020204" pitchFamily="34" charset="0"/>
                <a:sym typeface="Symbol" pitchFamily="2" charset="2"/>
              </a:rPr>
            </a:br>
            <a:r>
              <a:rPr kumimoji="1" lang="en-US" altLang="en-US">
                <a:latin typeface="Arial" panose="020B0604020202020204" pitchFamily="34" charset="0"/>
                <a:sym typeface="Symbol" pitchFamily="2" charset="2"/>
              </a:rPr>
              <a:t>	         </a:t>
            </a:r>
            <a:r>
              <a:rPr kumimoji="1" lang="en-US" altLang="en-US" b="1">
                <a:latin typeface="Courier New" panose="02070309020205020404" pitchFamily="49" charset="0"/>
                <a:cs typeface="Courier New" panose="02070309020205020404" pitchFamily="49" charset="0"/>
                <a:sym typeface="Symbol" pitchFamily="2" charset="2"/>
              </a:rPr>
              <a:t>chgrp     G    game</a:t>
            </a:r>
          </a:p>
        </p:txBody>
      </p:sp>
      <p:pic>
        <p:nvPicPr>
          <p:cNvPr id="44037" name="Picture 1">
            <a:extLst>
              <a:ext uri="{FF2B5EF4-FFF2-40B4-BE49-F238E27FC236}">
                <a16:creationId xmlns:a16="http://schemas.microsoft.com/office/drawing/2014/main" id="{F4B44B7E-2893-FC42-9A4C-4BDD2281B1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240" y="2894605"/>
            <a:ext cx="1649962" cy="626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657E385-0155-4547-B125-14FDA18E61C6}"/>
              </a:ext>
            </a:extLst>
          </p:cNvPr>
          <p:cNvSpPr>
            <a:spLocks noGrp="1" noChangeArrowheads="1"/>
          </p:cNvSpPr>
          <p:nvPr>
            <p:ph type="title"/>
          </p:nvPr>
        </p:nvSpPr>
        <p:spPr/>
        <p:txBody>
          <a:bodyPr/>
          <a:lstStyle/>
          <a:p>
            <a:r>
              <a:rPr lang="en-US" altLang="en-US"/>
              <a:t>Windows 7 Access-Control List Management</a:t>
            </a:r>
          </a:p>
        </p:txBody>
      </p:sp>
      <p:pic>
        <p:nvPicPr>
          <p:cNvPr id="45059" name="Picture 2" descr="11_16.pdf">
            <a:extLst>
              <a:ext uri="{FF2B5EF4-FFF2-40B4-BE49-F238E27FC236}">
                <a16:creationId xmlns:a16="http://schemas.microsoft.com/office/drawing/2014/main" id="{9E7BC0D6-E199-D148-B92F-20CB535E525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04147" y="1398493"/>
            <a:ext cx="3646869"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8CA809A-944B-6749-9154-E338BF279C3D}"/>
              </a:ext>
            </a:extLst>
          </p:cNvPr>
          <p:cNvSpPr>
            <a:spLocks noGrp="1" noChangeArrowheads="1"/>
          </p:cNvSpPr>
          <p:nvPr>
            <p:ph type="title"/>
          </p:nvPr>
        </p:nvSpPr>
        <p:spPr/>
        <p:txBody>
          <a:bodyPr/>
          <a:lstStyle/>
          <a:p>
            <a:pPr eaLnBrk="1" hangingPunct="1"/>
            <a:r>
              <a:rPr lang="en-US" altLang="en-US"/>
              <a:t>A Sample UNIX Directory Listing</a:t>
            </a:r>
          </a:p>
        </p:txBody>
      </p:sp>
      <p:pic>
        <p:nvPicPr>
          <p:cNvPr id="46083" name="Picture 4">
            <a:extLst>
              <a:ext uri="{FF2B5EF4-FFF2-40B4-BE49-F238E27FC236}">
                <a16:creationId xmlns:a16="http://schemas.microsoft.com/office/drawing/2014/main" id="{95EFAEB5-1D6B-8C44-951B-3FCF925EF0E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1324769" y="1398589"/>
            <a:ext cx="6263216" cy="4697412"/>
          </a:xfr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4A228-8920-AF42-BC44-8A902D38BDE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E7534D3-CF41-4A47-8253-DC1C2FDCFA7A}"/>
              </a:ext>
            </a:extLst>
          </p:cNvPr>
          <p:cNvSpPr>
            <a:spLocks noGrp="1"/>
          </p:cNvSpPr>
          <p:nvPr>
            <p:ph idx="1"/>
          </p:nvPr>
        </p:nvSpPr>
        <p:spPr/>
        <p:txBody>
          <a:bodyPr/>
          <a:lstStyle/>
          <a:p>
            <a:pPr fontAlgn="auto"/>
            <a:r>
              <a:rPr lang="en-US" dirty="0"/>
              <a:t>A </a:t>
            </a:r>
            <a:r>
              <a:rPr lang="en-US" i="1" dirty="0">
                <a:solidFill>
                  <a:srgbClr val="0070C0"/>
                </a:solidFill>
              </a:rPr>
              <a:t>file</a:t>
            </a:r>
            <a:r>
              <a:rPr lang="en-US" dirty="0"/>
              <a:t> is an abstract data type defined and implemented by the operating system. It is a </a:t>
            </a:r>
            <a:r>
              <a:rPr lang="en-US" i="1" dirty="0">
                <a:solidFill>
                  <a:srgbClr val="0070C0"/>
                </a:solidFill>
              </a:rPr>
              <a:t>sequence of logical records</a:t>
            </a:r>
            <a:r>
              <a:rPr lang="en-US" dirty="0"/>
              <a:t>. A logical record may be a byte, a line (of fixed or variable length), or a more complex data item. The operating system may specifically support various record types or may leave that support to the application program. </a:t>
            </a:r>
          </a:p>
          <a:p>
            <a:pPr fontAlgn="auto"/>
            <a:r>
              <a:rPr lang="en-US" dirty="0"/>
              <a:t>A major task for the operating system is to </a:t>
            </a:r>
            <a:r>
              <a:rPr lang="en-US" i="1" dirty="0">
                <a:solidFill>
                  <a:srgbClr val="0070C0"/>
                </a:solidFill>
              </a:rPr>
              <a:t>map the logical file concept onto physical storage devices</a:t>
            </a:r>
            <a:r>
              <a:rPr lang="en-US" dirty="0"/>
              <a:t> such as hard disk or NVM device. Since the physical record size of the device may not be the same as the logical record size, it may be necessary to order logical records into physical records. Again, this task may be supported by the operating system or left for the application program. </a:t>
            </a:r>
          </a:p>
        </p:txBody>
      </p:sp>
    </p:spTree>
    <p:extLst>
      <p:ext uri="{BB962C8B-B14F-4D97-AF65-F5344CB8AC3E}">
        <p14:creationId xmlns:p14="http://schemas.microsoft.com/office/powerpoint/2010/main" val="41508695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529E6-7D4A-5643-A2F5-2AD47C01339C}"/>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665B156F-025C-7C4C-A99E-6469865D65CB}"/>
              </a:ext>
            </a:extLst>
          </p:cNvPr>
          <p:cNvSpPr>
            <a:spLocks noGrp="1"/>
          </p:cNvSpPr>
          <p:nvPr>
            <p:ph idx="1"/>
          </p:nvPr>
        </p:nvSpPr>
        <p:spPr/>
        <p:txBody>
          <a:bodyPr/>
          <a:lstStyle/>
          <a:p>
            <a:pPr fontAlgn="auto"/>
            <a:r>
              <a:rPr lang="en-US" dirty="0"/>
              <a:t>Within a </a:t>
            </a:r>
            <a:r>
              <a:rPr lang="en-US" i="1" dirty="0">
                <a:solidFill>
                  <a:srgbClr val="0070C0"/>
                </a:solidFill>
              </a:rPr>
              <a:t>file system</a:t>
            </a:r>
            <a:r>
              <a:rPr lang="en-US" dirty="0"/>
              <a:t>, it is useful to create </a:t>
            </a:r>
            <a:r>
              <a:rPr lang="en-US" i="1" dirty="0">
                <a:solidFill>
                  <a:srgbClr val="0070C0"/>
                </a:solidFill>
              </a:rPr>
              <a:t>directories </a:t>
            </a:r>
            <a:r>
              <a:rPr lang="en-US" dirty="0"/>
              <a:t>to allow files to be organized. A </a:t>
            </a:r>
            <a:r>
              <a:rPr lang="en-US" i="1" dirty="0">
                <a:solidFill>
                  <a:srgbClr val="0070C0"/>
                </a:solidFill>
              </a:rPr>
              <a:t>single-level directory </a:t>
            </a:r>
            <a:r>
              <a:rPr lang="en-US" dirty="0"/>
              <a:t>in a multiuser system causes naming problems, since each file must have a unique name. A </a:t>
            </a:r>
            <a:r>
              <a:rPr lang="en-US" i="1" dirty="0">
                <a:solidFill>
                  <a:srgbClr val="0070C0"/>
                </a:solidFill>
              </a:rPr>
              <a:t>two-level directory </a:t>
            </a:r>
            <a:r>
              <a:rPr lang="en-US" dirty="0"/>
              <a:t>solves this problem by creating a separate directory for each user’s files. The directory lists the files by name and includes the file’s location on the disk, length, type, owner, time of creation, time of last use, ... </a:t>
            </a:r>
          </a:p>
          <a:p>
            <a:pPr fontAlgn="auto"/>
            <a:r>
              <a:rPr lang="en-US" dirty="0"/>
              <a:t>The natural generalization of a two-level directory is a </a:t>
            </a:r>
            <a:r>
              <a:rPr lang="en-US" i="1" dirty="0">
                <a:solidFill>
                  <a:srgbClr val="0070C0"/>
                </a:solidFill>
              </a:rPr>
              <a:t>tree-structured directory</a:t>
            </a:r>
            <a:r>
              <a:rPr lang="en-US" dirty="0"/>
              <a:t>. A tree-structured directory allows a user to create subdirectories to organize files. </a:t>
            </a:r>
            <a:r>
              <a:rPr lang="en-US" i="1" dirty="0">
                <a:solidFill>
                  <a:srgbClr val="0070C0"/>
                </a:solidFill>
              </a:rPr>
              <a:t>Acyclic-graph directory structures </a:t>
            </a:r>
            <a:r>
              <a:rPr lang="en-US" dirty="0"/>
              <a:t>enable users to share subdirectories and files but complicate searching and deletion. A general graph structure allows complete flexibility in the sharing of files and </a:t>
            </a:r>
            <a:r>
              <a:rPr lang="en-US" dirty="0" err="1"/>
              <a:t>direc</a:t>
            </a:r>
            <a:r>
              <a:rPr lang="en-US" dirty="0"/>
              <a:t>- </a:t>
            </a:r>
            <a:r>
              <a:rPr lang="en-US" dirty="0" err="1"/>
              <a:t>tories</a:t>
            </a:r>
            <a:r>
              <a:rPr lang="en-US" dirty="0"/>
              <a:t> but sometimes requires garbage collection to recover unused disk space. </a:t>
            </a:r>
          </a:p>
        </p:txBody>
      </p:sp>
    </p:spTree>
    <p:extLst>
      <p:ext uri="{BB962C8B-B14F-4D97-AF65-F5344CB8AC3E}">
        <p14:creationId xmlns:p14="http://schemas.microsoft.com/office/powerpoint/2010/main" val="24499235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529E6-7D4A-5643-A2F5-2AD47C01339C}"/>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665B156F-025C-7C4C-A99E-6469865D65CB}"/>
              </a:ext>
            </a:extLst>
          </p:cNvPr>
          <p:cNvSpPr>
            <a:spLocks noGrp="1"/>
          </p:cNvSpPr>
          <p:nvPr>
            <p:ph idx="1"/>
          </p:nvPr>
        </p:nvSpPr>
        <p:spPr/>
        <p:txBody>
          <a:bodyPr/>
          <a:lstStyle/>
          <a:p>
            <a:pPr fontAlgn="auto"/>
            <a:r>
              <a:rPr lang="en-US" i="1">
                <a:solidFill>
                  <a:srgbClr val="0070C0"/>
                </a:solidFill>
              </a:rPr>
              <a:t>Remote </a:t>
            </a:r>
            <a:r>
              <a:rPr lang="en-US" i="1" dirty="0">
                <a:solidFill>
                  <a:srgbClr val="0070C0"/>
                </a:solidFill>
              </a:rPr>
              <a:t>file systems </a:t>
            </a:r>
            <a:r>
              <a:rPr lang="en-US" dirty="0"/>
              <a:t>present challenges in reliability, performance, and security. Distributed information systems maintain user, host, and access information so that clients and servers can share state information to man- age use and access. </a:t>
            </a:r>
          </a:p>
          <a:p>
            <a:pPr fontAlgn="auto"/>
            <a:r>
              <a:rPr lang="en-US" dirty="0"/>
              <a:t>Since files are the main information-storage mechanism in most computer systems, </a:t>
            </a:r>
            <a:r>
              <a:rPr lang="en-US" i="1" dirty="0">
                <a:solidFill>
                  <a:srgbClr val="0070C0"/>
                </a:solidFill>
              </a:rPr>
              <a:t>file protection </a:t>
            </a:r>
            <a:r>
              <a:rPr lang="en-US" dirty="0"/>
              <a:t>is needed on multiuser systems. Access to files can be controlled separately for each type of access — read, write, execute, append, delete, list directory, and so on. File protection can be provided by access lists, passwords, or other techniques. </a:t>
            </a:r>
          </a:p>
          <a:p>
            <a:endParaRPr lang="en-US" dirty="0"/>
          </a:p>
        </p:txBody>
      </p:sp>
    </p:spTree>
    <p:extLst>
      <p:ext uri="{BB962C8B-B14F-4D97-AF65-F5344CB8AC3E}">
        <p14:creationId xmlns:p14="http://schemas.microsoft.com/office/powerpoint/2010/main" val="3157197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1E63FCB-E4E5-2149-A05D-28C18C53D8B0}"/>
              </a:ext>
            </a:extLst>
          </p:cNvPr>
          <p:cNvSpPr>
            <a:spLocks noGrp="1" noChangeArrowheads="1"/>
          </p:cNvSpPr>
          <p:nvPr>
            <p:ph type="ctrTitle"/>
          </p:nvPr>
        </p:nvSpPr>
        <p:spPr/>
        <p:txBody>
          <a:bodyPr/>
          <a:lstStyle/>
          <a:p>
            <a:r>
              <a:rPr lang="en-US" altLang="en-US"/>
              <a:t>End of Chapter 10.A.</a:t>
            </a:r>
          </a:p>
        </p:txBody>
      </p:sp>
    </p:spTree>
  </p:cSld>
  <p:clrMapOvr>
    <a:masterClrMapping/>
  </p:clrMapOvr>
</p:sld>
</file>

<file path=ppt/theme/theme1.xml><?xml version="1.0" encoding="utf-8"?>
<a:theme xmlns:a="http://schemas.openxmlformats.org/drawingml/2006/main" name="1_OperatingSystemConcepts">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peratingSystemConcepts" id="{F8E01D2B-A27E-FF48-B737-DDB7D6CB064F}" vid="{D97EA67A-8CE5-DC46-BC31-5702E291385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OperatingSystemConcepts</Template>
  <TotalTime>7938</TotalTime>
  <Words>2592</Words>
  <Application>Microsoft Office PowerPoint</Application>
  <PresentationFormat>On-screen Show (4:3)</PresentationFormat>
  <Paragraphs>368</Paragraphs>
  <Slides>47</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Courier New</vt:lpstr>
      <vt:lpstr>Helvetica</vt:lpstr>
      <vt:lpstr>Monotype Sorts</vt:lpstr>
      <vt:lpstr>Times New Roman</vt:lpstr>
      <vt:lpstr>Verdana</vt:lpstr>
      <vt:lpstr>Webdings</vt:lpstr>
      <vt:lpstr>1_OperatingSystemConcepts</vt:lpstr>
      <vt:lpstr>Chapter 10.A:  File-System Interface</vt:lpstr>
      <vt:lpstr>Chapter 10.A: Outline</vt:lpstr>
      <vt:lpstr>Objectives</vt:lpstr>
      <vt:lpstr>File Concept</vt:lpstr>
      <vt:lpstr>File Attributes</vt:lpstr>
      <vt:lpstr>A window of file info on Mac OS X</vt:lpstr>
      <vt:lpstr>File Operations</vt:lpstr>
      <vt:lpstr>Open Files</vt:lpstr>
      <vt:lpstr>Open File Locking</vt:lpstr>
      <vt:lpstr>File Locking Example – Java API</vt:lpstr>
      <vt:lpstr>File Locking Example – Java API (Cont.)</vt:lpstr>
      <vt:lpstr>File Types – Name, Extension</vt:lpstr>
      <vt:lpstr>File Structure</vt:lpstr>
      <vt:lpstr>Sequential-Access File</vt:lpstr>
      <vt:lpstr>Access Methods</vt:lpstr>
      <vt:lpstr>Simulation of Sequential-Access on Direct-Access File</vt:lpstr>
      <vt:lpstr>Other Access Methods</vt:lpstr>
      <vt:lpstr>Example of Index and Relative Files</vt:lpstr>
      <vt:lpstr>Directory Structure</vt:lpstr>
      <vt:lpstr>Disk Structure</vt:lpstr>
      <vt:lpstr>A Typical File-System Organization</vt:lpstr>
      <vt:lpstr>Types of File Systems</vt:lpstr>
      <vt:lpstr>Operations Performed on Directory</vt:lpstr>
      <vt:lpstr>Directory Organization</vt:lpstr>
      <vt:lpstr>Single-Level Directory</vt:lpstr>
      <vt:lpstr>Two-Level Directory</vt:lpstr>
      <vt:lpstr>Tree-Structured Directories</vt:lpstr>
      <vt:lpstr>Tree-Structured Directories (Cont.)</vt:lpstr>
      <vt:lpstr>Tree-Structured Directories (Cont.)</vt:lpstr>
      <vt:lpstr>Acyclic-Graph Directories</vt:lpstr>
      <vt:lpstr>Acyclic-Graph Directories (Cont.)</vt:lpstr>
      <vt:lpstr>General Graph Directory</vt:lpstr>
      <vt:lpstr>General Graph Directory (Cont.)</vt:lpstr>
      <vt:lpstr>File System Mounting</vt:lpstr>
      <vt:lpstr>Mount Point</vt:lpstr>
      <vt:lpstr>File Sharing</vt:lpstr>
      <vt:lpstr>File Sharing – Remote File Systems</vt:lpstr>
      <vt:lpstr>File Sharing – Failure Modes</vt:lpstr>
      <vt:lpstr>File Sharing – Consistency Semantics</vt:lpstr>
      <vt:lpstr>Protection</vt:lpstr>
      <vt:lpstr>Access Lists and Groups</vt:lpstr>
      <vt:lpstr>Windows 7 Access-Control List Management</vt:lpstr>
      <vt:lpstr>A Sample UNIX Directory Listing</vt:lpstr>
      <vt:lpstr>Summary</vt:lpstr>
      <vt:lpstr>Summary (Cont.)</vt:lpstr>
      <vt:lpstr>Summary (Cont.)</vt:lpstr>
      <vt:lpstr>End of Chapter 10.A.</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dc:title>
  <dc:creator>Lucent End User</dc:creator>
  <cp:lastModifiedBy>xcvbn15</cp:lastModifiedBy>
  <cp:revision>139</cp:revision>
  <dcterms:created xsi:type="dcterms:W3CDTF">2004-10-07T18:29:30Z</dcterms:created>
  <dcterms:modified xsi:type="dcterms:W3CDTF">2022-11-23T15:36:13Z</dcterms:modified>
</cp:coreProperties>
</file>