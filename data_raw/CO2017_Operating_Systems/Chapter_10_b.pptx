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160" r:id="rId1"/>
  </p:sldMasterIdLst>
  <p:notesMasterIdLst>
    <p:notesMasterId r:id="rId54"/>
  </p:notesMasterIdLst>
  <p:handoutMasterIdLst>
    <p:handoutMasterId r:id="rId55"/>
  </p:handoutMasterIdLst>
  <p:sldIdLst>
    <p:sldId id="331" r:id="rId2"/>
    <p:sldId id="332" r:id="rId3"/>
    <p:sldId id="333" r:id="rId4"/>
    <p:sldId id="334" r:id="rId5"/>
    <p:sldId id="335" r:id="rId6"/>
    <p:sldId id="406" r:id="rId7"/>
    <p:sldId id="337" r:id="rId8"/>
    <p:sldId id="338" r:id="rId9"/>
    <p:sldId id="399" r:id="rId10"/>
    <p:sldId id="391" r:id="rId11"/>
    <p:sldId id="339" r:id="rId12"/>
    <p:sldId id="340" r:id="rId13"/>
    <p:sldId id="344" r:id="rId14"/>
    <p:sldId id="345" r:id="rId15"/>
    <p:sldId id="346" r:id="rId16"/>
    <p:sldId id="347" r:id="rId17"/>
    <p:sldId id="348" r:id="rId18"/>
    <p:sldId id="349" r:id="rId19"/>
    <p:sldId id="351" r:id="rId20"/>
    <p:sldId id="352" r:id="rId21"/>
    <p:sldId id="353" r:id="rId22"/>
    <p:sldId id="354" r:id="rId23"/>
    <p:sldId id="355" r:id="rId24"/>
    <p:sldId id="356" r:id="rId25"/>
    <p:sldId id="357" r:id="rId26"/>
    <p:sldId id="358" r:id="rId27"/>
    <p:sldId id="359" r:id="rId28"/>
    <p:sldId id="403" r:id="rId29"/>
    <p:sldId id="360" r:id="rId30"/>
    <p:sldId id="361" r:id="rId31"/>
    <p:sldId id="362" r:id="rId32"/>
    <p:sldId id="363" r:id="rId33"/>
    <p:sldId id="364" r:id="rId34"/>
    <p:sldId id="365" r:id="rId35"/>
    <p:sldId id="401" r:id="rId36"/>
    <p:sldId id="402" r:id="rId37"/>
    <p:sldId id="366" r:id="rId38"/>
    <p:sldId id="394" r:id="rId39"/>
    <p:sldId id="367" r:id="rId40"/>
    <p:sldId id="369" r:id="rId41"/>
    <p:sldId id="370" r:id="rId42"/>
    <p:sldId id="372" r:id="rId43"/>
    <p:sldId id="373" r:id="rId44"/>
    <p:sldId id="374" r:id="rId45"/>
    <p:sldId id="386" r:id="rId46"/>
    <p:sldId id="388" r:id="rId47"/>
    <p:sldId id="395" r:id="rId48"/>
    <p:sldId id="396" r:id="rId49"/>
    <p:sldId id="397" r:id="rId50"/>
    <p:sldId id="398" r:id="rId51"/>
    <p:sldId id="400" r:id="rId52"/>
    <p:sldId id="389" r:id="rId53"/>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4" autoAdjust="0"/>
    <p:restoredTop sz="92576"/>
  </p:normalViewPr>
  <p:slideViewPr>
    <p:cSldViewPr snapToGrid="0">
      <p:cViewPr varScale="1">
        <p:scale>
          <a:sx n="101" d="100"/>
          <a:sy n="101" d="100"/>
        </p:scale>
        <p:origin x="2424" y="184"/>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7456"/>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E5FA648-E141-984B-BEE2-8EC9B0A99897}"/>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146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731F4BCC-9CAA-0F41-85EA-DE3557038F9C}"/>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146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D4EBDDA-94A4-C24E-8F4D-60EA634DB5E9}"/>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146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D2D8965A-D8A6-AE4A-B6AE-C5DE2FB73D05}"/>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panose="020B0604020202020204" pitchFamily="34" charset="0"/>
              </a:defRPr>
            </a:lvl1pPr>
          </a:lstStyle>
          <a:p>
            <a:pPr>
              <a:defRPr/>
            </a:pPr>
            <a:fld id="{BE5DD9DD-4204-9D4A-9528-BB0318FD8DEF}" type="slidenum">
              <a:rPr lang="en-US" altLang="en-US"/>
              <a:pPr>
                <a:defRPr/>
              </a:pPr>
              <a:t>‹#›</a:t>
            </a:fld>
            <a:endParaRPr lang="en-US" altLang="en-US"/>
          </a:p>
        </p:txBody>
      </p:sp>
    </p:spTree>
    <p:extLst>
      <p:ext uri="{BB962C8B-B14F-4D97-AF65-F5344CB8AC3E}">
        <p14:creationId xmlns:p14="http://schemas.microsoft.com/office/powerpoint/2010/main" val="7000350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6F8A7D5-41B0-5A4C-AB3F-7767AE6EE3B1}"/>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909">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B0887534-A29B-1644-87D8-30550CDFFCE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909">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BF8D84F7-F3E0-644C-B019-7A4338FE647D}"/>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A208C9F7-2C9C-9E40-BFDA-99AA29628725}"/>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4103CA87-37A4-F848-B6E3-7E21A31FD36E}"/>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909">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3B8274B7-D522-A64B-9FDF-CE6467551679}"/>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panose="02020603050405020304" pitchFamily="18" charset="0"/>
              </a:defRPr>
            </a:lvl1pPr>
          </a:lstStyle>
          <a:p>
            <a:pPr>
              <a:defRPr/>
            </a:pPr>
            <a:fld id="{9DEB666E-EE09-7541-A405-105BD2F46F43}" type="slidenum">
              <a:rPr lang="en-US" altLang="en-US"/>
              <a:pPr>
                <a:defRPr/>
              </a:pPr>
              <a:t>‹#›</a:t>
            </a:fld>
            <a:endParaRPr lang="en-US" altLang="en-US"/>
          </a:p>
        </p:txBody>
      </p:sp>
    </p:spTree>
    <p:extLst>
      <p:ext uri="{BB962C8B-B14F-4D97-AF65-F5344CB8AC3E}">
        <p14:creationId xmlns:p14="http://schemas.microsoft.com/office/powerpoint/2010/main" val="19755803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DEA5DB02-0071-1947-A614-CF6B5B6A98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531F3D-4215-3E46-82B2-42D33623988C}"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06096DFA-C597-204D-9573-C2509C6DD799}"/>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C9C1BEC5-7CD1-5348-AD74-854D263704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33620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F5351D24-242B-A044-BB2B-B7E04CB43B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1D94B4A-AD1B-3448-99D3-5DE37736704D}"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6D0EDCC7-315A-834B-956B-826A682D8BD6}"/>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BC49BF24-90ED-F347-9686-1BC03E742A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616910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a:extLst>
              <a:ext uri="{FF2B5EF4-FFF2-40B4-BE49-F238E27FC236}">
                <a16:creationId xmlns:a16="http://schemas.microsoft.com/office/drawing/2014/main" id="{5E53A6B7-AFF7-8B43-B97B-4AA586033D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CD2E2E9-390D-114C-A75C-AD3CD684BE6C}" type="slidenum">
              <a:rPr lang="en-US" altLang="en-US" smtClean="0">
                <a:latin typeface="Times New Roman" panose="02020603050405020304" pitchFamily="18" charset="0"/>
              </a:rPr>
              <a:pPr/>
              <a:t>3</a:t>
            </a:fld>
            <a:endParaRPr lang="en-US" altLang="en-US">
              <a:latin typeface="Times New Roman" panose="02020603050405020304" pitchFamily="18" charset="0"/>
            </a:endParaRPr>
          </a:p>
        </p:txBody>
      </p:sp>
      <p:sp>
        <p:nvSpPr>
          <p:cNvPr id="10242" name="Rectangle 2">
            <a:extLst>
              <a:ext uri="{FF2B5EF4-FFF2-40B4-BE49-F238E27FC236}">
                <a16:creationId xmlns:a16="http://schemas.microsoft.com/office/drawing/2014/main" id="{6C542DC1-1A85-4B46-AE3D-04EADA0FFBE3}"/>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238C40EE-C925-6645-AEDD-C6E7622A1D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898032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CFBFAC6-189B-0D4B-A210-56F9FBDFDC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9233FF0-2C70-F54C-BB6D-5086666E85D5}"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6405C9D7-811E-AE4F-B0AF-FC228C72830B}"/>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2CF199A2-7BD4-6C43-9D8B-2133897478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570197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40547044-87E7-0046-9698-CBACA3EAFD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DC662B5-502B-1942-A0AB-DFF22EE543D5}"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21B91D9A-8A85-FC4A-BF34-E5AED0F18692}"/>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B112B7B0-7282-4F47-87AB-C5E8BA58E5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239837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40547044-87E7-0046-9698-CBACA3EAFD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DC662B5-502B-1942-A0AB-DFF22EE543D5}"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21B91D9A-8A85-FC4A-BF34-E5AED0F18692}"/>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B112B7B0-7282-4F47-87AB-C5E8BA58E5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646771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CA304E4F-B28C-2C40-970B-E89EFB66B2AE}"/>
              </a:ext>
            </a:extLst>
          </p:cNvPr>
          <p:cNvSpPr>
            <a:spLocks noGrp="1" noRot="1" noChangeAspect="1" noChangeArrowheads="1" noTextEdit="1"/>
          </p:cNvSpPr>
          <p:nvPr>
            <p:ph type="sldImg"/>
          </p:nvPr>
        </p:nvSpPr>
        <p:spPr>
          <a:ln/>
        </p:spPr>
      </p:sp>
      <p:sp>
        <p:nvSpPr>
          <p:cNvPr id="19458" name="Rectangle 3">
            <a:extLst>
              <a:ext uri="{FF2B5EF4-FFF2-40B4-BE49-F238E27FC236}">
                <a16:creationId xmlns:a16="http://schemas.microsoft.com/office/drawing/2014/main" id="{A6782975-198D-5F47-88A6-6F677D229A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42225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CE340CFD-F5D5-374E-AD3A-09B03D749D88}"/>
              </a:ext>
            </a:extLst>
          </p:cNvPr>
          <p:cNvSpPr>
            <a:spLocks noGrp="1" noRot="1" noChangeAspect="1" noChangeArrowheads="1" noTextEdit="1"/>
          </p:cNvSpPr>
          <p:nvPr>
            <p:ph type="sldImg"/>
          </p:nvPr>
        </p:nvSpPr>
        <p:spPr>
          <a:ln/>
        </p:spPr>
      </p:sp>
      <p:sp>
        <p:nvSpPr>
          <p:cNvPr id="21506" name="Rectangle 3">
            <a:extLst>
              <a:ext uri="{FF2B5EF4-FFF2-40B4-BE49-F238E27FC236}">
                <a16:creationId xmlns:a16="http://schemas.microsoft.com/office/drawing/2014/main" id="{CB3E3739-A1B3-934E-8B46-EDFE059C32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25725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9F33FB58-8ED5-5A4C-A79D-0014935A17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1713B74-50F6-C945-9456-80CE099AD99B}"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3554" name="Rectangle 2">
            <a:extLst>
              <a:ext uri="{FF2B5EF4-FFF2-40B4-BE49-F238E27FC236}">
                <a16:creationId xmlns:a16="http://schemas.microsoft.com/office/drawing/2014/main" id="{D74E6474-F1C8-7548-8632-66AE6848F499}"/>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C20BCDA3-A133-B44B-8332-6E6BCAD0BD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511563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40603FB0-9BAF-9A47-AAF0-3A487C1852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9C6E2F-B1C4-5B48-A4F2-2C41E05D9DD3}"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5602" name="Rectangle 2">
            <a:extLst>
              <a:ext uri="{FF2B5EF4-FFF2-40B4-BE49-F238E27FC236}">
                <a16:creationId xmlns:a16="http://schemas.microsoft.com/office/drawing/2014/main" id="{1D905541-1578-9548-94BB-652D7E01B91E}"/>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5E8AF71E-EF25-D244-95AE-F6047DE281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12250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D5B679A0-0FE1-294A-A7B5-A916502746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9DE3D50-B31F-AF4F-A0FD-99FEF7ACBB79}"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7650" name="Rectangle 2">
            <a:extLst>
              <a:ext uri="{FF2B5EF4-FFF2-40B4-BE49-F238E27FC236}">
                <a16:creationId xmlns:a16="http://schemas.microsoft.com/office/drawing/2014/main" id="{24202811-E8F5-8941-B784-8B576ADC11A2}"/>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8841A446-FA9C-5247-932E-D1194B9B78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109309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9CCCE382-0836-4F49-B0CE-0728BDDF04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527E3CB-890D-254F-937B-EF7338494E15}"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9698" name="Rectangle 2">
            <a:extLst>
              <a:ext uri="{FF2B5EF4-FFF2-40B4-BE49-F238E27FC236}">
                <a16:creationId xmlns:a16="http://schemas.microsoft.com/office/drawing/2014/main" id="{99C3FE04-1E77-C84C-8969-D352F9CC025D}"/>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97EDFACE-2A20-524F-B84A-DE570A85D4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865092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EBEB0F91-7EBF-1245-8433-BEADC921B9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0EE278C-2D44-E34C-9CDF-C5C8ABB6380F}"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31746" name="Rectangle 2">
            <a:extLst>
              <a:ext uri="{FF2B5EF4-FFF2-40B4-BE49-F238E27FC236}">
                <a16:creationId xmlns:a16="http://schemas.microsoft.com/office/drawing/2014/main" id="{ACF83364-A45C-E84C-A7A4-9571F5808B48}"/>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9924146B-8224-A543-B024-E13A39348D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9389409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534757BA-3F67-3E49-8A7A-6E5416ABA2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7C97A3-2887-3D4C-B889-B080CB167DC1}"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33794" name="Rectangle 2">
            <a:extLst>
              <a:ext uri="{FF2B5EF4-FFF2-40B4-BE49-F238E27FC236}">
                <a16:creationId xmlns:a16="http://schemas.microsoft.com/office/drawing/2014/main" id="{A987D114-7740-3E4A-AC82-9A084F84B14F}"/>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F861B5C7-7768-874E-921E-95DDD2B45F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863519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259BC061-493E-C042-A47E-E706395F23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82CFCE-C40D-2645-A3DB-2793129533B0}"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7890" name="Rectangle 2">
            <a:extLst>
              <a:ext uri="{FF2B5EF4-FFF2-40B4-BE49-F238E27FC236}">
                <a16:creationId xmlns:a16="http://schemas.microsoft.com/office/drawing/2014/main" id="{F1F532E3-6DB1-154D-A781-6F070CC7BB51}"/>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1C88A04A-85B2-C841-9F67-03E8D8225A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2623587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7131C12F-D70D-C24A-AF34-82CE2AE209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32BEBDD-1166-9141-A9EF-90E0FC42B6FE}"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39938" name="Rectangle 2">
            <a:extLst>
              <a:ext uri="{FF2B5EF4-FFF2-40B4-BE49-F238E27FC236}">
                <a16:creationId xmlns:a16="http://schemas.microsoft.com/office/drawing/2014/main" id="{BFF0E539-039D-3142-8089-99AC6126B52C}"/>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3BBF2803-BE0B-834B-A9CC-C7B3EBEBAE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472831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6E693C68-4635-B14A-A195-89FB6129BB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A0651-0780-DF4E-8635-DBF292AE638B}"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41986" name="Rectangle 2">
            <a:extLst>
              <a:ext uri="{FF2B5EF4-FFF2-40B4-BE49-F238E27FC236}">
                <a16:creationId xmlns:a16="http://schemas.microsoft.com/office/drawing/2014/main" id="{BFF1B525-1500-F64F-B765-2D8142F1A07F}"/>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F5D172AB-6189-B641-83C6-973C6F824F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981648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6E6C0592-B7E1-0241-9E79-15F43A2578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572718-ABB4-3E40-A28A-697A7993CF87}"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3EEF0E34-4ADE-6641-A5EE-2999004814C6}"/>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9C2843D-AE3B-AF46-A8FF-41AA81EE84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34407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14B3BD7D-3A36-174B-9800-EAF669E56D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58FC94C-6871-2346-B77B-C1013DE84DF0}"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A9FBE1C8-6F33-D444-ACE0-52A850850FA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550DBA2C-2182-A840-BF6C-E40548962B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2039279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70141250-58BE-E048-B73A-BD99AEC9C8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7A961-0727-0748-A3DC-4453D4F041C9}"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C96B4ECA-0CCA-1840-954B-8C95CC910E5F}"/>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921DBD65-ACA9-3E45-9380-5951289435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5529602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F6E2F6EE-5D92-6040-A5F0-1C2651081B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61E6833-77AD-814F-8202-1DAE2878E3DD}"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44D8F00E-93C4-2D49-B25C-4EE46AE3E6E7}"/>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1A296823-9856-BD4C-B94F-1B2970DD7F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441954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1C3E97EA-F2F0-874F-B29F-3474732CB6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B8A7913-1BEA-0B48-A651-E698209BF662}"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ABFE341C-0632-3649-8FA5-77221F52E8BE}"/>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386DDAE3-699E-CB48-A0B1-2FE6507D24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5730141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B63C2F33-33E0-9F41-BCE5-B078CB562A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70406-FBC5-724F-99AE-E93349111702}"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F5711E0D-CC18-1D4D-9C9A-999484019470}"/>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EC17BB28-CB6C-D849-83C6-65B541678E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31742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55BF3058-A384-DC40-86DA-BEB86258EE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17C218-F90E-144C-9999-ADA525AEEACE}"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59394" name="Rectangle 2">
            <a:extLst>
              <a:ext uri="{FF2B5EF4-FFF2-40B4-BE49-F238E27FC236}">
                <a16:creationId xmlns:a16="http://schemas.microsoft.com/office/drawing/2014/main" id="{6612FB6A-95D3-C848-95C2-42DBC172A323}"/>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0EE4487F-FCF0-E745-A370-E596EA82F8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5221999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72C7E2D1-BD47-6C4C-8904-C76299F7CA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DF76E1D-D57C-0D41-90B8-C47F31411F84}"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61442" name="Rectangle 2">
            <a:extLst>
              <a:ext uri="{FF2B5EF4-FFF2-40B4-BE49-F238E27FC236}">
                <a16:creationId xmlns:a16="http://schemas.microsoft.com/office/drawing/2014/main" id="{C446F9FA-22A8-FA41-86BA-666F02D02F60}"/>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4D377FC3-1F83-0F49-A5C1-AAD113BA1C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6410998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5921FD63-D62C-AC46-BC21-229A2C0EE5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3E805E-83FD-E243-A25D-F3EC0E710B7A}"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63490" name="Rectangle 2">
            <a:extLst>
              <a:ext uri="{FF2B5EF4-FFF2-40B4-BE49-F238E27FC236}">
                <a16:creationId xmlns:a16="http://schemas.microsoft.com/office/drawing/2014/main" id="{197EDF6C-A692-394A-A873-B58B3D535EBD}"/>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9DCF9FAB-F3DF-5644-81B5-433AA93B44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0391673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B5D9AEB9-3D51-2949-89DC-DEFF8A6BCC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B67829B-0AB2-0241-889B-D2D82190FB8D}"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6CE765C7-EC86-C94F-A8F8-56AA87F763DF}"/>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FC1B5D05-3821-0942-81D2-DEF1EAEB8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9481298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A45425B4-B235-CF4C-857B-557AC6ACC6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1580CDE-7ED1-7543-87DD-5797F7AE55BA}"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E05840AC-47CA-2844-9611-93F96781C7CA}"/>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4C11BD9C-FCB9-AF44-9722-5C8583E46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6824714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F7469845-2CD7-C441-AAAF-36A35F527C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A1CF0CD-3DCE-324B-8C81-7CE721812EE5}"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74754" name="Rectangle 2">
            <a:extLst>
              <a:ext uri="{FF2B5EF4-FFF2-40B4-BE49-F238E27FC236}">
                <a16:creationId xmlns:a16="http://schemas.microsoft.com/office/drawing/2014/main" id="{44F5D9C9-30B4-084B-AF31-792479926F9E}"/>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7E66C135-D6EB-334E-B514-8A846A2868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811523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F8DAF88A-EFED-1A45-B4D3-479ADBCA07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49B5DB0-DE7A-7942-85B2-86B894C4C9B1}"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78850" name="Rectangle 2">
            <a:extLst>
              <a:ext uri="{FF2B5EF4-FFF2-40B4-BE49-F238E27FC236}">
                <a16:creationId xmlns:a16="http://schemas.microsoft.com/office/drawing/2014/main" id="{0FC6696C-7A48-0C4D-9F37-85C954B4CA0E}"/>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CE53BB16-D750-6746-9AB3-39D9DADC31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8773270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EEAB24C5-D649-354E-86E6-8069172D65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A18CE6-C401-6C4A-BDEF-0A54AE903390}"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80898" name="Rectangle 2">
            <a:extLst>
              <a:ext uri="{FF2B5EF4-FFF2-40B4-BE49-F238E27FC236}">
                <a16:creationId xmlns:a16="http://schemas.microsoft.com/office/drawing/2014/main" id="{0831F4B4-13B6-7944-AB32-EE84E96E5B4F}"/>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1E84CD79-F97C-CF45-87C3-022077F995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6129082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3DDDEFCC-025D-144F-9A95-434BCF987D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CA9D0CF-0E3E-3140-9257-A4A053BA529C}"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82946" name="Rectangle 2">
            <a:extLst>
              <a:ext uri="{FF2B5EF4-FFF2-40B4-BE49-F238E27FC236}">
                <a16:creationId xmlns:a16="http://schemas.microsoft.com/office/drawing/2014/main" id="{4A6F26D1-B3B8-B745-BEFB-B7E05E3D30C4}"/>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DD409E8B-2F9C-6747-91CC-438112F9C5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8166472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2D58E7C2-3459-E84A-8409-F8165CC005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4156A0-D07D-B84C-BEE6-C5C38FA12EED}"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84994" name="Rectangle 2">
            <a:extLst>
              <a:ext uri="{FF2B5EF4-FFF2-40B4-BE49-F238E27FC236}">
                <a16:creationId xmlns:a16="http://schemas.microsoft.com/office/drawing/2014/main" id="{83DBC6A6-4415-2D48-90EE-C0AEEF638B12}"/>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41AB4D89-583C-984C-B358-C33ADB7770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1572029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a:extLst>
              <a:ext uri="{FF2B5EF4-FFF2-40B4-BE49-F238E27FC236}">
                <a16:creationId xmlns:a16="http://schemas.microsoft.com/office/drawing/2014/main" id="{D714F472-DAAA-CA4F-8E94-5B11E72C4D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14AA566-DEEA-604E-BEFB-086B983D5BEC}"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89090" name="Rectangle 2">
            <a:extLst>
              <a:ext uri="{FF2B5EF4-FFF2-40B4-BE49-F238E27FC236}">
                <a16:creationId xmlns:a16="http://schemas.microsoft.com/office/drawing/2014/main" id="{6439BB02-DDB0-514D-BFED-0880862532A1}"/>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F006624F-B3D6-3E4B-9813-F2B5A207FB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4986616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a:extLst>
              <a:ext uri="{FF2B5EF4-FFF2-40B4-BE49-F238E27FC236}">
                <a16:creationId xmlns:a16="http://schemas.microsoft.com/office/drawing/2014/main" id="{64D190D4-03A7-1C49-87D9-B6D45BC91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CB35B64-B740-F94E-9161-28857264A8E2}" type="slidenum">
              <a:rPr lang="en-US" altLang="en-US" smtClean="0">
                <a:latin typeface="Times New Roman" panose="02020603050405020304" pitchFamily="18" charset="0"/>
              </a:rPr>
              <a:pPr/>
              <a:t>52</a:t>
            </a:fld>
            <a:endParaRPr lang="en-US" altLang="en-US">
              <a:latin typeface="Times New Roman" panose="02020603050405020304" pitchFamily="18" charset="0"/>
            </a:endParaRPr>
          </a:p>
        </p:txBody>
      </p:sp>
      <p:sp>
        <p:nvSpPr>
          <p:cNvPr id="91138" name="Rectangle 2">
            <a:extLst>
              <a:ext uri="{FF2B5EF4-FFF2-40B4-BE49-F238E27FC236}">
                <a16:creationId xmlns:a16="http://schemas.microsoft.com/office/drawing/2014/main" id="{477DDB18-FCAD-5A45-BF06-F967D1C38D2C}"/>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DE07D1B0-98A1-8A4D-9905-0FCC727990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708743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9CCE36EE-05D9-9540-9A29-1E822A54EB91}"/>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AF9EEEF-636F-0E4C-A531-C7519579E19D}"/>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dirty="0"/>
            </a:p>
          </p:txBody>
        </p:sp>
        <p:sp>
          <p:nvSpPr>
            <p:cNvPr id="5" name="Rectangle 5">
              <a:extLst>
                <a:ext uri="{FF2B5EF4-FFF2-40B4-BE49-F238E27FC236}">
                  <a16:creationId xmlns:a16="http://schemas.microsoft.com/office/drawing/2014/main" id="{C25BFCC2-5B5A-6D4B-879D-94990960268B}"/>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dirty="0"/>
            </a:p>
          </p:txBody>
        </p:sp>
        <p:sp>
          <p:nvSpPr>
            <p:cNvPr id="6" name="Rectangle 6">
              <a:extLst>
                <a:ext uri="{FF2B5EF4-FFF2-40B4-BE49-F238E27FC236}">
                  <a16:creationId xmlns:a16="http://schemas.microsoft.com/office/drawing/2014/main" id="{372CC58E-F1D6-3F4E-8F96-BBFF843B9CBD}"/>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dirty="0"/>
            </a:p>
          </p:txBody>
        </p:sp>
      </p:grpSp>
      <p:sp>
        <p:nvSpPr>
          <p:cNvPr id="7" name="Text Box 7">
            <a:extLst>
              <a:ext uri="{FF2B5EF4-FFF2-40B4-BE49-F238E27FC236}">
                <a16:creationId xmlns:a16="http://schemas.microsoft.com/office/drawing/2014/main" id="{37490F7D-90BC-3645-B9B1-5DB45D101682}"/>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©2022</a:t>
            </a:r>
            <a:endParaRPr lang="en-US" altLang="en-US" sz="1000" b="1" dirty="0">
              <a:solidFill>
                <a:srgbClr val="336699"/>
              </a:solidFill>
              <a:latin typeface="Helvetica" pitchFamily="2" charset="0"/>
            </a:endParaRPr>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pic>
        <p:nvPicPr>
          <p:cNvPr id="11" name="Picture 10">
            <a:extLst>
              <a:ext uri="{FF2B5EF4-FFF2-40B4-BE49-F238E27FC236}">
                <a16:creationId xmlns:a16="http://schemas.microsoft.com/office/drawing/2014/main" id="{4382D20C-7028-504C-9A1D-BA83B74F07BF}"/>
              </a:ext>
            </a:extLst>
          </p:cNvPr>
          <p:cNvPicPr>
            <a:picLocks noChangeAspect="1"/>
          </p:cNvPicPr>
          <p:nvPr/>
        </p:nvPicPr>
        <p:blipFill>
          <a:blip r:embed="rId2"/>
          <a:stretch>
            <a:fillRect/>
          </a:stretch>
        </p:blipFill>
        <p:spPr>
          <a:xfrm>
            <a:off x="2673275" y="3531208"/>
            <a:ext cx="3797451" cy="2842958"/>
          </a:xfrm>
          <a:prstGeom prst="rect">
            <a:avLst/>
          </a:prstGeom>
        </p:spPr>
      </p:pic>
      <p:sp>
        <p:nvSpPr>
          <p:cNvPr id="2" name="Text Box 11">
            <a:extLst>
              <a:ext uri="{FF2B5EF4-FFF2-40B4-BE49-F238E27FC236}">
                <a16:creationId xmlns:a16="http://schemas.microsoft.com/office/drawing/2014/main" id="{4084AC0E-ADB1-6423-05EC-1A1DBA78EDAA}"/>
              </a:ext>
            </a:extLst>
          </p:cNvPr>
          <p:cNvSpPr txBox="1">
            <a:spLocks noChangeArrowheads="1"/>
          </p:cNvSpPr>
          <p:nvPr userDrawn="1"/>
        </p:nvSpPr>
        <p:spPr bwMode="auto">
          <a:xfrm>
            <a:off x="284091" y="6432490"/>
            <a:ext cx="40049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Some slides from the Silberschatz, Galvin and Gagne, “Operating System Concepts”,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eds, 2018. </a:t>
            </a:r>
            <a:endParaRPr lang="en-US" altLang="en-US" sz="1000" b="1" dirty="0">
              <a:solidFill>
                <a:srgbClr val="006699"/>
              </a:solidFill>
              <a:latin typeface="Helvetica" pitchFamily="2" charset="0"/>
            </a:endParaRPr>
          </a:p>
        </p:txBody>
      </p:sp>
    </p:spTree>
    <p:extLst>
      <p:ext uri="{BB962C8B-B14F-4D97-AF65-F5344CB8AC3E}">
        <p14:creationId xmlns:p14="http://schemas.microsoft.com/office/powerpoint/2010/main" val="1422008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24683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Line 6">
            <a:extLst>
              <a:ext uri="{FF2B5EF4-FFF2-40B4-BE49-F238E27FC236}">
                <a16:creationId xmlns:a16="http://schemas.microsoft.com/office/drawing/2014/main" id="{EC79F471-96B9-5F48-AE95-4752EB27D653}"/>
              </a:ext>
            </a:extLst>
          </p:cNvPr>
          <p:cNvSpPr>
            <a:spLocks noChangeShapeType="1"/>
          </p:cNvSpPr>
          <p:nvPr/>
        </p:nvSpPr>
        <p:spPr bwMode="auto">
          <a:xfrm>
            <a:off x="1630363" y="866775"/>
            <a:ext cx="7221537"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000"/>
            </a:lvl1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6156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Line 6">
            <a:extLst>
              <a:ext uri="{FF2B5EF4-FFF2-40B4-BE49-F238E27FC236}">
                <a16:creationId xmlns:a16="http://schemas.microsoft.com/office/drawing/2014/main" id="{8FDA7D86-6757-6341-8015-8A71AC163B4B}"/>
              </a:ext>
            </a:extLst>
          </p:cNvPr>
          <p:cNvSpPr>
            <a:spLocks noChangeShapeType="1"/>
          </p:cNvSpPr>
          <p:nvPr/>
        </p:nvSpPr>
        <p:spPr bwMode="auto">
          <a:xfrm>
            <a:off x="1630363" y="866775"/>
            <a:ext cx="7221537"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90330" y="1420008"/>
            <a:ext cx="4134679" cy="5007295"/>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7287" y="1420008"/>
            <a:ext cx="4055165" cy="500729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216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81760" y="257966"/>
            <a:ext cx="7490567" cy="586753"/>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4935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014330"/>
            <a:ext cx="4040188" cy="438646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227302" cy="64935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014330"/>
            <a:ext cx="4227302" cy="438646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79051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1761" y="268941"/>
            <a:ext cx="7430936" cy="566884"/>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5" name="Picture Placeholder 2">
            <a:extLst>
              <a:ext uri="{FF2B5EF4-FFF2-40B4-BE49-F238E27FC236}">
                <a16:creationId xmlns:a16="http://schemas.microsoft.com/office/drawing/2014/main" id="{B24A6ED9-6FA3-104C-BA12-E59DD6538BFC}"/>
              </a:ext>
            </a:extLst>
          </p:cNvPr>
          <p:cNvSpPr>
            <a:spLocks noGrp="1"/>
          </p:cNvSpPr>
          <p:nvPr>
            <p:ph type="pic" idx="1"/>
          </p:nvPr>
        </p:nvSpPr>
        <p:spPr>
          <a:xfrm>
            <a:off x="3496234" y="1376979"/>
            <a:ext cx="5329713" cy="5037072"/>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2">
            <a:extLst>
              <a:ext uri="{FF2B5EF4-FFF2-40B4-BE49-F238E27FC236}">
                <a16:creationId xmlns:a16="http://schemas.microsoft.com/office/drawing/2014/main" id="{54F3ADB0-4A1F-C149-BFEF-CED9FC442E68}"/>
              </a:ext>
            </a:extLst>
          </p:cNvPr>
          <p:cNvSpPr>
            <a:spLocks noGrp="1"/>
          </p:cNvSpPr>
          <p:nvPr>
            <p:ph sz="half" idx="10"/>
          </p:nvPr>
        </p:nvSpPr>
        <p:spPr>
          <a:xfrm>
            <a:off x="490331" y="1376980"/>
            <a:ext cx="2866056" cy="5037071"/>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04746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op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1760" y="285136"/>
            <a:ext cx="744418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81782" y="1376979"/>
            <a:ext cx="8344166" cy="3096698"/>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4601497"/>
            <a:ext cx="8344166" cy="1828800"/>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175889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ottom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1920" y="285136"/>
            <a:ext cx="743402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81782" y="3334870"/>
            <a:ext cx="8344166" cy="3171997"/>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1387735"/>
            <a:ext cx="8344166" cy="1818044"/>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51653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placeholders">
    <p:spTree>
      <p:nvGrpSpPr>
        <p:cNvPr id="1" name=""/>
        <p:cNvGrpSpPr/>
        <p:nvPr/>
      </p:nvGrpSpPr>
      <p:grpSpPr>
        <a:xfrm>
          <a:off x="0" y="0"/>
          <a:ext cx="0" cy="0"/>
          <a:chOff x="0" y="0"/>
          <a:chExt cx="0" cy="0"/>
        </a:xfrm>
      </p:grpSpPr>
      <p:sp>
        <p:nvSpPr>
          <p:cNvPr id="2" name="Title 1"/>
          <p:cNvSpPr>
            <a:spLocks noGrp="1"/>
          </p:cNvSpPr>
          <p:nvPr>
            <p:ph type="title"/>
          </p:nvPr>
        </p:nvSpPr>
        <p:spPr>
          <a:xfrm>
            <a:off x="1391920" y="285136"/>
            <a:ext cx="743402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788568" y="3334870"/>
            <a:ext cx="4037379" cy="3171997"/>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1387735"/>
            <a:ext cx="8344166" cy="1818044"/>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Content Placeholder 4">
            <a:extLst>
              <a:ext uri="{FF2B5EF4-FFF2-40B4-BE49-F238E27FC236}">
                <a16:creationId xmlns:a16="http://schemas.microsoft.com/office/drawing/2014/main" id="{FB9E3C4B-5E95-A940-9CF4-A2896A1FB445}"/>
              </a:ext>
            </a:extLst>
          </p:cNvPr>
          <p:cNvSpPr>
            <a:spLocks noGrp="1"/>
          </p:cNvSpPr>
          <p:nvPr>
            <p:ph sz="quarter" idx="10"/>
          </p:nvPr>
        </p:nvSpPr>
        <p:spPr>
          <a:xfrm>
            <a:off x="481782" y="3334870"/>
            <a:ext cx="4174439" cy="3171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21045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placeholders with left Picture">
    <p:spTree>
      <p:nvGrpSpPr>
        <p:cNvPr id="1" name=""/>
        <p:cNvGrpSpPr/>
        <p:nvPr/>
      </p:nvGrpSpPr>
      <p:grpSpPr>
        <a:xfrm>
          <a:off x="0" y="0"/>
          <a:ext cx="0" cy="0"/>
          <a:chOff x="0" y="0"/>
          <a:chExt cx="0" cy="0"/>
        </a:xfrm>
      </p:grpSpPr>
      <p:sp>
        <p:nvSpPr>
          <p:cNvPr id="2" name="Title 1"/>
          <p:cNvSpPr>
            <a:spLocks noGrp="1"/>
          </p:cNvSpPr>
          <p:nvPr>
            <p:ph type="title"/>
          </p:nvPr>
        </p:nvSpPr>
        <p:spPr>
          <a:xfrm>
            <a:off x="1391920" y="285136"/>
            <a:ext cx="7434028" cy="552612"/>
          </a:xfrm>
        </p:spPr>
        <p:txBody>
          <a:bodyPr/>
          <a:lstStyle>
            <a:lvl1pPr algn="ctr">
              <a:defRPr lang="en-US" sz="32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3" name="Picture Placeholder 2"/>
          <p:cNvSpPr>
            <a:spLocks noGrp="1"/>
          </p:cNvSpPr>
          <p:nvPr>
            <p:ph type="pic" idx="1"/>
          </p:nvPr>
        </p:nvSpPr>
        <p:spPr>
          <a:xfrm>
            <a:off x="464519" y="3334869"/>
            <a:ext cx="4037379" cy="3171997"/>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3">
            <a:extLst>
              <a:ext uri="{FF2B5EF4-FFF2-40B4-BE49-F238E27FC236}">
                <a16:creationId xmlns:a16="http://schemas.microsoft.com/office/drawing/2014/main" id="{D054B436-EA3F-BD47-AB08-391A2F2F0F7A}"/>
              </a:ext>
            </a:extLst>
          </p:cNvPr>
          <p:cNvSpPr>
            <a:spLocks noGrp="1"/>
          </p:cNvSpPr>
          <p:nvPr>
            <p:ph sz="half" idx="2" hasCustomPrompt="1"/>
          </p:nvPr>
        </p:nvSpPr>
        <p:spPr>
          <a:xfrm>
            <a:off x="481782" y="1387735"/>
            <a:ext cx="8344166" cy="1818044"/>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Content Placeholder 4">
            <a:extLst>
              <a:ext uri="{FF2B5EF4-FFF2-40B4-BE49-F238E27FC236}">
                <a16:creationId xmlns:a16="http://schemas.microsoft.com/office/drawing/2014/main" id="{FB9E3C4B-5E95-A940-9CF4-A2896A1FB445}"/>
              </a:ext>
            </a:extLst>
          </p:cNvPr>
          <p:cNvSpPr>
            <a:spLocks noGrp="1"/>
          </p:cNvSpPr>
          <p:nvPr>
            <p:ph sz="quarter" idx="10"/>
          </p:nvPr>
        </p:nvSpPr>
        <p:spPr>
          <a:xfrm>
            <a:off x="4653865" y="3334868"/>
            <a:ext cx="4174439" cy="3171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76548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riple Content">
    <p:spTree>
      <p:nvGrpSpPr>
        <p:cNvPr id="1" name=""/>
        <p:cNvGrpSpPr/>
        <p:nvPr/>
      </p:nvGrpSpPr>
      <p:grpSpPr>
        <a:xfrm>
          <a:off x="0" y="0"/>
          <a:ext cx="0" cy="0"/>
          <a:chOff x="0" y="0"/>
          <a:chExt cx="0" cy="0"/>
        </a:xfrm>
      </p:grpSpPr>
      <p:sp>
        <p:nvSpPr>
          <p:cNvPr id="2" name="Title 1"/>
          <p:cNvSpPr>
            <a:spLocks noGrp="1"/>
          </p:cNvSpPr>
          <p:nvPr>
            <p:ph type="title"/>
          </p:nvPr>
        </p:nvSpPr>
        <p:spPr>
          <a:xfrm>
            <a:off x="1651299" y="268941"/>
            <a:ext cx="7161397" cy="566884"/>
          </a:xfrm>
        </p:spPr>
        <p:txBody>
          <a:bodyPr/>
          <a:lstStyle>
            <a:lvl1pPr algn="ctr">
              <a:defRPr lang="en-US" sz="28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6" name="Content Placeholder 2">
            <a:extLst>
              <a:ext uri="{FF2B5EF4-FFF2-40B4-BE49-F238E27FC236}">
                <a16:creationId xmlns:a16="http://schemas.microsoft.com/office/drawing/2014/main" id="{54F3ADB0-4A1F-C149-BFEF-CED9FC442E68}"/>
              </a:ext>
            </a:extLst>
          </p:cNvPr>
          <p:cNvSpPr>
            <a:spLocks noGrp="1"/>
          </p:cNvSpPr>
          <p:nvPr>
            <p:ph sz="half" idx="10"/>
          </p:nvPr>
        </p:nvSpPr>
        <p:spPr>
          <a:xfrm>
            <a:off x="490330" y="2974694"/>
            <a:ext cx="4048215" cy="3439357"/>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a:extLst>
              <a:ext uri="{FF2B5EF4-FFF2-40B4-BE49-F238E27FC236}">
                <a16:creationId xmlns:a16="http://schemas.microsoft.com/office/drawing/2014/main" id="{862332FD-5017-BB4E-9D08-B3E025FA1B18}"/>
              </a:ext>
            </a:extLst>
          </p:cNvPr>
          <p:cNvSpPr>
            <a:spLocks noGrp="1"/>
          </p:cNvSpPr>
          <p:nvPr>
            <p:ph sz="half" idx="2" hasCustomPrompt="1"/>
          </p:nvPr>
        </p:nvSpPr>
        <p:spPr>
          <a:xfrm>
            <a:off x="490331" y="1376979"/>
            <a:ext cx="8344166" cy="1435669"/>
          </a:xfrm>
        </p:spPr>
        <p:txBody>
          <a:bodyPr/>
          <a:lstStyle>
            <a:lvl1pPr>
              <a:defRPr sz="2000"/>
            </a:lvl1pPr>
            <a:lvl2pPr>
              <a:defRPr sz="1800"/>
            </a:lvl2pPr>
            <a:lvl3pPr>
              <a:defRPr sz="1600"/>
            </a:lvl3pPr>
            <a:lvl4pPr>
              <a:defRPr sz="14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Content Placeholder 2">
            <a:extLst>
              <a:ext uri="{FF2B5EF4-FFF2-40B4-BE49-F238E27FC236}">
                <a16:creationId xmlns:a16="http://schemas.microsoft.com/office/drawing/2014/main" id="{4F349085-6470-FF4A-9ACD-18A7D8B083F2}"/>
              </a:ext>
            </a:extLst>
          </p:cNvPr>
          <p:cNvSpPr>
            <a:spLocks noGrp="1"/>
          </p:cNvSpPr>
          <p:nvPr>
            <p:ph sz="half" idx="11"/>
          </p:nvPr>
        </p:nvSpPr>
        <p:spPr>
          <a:xfrm>
            <a:off x="4716965" y="2974694"/>
            <a:ext cx="4117531" cy="3439357"/>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39826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Line 6">
            <a:extLst>
              <a:ext uri="{FF2B5EF4-FFF2-40B4-BE49-F238E27FC236}">
                <a16:creationId xmlns:a16="http://schemas.microsoft.com/office/drawing/2014/main" id="{9E0F0151-74CD-6844-ACA6-4954E9168013}"/>
              </a:ext>
            </a:extLst>
          </p:cNvPr>
          <p:cNvSpPr>
            <a:spLocks noChangeShapeType="1"/>
          </p:cNvSpPr>
          <p:nvPr/>
        </p:nvSpPr>
        <p:spPr bwMode="auto">
          <a:xfrm>
            <a:off x="1630363" y="866775"/>
            <a:ext cx="7221537"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095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1441524"/>
            <a:ext cx="1921358" cy="468098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90330" y="1441525"/>
            <a:ext cx="6248608" cy="46809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53298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12874-CCA4-4B4E-88E6-AE54EDB7895F}"/>
              </a:ext>
            </a:extLst>
          </p:cNvPr>
          <p:cNvSpPr>
            <a:spLocks noGrp="1"/>
          </p:cNvSpPr>
          <p:nvPr>
            <p:ph type="title"/>
          </p:nvPr>
        </p:nvSpPr>
        <p:spPr>
          <a:xfrm>
            <a:off x="1381760" y="257966"/>
            <a:ext cx="7490567" cy="586753"/>
          </a:xfrm>
        </p:spPr>
        <p:txBody>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3331839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Right 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51299" y="268941"/>
            <a:ext cx="7161397" cy="566884"/>
          </a:xfrm>
        </p:spPr>
        <p:txBody>
          <a:bodyPr/>
          <a:lstStyle>
            <a:lvl1pPr algn="ctr">
              <a:defRPr lang="en-US" sz="28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5" name="Picture Placeholder 2">
            <a:extLst>
              <a:ext uri="{FF2B5EF4-FFF2-40B4-BE49-F238E27FC236}">
                <a16:creationId xmlns:a16="http://schemas.microsoft.com/office/drawing/2014/main" id="{B24A6ED9-6FA3-104C-BA12-E59DD6538BFC}"/>
              </a:ext>
            </a:extLst>
          </p:cNvPr>
          <p:cNvSpPr>
            <a:spLocks noGrp="1"/>
          </p:cNvSpPr>
          <p:nvPr>
            <p:ph type="pic" idx="1"/>
          </p:nvPr>
        </p:nvSpPr>
        <p:spPr>
          <a:xfrm>
            <a:off x="482099" y="1376979"/>
            <a:ext cx="5329713" cy="5037072"/>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Content Placeholder 2">
            <a:extLst>
              <a:ext uri="{FF2B5EF4-FFF2-40B4-BE49-F238E27FC236}">
                <a16:creationId xmlns:a16="http://schemas.microsoft.com/office/drawing/2014/main" id="{54F3ADB0-4A1F-C149-BFEF-CED9FC442E68}"/>
              </a:ext>
            </a:extLst>
          </p:cNvPr>
          <p:cNvSpPr>
            <a:spLocks noGrp="1"/>
          </p:cNvSpPr>
          <p:nvPr>
            <p:ph sz="half" idx="10"/>
          </p:nvPr>
        </p:nvSpPr>
        <p:spPr>
          <a:xfrm>
            <a:off x="5965448" y="1376980"/>
            <a:ext cx="2866056" cy="5037071"/>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469243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97609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Left 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51299" y="268941"/>
            <a:ext cx="7161397" cy="566884"/>
          </a:xfrm>
        </p:spPr>
        <p:txBody>
          <a:bodyPr/>
          <a:lstStyle>
            <a:lvl1pPr algn="ctr">
              <a:defRPr lang="en-US" sz="2800" b="1" dirty="0">
                <a:solidFill>
                  <a:srgbClr val="006699"/>
                </a:solidFill>
                <a:latin typeface="+mj-lt"/>
                <a:ea typeface="MS PGothic" pitchFamily="34" charset="-128"/>
                <a:cs typeface="ＭＳ Ｐゴシック" charset="-128"/>
              </a:defRPr>
            </a:lvl1pPr>
          </a:lstStyle>
          <a:p>
            <a:r>
              <a:rPr lang="en-US"/>
              <a:t>Click to edit Master title style</a:t>
            </a:r>
            <a:endParaRPr lang="en-US" dirty="0"/>
          </a:p>
        </p:txBody>
      </p:sp>
      <p:sp>
        <p:nvSpPr>
          <p:cNvPr id="5" name="Content Placeholder 2">
            <a:extLst>
              <a:ext uri="{FF2B5EF4-FFF2-40B4-BE49-F238E27FC236}">
                <a16:creationId xmlns:a16="http://schemas.microsoft.com/office/drawing/2014/main" id="{48E32A9D-4992-D044-869D-E179A8595920}"/>
              </a:ext>
            </a:extLst>
          </p:cNvPr>
          <p:cNvSpPr>
            <a:spLocks noGrp="1"/>
          </p:cNvSpPr>
          <p:nvPr>
            <p:ph sz="half" idx="10"/>
          </p:nvPr>
        </p:nvSpPr>
        <p:spPr>
          <a:xfrm>
            <a:off x="490331" y="1376980"/>
            <a:ext cx="2866056" cy="5037071"/>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2">
            <a:extLst>
              <a:ext uri="{FF2B5EF4-FFF2-40B4-BE49-F238E27FC236}">
                <a16:creationId xmlns:a16="http://schemas.microsoft.com/office/drawing/2014/main" id="{D675F1FB-7C51-0B41-8B8C-827372FB2B84}"/>
              </a:ext>
            </a:extLst>
          </p:cNvPr>
          <p:cNvSpPr>
            <a:spLocks noGrp="1"/>
          </p:cNvSpPr>
          <p:nvPr>
            <p:ph type="pic" idx="1"/>
          </p:nvPr>
        </p:nvSpPr>
        <p:spPr>
          <a:xfrm>
            <a:off x="3523785" y="1376980"/>
            <a:ext cx="5288911" cy="5037072"/>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Tree>
    <p:extLst>
      <p:ext uri="{BB962C8B-B14F-4D97-AF65-F5344CB8AC3E}">
        <p14:creationId xmlns:p14="http://schemas.microsoft.com/office/powerpoint/2010/main" val="1336959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782A5125-203A-834E-9201-F7E7164E8896}"/>
              </a:ext>
            </a:extLst>
          </p:cNvPr>
          <p:cNvSpPr>
            <a:spLocks noGrp="1" noChangeArrowheads="1"/>
          </p:cNvSpPr>
          <p:nvPr>
            <p:ph type="title"/>
          </p:nvPr>
        </p:nvSpPr>
        <p:spPr bwMode="auto">
          <a:xfrm>
            <a:off x="1379221" y="277813"/>
            <a:ext cx="747268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4">
            <a:extLst>
              <a:ext uri="{FF2B5EF4-FFF2-40B4-BE49-F238E27FC236}">
                <a16:creationId xmlns:a16="http://schemas.microsoft.com/office/drawing/2014/main" id="{E43018F0-BEC7-1044-AAEB-1337A9D18AC4}"/>
              </a:ext>
            </a:extLst>
          </p:cNvPr>
          <p:cNvSpPr>
            <a:spLocks noGrp="1" noChangeArrowheads="1"/>
          </p:cNvSpPr>
          <p:nvPr>
            <p:ph type="body" idx="1"/>
          </p:nvPr>
        </p:nvSpPr>
        <p:spPr bwMode="auto">
          <a:xfrm>
            <a:off x="490538" y="1398494"/>
            <a:ext cx="8361362" cy="501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2" name="Line 6">
            <a:extLst>
              <a:ext uri="{FF2B5EF4-FFF2-40B4-BE49-F238E27FC236}">
                <a16:creationId xmlns:a16="http://schemas.microsoft.com/office/drawing/2014/main" id="{5379D03F-22E6-5647-AB90-772852545043}"/>
              </a:ext>
            </a:extLst>
          </p:cNvPr>
          <p:cNvSpPr>
            <a:spLocks noChangeShapeType="1"/>
          </p:cNvSpPr>
          <p:nvPr/>
        </p:nvSpPr>
        <p:spPr bwMode="auto">
          <a:xfrm>
            <a:off x="1379221" y="866775"/>
            <a:ext cx="7472679" cy="0"/>
          </a:xfrm>
          <a:prstGeom prst="line">
            <a:avLst/>
          </a:prstGeom>
          <a:noFill/>
          <a:ln w="38100">
            <a:solidFill>
              <a:srgbClr val="336699"/>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309045" y="6613525"/>
            <a:ext cx="341760" cy="246221"/>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fld id="{23FB9004-5CA7-3B41-9B70-CD9EED42E16C}" type="slidenum">
              <a:rPr lang="en-US" altLang="en-US" sz="1000" b="1" smtClean="0">
                <a:solidFill>
                  <a:srgbClr val="006699"/>
                </a:solidFill>
                <a:latin typeface="Helvetica" pitchFamily="2" charset="0"/>
              </a:rPr>
              <a:pPr algn="ctr">
                <a:spcBef>
                  <a:spcPct val="50000"/>
                </a:spcBef>
                <a:defRPr/>
              </a:pPr>
              <a:t>‹#›</a:t>
            </a:fld>
            <a:endParaRPr lang="en-US" altLang="en-US" sz="1000" b="1" dirty="0">
              <a:solidFill>
                <a:srgbClr val="006699"/>
              </a:solidFill>
              <a:latin typeface="Helvetica" pitchFamily="2" charset="0"/>
            </a:endParaRP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266335" y="6470394"/>
            <a:ext cx="40049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Some slides from the Silberschatz, Galvin and Gagne, “Operating System Concepts”,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eds, 2018. </a:t>
            </a:r>
            <a:endParaRPr lang="en-US" altLang="en-US" sz="1000" b="1" dirty="0">
              <a:solidFill>
                <a:srgbClr val="006699"/>
              </a:solidFill>
              <a:latin typeface="Helvetica" pitchFamily="2" charset="0"/>
            </a:endParaRPr>
          </a:p>
        </p:txBody>
      </p:sp>
      <p:pic>
        <p:nvPicPr>
          <p:cNvPr id="1036" name="Picture 2">
            <a:extLst>
              <a:ext uri="{FF2B5EF4-FFF2-40B4-BE49-F238E27FC236}">
                <a16:creationId xmlns:a16="http://schemas.microsoft.com/office/drawing/2014/main" id="{C76FE807-484C-804F-BD4B-45F326DCC7A3}"/>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6720" y="187551"/>
            <a:ext cx="754380" cy="67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7161" y="6622368"/>
            <a:ext cx="248919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r">
              <a:spcBef>
                <a:spcPct val="50000"/>
              </a:spcBef>
              <a:defRPr/>
            </a:pPr>
            <a:r>
              <a:rPr lang="en-US" altLang="en-US" sz="1000" b="1">
                <a:solidFill>
                  <a:srgbClr val="006699"/>
                </a:solidFill>
                <a:latin typeface="Helvetica" pitchFamily="2" charset="0"/>
              </a:rPr>
              <a:t>©2022</a:t>
            </a:r>
            <a:endParaRPr lang="en-US" altLang="en-US" sz="1000" b="1" dirty="0">
              <a:solidFill>
                <a:srgbClr val="006699"/>
              </a:solidFill>
              <a:latin typeface="Helvetica" pitchFamily="2" charset="0"/>
            </a:endParaRPr>
          </a:p>
        </p:txBody>
      </p:sp>
      <p:pic>
        <p:nvPicPr>
          <p:cNvPr id="3" name="Picture 12" descr="dino_6">
            <a:extLst>
              <a:ext uri="{FF2B5EF4-FFF2-40B4-BE49-F238E27FC236}">
                <a16:creationId xmlns:a16="http://schemas.microsoft.com/office/drawing/2014/main" id="{4D81C6D4-006D-6C4B-B74F-24D40B3104E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615553" y="6262457"/>
            <a:ext cx="1160876" cy="32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6C6CC5FA-2F14-274D-837F-9ABE04428BD1}"/>
              </a:ext>
            </a:extLst>
          </p:cNvPr>
          <p:cNvPicPr>
            <a:picLocks noChangeAspect="1"/>
          </p:cNvPicPr>
          <p:nvPr/>
        </p:nvPicPr>
        <p:blipFill>
          <a:blip r:embed="rId21"/>
          <a:stretch>
            <a:fillRect/>
          </a:stretch>
        </p:blipFill>
        <p:spPr>
          <a:xfrm>
            <a:off x="6967593" y="6184266"/>
            <a:ext cx="1905000" cy="438102"/>
          </a:xfrm>
          <a:prstGeom prst="rect">
            <a:avLst/>
          </a:prstGeom>
        </p:spPr>
      </p:pic>
    </p:spTree>
    <p:extLst>
      <p:ext uri="{BB962C8B-B14F-4D97-AF65-F5344CB8AC3E}">
        <p14:creationId xmlns:p14="http://schemas.microsoft.com/office/powerpoint/2010/main" val="3707092274"/>
      </p:ext>
    </p:extLst>
  </p:cSld>
  <p:clrMap bg1="lt1" tx1="dk1" bg2="lt2" tx2="dk2" accent1="accent1" accent2="accent2" accent3="accent3" accent4="accent4" accent5="accent5" accent6="accent6" hlink="hlink" folHlink="folHlink"/>
  <p:sldLayoutIdLst>
    <p:sldLayoutId id="2147484161" r:id="rId1"/>
    <p:sldLayoutId id="2147484162" r:id="rId2"/>
    <p:sldLayoutId id="2147484163" r:id="rId3"/>
    <p:sldLayoutId id="2147484164" r:id="rId4"/>
    <p:sldLayoutId id="2147484165" r:id="rId5"/>
    <p:sldLayoutId id="2147484166" r:id="rId6"/>
    <p:sldLayoutId id="2147484167" r:id="rId7"/>
    <p:sldLayoutId id="2147484168" r:id="rId8"/>
    <p:sldLayoutId id="2147484169" r:id="rId9"/>
    <p:sldLayoutId id="2147484170" r:id="rId10"/>
    <p:sldLayoutId id="2147484171" r:id="rId11"/>
    <p:sldLayoutId id="2147484172" r:id="rId12"/>
    <p:sldLayoutId id="2147484173" r:id="rId13"/>
    <p:sldLayoutId id="2147484174" r:id="rId14"/>
    <p:sldLayoutId id="2147484175" r:id="rId15"/>
    <p:sldLayoutId id="2147484176" r:id="rId16"/>
    <p:sldLayoutId id="2147484177" r:id="rId17"/>
  </p:sldLayoutIdLst>
  <p:hf hdr="0" dt="0"/>
  <p:txStyles>
    <p:titleStyle>
      <a:lvl1pPr algn="ctr" rtl="0" eaLnBrk="1" fontAlgn="base" hangingPunct="1">
        <a:spcBef>
          <a:spcPct val="0"/>
        </a:spcBef>
        <a:spcAft>
          <a:spcPct val="0"/>
        </a:spcAft>
        <a:defRPr sz="2800" b="1">
          <a:solidFill>
            <a:srgbClr val="006699"/>
          </a:solidFill>
          <a:latin typeface="+mj-lt"/>
          <a:ea typeface="MS PGothic" pitchFamily="34" charset="-128"/>
          <a:cs typeface="ＭＳ Ｐゴシック" charset="-128"/>
        </a:defRPr>
      </a:lvl1pPr>
      <a:lvl2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1" fontAlgn="base" hangingPunct="1">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eaLnBrk="1" fontAlgn="base" hangingPunct="1">
        <a:spcBef>
          <a:spcPct val="0"/>
        </a:spcBef>
        <a:spcAft>
          <a:spcPct val="0"/>
        </a:spcAft>
        <a:defRPr sz="3200" b="1">
          <a:solidFill>
            <a:srgbClr val="006699"/>
          </a:solidFill>
          <a:latin typeface="Arial" charset="0"/>
        </a:defRPr>
      </a:lvl6pPr>
      <a:lvl7pPr marL="914400" algn="ctr" rtl="0" eaLnBrk="1" fontAlgn="base" hangingPunct="1">
        <a:spcBef>
          <a:spcPct val="0"/>
        </a:spcBef>
        <a:spcAft>
          <a:spcPct val="0"/>
        </a:spcAft>
        <a:defRPr sz="3200" b="1">
          <a:solidFill>
            <a:srgbClr val="006699"/>
          </a:solidFill>
          <a:latin typeface="Arial" charset="0"/>
        </a:defRPr>
      </a:lvl7pPr>
      <a:lvl8pPr marL="1371600" algn="ctr" rtl="0" eaLnBrk="1" fontAlgn="base" hangingPunct="1">
        <a:spcBef>
          <a:spcPct val="0"/>
        </a:spcBef>
        <a:spcAft>
          <a:spcPct val="0"/>
        </a:spcAft>
        <a:defRPr sz="3200" b="1">
          <a:solidFill>
            <a:srgbClr val="006699"/>
          </a:solidFill>
          <a:latin typeface="Arial" charset="0"/>
        </a:defRPr>
      </a:lvl8pPr>
      <a:lvl9pPr marL="1828800" algn="ctr" rtl="0" eaLnBrk="1" fontAlgn="base" hangingPunct="1">
        <a:spcBef>
          <a:spcPct val="0"/>
        </a:spcBef>
        <a:spcAft>
          <a:spcPct val="0"/>
        </a:spcAft>
        <a:defRPr sz="3200" b="1">
          <a:solidFill>
            <a:srgbClr val="006699"/>
          </a:solidFill>
          <a:latin typeface="Arial" charset="0"/>
        </a:defRPr>
      </a:lvl9pPr>
    </p:titleStyle>
    <p:bodyStyle>
      <a:lvl1pPr marL="342900" indent="-342900" algn="l" rtl="0" eaLnBrk="1" fontAlgn="base" hangingPunct="1">
        <a:lnSpc>
          <a:spcPct val="100000"/>
        </a:lnSpc>
        <a:spcBef>
          <a:spcPts val="800"/>
        </a:spcBef>
        <a:spcAft>
          <a:spcPts val="800"/>
        </a:spcAft>
        <a:buClr>
          <a:srgbClr val="993300"/>
        </a:buClr>
        <a:buSzPct val="90000"/>
        <a:buFont typeface="Monotype Sorts" pitchFamily="2" charset="2"/>
        <a:buChar char="n"/>
        <a:defRPr kumimoji="1" sz="2000">
          <a:solidFill>
            <a:schemeClr val="tx1"/>
          </a:solidFill>
          <a:latin typeface="+mn-lt"/>
          <a:ea typeface="MS PGothic" pitchFamily="34" charset="-128"/>
          <a:cs typeface="ＭＳ Ｐゴシック" charset="-128"/>
        </a:defRPr>
      </a:lvl1pPr>
      <a:lvl2pPr marL="742950" indent="-285750" algn="l" rtl="0" eaLnBrk="1" fontAlgn="base" hangingPunct="1">
        <a:lnSpc>
          <a:spcPct val="100000"/>
        </a:lnSpc>
        <a:spcBef>
          <a:spcPts val="800"/>
        </a:spcBef>
        <a:spcAft>
          <a:spcPts val="800"/>
        </a:spcAft>
        <a:buClr>
          <a:srgbClr val="CC6600"/>
        </a:buClr>
        <a:buSzPct val="80000"/>
        <a:buFont typeface="Monotype Sorts" pitchFamily="2" charset="2"/>
        <a:buChar char="l"/>
        <a:defRPr kumimoji="1">
          <a:solidFill>
            <a:schemeClr val="tx1"/>
          </a:solidFill>
          <a:latin typeface="+mn-lt"/>
          <a:ea typeface="MS PGothic" pitchFamily="34" charset="-128"/>
        </a:defRPr>
      </a:lvl2pPr>
      <a:lvl3pPr marL="1085850" indent="-228600" algn="l" rtl="0" eaLnBrk="1" fontAlgn="base" hangingPunct="1">
        <a:lnSpc>
          <a:spcPct val="100000"/>
        </a:lnSpc>
        <a:spcBef>
          <a:spcPts val="800"/>
        </a:spcBef>
        <a:spcAft>
          <a:spcPts val="800"/>
        </a:spcAft>
        <a:buClr>
          <a:srgbClr val="009900"/>
        </a:buClr>
        <a:buSzPct val="75000"/>
        <a:buFont typeface="Webdings" pitchFamily="2" charset="2"/>
        <a:buChar char="4"/>
        <a:defRPr kumimoji="1" sz="1600">
          <a:solidFill>
            <a:schemeClr val="tx1"/>
          </a:solidFill>
          <a:latin typeface="+mn-lt"/>
          <a:ea typeface="MS PGothic" pitchFamily="34" charset="-128"/>
        </a:defRPr>
      </a:lvl3pPr>
      <a:lvl4pPr marL="1428750" indent="-228600" algn="l" rtl="0" eaLnBrk="1" fontAlgn="base" hangingPunct="1">
        <a:lnSpc>
          <a:spcPct val="100000"/>
        </a:lnSpc>
        <a:spcBef>
          <a:spcPts val="800"/>
        </a:spcBef>
        <a:spcAft>
          <a:spcPts val="800"/>
        </a:spcAft>
        <a:buClr>
          <a:schemeClr val="hlink"/>
        </a:buClr>
        <a:buSzPct val="75000"/>
        <a:buChar char="–"/>
        <a:defRPr kumimoji="1" sz="1400">
          <a:solidFill>
            <a:schemeClr val="tx1"/>
          </a:solidFill>
          <a:latin typeface="+mn-lt"/>
          <a:ea typeface="MS PGothic" pitchFamily="34" charset="-128"/>
        </a:defRPr>
      </a:lvl4pPr>
      <a:lvl5pPr marL="1771650" indent="-228600" algn="l" rtl="0" eaLnBrk="1" fontAlgn="base" hangingPunct="1">
        <a:lnSpc>
          <a:spcPct val="100000"/>
        </a:lnSpc>
        <a:spcBef>
          <a:spcPts val="800"/>
        </a:spcBef>
        <a:spcAft>
          <a:spcPts val="800"/>
        </a:spcAft>
        <a:buClr>
          <a:srgbClr val="FF0066"/>
        </a:buClr>
        <a:buSzPct val="75000"/>
        <a:buChar char="»"/>
        <a:defRPr kumimoji="1" sz="1200">
          <a:solidFill>
            <a:schemeClr val="tx1"/>
          </a:solidFill>
          <a:latin typeface="+mn-lt"/>
          <a:ea typeface="MS PGothic" pitchFamily="34" charset="-128"/>
        </a:defRPr>
      </a:lvl5pPr>
      <a:lvl6pPr marL="22288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78F82C6-47D1-EA45-9FA0-C97A2B714FF8}"/>
              </a:ext>
            </a:extLst>
          </p:cNvPr>
          <p:cNvSpPr>
            <a:spLocks noGrp="1" noChangeArrowheads="1"/>
          </p:cNvSpPr>
          <p:nvPr>
            <p:ph type="ctrTitle"/>
          </p:nvPr>
        </p:nvSpPr>
        <p:spPr/>
        <p:txBody>
          <a:bodyPr/>
          <a:lstStyle/>
          <a:p>
            <a:pPr eaLnBrk="1" hangingPunct="1"/>
            <a:r>
              <a:rPr lang="en-US" altLang="en-US"/>
              <a:t>Chapter 10.B: </a:t>
            </a:r>
            <a:br>
              <a:rPr lang="en-US" altLang="en-US"/>
            </a:br>
            <a:r>
              <a:rPr lang="en-US" altLang="en-US"/>
              <a:t>File-System Implementation</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6D19B8C3-549A-9045-AB63-59EC77BAA48B}"/>
              </a:ext>
            </a:extLst>
          </p:cNvPr>
          <p:cNvSpPr>
            <a:spLocks noGrp="1" noChangeArrowheads="1"/>
          </p:cNvSpPr>
          <p:nvPr>
            <p:ph type="title"/>
          </p:nvPr>
        </p:nvSpPr>
        <p:spPr/>
        <p:txBody>
          <a:bodyPr/>
          <a:lstStyle/>
          <a:p>
            <a:r>
              <a:rPr lang="en-US" altLang="en-US" dirty="0"/>
              <a:t> Chapter 10.B: Outline</a:t>
            </a:r>
          </a:p>
        </p:txBody>
      </p:sp>
      <p:sp>
        <p:nvSpPr>
          <p:cNvPr id="7170" name="Rectangle 3">
            <a:extLst>
              <a:ext uri="{FF2B5EF4-FFF2-40B4-BE49-F238E27FC236}">
                <a16:creationId xmlns:a16="http://schemas.microsoft.com/office/drawing/2014/main" id="{F265AA27-AD86-7D40-8C95-E843E9EF01BB}"/>
              </a:ext>
            </a:extLst>
          </p:cNvPr>
          <p:cNvSpPr>
            <a:spLocks noGrp="1" noChangeArrowheads="1"/>
          </p:cNvSpPr>
          <p:nvPr>
            <p:ph idx="1"/>
          </p:nvPr>
        </p:nvSpPr>
        <p:spPr/>
        <p:txBody>
          <a:bodyPr/>
          <a:lstStyle/>
          <a:p>
            <a:r>
              <a:rPr lang="en-US" altLang="en-US"/>
              <a:t>File-System Structure</a:t>
            </a:r>
          </a:p>
          <a:p>
            <a:r>
              <a:rPr lang="en-US" altLang="en-US"/>
              <a:t>File-System Operations</a:t>
            </a:r>
          </a:p>
          <a:p>
            <a:r>
              <a:rPr lang="en-US" altLang="en-US"/>
              <a:t>Directory Implementation</a:t>
            </a:r>
          </a:p>
          <a:p>
            <a:r>
              <a:rPr lang="en-US" altLang="en-US"/>
              <a:t>Allocation Methods</a:t>
            </a:r>
          </a:p>
          <a:p>
            <a:r>
              <a:rPr lang="en-US" altLang="en-US"/>
              <a:t>Free-Space Management </a:t>
            </a:r>
          </a:p>
          <a:p>
            <a:r>
              <a:rPr lang="en-US" altLang="en-US"/>
              <a:t>Efficiency and Performance</a:t>
            </a:r>
            <a:endParaRPr lang="en-US"/>
          </a:p>
          <a:p>
            <a:pPr lvl="1"/>
            <a:endParaRPr lang="en-US" altLang="en-US"/>
          </a:p>
        </p:txBody>
      </p:sp>
      <p:sp>
        <p:nvSpPr>
          <p:cNvPr id="7171" name="Rectangle 4">
            <a:extLst>
              <a:ext uri="{FF2B5EF4-FFF2-40B4-BE49-F238E27FC236}">
                <a16:creationId xmlns:a16="http://schemas.microsoft.com/office/drawing/2014/main" id="{8708F336-92D0-8E4C-8F48-3390CEA5220E}"/>
              </a:ext>
            </a:extLst>
          </p:cNvPr>
          <p:cNvSpPr>
            <a:spLocks noChangeArrowheads="1"/>
          </p:cNvSpPr>
          <p:nvPr/>
        </p:nvSpPr>
        <p:spPr bwMode="auto">
          <a:xfrm>
            <a:off x="974725" y="1531938"/>
            <a:ext cx="70294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sz="2400">
              <a:latin typeface="Times New Roman" panose="02020603050405020304" pitchFamily="18" charset="0"/>
            </a:endParaRPr>
          </a:p>
        </p:txBody>
      </p:sp>
    </p:spTree>
    <p:extLst>
      <p:ext uri="{BB962C8B-B14F-4D97-AF65-F5344CB8AC3E}">
        <p14:creationId xmlns:p14="http://schemas.microsoft.com/office/powerpoint/2010/main" val="603552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9A810F17-0F34-D945-BF4E-7AC16A330828}"/>
              </a:ext>
            </a:extLst>
          </p:cNvPr>
          <p:cNvSpPr>
            <a:spLocks noGrp="1" noChangeArrowheads="1"/>
          </p:cNvSpPr>
          <p:nvPr>
            <p:ph type="title"/>
          </p:nvPr>
        </p:nvSpPr>
        <p:spPr/>
        <p:txBody>
          <a:bodyPr/>
          <a:lstStyle/>
          <a:p>
            <a:r>
              <a:rPr lang="en-US" altLang="en-US"/>
              <a:t>Objectives</a:t>
            </a:r>
          </a:p>
        </p:txBody>
      </p:sp>
      <p:sp>
        <p:nvSpPr>
          <p:cNvPr id="9218" name="Rectangle 3">
            <a:extLst>
              <a:ext uri="{FF2B5EF4-FFF2-40B4-BE49-F238E27FC236}">
                <a16:creationId xmlns:a16="http://schemas.microsoft.com/office/drawing/2014/main" id="{98E8887A-44D9-C249-A0B3-2B848A384F47}"/>
              </a:ext>
            </a:extLst>
          </p:cNvPr>
          <p:cNvSpPr>
            <a:spLocks noGrp="1" noChangeArrowheads="1"/>
          </p:cNvSpPr>
          <p:nvPr>
            <p:ph idx="1"/>
          </p:nvPr>
        </p:nvSpPr>
        <p:spPr/>
        <p:txBody>
          <a:bodyPr/>
          <a:lstStyle/>
          <a:p>
            <a:r>
              <a:rPr lang="en-US" altLang="en-US" dirty="0"/>
              <a:t>Describe the details of </a:t>
            </a:r>
            <a:r>
              <a:rPr lang="en-US" altLang="en-US" i="1" dirty="0">
                <a:solidFill>
                  <a:srgbClr val="0070C0"/>
                </a:solidFill>
              </a:rPr>
              <a:t>implementing local file systems </a:t>
            </a:r>
            <a:r>
              <a:rPr lang="en-US" altLang="en-US" dirty="0"/>
              <a:t>and </a:t>
            </a:r>
            <a:r>
              <a:rPr lang="en-US" altLang="en-US" i="1" dirty="0">
                <a:solidFill>
                  <a:srgbClr val="0070C0"/>
                </a:solidFill>
              </a:rPr>
              <a:t>directory structures</a:t>
            </a:r>
          </a:p>
          <a:p>
            <a:r>
              <a:rPr lang="en-US" altLang="en-US" dirty="0"/>
              <a:t>Discuss </a:t>
            </a:r>
            <a:r>
              <a:rPr lang="en-US" altLang="en-US" i="1" dirty="0">
                <a:solidFill>
                  <a:srgbClr val="0070C0"/>
                </a:solidFill>
              </a:rPr>
              <a:t>block allocation </a:t>
            </a:r>
            <a:r>
              <a:rPr lang="en-US" altLang="en-US" dirty="0"/>
              <a:t>and </a:t>
            </a:r>
            <a:r>
              <a:rPr lang="en-US" altLang="en-US" i="1" dirty="0">
                <a:solidFill>
                  <a:srgbClr val="0070C0"/>
                </a:solidFill>
              </a:rPr>
              <a:t>free-block algorithms </a:t>
            </a:r>
            <a:r>
              <a:rPr lang="en-US" altLang="en-US" dirty="0"/>
              <a:t>and trade-offs</a:t>
            </a:r>
          </a:p>
          <a:p>
            <a:r>
              <a:rPr lang="en-US" altLang="en-US" dirty="0"/>
              <a:t>Explore </a:t>
            </a:r>
            <a:r>
              <a:rPr lang="en-US" altLang="en-US" i="1" dirty="0">
                <a:solidFill>
                  <a:srgbClr val="0070C0"/>
                </a:solidFill>
              </a:rPr>
              <a:t>file system efficiency </a:t>
            </a:r>
            <a:r>
              <a:rPr lang="en-US" altLang="en-US" dirty="0"/>
              <a:t>and </a:t>
            </a:r>
            <a:r>
              <a:rPr lang="en-US" altLang="en-US" i="1" dirty="0">
                <a:solidFill>
                  <a:srgbClr val="0070C0"/>
                </a:solidFill>
              </a:rPr>
              <a:t>performance issues</a:t>
            </a:r>
          </a:p>
          <a:p>
            <a:r>
              <a:rPr lang="en-US" altLang="en-US" dirty="0"/>
              <a:t>Look at recovery from </a:t>
            </a:r>
            <a:r>
              <a:rPr lang="en-US" altLang="en-US" i="1" dirty="0">
                <a:solidFill>
                  <a:srgbClr val="0070C0"/>
                </a:solidFill>
              </a:rPr>
              <a:t>file system failures</a:t>
            </a:r>
          </a:p>
          <a:p>
            <a:r>
              <a:rPr lang="en-US" altLang="en-US" dirty="0">
                <a:solidFill>
                  <a:schemeClr val="bg1">
                    <a:lumMod val="65000"/>
                  </a:schemeClr>
                </a:solidFill>
              </a:rPr>
              <a:t>Describe the </a:t>
            </a:r>
            <a:r>
              <a:rPr lang="en-US" altLang="en-US" i="1" dirty="0">
                <a:solidFill>
                  <a:schemeClr val="bg1">
                    <a:lumMod val="65000"/>
                  </a:schemeClr>
                </a:solidFill>
              </a:rPr>
              <a:t>WAFL file system </a:t>
            </a:r>
            <a:r>
              <a:rPr lang="en-US" altLang="en-US" dirty="0">
                <a:solidFill>
                  <a:schemeClr val="bg1">
                    <a:lumMod val="65000"/>
                  </a:schemeClr>
                </a:solidFill>
              </a:rPr>
              <a:t>as a concrete example</a:t>
            </a:r>
          </a:p>
          <a:p>
            <a:endParaRPr lang="en-US" altLang="en-US" dirty="0"/>
          </a:p>
        </p:txBody>
      </p:sp>
    </p:spTree>
    <p:extLst>
      <p:ext uri="{BB962C8B-B14F-4D97-AF65-F5344CB8AC3E}">
        <p14:creationId xmlns:p14="http://schemas.microsoft.com/office/powerpoint/2010/main" val="895476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0E2CBD05-D009-B741-A144-293B318A6449}"/>
              </a:ext>
            </a:extLst>
          </p:cNvPr>
          <p:cNvSpPr>
            <a:spLocks noGrp="1" noChangeArrowheads="1"/>
          </p:cNvSpPr>
          <p:nvPr>
            <p:ph type="title"/>
          </p:nvPr>
        </p:nvSpPr>
        <p:spPr/>
        <p:txBody>
          <a:bodyPr/>
          <a:lstStyle/>
          <a:p>
            <a:r>
              <a:rPr lang="en-US" altLang="en-US"/>
              <a:t>File-System Structure</a:t>
            </a:r>
          </a:p>
        </p:txBody>
      </p:sp>
      <p:sp>
        <p:nvSpPr>
          <p:cNvPr id="11266" name="Rectangle 3">
            <a:extLst>
              <a:ext uri="{FF2B5EF4-FFF2-40B4-BE49-F238E27FC236}">
                <a16:creationId xmlns:a16="http://schemas.microsoft.com/office/drawing/2014/main" id="{46F20E4A-0160-3849-B99C-9E4D3569F887}"/>
              </a:ext>
            </a:extLst>
          </p:cNvPr>
          <p:cNvSpPr>
            <a:spLocks noGrp="1" noChangeArrowheads="1"/>
          </p:cNvSpPr>
          <p:nvPr>
            <p:ph idx="1"/>
          </p:nvPr>
        </p:nvSpPr>
        <p:spPr/>
        <p:txBody>
          <a:bodyPr/>
          <a:lstStyle/>
          <a:p>
            <a:pPr>
              <a:spcBef>
                <a:spcPts val="400"/>
              </a:spcBef>
              <a:spcAft>
                <a:spcPts val="400"/>
              </a:spcAft>
            </a:pPr>
            <a:r>
              <a:rPr lang="en-US" altLang="en-US" i="1" dirty="0">
                <a:solidFill>
                  <a:srgbClr val="0070C0"/>
                </a:solidFill>
              </a:rPr>
              <a:t>File structure</a:t>
            </a:r>
          </a:p>
          <a:p>
            <a:pPr lvl="1">
              <a:spcBef>
                <a:spcPts val="400"/>
              </a:spcBef>
              <a:spcAft>
                <a:spcPts val="400"/>
              </a:spcAft>
            </a:pPr>
            <a:r>
              <a:rPr lang="en-US" altLang="en-US" dirty="0"/>
              <a:t>Logical storage unit</a:t>
            </a:r>
          </a:p>
          <a:p>
            <a:pPr lvl="1">
              <a:spcBef>
                <a:spcPts val="400"/>
              </a:spcBef>
              <a:spcAft>
                <a:spcPts val="400"/>
              </a:spcAft>
            </a:pPr>
            <a:r>
              <a:rPr lang="en-US" altLang="en-US" dirty="0"/>
              <a:t>Collection of related information</a:t>
            </a:r>
          </a:p>
          <a:p>
            <a:pPr>
              <a:spcBef>
                <a:spcPts val="400"/>
              </a:spcBef>
              <a:spcAft>
                <a:spcPts val="400"/>
              </a:spcAft>
            </a:pPr>
            <a:r>
              <a:rPr lang="en-US" altLang="en-US" i="1" dirty="0">
                <a:solidFill>
                  <a:srgbClr val="0070C0"/>
                </a:solidFill>
              </a:rPr>
              <a:t>File system </a:t>
            </a:r>
            <a:r>
              <a:rPr lang="en-US" altLang="en-US" dirty="0"/>
              <a:t>resides on secondary storage (e.g., disks)</a:t>
            </a:r>
          </a:p>
          <a:p>
            <a:pPr lvl="1">
              <a:spcBef>
                <a:spcPts val="400"/>
              </a:spcBef>
              <a:spcAft>
                <a:spcPts val="400"/>
              </a:spcAft>
            </a:pPr>
            <a:r>
              <a:rPr lang="en-US" altLang="en-US" dirty="0"/>
              <a:t>Provided user interface to storage, mapping logical to physical</a:t>
            </a:r>
          </a:p>
          <a:p>
            <a:pPr lvl="1">
              <a:spcBef>
                <a:spcPts val="400"/>
              </a:spcBef>
              <a:spcAft>
                <a:spcPts val="400"/>
              </a:spcAft>
            </a:pPr>
            <a:r>
              <a:rPr lang="en-US" altLang="en-US" dirty="0"/>
              <a:t>Provides efficient and convenient access to disk by allowing data to be stored, located, and retrieved easily</a:t>
            </a:r>
          </a:p>
          <a:p>
            <a:pPr>
              <a:spcBef>
                <a:spcPts val="400"/>
              </a:spcBef>
              <a:spcAft>
                <a:spcPts val="400"/>
              </a:spcAft>
            </a:pPr>
            <a:r>
              <a:rPr lang="en-US" altLang="en-US" i="1" dirty="0">
                <a:solidFill>
                  <a:srgbClr val="0070C0"/>
                </a:solidFill>
              </a:rPr>
              <a:t>Disk</a:t>
            </a:r>
            <a:r>
              <a:rPr lang="en-US" altLang="en-US" dirty="0"/>
              <a:t> provides in-place rewrite and random access</a:t>
            </a:r>
          </a:p>
          <a:p>
            <a:pPr lvl="1">
              <a:spcBef>
                <a:spcPts val="400"/>
              </a:spcBef>
              <a:spcAft>
                <a:spcPts val="400"/>
              </a:spcAft>
            </a:pPr>
            <a:r>
              <a:rPr lang="en-US" altLang="en-US" dirty="0"/>
              <a:t>I/O transfers performed in blocks of sectors (usually 512 bytes)</a:t>
            </a:r>
          </a:p>
          <a:p>
            <a:pPr>
              <a:spcBef>
                <a:spcPts val="400"/>
              </a:spcBef>
              <a:spcAft>
                <a:spcPts val="400"/>
              </a:spcAft>
            </a:pPr>
            <a:r>
              <a:rPr lang="en-US" altLang="en-US" i="1" dirty="0">
                <a:solidFill>
                  <a:srgbClr val="0070C0"/>
                </a:solidFill>
              </a:rPr>
              <a:t>File control block </a:t>
            </a:r>
            <a:r>
              <a:rPr lang="en-US" altLang="en-US" dirty="0"/>
              <a:t>(</a:t>
            </a:r>
            <a:r>
              <a:rPr lang="en-US" altLang="en-US" b="1" dirty="0">
                <a:solidFill>
                  <a:srgbClr val="0070C0"/>
                </a:solidFill>
              </a:rPr>
              <a:t>FCB</a:t>
            </a:r>
            <a:r>
              <a:rPr lang="en-US" altLang="en-US" dirty="0"/>
              <a:t>) – storage structure consisting of information about a file</a:t>
            </a:r>
          </a:p>
          <a:p>
            <a:pPr>
              <a:spcBef>
                <a:spcPts val="400"/>
              </a:spcBef>
              <a:spcAft>
                <a:spcPts val="400"/>
              </a:spcAft>
            </a:pPr>
            <a:r>
              <a:rPr lang="en-US" altLang="en-US" i="1" dirty="0">
                <a:solidFill>
                  <a:srgbClr val="0070C0"/>
                </a:solidFill>
              </a:rPr>
              <a:t>Device driver </a:t>
            </a:r>
            <a:r>
              <a:rPr lang="en-US" altLang="en-US" dirty="0"/>
              <a:t>controls the physical device </a:t>
            </a:r>
          </a:p>
          <a:p>
            <a:pPr>
              <a:spcBef>
                <a:spcPts val="400"/>
              </a:spcBef>
              <a:spcAft>
                <a:spcPts val="400"/>
              </a:spcAft>
            </a:pPr>
            <a:r>
              <a:rPr lang="en-US" altLang="en-US" dirty="0"/>
              <a:t>File system is organized into </a:t>
            </a:r>
            <a:r>
              <a:rPr lang="en-US" altLang="en-US" i="1" dirty="0">
                <a:solidFill>
                  <a:srgbClr val="0070C0"/>
                </a:solidFill>
              </a:rPr>
              <a:t>layers</a:t>
            </a:r>
          </a:p>
          <a:p>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226DC14-3196-AB48-B6D6-66BFDE30852E}"/>
              </a:ext>
            </a:extLst>
          </p:cNvPr>
          <p:cNvSpPr>
            <a:spLocks noGrp="1" noChangeArrowheads="1"/>
          </p:cNvSpPr>
          <p:nvPr>
            <p:ph type="title"/>
          </p:nvPr>
        </p:nvSpPr>
        <p:spPr/>
        <p:txBody>
          <a:bodyPr/>
          <a:lstStyle/>
          <a:p>
            <a:r>
              <a:rPr lang="en-US" altLang="en-US"/>
              <a:t>Layered File System</a:t>
            </a:r>
          </a:p>
        </p:txBody>
      </p:sp>
      <p:sp>
        <p:nvSpPr>
          <p:cNvPr id="3" name="Content Placeholder 2">
            <a:extLst>
              <a:ext uri="{FF2B5EF4-FFF2-40B4-BE49-F238E27FC236}">
                <a16:creationId xmlns:a16="http://schemas.microsoft.com/office/drawing/2014/main" id="{F536583E-8680-5146-B295-947D3CDDA5DB}"/>
              </a:ext>
            </a:extLst>
          </p:cNvPr>
          <p:cNvSpPr>
            <a:spLocks noGrp="1"/>
          </p:cNvSpPr>
          <p:nvPr>
            <p:ph sz="half" idx="10"/>
          </p:nvPr>
        </p:nvSpPr>
        <p:spPr>
          <a:xfrm>
            <a:off x="2849020" y="1082225"/>
            <a:ext cx="5799221" cy="1173715"/>
          </a:xfrm>
        </p:spPr>
        <p:txBody>
          <a:bodyPr anchor="ctr"/>
          <a:lstStyle/>
          <a:p>
            <a:r>
              <a:rPr lang="en-US" altLang="en-US" i="1" dirty="0">
                <a:solidFill>
                  <a:srgbClr val="0070C0"/>
                </a:solidFill>
              </a:rPr>
              <a:t>Layering</a:t>
            </a:r>
            <a:r>
              <a:rPr lang="en-US" altLang="en-US" dirty="0"/>
              <a:t> useful for reducing complexity and redundancy, but adds overhead and can decrease performance</a:t>
            </a:r>
          </a:p>
          <a:p>
            <a:endParaRPr lang="en-US" dirty="0"/>
          </a:p>
        </p:txBody>
      </p:sp>
      <p:pic>
        <p:nvPicPr>
          <p:cNvPr id="13314" name="Picture 2">
            <a:extLst>
              <a:ext uri="{FF2B5EF4-FFF2-40B4-BE49-F238E27FC236}">
                <a16:creationId xmlns:a16="http://schemas.microsoft.com/office/drawing/2014/main" id="{4474DC4D-E55C-7C44-A8BB-85078C55AA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578" y="1082225"/>
            <a:ext cx="2395442" cy="469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2">
            <a:extLst>
              <a:ext uri="{FF2B5EF4-FFF2-40B4-BE49-F238E27FC236}">
                <a16:creationId xmlns:a16="http://schemas.microsoft.com/office/drawing/2014/main" id="{007F1066-7D6C-9C65-4A2B-CA189F3AF338}"/>
              </a:ext>
            </a:extLst>
          </p:cNvPr>
          <p:cNvSpPr txBox="1">
            <a:spLocks/>
          </p:cNvSpPr>
          <p:nvPr/>
        </p:nvSpPr>
        <p:spPr bwMode="auto">
          <a:xfrm>
            <a:off x="2971294" y="1995923"/>
            <a:ext cx="5841402" cy="501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lnSpc>
                <a:spcPct val="100000"/>
              </a:lnSpc>
              <a:spcBef>
                <a:spcPts val="800"/>
              </a:spcBef>
              <a:spcAft>
                <a:spcPts val="800"/>
              </a:spcAft>
              <a:buClr>
                <a:srgbClr val="993300"/>
              </a:buClr>
              <a:buSzPct val="90000"/>
              <a:buFont typeface="Monotype Sorts" pitchFamily="2" charset="2"/>
              <a:buNone/>
              <a:defRPr kumimoji="1" sz="3200">
                <a:solidFill>
                  <a:schemeClr val="tx1"/>
                </a:solidFill>
                <a:latin typeface="+mn-lt"/>
                <a:ea typeface="MS PGothic" pitchFamily="34" charset="-128"/>
                <a:cs typeface="ＭＳ Ｐゴシック" charset="-128"/>
              </a:defRPr>
            </a:lvl1pPr>
            <a:lvl2pPr marL="457200" indent="0" algn="l" rtl="0" eaLnBrk="1" fontAlgn="base" hangingPunct="1">
              <a:lnSpc>
                <a:spcPct val="100000"/>
              </a:lnSpc>
              <a:spcBef>
                <a:spcPts val="800"/>
              </a:spcBef>
              <a:spcAft>
                <a:spcPts val="800"/>
              </a:spcAft>
              <a:buClr>
                <a:srgbClr val="CC6600"/>
              </a:buClr>
              <a:buSzPct val="80000"/>
              <a:buFont typeface="Monotype Sorts" pitchFamily="2" charset="2"/>
              <a:buNone/>
              <a:defRPr kumimoji="1" sz="2800">
                <a:solidFill>
                  <a:schemeClr val="tx1"/>
                </a:solidFill>
                <a:latin typeface="+mn-lt"/>
                <a:ea typeface="MS PGothic" pitchFamily="34" charset="-128"/>
              </a:defRPr>
            </a:lvl2pPr>
            <a:lvl3pPr marL="914400" indent="0" algn="l" rtl="0" eaLnBrk="1" fontAlgn="base" hangingPunct="1">
              <a:lnSpc>
                <a:spcPct val="100000"/>
              </a:lnSpc>
              <a:spcBef>
                <a:spcPts val="800"/>
              </a:spcBef>
              <a:spcAft>
                <a:spcPts val="800"/>
              </a:spcAft>
              <a:buClr>
                <a:srgbClr val="009900"/>
              </a:buClr>
              <a:buSzPct val="75000"/>
              <a:buFont typeface="Webdings" pitchFamily="2" charset="2"/>
              <a:buNone/>
              <a:defRPr kumimoji="1" sz="2400">
                <a:solidFill>
                  <a:schemeClr val="tx1"/>
                </a:solidFill>
                <a:latin typeface="+mn-lt"/>
                <a:ea typeface="MS PGothic" pitchFamily="34" charset="-128"/>
              </a:defRPr>
            </a:lvl3pPr>
            <a:lvl4pPr marL="1371600" indent="0" algn="l" rtl="0" eaLnBrk="1" fontAlgn="base" hangingPunct="1">
              <a:lnSpc>
                <a:spcPct val="100000"/>
              </a:lnSpc>
              <a:spcBef>
                <a:spcPts val="800"/>
              </a:spcBef>
              <a:spcAft>
                <a:spcPts val="800"/>
              </a:spcAft>
              <a:buClr>
                <a:schemeClr val="hlink"/>
              </a:buClr>
              <a:buSzPct val="75000"/>
              <a:buNone/>
              <a:defRPr kumimoji="1" sz="2000">
                <a:solidFill>
                  <a:schemeClr val="tx1"/>
                </a:solidFill>
                <a:latin typeface="+mn-lt"/>
                <a:ea typeface="MS PGothic" pitchFamily="34" charset="-128"/>
              </a:defRPr>
            </a:lvl4pPr>
            <a:lvl5pPr marL="1828800" indent="0" algn="l" rtl="0" eaLnBrk="1" fontAlgn="base" hangingPunct="1">
              <a:lnSpc>
                <a:spcPct val="100000"/>
              </a:lnSpc>
              <a:spcBef>
                <a:spcPts val="800"/>
              </a:spcBef>
              <a:spcAft>
                <a:spcPts val="800"/>
              </a:spcAft>
              <a:buClr>
                <a:srgbClr val="FF0066"/>
              </a:buClr>
              <a:buSzPct val="75000"/>
              <a:buNone/>
              <a:defRPr kumimoji="1" sz="2000">
                <a:solidFill>
                  <a:schemeClr val="tx1"/>
                </a:solidFill>
                <a:latin typeface="+mn-lt"/>
                <a:ea typeface="MS PGothic" pitchFamily="34" charset="-128"/>
              </a:defRPr>
            </a:lvl5pPr>
            <a:lvl6pPr marL="22860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6pPr>
            <a:lvl7pPr marL="27432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7pPr>
            <a:lvl8pPr marL="32004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8pPr>
            <a:lvl9pPr marL="36576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9pPr>
          </a:lstStyle>
          <a:p>
            <a:pPr>
              <a:spcBef>
                <a:spcPts val="400"/>
              </a:spcBef>
              <a:spcAft>
                <a:spcPts val="400"/>
              </a:spcAft>
            </a:pPr>
            <a:r>
              <a:rPr lang="en-US" altLang="en-US" sz="1800" i="1" u="sng" kern="0" dirty="0">
                <a:solidFill>
                  <a:srgbClr val="0070C0"/>
                </a:solidFill>
              </a:rPr>
              <a:t>Device drivers </a:t>
            </a:r>
            <a:r>
              <a:rPr lang="en-US" altLang="en-US" sz="1800" kern="0" dirty="0"/>
              <a:t>manage I/O devices at the I/O control layer</a:t>
            </a:r>
          </a:p>
          <a:p>
            <a:pPr lvl="1">
              <a:spcBef>
                <a:spcPts val="400"/>
              </a:spcBef>
              <a:spcAft>
                <a:spcPts val="400"/>
              </a:spcAft>
            </a:pPr>
            <a:r>
              <a:rPr lang="en-US" altLang="en-US" sz="1800" kern="0" dirty="0"/>
              <a:t>E.g., Given commands like </a:t>
            </a:r>
            <a:r>
              <a:rPr lang="ja-JP" altLang="en-US" sz="1800" kern="0"/>
              <a:t>“</a:t>
            </a:r>
            <a:r>
              <a:rPr lang="en-US" altLang="ja-JP" sz="1800" kern="0" dirty="0"/>
              <a:t>read drive1, cylinder 72, track 2, sector 10, into memory location 1060</a:t>
            </a:r>
            <a:r>
              <a:rPr lang="ja-JP" altLang="en-US" sz="1800" kern="0"/>
              <a:t>”</a:t>
            </a:r>
            <a:r>
              <a:rPr lang="en-US" altLang="ja-JP" sz="1800" kern="0" dirty="0"/>
              <a:t> outputs low-level hardware specific commands to hardware controller</a:t>
            </a:r>
          </a:p>
          <a:p>
            <a:pPr>
              <a:spcBef>
                <a:spcPts val="400"/>
              </a:spcBef>
              <a:spcAft>
                <a:spcPts val="400"/>
              </a:spcAft>
            </a:pPr>
            <a:r>
              <a:rPr lang="en-US" altLang="en-US" sz="1800" i="1" u="sng" kern="0" dirty="0">
                <a:solidFill>
                  <a:srgbClr val="0070C0"/>
                </a:solidFill>
              </a:rPr>
              <a:t>Basic file system </a:t>
            </a:r>
            <a:r>
              <a:rPr lang="en-US" altLang="en-US" sz="1800" kern="0" dirty="0"/>
              <a:t>given command like </a:t>
            </a:r>
            <a:r>
              <a:rPr lang="ja-JP" altLang="en-US" sz="1800" kern="0"/>
              <a:t>“</a:t>
            </a:r>
            <a:r>
              <a:rPr lang="en-US" altLang="ja-JP" sz="1800" kern="0" dirty="0"/>
              <a:t>retrieve block 123</a:t>
            </a:r>
            <a:r>
              <a:rPr lang="ja-JP" altLang="en-US" sz="1800" kern="0"/>
              <a:t>”</a:t>
            </a:r>
            <a:r>
              <a:rPr lang="en-US" altLang="ja-JP" sz="1800" kern="0" dirty="0"/>
              <a:t> translates to device driver</a:t>
            </a:r>
          </a:p>
          <a:p>
            <a:pPr lvl="1">
              <a:spcBef>
                <a:spcPts val="400"/>
              </a:spcBef>
              <a:spcAft>
                <a:spcPts val="400"/>
              </a:spcAft>
            </a:pPr>
            <a:r>
              <a:rPr lang="en-US" altLang="en-US" sz="1800" kern="0" dirty="0"/>
              <a:t>Also manages memory buffers and caches (allocation, freeing, replacement) </a:t>
            </a:r>
          </a:p>
          <a:p>
            <a:pPr lvl="2">
              <a:spcBef>
                <a:spcPts val="400"/>
              </a:spcBef>
              <a:spcAft>
                <a:spcPts val="400"/>
              </a:spcAft>
            </a:pPr>
            <a:r>
              <a:rPr lang="en-US" altLang="en-US" sz="1800" i="1" kern="0" dirty="0">
                <a:solidFill>
                  <a:srgbClr val="0070C0"/>
                </a:solidFill>
              </a:rPr>
              <a:t>Buffers</a:t>
            </a:r>
            <a:r>
              <a:rPr lang="en-US" altLang="en-US" sz="1800" kern="0" dirty="0"/>
              <a:t> hold data in transit</a:t>
            </a:r>
          </a:p>
          <a:p>
            <a:pPr lvl="2">
              <a:spcBef>
                <a:spcPts val="400"/>
              </a:spcBef>
              <a:spcAft>
                <a:spcPts val="400"/>
              </a:spcAft>
            </a:pPr>
            <a:r>
              <a:rPr lang="en-US" altLang="en-US" sz="1800" i="1" kern="0" dirty="0">
                <a:solidFill>
                  <a:srgbClr val="0070C0"/>
                </a:solidFill>
              </a:rPr>
              <a:t>Caches</a:t>
            </a:r>
            <a:r>
              <a:rPr lang="en-US" altLang="en-US" sz="1800" kern="0" dirty="0"/>
              <a:t> hold frequently used data</a:t>
            </a:r>
            <a:endParaRPr lang="en-US" altLang="ja-JP" sz="1800" kern="0" dirty="0"/>
          </a:p>
          <a:p>
            <a:endParaRPr lang="en-US" altLang="en-US" sz="1800" kern="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226DC14-3196-AB48-B6D6-66BFDE30852E}"/>
              </a:ext>
            </a:extLst>
          </p:cNvPr>
          <p:cNvSpPr>
            <a:spLocks noGrp="1" noChangeArrowheads="1"/>
          </p:cNvSpPr>
          <p:nvPr>
            <p:ph type="title"/>
          </p:nvPr>
        </p:nvSpPr>
        <p:spPr/>
        <p:txBody>
          <a:bodyPr/>
          <a:lstStyle/>
          <a:p>
            <a:r>
              <a:rPr lang="en-US" altLang="en-US"/>
              <a:t>Layered File System</a:t>
            </a:r>
          </a:p>
        </p:txBody>
      </p:sp>
      <p:pic>
        <p:nvPicPr>
          <p:cNvPr id="13314" name="Picture 2">
            <a:extLst>
              <a:ext uri="{FF2B5EF4-FFF2-40B4-BE49-F238E27FC236}">
                <a16:creationId xmlns:a16="http://schemas.microsoft.com/office/drawing/2014/main" id="{4474DC4D-E55C-7C44-A8BB-85078C55AA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578" y="1082225"/>
            <a:ext cx="2395442" cy="469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a:extLst>
              <a:ext uri="{FF2B5EF4-FFF2-40B4-BE49-F238E27FC236}">
                <a16:creationId xmlns:a16="http://schemas.microsoft.com/office/drawing/2014/main" id="{B079F0BE-B14F-F186-ED1E-880D6CB82003}"/>
              </a:ext>
            </a:extLst>
          </p:cNvPr>
          <p:cNvSpPr txBox="1">
            <a:spLocks/>
          </p:cNvSpPr>
          <p:nvPr/>
        </p:nvSpPr>
        <p:spPr bwMode="auto">
          <a:xfrm>
            <a:off x="3041525" y="1082225"/>
            <a:ext cx="5549022" cy="501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lnSpc>
                <a:spcPct val="100000"/>
              </a:lnSpc>
              <a:spcBef>
                <a:spcPts val="800"/>
              </a:spcBef>
              <a:spcAft>
                <a:spcPts val="800"/>
              </a:spcAft>
              <a:buClr>
                <a:srgbClr val="993300"/>
              </a:buClr>
              <a:buSzPct val="90000"/>
              <a:buFont typeface="Monotype Sorts" pitchFamily="2" charset="2"/>
              <a:buNone/>
              <a:defRPr kumimoji="1" sz="3200">
                <a:solidFill>
                  <a:schemeClr val="tx1"/>
                </a:solidFill>
                <a:latin typeface="+mn-lt"/>
                <a:ea typeface="MS PGothic" pitchFamily="34" charset="-128"/>
                <a:cs typeface="ＭＳ Ｐゴシック" charset="-128"/>
              </a:defRPr>
            </a:lvl1pPr>
            <a:lvl2pPr marL="457200" indent="0" algn="l" rtl="0" eaLnBrk="1" fontAlgn="base" hangingPunct="1">
              <a:lnSpc>
                <a:spcPct val="100000"/>
              </a:lnSpc>
              <a:spcBef>
                <a:spcPts val="800"/>
              </a:spcBef>
              <a:spcAft>
                <a:spcPts val="800"/>
              </a:spcAft>
              <a:buClr>
                <a:srgbClr val="CC6600"/>
              </a:buClr>
              <a:buSzPct val="80000"/>
              <a:buFont typeface="Monotype Sorts" pitchFamily="2" charset="2"/>
              <a:buNone/>
              <a:defRPr kumimoji="1" sz="2800">
                <a:solidFill>
                  <a:schemeClr val="tx1"/>
                </a:solidFill>
                <a:latin typeface="+mn-lt"/>
                <a:ea typeface="MS PGothic" pitchFamily="34" charset="-128"/>
              </a:defRPr>
            </a:lvl2pPr>
            <a:lvl3pPr marL="914400" indent="0" algn="l" rtl="0" eaLnBrk="1" fontAlgn="base" hangingPunct="1">
              <a:lnSpc>
                <a:spcPct val="100000"/>
              </a:lnSpc>
              <a:spcBef>
                <a:spcPts val="800"/>
              </a:spcBef>
              <a:spcAft>
                <a:spcPts val="800"/>
              </a:spcAft>
              <a:buClr>
                <a:srgbClr val="009900"/>
              </a:buClr>
              <a:buSzPct val="75000"/>
              <a:buFont typeface="Webdings" pitchFamily="2" charset="2"/>
              <a:buNone/>
              <a:defRPr kumimoji="1" sz="2400">
                <a:solidFill>
                  <a:schemeClr val="tx1"/>
                </a:solidFill>
                <a:latin typeface="+mn-lt"/>
                <a:ea typeface="MS PGothic" pitchFamily="34" charset="-128"/>
              </a:defRPr>
            </a:lvl3pPr>
            <a:lvl4pPr marL="1371600" indent="0" algn="l" rtl="0" eaLnBrk="1" fontAlgn="base" hangingPunct="1">
              <a:lnSpc>
                <a:spcPct val="100000"/>
              </a:lnSpc>
              <a:spcBef>
                <a:spcPts val="800"/>
              </a:spcBef>
              <a:spcAft>
                <a:spcPts val="800"/>
              </a:spcAft>
              <a:buClr>
                <a:schemeClr val="hlink"/>
              </a:buClr>
              <a:buSzPct val="75000"/>
              <a:buNone/>
              <a:defRPr kumimoji="1" sz="2000">
                <a:solidFill>
                  <a:schemeClr val="tx1"/>
                </a:solidFill>
                <a:latin typeface="+mn-lt"/>
                <a:ea typeface="MS PGothic" pitchFamily="34" charset="-128"/>
              </a:defRPr>
            </a:lvl4pPr>
            <a:lvl5pPr marL="1828800" indent="0" algn="l" rtl="0" eaLnBrk="1" fontAlgn="base" hangingPunct="1">
              <a:lnSpc>
                <a:spcPct val="100000"/>
              </a:lnSpc>
              <a:spcBef>
                <a:spcPts val="800"/>
              </a:spcBef>
              <a:spcAft>
                <a:spcPts val="800"/>
              </a:spcAft>
              <a:buClr>
                <a:srgbClr val="FF0066"/>
              </a:buClr>
              <a:buSzPct val="75000"/>
              <a:buNone/>
              <a:defRPr kumimoji="1" sz="2000">
                <a:solidFill>
                  <a:schemeClr val="tx1"/>
                </a:solidFill>
                <a:latin typeface="+mn-lt"/>
                <a:ea typeface="MS PGothic" pitchFamily="34" charset="-128"/>
              </a:defRPr>
            </a:lvl5pPr>
            <a:lvl6pPr marL="22860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6pPr>
            <a:lvl7pPr marL="27432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7pPr>
            <a:lvl8pPr marL="32004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8pPr>
            <a:lvl9pPr marL="36576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9pPr>
          </a:lstStyle>
          <a:p>
            <a:pPr>
              <a:spcBef>
                <a:spcPts val="400"/>
              </a:spcBef>
              <a:spcAft>
                <a:spcPts val="400"/>
              </a:spcAft>
            </a:pPr>
            <a:r>
              <a:rPr lang="en-US" altLang="en-US" sz="1800" i="1" u="sng" kern="0" dirty="0">
                <a:solidFill>
                  <a:srgbClr val="0070C0"/>
                </a:solidFill>
              </a:rPr>
              <a:t>File organization module </a:t>
            </a:r>
            <a:r>
              <a:rPr lang="en-US" altLang="en-US" sz="1800" kern="0" dirty="0"/>
              <a:t>understands files, logical address, and physical blocks</a:t>
            </a:r>
          </a:p>
          <a:p>
            <a:pPr lvl="1">
              <a:spcBef>
                <a:spcPts val="400"/>
              </a:spcBef>
              <a:spcAft>
                <a:spcPts val="400"/>
              </a:spcAft>
            </a:pPr>
            <a:r>
              <a:rPr lang="en-US" altLang="en-US" sz="1800" kern="0" dirty="0"/>
              <a:t>Translates logical block # to physical block #</a:t>
            </a:r>
          </a:p>
          <a:p>
            <a:pPr lvl="1">
              <a:spcBef>
                <a:spcPts val="400"/>
              </a:spcBef>
              <a:spcAft>
                <a:spcPts val="400"/>
              </a:spcAft>
            </a:pPr>
            <a:r>
              <a:rPr lang="en-US" altLang="en-US" sz="1800" kern="0" dirty="0"/>
              <a:t>Manages free space, disk allocation</a:t>
            </a:r>
          </a:p>
          <a:p>
            <a:endParaRPr lang="en-US" altLang="en-US" sz="1800" kern="0" dirty="0"/>
          </a:p>
        </p:txBody>
      </p:sp>
      <p:sp>
        <p:nvSpPr>
          <p:cNvPr id="7" name="Content Placeholder 2">
            <a:extLst>
              <a:ext uri="{FF2B5EF4-FFF2-40B4-BE49-F238E27FC236}">
                <a16:creationId xmlns:a16="http://schemas.microsoft.com/office/drawing/2014/main" id="{D578BC65-2E84-90BB-C331-A48B13CA7F71}"/>
              </a:ext>
            </a:extLst>
          </p:cNvPr>
          <p:cNvSpPr txBox="1">
            <a:spLocks noChangeArrowheads="1"/>
          </p:cNvSpPr>
          <p:nvPr/>
        </p:nvSpPr>
        <p:spPr bwMode="auto">
          <a:xfrm>
            <a:off x="3131905" y="2553526"/>
            <a:ext cx="5651147" cy="501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lnSpc>
                <a:spcPct val="100000"/>
              </a:lnSpc>
              <a:spcBef>
                <a:spcPts val="800"/>
              </a:spcBef>
              <a:spcAft>
                <a:spcPts val="800"/>
              </a:spcAft>
              <a:buClr>
                <a:srgbClr val="993300"/>
              </a:buClr>
              <a:buSzPct val="90000"/>
              <a:buFont typeface="Monotype Sorts" pitchFamily="2" charset="2"/>
              <a:buNone/>
              <a:defRPr kumimoji="1" sz="3200">
                <a:solidFill>
                  <a:schemeClr val="tx1"/>
                </a:solidFill>
                <a:latin typeface="+mn-lt"/>
                <a:ea typeface="MS PGothic" pitchFamily="34" charset="-128"/>
                <a:cs typeface="ＭＳ Ｐゴシック" charset="-128"/>
              </a:defRPr>
            </a:lvl1pPr>
            <a:lvl2pPr marL="457200" indent="0" algn="l" rtl="0" eaLnBrk="1" fontAlgn="base" hangingPunct="1">
              <a:lnSpc>
                <a:spcPct val="100000"/>
              </a:lnSpc>
              <a:spcBef>
                <a:spcPts val="800"/>
              </a:spcBef>
              <a:spcAft>
                <a:spcPts val="800"/>
              </a:spcAft>
              <a:buClr>
                <a:srgbClr val="CC6600"/>
              </a:buClr>
              <a:buSzPct val="80000"/>
              <a:buFont typeface="Monotype Sorts" pitchFamily="2" charset="2"/>
              <a:buNone/>
              <a:defRPr kumimoji="1" sz="2800">
                <a:solidFill>
                  <a:schemeClr val="tx1"/>
                </a:solidFill>
                <a:latin typeface="+mn-lt"/>
                <a:ea typeface="MS PGothic" pitchFamily="34" charset="-128"/>
              </a:defRPr>
            </a:lvl2pPr>
            <a:lvl3pPr marL="914400" indent="0" algn="l" rtl="0" eaLnBrk="1" fontAlgn="base" hangingPunct="1">
              <a:lnSpc>
                <a:spcPct val="100000"/>
              </a:lnSpc>
              <a:spcBef>
                <a:spcPts val="800"/>
              </a:spcBef>
              <a:spcAft>
                <a:spcPts val="800"/>
              </a:spcAft>
              <a:buClr>
                <a:srgbClr val="009900"/>
              </a:buClr>
              <a:buSzPct val="75000"/>
              <a:buFont typeface="Webdings" pitchFamily="2" charset="2"/>
              <a:buNone/>
              <a:defRPr kumimoji="1" sz="2400">
                <a:solidFill>
                  <a:schemeClr val="tx1"/>
                </a:solidFill>
                <a:latin typeface="+mn-lt"/>
                <a:ea typeface="MS PGothic" pitchFamily="34" charset="-128"/>
              </a:defRPr>
            </a:lvl3pPr>
            <a:lvl4pPr marL="1371600" indent="0" algn="l" rtl="0" eaLnBrk="1" fontAlgn="base" hangingPunct="1">
              <a:lnSpc>
                <a:spcPct val="100000"/>
              </a:lnSpc>
              <a:spcBef>
                <a:spcPts val="800"/>
              </a:spcBef>
              <a:spcAft>
                <a:spcPts val="800"/>
              </a:spcAft>
              <a:buClr>
                <a:schemeClr val="hlink"/>
              </a:buClr>
              <a:buSzPct val="75000"/>
              <a:buNone/>
              <a:defRPr kumimoji="1" sz="2000">
                <a:solidFill>
                  <a:schemeClr val="tx1"/>
                </a:solidFill>
                <a:latin typeface="+mn-lt"/>
                <a:ea typeface="MS PGothic" pitchFamily="34" charset="-128"/>
              </a:defRPr>
            </a:lvl4pPr>
            <a:lvl5pPr marL="1828800" indent="0" algn="l" rtl="0" eaLnBrk="1" fontAlgn="base" hangingPunct="1">
              <a:lnSpc>
                <a:spcPct val="100000"/>
              </a:lnSpc>
              <a:spcBef>
                <a:spcPts val="800"/>
              </a:spcBef>
              <a:spcAft>
                <a:spcPts val="800"/>
              </a:spcAft>
              <a:buClr>
                <a:srgbClr val="FF0066"/>
              </a:buClr>
              <a:buSzPct val="75000"/>
              <a:buNone/>
              <a:defRPr kumimoji="1" sz="2000">
                <a:solidFill>
                  <a:schemeClr val="tx1"/>
                </a:solidFill>
                <a:latin typeface="+mn-lt"/>
                <a:ea typeface="MS PGothic" pitchFamily="34" charset="-128"/>
              </a:defRPr>
            </a:lvl5pPr>
            <a:lvl6pPr marL="22860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6pPr>
            <a:lvl7pPr marL="27432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7pPr>
            <a:lvl8pPr marL="32004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8pPr>
            <a:lvl9pPr marL="3657600" indent="0" algn="l" rtl="0" eaLnBrk="1" fontAlgn="base" hangingPunct="1">
              <a:spcBef>
                <a:spcPct val="35000"/>
              </a:spcBef>
              <a:spcAft>
                <a:spcPct val="0"/>
              </a:spcAft>
              <a:buClr>
                <a:srgbClr val="FF0066"/>
              </a:buClr>
              <a:buSzPct val="75000"/>
              <a:buNone/>
              <a:defRPr kumimoji="1" sz="2000">
                <a:solidFill>
                  <a:schemeClr val="tx1"/>
                </a:solidFill>
                <a:latin typeface="+mn-lt"/>
                <a:ea typeface="ＭＳ Ｐゴシック" charset="-128"/>
              </a:defRPr>
            </a:lvl9pPr>
          </a:lstStyle>
          <a:p>
            <a:pPr algn="l"/>
            <a:r>
              <a:rPr lang="en-US" altLang="en-US" sz="1800" i="1" u="sng" kern="0" dirty="0">
                <a:solidFill>
                  <a:srgbClr val="0070C0"/>
                </a:solidFill>
              </a:rPr>
              <a:t>Logical file system </a:t>
            </a:r>
            <a:r>
              <a:rPr lang="en-US" altLang="en-US" sz="1800" kern="0" dirty="0"/>
              <a:t>manages metadata information</a:t>
            </a:r>
          </a:p>
          <a:p>
            <a:pPr lvl="1">
              <a:spcBef>
                <a:spcPts val="400"/>
              </a:spcBef>
              <a:spcAft>
                <a:spcPts val="400"/>
              </a:spcAft>
            </a:pPr>
            <a:r>
              <a:rPr lang="en-US" altLang="en-US" sz="1800" kern="0" dirty="0"/>
              <a:t>Translates file name into file number, file handle, location by maintaining file control blocks (i.e., </a:t>
            </a:r>
            <a:r>
              <a:rPr lang="en-US" altLang="en-US" sz="1800" i="1" kern="0" dirty="0" err="1">
                <a:solidFill>
                  <a:srgbClr val="0070C0"/>
                </a:solidFill>
              </a:rPr>
              <a:t>inodes</a:t>
            </a:r>
            <a:r>
              <a:rPr lang="en-US" altLang="en-US" sz="1800" kern="0" dirty="0"/>
              <a:t> in UNIX)</a:t>
            </a:r>
          </a:p>
          <a:p>
            <a:pPr lvl="1">
              <a:spcBef>
                <a:spcPts val="400"/>
              </a:spcBef>
              <a:spcAft>
                <a:spcPts val="400"/>
              </a:spcAft>
            </a:pPr>
            <a:r>
              <a:rPr lang="en-US" altLang="en-US" sz="1800" kern="0" dirty="0"/>
              <a:t>Directory management</a:t>
            </a:r>
          </a:p>
          <a:p>
            <a:pPr lvl="1">
              <a:spcBef>
                <a:spcPts val="400"/>
              </a:spcBef>
              <a:spcAft>
                <a:spcPts val="400"/>
              </a:spcAft>
            </a:pPr>
            <a:r>
              <a:rPr lang="en-US" altLang="en-US" sz="1800" kern="0" dirty="0"/>
              <a:t>Protection</a:t>
            </a:r>
          </a:p>
          <a:p>
            <a:pPr lvl="1">
              <a:spcBef>
                <a:spcPts val="400"/>
              </a:spcBef>
              <a:spcAft>
                <a:spcPts val="400"/>
              </a:spcAft>
            </a:pPr>
            <a:r>
              <a:rPr lang="en-US" altLang="en-US" sz="1800" kern="0" dirty="0"/>
              <a:t>Logical layers can be implemented by any coding method according to OS designer</a:t>
            </a:r>
          </a:p>
          <a:p>
            <a:pPr lvl="1"/>
            <a:endParaRPr lang="en-US" altLang="en-US" sz="1800" kern="0" dirty="0"/>
          </a:p>
        </p:txBody>
      </p:sp>
    </p:spTree>
    <p:extLst>
      <p:ext uri="{BB962C8B-B14F-4D97-AF65-F5344CB8AC3E}">
        <p14:creationId xmlns:p14="http://schemas.microsoft.com/office/powerpoint/2010/main" val="1367482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34DC5ED9-8917-EF4C-94EC-7FAA1B9CD1D5}"/>
              </a:ext>
            </a:extLst>
          </p:cNvPr>
          <p:cNvSpPr>
            <a:spLocks noGrp="1" noChangeArrowheads="1"/>
          </p:cNvSpPr>
          <p:nvPr>
            <p:ph type="title"/>
          </p:nvPr>
        </p:nvSpPr>
        <p:spPr/>
        <p:txBody>
          <a:bodyPr/>
          <a:lstStyle/>
          <a:p>
            <a:r>
              <a:rPr lang="en-US" altLang="en-US"/>
              <a:t>File System Layers (Cont.)</a:t>
            </a:r>
          </a:p>
        </p:txBody>
      </p:sp>
      <p:sp>
        <p:nvSpPr>
          <p:cNvPr id="16386" name="Content Placeholder 2">
            <a:extLst>
              <a:ext uri="{FF2B5EF4-FFF2-40B4-BE49-F238E27FC236}">
                <a16:creationId xmlns:a16="http://schemas.microsoft.com/office/drawing/2014/main" id="{969CB586-657F-B946-9E4F-D0E639C0327D}"/>
              </a:ext>
            </a:extLst>
          </p:cNvPr>
          <p:cNvSpPr>
            <a:spLocks noGrp="1" noChangeArrowheads="1"/>
          </p:cNvSpPr>
          <p:nvPr>
            <p:ph idx="1"/>
          </p:nvPr>
        </p:nvSpPr>
        <p:spPr/>
        <p:txBody>
          <a:bodyPr/>
          <a:lstStyle/>
          <a:p>
            <a:r>
              <a:rPr lang="en-US" altLang="en-US" dirty="0"/>
              <a:t>Many file systems exist within an operating system</a:t>
            </a:r>
          </a:p>
          <a:p>
            <a:pPr lvl="1"/>
            <a:r>
              <a:rPr lang="en-US" altLang="en-US" dirty="0"/>
              <a:t>Each with its own format (CD-ROM is ISO 9660; Unix has UFS, FFS;  Windows has FAT, FAT32, NTFS as well as floppy, CD, DVD Blu-ray, Linux has more than 130 types, with extended file system ext3 and ext4 leading; plus distributed file systems NFS, etc.)</a:t>
            </a:r>
          </a:p>
          <a:p>
            <a:pPr lvl="1"/>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CFEB1376-7297-3047-B7A9-2C7A1A9A8283}"/>
              </a:ext>
            </a:extLst>
          </p:cNvPr>
          <p:cNvSpPr>
            <a:spLocks noGrp="1" noChangeArrowheads="1"/>
          </p:cNvSpPr>
          <p:nvPr>
            <p:ph type="title"/>
          </p:nvPr>
        </p:nvSpPr>
        <p:spPr/>
        <p:txBody>
          <a:bodyPr/>
          <a:lstStyle/>
          <a:p>
            <a:r>
              <a:rPr lang="en-US" altLang="en-US" dirty="0"/>
              <a:t>File-System Implementation</a:t>
            </a:r>
          </a:p>
        </p:txBody>
      </p:sp>
      <p:sp>
        <p:nvSpPr>
          <p:cNvPr id="18434" name="Content Placeholder 2">
            <a:extLst>
              <a:ext uri="{FF2B5EF4-FFF2-40B4-BE49-F238E27FC236}">
                <a16:creationId xmlns:a16="http://schemas.microsoft.com/office/drawing/2014/main" id="{E4EC2B16-AEB4-6E48-9BE2-351ADB5130A8}"/>
              </a:ext>
            </a:extLst>
          </p:cNvPr>
          <p:cNvSpPr>
            <a:spLocks noGrp="1" noChangeArrowheads="1"/>
          </p:cNvSpPr>
          <p:nvPr>
            <p:ph idx="1"/>
          </p:nvPr>
        </p:nvSpPr>
        <p:spPr/>
        <p:txBody>
          <a:bodyPr/>
          <a:lstStyle/>
          <a:p>
            <a:r>
              <a:rPr lang="en-US" altLang="en-US" dirty="0"/>
              <a:t>We have </a:t>
            </a:r>
            <a:r>
              <a:rPr lang="en-US" altLang="en-US" i="1" dirty="0">
                <a:solidFill>
                  <a:srgbClr val="0070C0"/>
                </a:solidFill>
              </a:rPr>
              <a:t>system calls </a:t>
            </a:r>
            <a:r>
              <a:rPr lang="en-US" altLang="en-US" dirty="0"/>
              <a:t>at the API level, but how do we implement their functions?</a:t>
            </a:r>
          </a:p>
          <a:p>
            <a:pPr lvl="1"/>
            <a:r>
              <a:rPr lang="en-US" altLang="en-US" i="1" dirty="0">
                <a:solidFill>
                  <a:srgbClr val="0070C0"/>
                </a:solidFill>
              </a:rPr>
              <a:t>On-disk</a:t>
            </a:r>
            <a:r>
              <a:rPr lang="en-US" altLang="en-US" dirty="0"/>
              <a:t> and </a:t>
            </a:r>
            <a:r>
              <a:rPr lang="en-US" altLang="en-US" i="1" dirty="0">
                <a:solidFill>
                  <a:srgbClr val="0070C0"/>
                </a:solidFill>
              </a:rPr>
              <a:t>in-memory</a:t>
            </a:r>
            <a:r>
              <a:rPr lang="en-US" altLang="en-US" dirty="0"/>
              <a:t> structures</a:t>
            </a:r>
          </a:p>
          <a:p>
            <a:r>
              <a:rPr lang="en-US" altLang="en-US" i="1" dirty="0">
                <a:solidFill>
                  <a:srgbClr val="0070C0"/>
                </a:solidFill>
              </a:rPr>
              <a:t>Boot control block </a:t>
            </a:r>
            <a:r>
              <a:rPr lang="en-US" altLang="en-US" dirty="0"/>
              <a:t>contains info needed by system to boot OS from that volume</a:t>
            </a:r>
          </a:p>
          <a:p>
            <a:pPr lvl="1"/>
            <a:r>
              <a:rPr lang="en-US" altLang="en-US" dirty="0"/>
              <a:t>Needed if volume contains OS, usually first block of volume</a:t>
            </a:r>
          </a:p>
          <a:p>
            <a:r>
              <a:rPr lang="en-US" altLang="en-US" i="1" dirty="0">
                <a:solidFill>
                  <a:srgbClr val="0070C0"/>
                </a:solidFill>
              </a:rPr>
              <a:t>Volume control block </a:t>
            </a:r>
            <a:r>
              <a:rPr lang="en-US" altLang="en-US" dirty="0"/>
              <a:t>(e.g., superblock, master file table) contains volume details</a:t>
            </a:r>
          </a:p>
          <a:p>
            <a:pPr lvl="1"/>
            <a:r>
              <a:rPr lang="en-US" altLang="en-US" dirty="0"/>
              <a:t>Total # of blocks, # of free blocks, block size, free block pointers or array</a:t>
            </a:r>
          </a:p>
          <a:p>
            <a:r>
              <a:rPr lang="en-US" altLang="en-US" i="1" dirty="0">
                <a:solidFill>
                  <a:srgbClr val="0070C0"/>
                </a:solidFill>
              </a:rPr>
              <a:t>Directory structure </a:t>
            </a:r>
            <a:r>
              <a:rPr lang="en-US" altLang="en-US" dirty="0"/>
              <a:t>organizes the files</a:t>
            </a:r>
          </a:p>
          <a:p>
            <a:pPr lvl="1"/>
            <a:r>
              <a:rPr lang="en-US" altLang="en-US" dirty="0"/>
              <a:t>Names and </a:t>
            </a:r>
            <a:r>
              <a:rPr lang="en-US" altLang="en-US" dirty="0" err="1"/>
              <a:t>inode</a:t>
            </a:r>
            <a:r>
              <a:rPr lang="en-US" altLang="en-US" dirty="0"/>
              <a:t> numbers, master file table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D912A-8721-A246-BBDE-0BF1FEE222EE}"/>
              </a:ext>
            </a:extLst>
          </p:cNvPr>
          <p:cNvSpPr>
            <a:spLocks noGrp="1"/>
          </p:cNvSpPr>
          <p:nvPr>
            <p:ph type="title"/>
          </p:nvPr>
        </p:nvSpPr>
        <p:spPr/>
        <p:txBody>
          <a:bodyPr/>
          <a:lstStyle/>
          <a:p>
            <a:r>
              <a:rPr lang="en-US" altLang="en-US" dirty="0"/>
              <a:t>File-System Implementation (Cont.)</a:t>
            </a:r>
            <a:endParaRPr lang="en-US" dirty="0"/>
          </a:p>
        </p:txBody>
      </p:sp>
      <p:grpSp>
        <p:nvGrpSpPr>
          <p:cNvPr id="4" name="Group 1">
            <a:extLst>
              <a:ext uri="{FF2B5EF4-FFF2-40B4-BE49-F238E27FC236}">
                <a16:creationId xmlns:a16="http://schemas.microsoft.com/office/drawing/2014/main" id="{36CE88D1-78A3-C94A-A70B-FDBD0CDEBF86}"/>
              </a:ext>
            </a:extLst>
          </p:cNvPr>
          <p:cNvGrpSpPr>
            <a:grpSpLocks/>
          </p:cNvGrpSpPr>
          <p:nvPr/>
        </p:nvGrpSpPr>
        <p:grpSpPr bwMode="auto">
          <a:xfrm>
            <a:off x="490537" y="1754916"/>
            <a:ext cx="8361363" cy="3805624"/>
            <a:chOff x="163622" y="2410179"/>
            <a:chExt cx="8756650" cy="3630612"/>
          </a:xfrm>
        </p:grpSpPr>
        <p:grpSp>
          <p:nvGrpSpPr>
            <p:cNvPr id="5" name="Group 14">
              <a:extLst>
                <a:ext uri="{FF2B5EF4-FFF2-40B4-BE49-F238E27FC236}">
                  <a16:creationId xmlns:a16="http://schemas.microsoft.com/office/drawing/2014/main" id="{64C5AA7E-0841-584B-B6AE-3A80A28EBB19}"/>
                </a:ext>
              </a:extLst>
            </p:cNvPr>
            <p:cNvGrpSpPr>
              <a:grpSpLocks noChangeAspect="1"/>
            </p:cNvGrpSpPr>
            <p:nvPr/>
          </p:nvGrpSpPr>
          <p:grpSpPr bwMode="auto">
            <a:xfrm>
              <a:off x="163622" y="2410179"/>
              <a:ext cx="8756650" cy="3630612"/>
              <a:chOff x="454" y="1502"/>
              <a:chExt cx="4887" cy="2026"/>
            </a:xfrm>
          </p:grpSpPr>
          <p:pic>
            <p:nvPicPr>
              <p:cNvPr id="7" name="Picture 5" descr="6-11">
                <a:extLst>
                  <a:ext uri="{FF2B5EF4-FFF2-40B4-BE49-F238E27FC236}">
                    <a16:creationId xmlns:a16="http://schemas.microsoft.com/office/drawing/2014/main" id="{F7500D73-AB9A-BF49-A49E-932057B121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 y="1502"/>
                <a:ext cx="4887" cy="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6">
                <a:extLst>
                  <a:ext uri="{FF2B5EF4-FFF2-40B4-BE49-F238E27FC236}">
                    <a16:creationId xmlns:a16="http://schemas.microsoft.com/office/drawing/2014/main" id="{2D8363BA-C985-7D4E-989B-FCAED0E330A9}"/>
                  </a:ext>
                </a:extLst>
              </p:cNvPr>
              <p:cNvSpPr txBox="1">
                <a:spLocks noChangeAspect="1" noChangeArrowheads="1"/>
              </p:cNvSpPr>
              <p:nvPr/>
            </p:nvSpPr>
            <p:spPr bwMode="auto">
              <a:xfrm>
                <a:off x="2952" y="3302"/>
                <a:ext cx="427" cy="17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993300"/>
                  </a:buClr>
                  <a:buSzPct val="60000"/>
                  <a:buFont typeface="Webdings" pitchFamily="2" charset="2"/>
                  <a:buChar char="&lt;"/>
                  <a:defRPr kumimoji="1" sz="2400">
                    <a:solidFill>
                      <a:srgbClr val="1C1C1C"/>
                    </a:solidFill>
                    <a:latin typeface="VNI-Helve" pitchFamily="2" charset="0"/>
                    <a:ea typeface="標楷體" pitchFamily="65" charset="-120"/>
                  </a:defRPr>
                </a:lvl1pPr>
                <a:lvl2pPr marL="742950" indent="-285750">
                  <a:spcBef>
                    <a:spcPct val="20000"/>
                  </a:spcBef>
                  <a:buClr>
                    <a:srgbClr val="CC6600"/>
                  </a:buClr>
                  <a:buSzPct val="50000"/>
                  <a:buFont typeface="Wingdings" pitchFamily="2" charset="2"/>
                  <a:buChar char="l"/>
                  <a:defRPr kumimoji="1" sz="2000">
                    <a:solidFill>
                      <a:srgbClr val="1C1C1C"/>
                    </a:solidFill>
                    <a:latin typeface="VNI-Helve" pitchFamily="2" charset="0"/>
                    <a:ea typeface="標楷體" pitchFamily="65" charset="-120"/>
                  </a:defRPr>
                </a:lvl2pPr>
                <a:lvl3pPr marL="1143000" indent="-228600">
                  <a:spcBef>
                    <a:spcPct val="20000"/>
                  </a:spcBef>
                  <a:buClr>
                    <a:srgbClr val="009900"/>
                  </a:buClr>
                  <a:buSzPct val="75000"/>
                  <a:buFont typeface="Webdings" pitchFamily="2" charset="2"/>
                  <a:buChar char="4"/>
                  <a:defRPr kumimoji="1" sz="2000">
                    <a:solidFill>
                      <a:srgbClr val="1C1C1C"/>
                    </a:solidFill>
                    <a:latin typeface="VNI-Helve" pitchFamily="2" charset="0"/>
                    <a:ea typeface="標楷體" pitchFamily="65" charset="-120"/>
                  </a:defRPr>
                </a:lvl3pPr>
                <a:lvl4pPr marL="1600200" indent="-228600">
                  <a:spcBef>
                    <a:spcPct val="20000"/>
                  </a:spcBef>
                  <a:buChar char="–"/>
                  <a:defRPr kumimoji="1" sz="2000">
                    <a:solidFill>
                      <a:srgbClr val="1C1C1C"/>
                    </a:solidFill>
                    <a:latin typeface="VNI-Helve" pitchFamily="2" charset="0"/>
                    <a:ea typeface="標楷體" pitchFamily="65" charset="-120"/>
                  </a:defRPr>
                </a:lvl4pPr>
                <a:lvl5pPr marL="2057400" indent="-228600">
                  <a:spcBef>
                    <a:spcPct val="20000"/>
                  </a:spcBef>
                  <a:buChar char="»"/>
                  <a:defRPr kumimoji="1" sz="2000">
                    <a:solidFill>
                      <a:srgbClr val="1C1C1C"/>
                    </a:solidFill>
                    <a:latin typeface="VNI-Helve" pitchFamily="2" charset="0"/>
                    <a:ea typeface="標楷體" pitchFamily="65" charset="-120"/>
                  </a:defRPr>
                </a:lvl5pPr>
                <a:lvl6pPr marL="25146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6pPr>
                <a:lvl7pPr marL="29718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7pPr>
                <a:lvl8pPr marL="34290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8pPr>
                <a:lvl9pPr marL="38862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9pPr>
              </a:lstStyle>
              <a:p>
                <a:pPr algn="ctr" eaLnBrk="1" hangingPunct="1">
                  <a:spcBef>
                    <a:spcPct val="0"/>
                  </a:spcBef>
                  <a:buClrTx/>
                  <a:buSzTx/>
                  <a:buFontTx/>
                  <a:buNone/>
                </a:pPr>
                <a:r>
                  <a:rPr lang="en-US" altLang="en-US" sz="1400">
                    <a:solidFill>
                      <a:schemeClr val="tx1"/>
                    </a:solidFill>
                    <a:latin typeface="Arial" panose="020B0604020202020204" pitchFamily="34" charset="0"/>
                  </a:rPr>
                  <a:t>i-nodes</a:t>
                </a:r>
                <a:endParaRPr lang="en-US" altLang="en-US" sz="1400" noProof="1">
                  <a:solidFill>
                    <a:schemeClr val="tx1"/>
                  </a:solidFill>
                  <a:latin typeface="Arial" panose="020B0604020202020204" pitchFamily="34" charset="0"/>
                </a:endParaRPr>
              </a:p>
            </p:txBody>
          </p:sp>
          <p:sp>
            <p:nvSpPr>
              <p:cNvPr id="9" name="Text Box 7">
                <a:extLst>
                  <a:ext uri="{FF2B5EF4-FFF2-40B4-BE49-F238E27FC236}">
                    <a16:creationId xmlns:a16="http://schemas.microsoft.com/office/drawing/2014/main" id="{ABEED64D-D823-4046-BD05-71B5A4FB80D4}"/>
                  </a:ext>
                </a:extLst>
              </p:cNvPr>
              <p:cNvSpPr txBox="1">
                <a:spLocks noChangeAspect="1" noChangeArrowheads="1"/>
              </p:cNvSpPr>
              <p:nvPr/>
            </p:nvSpPr>
            <p:spPr bwMode="auto">
              <a:xfrm>
                <a:off x="1204" y="3279"/>
                <a:ext cx="1555" cy="219"/>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tIns="0" bIns="0" anchor="ctr"/>
              <a:lstStyle>
                <a:lvl1pPr>
                  <a:spcBef>
                    <a:spcPct val="20000"/>
                  </a:spcBef>
                  <a:buClr>
                    <a:srgbClr val="993300"/>
                  </a:buClr>
                  <a:buSzPct val="60000"/>
                  <a:buFont typeface="Webdings" pitchFamily="2" charset="2"/>
                  <a:buChar char="&lt;"/>
                  <a:defRPr kumimoji="1" sz="2400">
                    <a:solidFill>
                      <a:srgbClr val="1C1C1C"/>
                    </a:solidFill>
                    <a:latin typeface="VNI-Helve" pitchFamily="2" charset="0"/>
                    <a:ea typeface="標楷體" pitchFamily="65" charset="-120"/>
                  </a:defRPr>
                </a:lvl1pPr>
                <a:lvl2pPr marL="742950" indent="-285750">
                  <a:spcBef>
                    <a:spcPct val="20000"/>
                  </a:spcBef>
                  <a:buClr>
                    <a:srgbClr val="CC6600"/>
                  </a:buClr>
                  <a:buSzPct val="50000"/>
                  <a:buFont typeface="Wingdings" pitchFamily="2" charset="2"/>
                  <a:buChar char="l"/>
                  <a:defRPr kumimoji="1" sz="2000">
                    <a:solidFill>
                      <a:srgbClr val="1C1C1C"/>
                    </a:solidFill>
                    <a:latin typeface="VNI-Helve" pitchFamily="2" charset="0"/>
                    <a:ea typeface="標楷體" pitchFamily="65" charset="-120"/>
                  </a:defRPr>
                </a:lvl2pPr>
                <a:lvl3pPr marL="1143000" indent="-228600">
                  <a:spcBef>
                    <a:spcPct val="20000"/>
                  </a:spcBef>
                  <a:buClr>
                    <a:srgbClr val="009900"/>
                  </a:buClr>
                  <a:buSzPct val="75000"/>
                  <a:buFont typeface="Webdings" pitchFamily="2" charset="2"/>
                  <a:buChar char="4"/>
                  <a:defRPr kumimoji="1" sz="2000">
                    <a:solidFill>
                      <a:srgbClr val="1C1C1C"/>
                    </a:solidFill>
                    <a:latin typeface="VNI-Helve" pitchFamily="2" charset="0"/>
                    <a:ea typeface="標楷體" pitchFamily="65" charset="-120"/>
                  </a:defRPr>
                </a:lvl3pPr>
                <a:lvl4pPr marL="1600200" indent="-228600">
                  <a:spcBef>
                    <a:spcPct val="20000"/>
                  </a:spcBef>
                  <a:buChar char="–"/>
                  <a:defRPr kumimoji="1" sz="2000">
                    <a:solidFill>
                      <a:srgbClr val="1C1C1C"/>
                    </a:solidFill>
                    <a:latin typeface="VNI-Helve" pitchFamily="2" charset="0"/>
                    <a:ea typeface="標楷體" pitchFamily="65" charset="-120"/>
                  </a:defRPr>
                </a:lvl4pPr>
                <a:lvl5pPr marL="2057400" indent="-228600">
                  <a:spcBef>
                    <a:spcPct val="20000"/>
                  </a:spcBef>
                  <a:buChar char="»"/>
                  <a:defRPr kumimoji="1" sz="2000">
                    <a:solidFill>
                      <a:srgbClr val="1C1C1C"/>
                    </a:solidFill>
                    <a:latin typeface="VNI-Helve" pitchFamily="2" charset="0"/>
                    <a:ea typeface="標楷體" pitchFamily="65" charset="-120"/>
                  </a:defRPr>
                </a:lvl5pPr>
                <a:lvl6pPr marL="25146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6pPr>
                <a:lvl7pPr marL="29718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7pPr>
                <a:lvl8pPr marL="34290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8pPr>
                <a:lvl9pPr marL="38862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9pPr>
              </a:lstStyle>
              <a:p>
                <a:pPr algn="ctr" eaLnBrk="1" hangingPunct="1">
                  <a:spcBef>
                    <a:spcPct val="0"/>
                  </a:spcBef>
                  <a:buClrTx/>
                  <a:buSzTx/>
                  <a:buFontTx/>
                  <a:buNone/>
                </a:pPr>
                <a:r>
                  <a:rPr lang="en-US" altLang="en-US" sz="1800">
                    <a:solidFill>
                      <a:srgbClr val="0000FF"/>
                    </a:solidFill>
                    <a:latin typeface="Arial" panose="020B0604020202020204" pitchFamily="34" charset="0"/>
                  </a:rPr>
                  <a:t>Partition control block</a:t>
                </a:r>
                <a:endParaRPr lang="en-US" altLang="en-US" sz="1800" noProof="1">
                  <a:solidFill>
                    <a:srgbClr val="0000FF"/>
                  </a:solidFill>
                  <a:latin typeface="Arial" panose="020B0604020202020204" pitchFamily="34" charset="0"/>
                </a:endParaRPr>
              </a:p>
            </p:txBody>
          </p:sp>
          <p:sp>
            <p:nvSpPr>
              <p:cNvPr id="10" name="Text Box 8">
                <a:extLst>
                  <a:ext uri="{FF2B5EF4-FFF2-40B4-BE49-F238E27FC236}">
                    <a16:creationId xmlns:a16="http://schemas.microsoft.com/office/drawing/2014/main" id="{35E382FE-ED11-4E4B-90FD-9C4D9FAA285F}"/>
                  </a:ext>
                </a:extLst>
              </p:cNvPr>
              <p:cNvSpPr txBox="1">
                <a:spLocks noChangeAspect="1" noChangeArrowheads="1"/>
              </p:cNvSpPr>
              <p:nvPr/>
            </p:nvSpPr>
            <p:spPr bwMode="auto">
              <a:xfrm>
                <a:off x="2890" y="3279"/>
                <a:ext cx="1249" cy="219"/>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tIns="0" bIns="0" anchor="ctr"/>
              <a:lstStyle>
                <a:lvl1pPr>
                  <a:spcBef>
                    <a:spcPct val="20000"/>
                  </a:spcBef>
                  <a:buClr>
                    <a:srgbClr val="993300"/>
                  </a:buClr>
                  <a:buSzPct val="60000"/>
                  <a:buFont typeface="Webdings" pitchFamily="2" charset="2"/>
                  <a:buChar char="&lt;"/>
                  <a:defRPr kumimoji="1" sz="2400">
                    <a:solidFill>
                      <a:srgbClr val="1C1C1C"/>
                    </a:solidFill>
                    <a:latin typeface="VNI-Helve" pitchFamily="2" charset="0"/>
                    <a:ea typeface="標楷體" pitchFamily="65" charset="-120"/>
                  </a:defRPr>
                </a:lvl1pPr>
                <a:lvl2pPr marL="742950" indent="-285750">
                  <a:spcBef>
                    <a:spcPct val="20000"/>
                  </a:spcBef>
                  <a:buClr>
                    <a:srgbClr val="CC6600"/>
                  </a:buClr>
                  <a:buSzPct val="50000"/>
                  <a:buFont typeface="Wingdings" pitchFamily="2" charset="2"/>
                  <a:buChar char="l"/>
                  <a:defRPr kumimoji="1" sz="2000">
                    <a:solidFill>
                      <a:srgbClr val="1C1C1C"/>
                    </a:solidFill>
                    <a:latin typeface="VNI-Helve" pitchFamily="2" charset="0"/>
                    <a:ea typeface="標楷體" pitchFamily="65" charset="-120"/>
                  </a:defRPr>
                </a:lvl2pPr>
                <a:lvl3pPr marL="1143000" indent="-228600">
                  <a:spcBef>
                    <a:spcPct val="20000"/>
                  </a:spcBef>
                  <a:buClr>
                    <a:srgbClr val="009900"/>
                  </a:buClr>
                  <a:buSzPct val="75000"/>
                  <a:buFont typeface="Webdings" pitchFamily="2" charset="2"/>
                  <a:buChar char="4"/>
                  <a:defRPr kumimoji="1" sz="2000">
                    <a:solidFill>
                      <a:srgbClr val="1C1C1C"/>
                    </a:solidFill>
                    <a:latin typeface="VNI-Helve" pitchFamily="2" charset="0"/>
                    <a:ea typeface="標楷體" pitchFamily="65" charset="-120"/>
                  </a:defRPr>
                </a:lvl3pPr>
                <a:lvl4pPr marL="1600200" indent="-228600">
                  <a:spcBef>
                    <a:spcPct val="20000"/>
                  </a:spcBef>
                  <a:buChar char="–"/>
                  <a:defRPr kumimoji="1" sz="2000">
                    <a:solidFill>
                      <a:srgbClr val="1C1C1C"/>
                    </a:solidFill>
                    <a:latin typeface="VNI-Helve" pitchFamily="2" charset="0"/>
                    <a:ea typeface="標楷體" pitchFamily="65" charset="-120"/>
                  </a:defRPr>
                </a:lvl4pPr>
                <a:lvl5pPr marL="2057400" indent="-228600">
                  <a:spcBef>
                    <a:spcPct val="20000"/>
                  </a:spcBef>
                  <a:buChar char="»"/>
                  <a:defRPr kumimoji="1" sz="2000">
                    <a:solidFill>
                      <a:srgbClr val="1C1C1C"/>
                    </a:solidFill>
                    <a:latin typeface="VNI-Helve" pitchFamily="2" charset="0"/>
                    <a:ea typeface="標楷體" pitchFamily="65" charset="-120"/>
                  </a:defRPr>
                </a:lvl5pPr>
                <a:lvl6pPr marL="25146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6pPr>
                <a:lvl7pPr marL="29718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7pPr>
                <a:lvl8pPr marL="34290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8pPr>
                <a:lvl9pPr marL="38862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9pPr>
              </a:lstStyle>
              <a:p>
                <a:pPr algn="ctr" eaLnBrk="1" hangingPunct="1">
                  <a:spcBef>
                    <a:spcPct val="0"/>
                  </a:spcBef>
                  <a:buClrTx/>
                  <a:buSzTx/>
                  <a:buFontTx/>
                  <a:buNone/>
                </a:pPr>
                <a:r>
                  <a:rPr lang="en-US" altLang="en-US" sz="1800">
                    <a:solidFill>
                      <a:srgbClr val="0000FF"/>
                    </a:solidFill>
                    <a:latin typeface="Arial" panose="020B0604020202020204" pitchFamily="34" charset="0"/>
                  </a:rPr>
                  <a:t>FCB’s</a:t>
                </a:r>
                <a:endParaRPr lang="en-US" altLang="en-US" sz="1800" noProof="1">
                  <a:solidFill>
                    <a:srgbClr val="0000FF"/>
                  </a:solidFill>
                  <a:latin typeface="Arial" panose="020B0604020202020204" pitchFamily="34" charset="0"/>
                </a:endParaRPr>
              </a:p>
            </p:txBody>
          </p:sp>
          <p:sp>
            <p:nvSpPr>
              <p:cNvPr id="11" name="Rectangle 9">
                <a:extLst>
                  <a:ext uri="{FF2B5EF4-FFF2-40B4-BE49-F238E27FC236}">
                    <a16:creationId xmlns:a16="http://schemas.microsoft.com/office/drawing/2014/main" id="{99B89CC9-BBC9-584C-8922-2F1C1CE93E1F}"/>
                  </a:ext>
                </a:extLst>
              </p:cNvPr>
              <p:cNvSpPr>
                <a:spLocks noChangeAspect="1" noChangeArrowheads="1"/>
              </p:cNvSpPr>
              <p:nvPr/>
            </p:nvSpPr>
            <p:spPr bwMode="auto">
              <a:xfrm>
                <a:off x="467" y="2271"/>
                <a:ext cx="751" cy="252"/>
              </a:xfrm>
              <a:prstGeom prst="rect">
                <a:avLst/>
              </a:prstGeom>
              <a:noFill/>
              <a:ln w="19050">
                <a:solidFill>
                  <a:schemeClr val="hlink"/>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pitchFamily="2" charset="2"/>
                  <a:buChar char="&lt;"/>
                  <a:defRPr kumimoji="1" sz="2400">
                    <a:solidFill>
                      <a:srgbClr val="1C1C1C"/>
                    </a:solidFill>
                    <a:latin typeface="VNI-Helve" pitchFamily="2" charset="0"/>
                    <a:ea typeface="標楷體" pitchFamily="65" charset="-120"/>
                  </a:defRPr>
                </a:lvl1pPr>
                <a:lvl2pPr marL="742950" indent="-285750">
                  <a:spcBef>
                    <a:spcPct val="20000"/>
                  </a:spcBef>
                  <a:buClr>
                    <a:srgbClr val="CC6600"/>
                  </a:buClr>
                  <a:buSzPct val="50000"/>
                  <a:buFont typeface="Wingdings" pitchFamily="2" charset="2"/>
                  <a:buChar char="l"/>
                  <a:defRPr kumimoji="1" sz="2000">
                    <a:solidFill>
                      <a:srgbClr val="1C1C1C"/>
                    </a:solidFill>
                    <a:latin typeface="VNI-Helve" pitchFamily="2" charset="0"/>
                    <a:ea typeface="標楷體" pitchFamily="65" charset="-120"/>
                  </a:defRPr>
                </a:lvl2pPr>
                <a:lvl3pPr marL="1143000" indent="-228600">
                  <a:spcBef>
                    <a:spcPct val="20000"/>
                  </a:spcBef>
                  <a:buClr>
                    <a:srgbClr val="009900"/>
                  </a:buClr>
                  <a:buSzPct val="75000"/>
                  <a:buFont typeface="Webdings" pitchFamily="2" charset="2"/>
                  <a:buChar char="4"/>
                  <a:defRPr kumimoji="1" sz="2000">
                    <a:solidFill>
                      <a:srgbClr val="1C1C1C"/>
                    </a:solidFill>
                    <a:latin typeface="VNI-Helve" pitchFamily="2" charset="0"/>
                    <a:ea typeface="標楷體" pitchFamily="65" charset="-120"/>
                  </a:defRPr>
                </a:lvl3pPr>
                <a:lvl4pPr marL="1600200" indent="-228600">
                  <a:spcBef>
                    <a:spcPct val="20000"/>
                  </a:spcBef>
                  <a:buChar char="–"/>
                  <a:defRPr kumimoji="1" sz="2000">
                    <a:solidFill>
                      <a:srgbClr val="1C1C1C"/>
                    </a:solidFill>
                    <a:latin typeface="VNI-Helve" pitchFamily="2" charset="0"/>
                    <a:ea typeface="標楷體" pitchFamily="65" charset="-120"/>
                  </a:defRPr>
                </a:lvl4pPr>
                <a:lvl5pPr marL="2057400" indent="-228600">
                  <a:spcBef>
                    <a:spcPct val="20000"/>
                  </a:spcBef>
                  <a:buChar char="»"/>
                  <a:defRPr kumimoji="1" sz="2000">
                    <a:solidFill>
                      <a:srgbClr val="1C1C1C"/>
                    </a:solidFill>
                    <a:latin typeface="VNI-Helve" pitchFamily="2" charset="0"/>
                    <a:ea typeface="標楷體" pitchFamily="65" charset="-120"/>
                  </a:defRPr>
                </a:lvl5pPr>
                <a:lvl6pPr marL="25146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6pPr>
                <a:lvl7pPr marL="29718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7pPr>
                <a:lvl8pPr marL="34290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8pPr>
                <a:lvl9pPr marL="38862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9pPr>
              </a:lstStyle>
              <a:p>
                <a:pPr algn="ctr" eaLnBrk="1" hangingPunct="1">
                  <a:spcBef>
                    <a:spcPct val="0"/>
                  </a:spcBef>
                  <a:buClrTx/>
                  <a:buSzTx/>
                  <a:buFontTx/>
                  <a:buNone/>
                </a:pPr>
                <a:endParaRPr lang="en-US" altLang="en-US" sz="1800">
                  <a:solidFill>
                    <a:schemeClr val="tx1"/>
                  </a:solidFill>
                  <a:latin typeface="Arial" panose="020B0604020202020204" pitchFamily="34" charset="0"/>
                </a:endParaRPr>
              </a:p>
            </p:txBody>
          </p:sp>
          <p:sp>
            <p:nvSpPr>
              <p:cNvPr id="12" name="AutoShape 10">
                <a:extLst>
                  <a:ext uri="{FF2B5EF4-FFF2-40B4-BE49-F238E27FC236}">
                    <a16:creationId xmlns:a16="http://schemas.microsoft.com/office/drawing/2014/main" id="{49E7F0DE-7B25-024B-93CF-031090778E3B}"/>
                  </a:ext>
                </a:extLst>
              </p:cNvPr>
              <p:cNvSpPr>
                <a:spLocks noChangeAspect="1"/>
              </p:cNvSpPr>
              <p:nvPr/>
            </p:nvSpPr>
            <p:spPr bwMode="auto">
              <a:xfrm rot="-5400000">
                <a:off x="813" y="2260"/>
                <a:ext cx="68" cy="744"/>
              </a:xfrm>
              <a:prstGeom prst="leftBrace">
                <a:avLst>
                  <a:gd name="adj1" fmla="val 91176"/>
                  <a:gd name="adj2" fmla="val 50000"/>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lr>
                    <a:srgbClr val="993300"/>
                  </a:buClr>
                  <a:buSzPct val="60000"/>
                  <a:buFont typeface="Webdings" pitchFamily="2" charset="2"/>
                  <a:buChar char="&lt;"/>
                  <a:defRPr kumimoji="1" sz="2400">
                    <a:solidFill>
                      <a:srgbClr val="1C1C1C"/>
                    </a:solidFill>
                    <a:latin typeface="VNI-Helve" pitchFamily="2" charset="0"/>
                    <a:ea typeface="標楷體" pitchFamily="65" charset="-120"/>
                  </a:defRPr>
                </a:lvl1pPr>
                <a:lvl2pPr marL="742950" indent="-285750">
                  <a:spcBef>
                    <a:spcPct val="20000"/>
                  </a:spcBef>
                  <a:buClr>
                    <a:srgbClr val="CC6600"/>
                  </a:buClr>
                  <a:buSzPct val="50000"/>
                  <a:buFont typeface="Wingdings" pitchFamily="2" charset="2"/>
                  <a:buChar char="l"/>
                  <a:defRPr kumimoji="1" sz="2000">
                    <a:solidFill>
                      <a:srgbClr val="1C1C1C"/>
                    </a:solidFill>
                    <a:latin typeface="VNI-Helve" pitchFamily="2" charset="0"/>
                    <a:ea typeface="標楷體" pitchFamily="65" charset="-120"/>
                  </a:defRPr>
                </a:lvl2pPr>
                <a:lvl3pPr marL="1143000" indent="-228600">
                  <a:spcBef>
                    <a:spcPct val="20000"/>
                  </a:spcBef>
                  <a:buClr>
                    <a:srgbClr val="009900"/>
                  </a:buClr>
                  <a:buSzPct val="75000"/>
                  <a:buFont typeface="Webdings" pitchFamily="2" charset="2"/>
                  <a:buChar char="4"/>
                  <a:defRPr kumimoji="1" sz="2000">
                    <a:solidFill>
                      <a:srgbClr val="1C1C1C"/>
                    </a:solidFill>
                    <a:latin typeface="VNI-Helve" pitchFamily="2" charset="0"/>
                    <a:ea typeface="標楷體" pitchFamily="65" charset="-120"/>
                  </a:defRPr>
                </a:lvl3pPr>
                <a:lvl4pPr marL="1600200" indent="-228600">
                  <a:spcBef>
                    <a:spcPct val="20000"/>
                  </a:spcBef>
                  <a:buChar char="–"/>
                  <a:defRPr kumimoji="1" sz="2000">
                    <a:solidFill>
                      <a:srgbClr val="1C1C1C"/>
                    </a:solidFill>
                    <a:latin typeface="VNI-Helve" pitchFamily="2" charset="0"/>
                    <a:ea typeface="標楷體" pitchFamily="65" charset="-120"/>
                  </a:defRPr>
                </a:lvl4pPr>
                <a:lvl5pPr marL="2057400" indent="-228600">
                  <a:spcBef>
                    <a:spcPct val="20000"/>
                  </a:spcBef>
                  <a:buChar char="»"/>
                  <a:defRPr kumimoji="1" sz="2000">
                    <a:solidFill>
                      <a:srgbClr val="1C1C1C"/>
                    </a:solidFill>
                    <a:latin typeface="VNI-Helve" pitchFamily="2" charset="0"/>
                    <a:ea typeface="標楷體" pitchFamily="65" charset="-120"/>
                  </a:defRPr>
                </a:lvl5pPr>
                <a:lvl6pPr marL="25146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6pPr>
                <a:lvl7pPr marL="29718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7pPr>
                <a:lvl8pPr marL="34290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8pPr>
                <a:lvl9pPr marL="38862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9pPr>
              </a:lstStyle>
              <a:p>
                <a:pPr algn="ctr" eaLnBrk="1" hangingPunct="1">
                  <a:spcBef>
                    <a:spcPct val="0"/>
                  </a:spcBef>
                  <a:buClrTx/>
                  <a:buSzTx/>
                  <a:buFontTx/>
                  <a:buNone/>
                </a:pPr>
                <a:endParaRPr lang="en-US" altLang="en-US" sz="1800">
                  <a:solidFill>
                    <a:schemeClr val="tx1"/>
                  </a:solidFill>
                  <a:latin typeface="Arial" panose="020B0604020202020204" pitchFamily="34" charset="0"/>
                </a:endParaRPr>
              </a:p>
            </p:txBody>
          </p:sp>
          <p:sp>
            <p:nvSpPr>
              <p:cNvPr id="13" name="Rectangle 12">
                <a:extLst>
                  <a:ext uri="{FF2B5EF4-FFF2-40B4-BE49-F238E27FC236}">
                    <a16:creationId xmlns:a16="http://schemas.microsoft.com/office/drawing/2014/main" id="{AC3F8D2C-1BDF-3543-88A1-7F1B8D57C433}"/>
                  </a:ext>
                </a:extLst>
              </p:cNvPr>
              <p:cNvSpPr>
                <a:spLocks noChangeAspect="1" noChangeArrowheads="1"/>
              </p:cNvSpPr>
              <p:nvPr/>
            </p:nvSpPr>
            <p:spPr bwMode="auto">
              <a:xfrm>
                <a:off x="555" y="2334"/>
                <a:ext cx="318" cy="142"/>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993300"/>
                  </a:buClr>
                  <a:buSzPct val="60000"/>
                  <a:buFont typeface="Webdings" pitchFamily="2" charset="2"/>
                  <a:buChar char="&lt;"/>
                  <a:defRPr kumimoji="1" sz="2400">
                    <a:solidFill>
                      <a:srgbClr val="1C1C1C"/>
                    </a:solidFill>
                    <a:latin typeface="VNI-Helve" pitchFamily="2" charset="0"/>
                    <a:ea typeface="標楷體" pitchFamily="65" charset="-120"/>
                  </a:defRPr>
                </a:lvl1pPr>
                <a:lvl2pPr marL="742950" indent="-285750">
                  <a:spcBef>
                    <a:spcPct val="20000"/>
                  </a:spcBef>
                  <a:buClr>
                    <a:srgbClr val="CC6600"/>
                  </a:buClr>
                  <a:buSzPct val="50000"/>
                  <a:buFont typeface="Wingdings" pitchFamily="2" charset="2"/>
                  <a:buChar char="l"/>
                  <a:defRPr kumimoji="1" sz="2000">
                    <a:solidFill>
                      <a:srgbClr val="1C1C1C"/>
                    </a:solidFill>
                    <a:latin typeface="VNI-Helve" pitchFamily="2" charset="0"/>
                    <a:ea typeface="標楷體" pitchFamily="65" charset="-120"/>
                  </a:defRPr>
                </a:lvl2pPr>
                <a:lvl3pPr marL="1143000" indent="-228600">
                  <a:spcBef>
                    <a:spcPct val="20000"/>
                  </a:spcBef>
                  <a:buClr>
                    <a:srgbClr val="009900"/>
                  </a:buClr>
                  <a:buSzPct val="75000"/>
                  <a:buFont typeface="Webdings" pitchFamily="2" charset="2"/>
                  <a:buChar char="4"/>
                  <a:defRPr kumimoji="1" sz="2000">
                    <a:solidFill>
                      <a:srgbClr val="1C1C1C"/>
                    </a:solidFill>
                    <a:latin typeface="VNI-Helve" pitchFamily="2" charset="0"/>
                    <a:ea typeface="標楷體" pitchFamily="65" charset="-120"/>
                  </a:defRPr>
                </a:lvl3pPr>
                <a:lvl4pPr marL="1600200" indent="-228600">
                  <a:spcBef>
                    <a:spcPct val="20000"/>
                  </a:spcBef>
                  <a:buChar char="–"/>
                  <a:defRPr kumimoji="1" sz="2000">
                    <a:solidFill>
                      <a:srgbClr val="1C1C1C"/>
                    </a:solidFill>
                    <a:latin typeface="VNI-Helve" pitchFamily="2" charset="0"/>
                    <a:ea typeface="標楷體" pitchFamily="65" charset="-120"/>
                  </a:defRPr>
                </a:lvl4pPr>
                <a:lvl5pPr marL="2057400" indent="-228600">
                  <a:spcBef>
                    <a:spcPct val="20000"/>
                  </a:spcBef>
                  <a:buChar char="»"/>
                  <a:defRPr kumimoji="1" sz="2000">
                    <a:solidFill>
                      <a:srgbClr val="1C1C1C"/>
                    </a:solidFill>
                    <a:latin typeface="VNI-Helve" pitchFamily="2" charset="0"/>
                    <a:ea typeface="標楷體" pitchFamily="65" charset="-120"/>
                  </a:defRPr>
                </a:lvl5pPr>
                <a:lvl6pPr marL="25146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6pPr>
                <a:lvl7pPr marL="29718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7pPr>
                <a:lvl8pPr marL="34290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8pPr>
                <a:lvl9pPr marL="38862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9pPr>
              </a:lstStyle>
              <a:p>
                <a:pPr algn="ctr" eaLnBrk="1" hangingPunct="1">
                  <a:spcBef>
                    <a:spcPct val="0"/>
                  </a:spcBef>
                  <a:buClrTx/>
                  <a:buSzTx/>
                  <a:buFontTx/>
                  <a:buNone/>
                </a:pPr>
                <a:endParaRPr lang="en-US" altLang="en-US" sz="1800">
                  <a:solidFill>
                    <a:schemeClr val="tx1"/>
                  </a:solidFill>
                  <a:latin typeface="Arial" panose="020B0604020202020204" pitchFamily="34" charset="0"/>
                </a:endParaRPr>
              </a:p>
            </p:txBody>
          </p:sp>
          <p:sp>
            <p:nvSpPr>
              <p:cNvPr id="14" name="Text Box 13">
                <a:extLst>
                  <a:ext uri="{FF2B5EF4-FFF2-40B4-BE49-F238E27FC236}">
                    <a16:creationId xmlns:a16="http://schemas.microsoft.com/office/drawing/2014/main" id="{0E502D09-5F46-6B49-ABCD-A154E4D86F3E}"/>
                  </a:ext>
                </a:extLst>
              </p:cNvPr>
              <p:cNvSpPr txBox="1">
                <a:spLocks noChangeAspect="1" noChangeArrowheads="1"/>
              </p:cNvSpPr>
              <p:nvPr/>
            </p:nvSpPr>
            <p:spPr bwMode="auto">
              <a:xfrm>
                <a:off x="699" y="2646"/>
                <a:ext cx="29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993300"/>
                  </a:buClr>
                  <a:buSzPct val="60000"/>
                  <a:buFont typeface="Webdings" pitchFamily="2" charset="2"/>
                  <a:buChar char="&lt;"/>
                  <a:defRPr kumimoji="1" sz="2400">
                    <a:solidFill>
                      <a:srgbClr val="1C1C1C"/>
                    </a:solidFill>
                    <a:latin typeface="VNI-Helve" pitchFamily="2" charset="0"/>
                    <a:ea typeface="標楷體" pitchFamily="65" charset="-120"/>
                  </a:defRPr>
                </a:lvl1pPr>
                <a:lvl2pPr marL="742950" indent="-285750">
                  <a:spcBef>
                    <a:spcPct val="20000"/>
                  </a:spcBef>
                  <a:buClr>
                    <a:srgbClr val="CC6600"/>
                  </a:buClr>
                  <a:buSzPct val="50000"/>
                  <a:buFont typeface="Wingdings" pitchFamily="2" charset="2"/>
                  <a:buChar char="l"/>
                  <a:defRPr kumimoji="1" sz="2000">
                    <a:solidFill>
                      <a:srgbClr val="1C1C1C"/>
                    </a:solidFill>
                    <a:latin typeface="VNI-Helve" pitchFamily="2" charset="0"/>
                    <a:ea typeface="標楷體" pitchFamily="65" charset="-120"/>
                  </a:defRPr>
                </a:lvl2pPr>
                <a:lvl3pPr marL="1143000" indent="-228600">
                  <a:spcBef>
                    <a:spcPct val="20000"/>
                  </a:spcBef>
                  <a:buClr>
                    <a:srgbClr val="009900"/>
                  </a:buClr>
                  <a:buSzPct val="75000"/>
                  <a:buFont typeface="Webdings" pitchFamily="2" charset="2"/>
                  <a:buChar char="4"/>
                  <a:defRPr kumimoji="1" sz="2000">
                    <a:solidFill>
                      <a:srgbClr val="1C1C1C"/>
                    </a:solidFill>
                    <a:latin typeface="VNI-Helve" pitchFamily="2" charset="0"/>
                    <a:ea typeface="標楷體" pitchFamily="65" charset="-120"/>
                  </a:defRPr>
                </a:lvl3pPr>
                <a:lvl4pPr marL="1600200" indent="-228600">
                  <a:spcBef>
                    <a:spcPct val="20000"/>
                  </a:spcBef>
                  <a:buChar char="–"/>
                  <a:defRPr kumimoji="1" sz="2000">
                    <a:solidFill>
                      <a:srgbClr val="1C1C1C"/>
                    </a:solidFill>
                    <a:latin typeface="VNI-Helve" pitchFamily="2" charset="0"/>
                    <a:ea typeface="標楷體" pitchFamily="65" charset="-120"/>
                  </a:defRPr>
                </a:lvl4pPr>
                <a:lvl5pPr marL="2057400" indent="-228600">
                  <a:spcBef>
                    <a:spcPct val="20000"/>
                  </a:spcBef>
                  <a:buChar char="»"/>
                  <a:defRPr kumimoji="1" sz="2000">
                    <a:solidFill>
                      <a:srgbClr val="1C1C1C"/>
                    </a:solidFill>
                    <a:latin typeface="VNI-Helve" pitchFamily="2" charset="0"/>
                    <a:ea typeface="標楷體" pitchFamily="65" charset="-120"/>
                  </a:defRPr>
                </a:lvl5pPr>
                <a:lvl6pPr marL="25146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6pPr>
                <a:lvl7pPr marL="29718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7pPr>
                <a:lvl8pPr marL="34290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8pPr>
                <a:lvl9pPr marL="38862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9pPr>
              </a:lstStyle>
              <a:p>
                <a:pPr algn="ctr" eaLnBrk="1" hangingPunct="1">
                  <a:spcBef>
                    <a:spcPct val="0"/>
                  </a:spcBef>
                  <a:buClrTx/>
                  <a:buSzTx/>
                  <a:buFontTx/>
                  <a:buNone/>
                </a:pPr>
                <a:r>
                  <a:rPr lang="en-US" altLang="en-US" sz="1200">
                    <a:solidFill>
                      <a:schemeClr val="tx1"/>
                    </a:solidFill>
                    <a:latin typeface="Arial" panose="020B0604020202020204" pitchFamily="34" charset="0"/>
                  </a:rPr>
                  <a:t>MBR</a:t>
                </a:r>
              </a:p>
            </p:txBody>
          </p:sp>
        </p:grpSp>
        <p:sp>
          <p:nvSpPr>
            <p:cNvPr id="6" name="TextBox 13">
              <a:extLst>
                <a:ext uri="{FF2B5EF4-FFF2-40B4-BE49-F238E27FC236}">
                  <a16:creationId xmlns:a16="http://schemas.microsoft.com/office/drawing/2014/main" id="{CBE34AD1-1E1D-514F-9F62-A724BC6B35FE}"/>
                </a:ext>
              </a:extLst>
            </p:cNvPr>
            <p:cNvSpPr txBox="1">
              <a:spLocks noChangeArrowheads="1"/>
            </p:cNvSpPr>
            <p:nvPr/>
          </p:nvSpPr>
          <p:spPr bwMode="auto">
            <a:xfrm>
              <a:off x="311924" y="5690227"/>
              <a:ext cx="994769" cy="2154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spcBef>
                  <a:spcPct val="20000"/>
                </a:spcBef>
                <a:buClr>
                  <a:srgbClr val="993300"/>
                </a:buClr>
                <a:buSzPct val="60000"/>
                <a:buFont typeface="Webdings" pitchFamily="2" charset="2"/>
                <a:buChar char="&lt;"/>
                <a:defRPr kumimoji="1" sz="2400">
                  <a:solidFill>
                    <a:srgbClr val="1C1C1C"/>
                  </a:solidFill>
                  <a:latin typeface="VNI-Helve" pitchFamily="2" charset="0"/>
                  <a:ea typeface="標楷體" pitchFamily="65" charset="-120"/>
                </a:defRPr>
              </a:lvl1pPr>
              <a:lvl2pPr marL="742950" indent="-285750">
                <a:spcBef>
                  <a:spcPct val="20000"/>
                </a:spcBef>
                <a:buClr>
                  <a:srgbClr val="CC6600"/>
                </a:buClr>
                <a:buSzPct val="50000"/>
                <a:buFont typeface="Wingdings" pitchFamily="2" charset="2"/>
                <a:buChar char="l"/>
                <a:defRPr kumimoji="1" sz="2000">
                  <a:solidFill>
                    <a:srgbClr val="1C1C1C"/>
                  </a:solidFill>
                  <a:latin typeface="VNI-Helve" pitchFamily="2" charset="0"/>
                  <a:ea typeface="標楷體" pitchFamily="65" charset="-120"/>
                </a:defRPr>
              </a:lvl2pPr>
              <a:lvl3pPr marL="1143000" indent="-228600">
                <a:spcBef>
                  <a:spcPct val="20000"/>
                </a:spcBef>
                <a:buClr>
                  <a:srgbClr val="009900"/>
                </a:buClr>
                <a:buSzPct val="75000"/>
                <a:buFont typeface="Webdings" pitchFamily="2" charset="2"/>
                <a:buChar char="4"/>
                <a:defRPr kumimoji="1" sz="2000">
                  <a:solidFill>
                    <a:srgbClr val="1C1C1C"/>
                  </a:solidFill>
                  <a:latin typeface="VNI-Helve" pitchFamily="2" charset="0"/>
                  <a:ea typeface="標楷體" pitchFamily="65" charset="-120"/>
                </a:defRPr>
              </a:lvl3pPr>
              <a:lvl4pPr marL="1600200" indent="-228600">
                <a:spcBef>
                  <a:spcPct val="20000"/>
                </a:spcBef>
                <a:buChar char="–"/>
                <a:defRPr kumimoji="1" sz="2000">
                  <a:solidFill>
                    <a:srgbClr val="1C1C1C"/>
                  </a:solidFill>
                  <a:latin typeface="VNI-Helve" pitchFamily="2" charset="0"/>
                  <a:ea typeface="標楷體" pitchFamily="65" charset="-120"/>
                </a:defRPr>
              </a:lvl4pPr>
              <a:lvl5pPr marL="2057400" indent="-228600">
                <a:spcBef>
                  <a:spcPct val="20000"/>
                </a:spcBef>
                <a:buChar char="»"/>
                <a:defRPr kumimoji="1" sz="2000">
                  <a:solidFill>
                    <a:srgbClr val="1C1C1C"/>
                  </a:solidFill>
                  <a:latin typeface="VNI-Helve" pitchFamily="2" charset="0"/>
                  <a:ea typeface="標楷體" pitchFamily="65" charset="-120"/>
                </a:defRPr>
              </a:lvl5pPr>
              <a:lvl6pPr marL="25146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6pPr>
              <a:lvl7pPr marL="29718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7pPr>
              <a:lvl8pPr marL="34290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8pPr>
              <a:lvl9pPr marL="3886200" indent="-228600" eaLnBrk="0" fontAlgn="base" hangingPunct="0">
                <a:spcBef>
                  <a:spcPct val="20000"/>
                </a:spcBef>
                <a:spcAft>
                  <a:spcPct val="0"/>
                </a:spcAft>
                <a:buChar char="»"/>
                <a:defRPr kumimoji="1" sz="2000">
                  <a:solidFill>
                    <a:srgbClr val="1C1C1C"/>
                  </a:solidFill>
                  <a:latin typeface="VNI-Helve" pitchFamily="2" charset="0"/>
                  <a:ea typeface="標楷體" pitchFamily="65" charset="-120"/>
                </a:defRPr>
              </a:lvl9pPr>
            </a:lstStyle>
            <a:p>
              <a:pPr algn="ctr" eaLnBrk="1" hangingPunct="1">
                <a:spcBef>
                  <a:spcPct val="0"/>
                </a:spcBef>
                <a:buClrTx/>
                <a:buSzTx/>
                <a:buFontTx/>
                <a:buNone/>
              </a:pPr>
              <a:r>
                <a:rPr lang="en-US" altLang="en-US" sz="1400">
                  <a:solidFill>
                    <a:schemeClr val="tx1"/>
                  </a:solidFill>
                  <a:latin typeface="Arial" panose="020B0604020202020204" pitchFamily="34" charset="0"/>
                </a:rPr>
                <a:t>Boot sector</a:t>
              </a:r>
            </a:p>
          </p:txBody>
        </p:sp>
      </p:grpSp>
    </p:spTree>
    <p:extLst>
      <p:ext uri="{BB962C8B-B14F-4D97-AF65-F5344CB8AC3E}">
        <p14:creationId xmlns:p14="http://schemas.microsoft.com/office/powerpoint/2010/main" val="459577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2A3B9AF4-362A-1E4E-9902-D615F583EB08}"/>
              </a:ext>
            </a:extLst>
          </p:cNvPr>
          <p:cNvSpPr>
            <a:spLocks noGrp="1" noChangeArrowheads="1"/>
          </p:cNvSpPr>
          <p:nvPr>
            <p:ph type="title"/>
          </p:nvPr>
        </p:nvSpPr>
        <p:spPr/>
        <p:txBody>
          <a:bodyPr/>
          <a:lstStyle/>
          <a:p>
            <a:r>
              <a:rPr lang="en-US" altLang="en-US" dirty="0"/>
              <a:t>File-System Implementation (Cont.)</a:t>
            </a:r>
          </a:p>
        </p:txBody>
      </p:sp>
      <p:sp>
        <p:nvSpPr>
          <p:cNvPr id="20482" name="Content Placeholder 2">
            <a:extLst>
              <a:ext uri="{FF2B5EF4-FFF2-40B4-BE49-F238E27FC236}">
                <a16:creationId xmlns:a16="http://schemas.microsoft.com/office/drawing/2014/main" id="{2C519961-CED6-6E46-9A0D-E5C57653DCBE}"/>
              </a:ext>
            </a:extLst>
          </p:cNvPr>
          <p:cNvSpPr>
            <a:spLocks noGrp="1" noChangeArrowheads="1"/>
          </p:cNvSpPr>
          <p:nvPr>
            <p:ph idx="1"/>
          </p:nvPr>
        </p:nvSpPr>
        <p:spPr/>
        <p:txBody>
          <a:bodyPr/>
          <a:lstStyle/>
          <a:p>
            <a:r>
              <a:rPr lang="en-US" altLang="en-US" dirty="0"/>
              <a:t>Per-file </a:t>
            </a:r>
            <a:r>
              <a:rPr lang="en-US" altLang="en-US" b="1" i="1" dirty="0">
                <a:solidFill>
                  <a:srgbClr val="0070C0"/>
                </a:solidFill>
              </a:rPr>
              <a:t>File Control Block </a:t>
            </a:r>
            <a:r>
              <a:rPr lang="en-US" altLang="en-US" dirty="0"/>
              <a:t>(</a:t>
            </a:r>
            <a:r>
              <a:rPr lang="en-US" altLang="en-US" b="1" dirty="0">
                <a:solidFill>
                  <a:srgbClr val="0070C0"/>
                </a:solidFill>
              </a:rPr>
              <a:t>FCB</a:t>
            </a:r>
            <a:r>
              <a:rPr lang="en-US" altLang="en-US" dirty="0"/>
              <a:t>) contains many details about the file</a:t>
            </a:r>
          </a:p>
          <a:p>
            <a:pPr lvl="1"/>
            <a:r>
              <a:rPr lang="en-US" altLang="en-US" dirty="0"/>
              <a:t>typically </a:t>
            </a:r>
            <a:r>
              <a:rPr lang="en-US" altLang="en-US" dirty="0" err="1"/>
              <a:t>inode</a:t>
            </a:r>
            <a:r>
              <a:rPr lang="en-US" altLang="en-US" dirty="0"/>
              <a:t> number, permissions, size, dates</a:t>
            </a:r>
          </a:p>
          <a:p>
            <a:pPr lvl="1"/>
            <a:r>
              <a:rPr lang="en-US" altLang="en-US" dirty="0"/>
              <a:t>NTFS stores into in </a:t>
            </a:r>
            <a:r>
              <a:rPr lang="en-US" altLang="en-US" i="1" dirty="0">
                <a:solidFill>
                  <a:srgbClr val="0070C0"/>
                </a:solidFill>
              </a:rPr>
              <a:t>master file table </a:t>
            </a:r>
            <a:r>
              <a:rPr lang="en-US" altLang="en-US" dirty="0"/>
              <a:t>using relational DB structures</a:t>
            </a:r>
          </a:p>
        </p:txBody>
      </p:sp>
      <p:pic>
        <p:nvPicPr>
          <p:cNvPr id="20483" name="Picture 5">
            <a:extLst>
              <a:ext uri="{FF2B5EF4-FFF2-40B4-BE49-F238E27FC236}">
                <a16:creationId xmlns:a16="http://schemas.microsoft.com/office/drawing/2014/main" id="{F9759D1F-1130-A648-8D7A-78824BE792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9770" y="3184133"/>
            <a:ext cx="4504459" cy="2982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21F869D2-7991-DC45-A537-56E9713269CC}"/>
              </a:ext>
            </a:extLst>
          </p:cNvPr>
          <p:cNvSpPr>
            <a:spLocks noGrp="1" noChangeArrowheads="1"/>
          </p:cNvSpPr>
          <p:nvPr>
            <p:ph type="title"/>
          </p:nvPr>
        </p:nvSpPr>
        <p:spPr/>
        <p:txBody>
          <a:bodyPr/>
          <a:lstStyle/>
          <a:p>
            <a:r>
              <a:rPr lang="en-US" altLang="en-US"/>
              <a:t>In-Memory File System Structures</a:t>
            </a:r>
          </a:p>
        </p:txBody>
      </p:sp>
      <p:sp>
        <p:nvSpPr>
          <p:cNvPr id="22530" name="Rectangle 3">
            <a:extLst>
              <a:ext uri="{FF2B5EF4-FFF2-40B4-BE49-F238E27FC236}">
                <a16:creationId xmlns:a16="http://schemas.microsoft.com/office/drawing/2014/main" id="{CE8381CD-4EBF-6B43-9BE7-C41A0A056B58}"/>
              </a:ext>
            </a:extLst>
          </p:cNvPr>
          <p:cNvSpPr>
            <a:spLocks noGrp="1" noChangeArrowheads="1"/>
          </p:cNvSpPr>
          <p:nvPr>
            <p:ph idx="1"/>
          </p:nvPr>
        </p:nvSpPr>
        <p:spPr/>
        <p:txBody>
          <a:bodyPr/>
          <a:lstStyle/>
          <a:p>
            <a:pPr>
              <a:spcBef>
                <a:spcPts val="400"/>
              </a:spcBef>
              <a:spcAft>
                <a:spcPts val="400"/>
              </a:spcAft>
            </a:pPr>
            <a:r>
              <a:rPr lang="en-US" altLang="en-US" i="1" dirty="0">
                <a:solidFill>
                  <a:srgbClr val="0070C0"/>
                </a:solidFill>
              </a:rPr>
              <a:t>Mount table </a:t>
            </a:r>
            <a:r>
              <a:rPr lang="en-US" altLang="en-US" dirty="0"/>
              <a:t>storing file system mounts, mount points, file system types</a:t>
            </a:r>
          </a:p>
          <a:p>
            <a:pPr>
              <a:spcBef>
                <a:spcPts val="400"/>
              </a:spcBef>
              <a:spcAft>
                <a:spcPts val="400"/>
              </a:spcAft>
            </a:pPr>
            <a:r>
              <a:rPr lang="en-US" altLang="en-US" i="1" dirty="0">
                <a:solidFill>
                  <a:srgbClr val="0070C0"/>
                </a:solidFill>
              </a:rPr>
              <a:t>System-wide open-file table </a:t>
            </a:r>
            <a:r>
              <a:rPr lang="en-US" altLang="en-US" dirty="0"/>
              <a:t>contains a copy of the FCB of each file and other info</a:t>
            </a:r>
          </a:p>
          <a:p>
            <a:pPr>
              <a:spcBef>
                <a:spcPts val="400"/>
              </a:spcBef>
              <a:spcAft>
                <a:spcPts val="400"/>
              </a:spcAft>
            </a:pPr>
            <a:r>
              <a:rPr lang="en-US" altLang="en-US" i="1" dirty="0">
                <a:solidFill>
                  <a:srgbClr val="0070C0"/>
                </a:solidFill>
              </a:rPr>
              <a:t>Per-process open-file table </a:t>
            </a:r>
            <a:r>
              <a:rPr lang="en-US" altLang="en-US" dirty="0"/>
              <a:t>contains pointers to appropriate entries in system-wide open-file table as well as other info</a:t>
            </a:r>
          </a:p>
          <a:p>
            <a:pPr>
              <a:spcBef>
                <a:spcPts val="400"/>
              </a:spcBef>
              <a:spcAft>
                <a:spcPts val="400"/>
              </a:spcAft>
            </a:pPr>
            <a:r>
              <a:rPr lang="en-US" altLang="en-US" dirty="0"/>
              <a:t>The following figure illustrates the necessary file system structures provided by the operating systems</a:t>
            </a:r>
          </a:p>
          <a:p>
            <a:pPr lvl="1">
              <a:spcBef>
                <a:spcPts val="400"/>
              </a:spcBef>
              <a:spcAft>
                <a:spcPts val="400"/>
              </a:spcAft>
            </a:pPr>
            <a:r>
              <a:rPr lang="en-US" altLang="en-US" dirty="0"/>
              <a:t>Figure (a) refers to opening a file</a:t>
            </a:r>
          </a:p>
          <a:p>
            <a:pPr lvl="1">
              <a:spcBef>
                <a:spcPts val="400"/>
              </a:spcBef>
              <a:spcAft>
                <a:spcPts val="400"/>
              </a:spcAft>
            </a:pPr>
            <a:r>
              <a:rPr lang="en-US" altLang="en-US" dirty="0"/>
              <a:t>Figure (b) refers to reading a file</a:t>
            </a:r>
          </a:p>
          <a:p>
            <a:pPr>
              <a:spcBef>
                <a:spcPts val="400"/>
              </a:spcBef>
              <a:spcAft>
                <a:spcPts val="400"/>
              </a:spcAft>
            </a:pPr>
            <a:r>
              <a:rPr lang="en-US" altLang="en-US" dirty="0"/>
              <a:t>Plus </a:t>
            </a:r>
            <a:r>
              <a:rPr lang="en-US" altLang="en-US" i="1" dirty="0">
                <a:solidFill>
                  <a:srgbClr val="0070C0"/>
                </a:solidFill>
              </a:rPr>
              <a:t>buffers</a:t>
            </a:r>
            <a:r>
              <a:rPr lang="en-US" altLang="en-US" dirty="0"/>
              <a:t> hold data blocks from secondary storage</a:t>
            </a:r>
          </a:p>
          <a:p>
            <a:pPr>
              <a:spcBef>
                <a:spcPts val="400"/>
              </a:spcBef>
              <a:spcAft>
                <a:spcPts val="400"/>
              </a:spcAft>
            </a:pPr>
            <a:r>
              <a:rPr lang="en-US" altLang="en-US" dirty="0"/>
              <a:t>Open returns a </a:t>
            </a:r>
            <a:r>
              <a:rPr lang="en-US" altLang="en-US" i="1" dirty="0">
                <a:solidFill>
                  <a:srgbClr val="0070C0"/>
                </a:solidFill>
              </a:rPr>
              <a:t>file handle </a:t>
            </a:r>
            <a:r>
              <a:rPr lang="en-US" altLang="en-US" dirty="0"/>
              <a:t>for subsequent use</a:t>
            </a:r>
          </a:p>
          <a:p>
            <a:pPr>
              <a:spcBef>
                <a:spcPts val="400"/>
              </a:spcBef>
              <a:spcAft>
                <a:spcPts val="400"/>
              </a:spcAft>
            </a:pPr>
            <a:r>
              <a:rPr lang="en-US" altLang="en-US" dirty="0"/>
              <a:t>Data from read copied to specified user process memory address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BB6AB2D6-65DA-2241-9521-FC49CDAFC4F6}"/>
              </a:ext>
            </a:extLst>
          </p:cNvPr>
          <p:cNvSpPr>
            <a:spLocks noGrp="1" noChangeArrowheads="1"/>
          </p:cNvSpPr>
          <p:nvPr>
            <p:ph type="title"/>
          </p:nvPr>
        </p:nvSpPr>
        <p:spPr/>
        <p:txBody>
          <a:bodyPr/>
          <a:lstStyle/>
          <a:p>
            <a:r>
              <a:rPr lang="en-US" altLang="en-US"/>
              <a:t>In-Memory File System Structures</a:t>
            </a:r>
          </a:p>
        </p:txBody>
      </p:sp>
      <p:pic>
        <p:nvPicPr>
          <p:cNvPr id="24578" name="Picture 2">
            <a:extLst>
              <a:ext uri="{FF2B5EF4-FFF2-40B4-BE49-F238E27FC236}">
                <a16:creationId xmlns:a16="http://schemas.microsoft.com/office/drawing/2014/main" id="{1FD941A0-501D-304E-AA66-080822C51B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981" y="1261299"/>
            <a:ext cx="6142037" cy="490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BF265AE0-9587-F44F-9CA7-5743C9F6BC9B}"/>
              </a:ext>
            </a:extLst>
          </p:cNvPr>
          <p:cNvSpPr>
            <a:spLocks noGrp="1" noChangeArrowheads="1"/>
          </p:cNvSpPr>
          <p:nvPr>
            <p:ph type="title"/>
          </p:nvPr>
        </p:nvSpPr>
        <p:spPr/>
        <p:txBody>
          <a:bodyPr/>
          <a:lstStyle/>
          <a:p>
            <a:r>
              <a:rPr lang="en-US" altLang="en-US"/>
              <a:t>Directory Implementation</a:t>
            </a:r>
          </a:p>
        </p:txBody>
      </p:sp>
      <p:sp>
        <p:nvSpPr>
          <p:cNvPr id="26626" name="Rectangle 3">
            <a:extLst>
              <a:ext uri="{FF2B5EF4-FFF2-40B4-BE49-F238E27FC236}">
                <a16:creationId xmlns:a16="http://schemas.microsoft.com/office/drawing/2014/main" id="{80B5B0C6-8CB2-9641-BA64-CAAAA2F0C713}"/>
              </a:ext>
            </a:extLst>
          </p:cNvPr>
          <p:cNvSpPr>
            <a:spLocks noGrp="1" noChangeArrowheads="1"/>
          </p:cNvSpPr>
          <p:nvPr>
            <p:ph idx="1"/>
          </p:nvPr>
        </p:nvSpPr>
        <p:spPr/>
        <p:txBody>
          <a:bodyPr/>
          <a:lstStyle/>
          <a:p>
            <a:r>
              <a:rPr lang="en-US" altLang="en-US" i="1" dirty="0">
                <a:solidFill>
                  <a:srgbClr val="0070C0"/>
                </a:solidFill>
              </a:rPr>
              <a:t>Linear list of file names</a:t>
            </a:r>
            <a:r>
              <a:rPr lang="en-US" altLang="en-US" dirty="0"/>
              <a:t> with pointer to the data blocks</a:t>
            </a:r>
          </a:p>
          <a:p>
            <a:pPr lvl="1"/>
            <a:r>
              <a:rPr lang="en-US" altLang="en-US" dirty="0"/>
              <a:t>Simple to program</a:t>
            </a:r>
          </a:p>
          <a:p>
            <a:pPr lvl="1"/>
            <a:r>
              <a:rPr lang="en-US" altLang="en-US" dirty="0"/>
              <a:t>Time-consuming to execute</a:t>
            </a:r>
          </a:p>
          <a:p>
            <a:pPr lvl="2"/>
            <a:r>
              <a:rPr lang="en-US" altLang="en-US" dirty="0"/>
              <a:t>Linear search time</a:t>
            </a:r>
          </a:p>
          <a:p>
            <a:pPr lvl="2"/>
            <a:r>
              <a:rPr lang="en-US" altLang="en-US" dirty="0"/>
              <a:t>Could keep ordered alphabetically via linked list or use B+ tree</a:t>
            </a:r>
          </a:p>
          <a:p>
            <a:r>
              <a:rPr lang="en-US" altLang="en-US" i="1" dirty="0">
                <a:solidFill>
                  <a:srgbClr val="0070C0"/>
                </a:solidFill>
              </a:rPr>
              <a:t>Hash Table </a:t>
            </a:r>
            <a:r>
              <a:rPr lang="en-US" altLang="en-US" dirty="0"/>
              <a:t>– linear list with hash data structure</a:t>
            </a:r>
          </a:p>
          <a:p>
            <a:pPr lvl="1"/>
            <a:r>
              <a:rPr lang="en-US" altLang="en-US" dirty="0"/>
              <a:t>Decreases directory search time</a:t>
            </a:r>
          </a:p>
          <a:p>
            <a:pPr lvl="1"/>
            <a:r>
              <a:rPr lang="en-US" altLang="en-US" dirty="0"/>
              <a:t>Collisions – situations where two file names hash to the same location</a:t>
            </a:r>
          </a:p>
          <a:p>
            <a:pPr lvl="1"/>
            <a:r>
              <a:rPr lang="en-US" altLang="en-US" dirty="0"/>
              <a:t>Only good if entries are fixed size, or use chained-overflow method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6CF6F8B7-67B8-3345-B522-03E27CC3C898}"/>
              </a:ext>
            </a:extLst>
          </p:cNvPr>
          <p:cNvSpPr>
            <a:spLocks noGrp="1" noChangeArrowheads="1"/>
          </p:cNvSpPr>
          <p:nvPr>
            <p:ph type="title"/>
          </p:nvPr>
        </p:nvSpPr>
        <p:spPr/>
        <p:txBody>
          <a:bodyPr/>
          <a:lstStyle/>
          <a:p>
            <a:r>
              <a:rPr lang="en-US" altLang="en-US" dirty="0"/>
              <a:t>Allocation Methods – Contiguous</a:t>
            </a:r>
          </a:p>
        </p:txBody>
      </p:sp>
      <p:sp>
        <p:nvSpPr>
          <p:cNvPr id="28674" name="Rectangle 3">
            <a:extLst>
              <a:ext uri="{FF2B5EF4-FFF2-40B4-BE49-F238E27FC236}">
                <a16:creationId xmlns:a16="http://schemas.microsoft.com/office/drawing/2014/main" id="{39A57CF6-B5D7-D34F-BB12-CC407649FFB1}"/>
              </a:ext>
            </a:extLst>
          </p:cNvPr>
          <p:cNvSpPr>
            <a:spLocks noGrp="1" noChangeArrowheads="1"/>
          </p:cNvSpPr>
          <p:nvPr>
            <p:ph idx="1"/>
          </p:nvPr>
        </p:nvSpPr>
        <p:spPr/>
        <p:txBody>
          <a:bodyPr/>
          <a:lstStyle/>
          <a:p>
            <a:r>
              <a:rPr lang="en-US" altLang="en-US" dirty="0"/>
              <a:t>An allocation method refers to </a:t>
            </a:r>
            <a:r>
              <a:rPr lang="en-US" altLang="en-US" i="1" dirty="0">
                <a:solidFill>
                  <a:srgbClr val="0070C0"/>
                </a:solidFill>
              </a:rPr>
              <a:t>how disk blocks are allocated for files</a:t>
            </a:r>
            <a:endParaRPr lang="en-US" altLang="en-US" dirty="0"/>
          </a:p>
          <a:p>
            <a:r>
              <a:rPr lang="en-US" altLang="en-US" i="1" dirty="0">
                <a:solidFill>
                  <a:srgbClr val="0070C0"/>
                </a:solidFill>
              </a:rPr>
              <a:t>Contiguous allocation </a:t>
            </a:r>
            <a:r>
              <a:rPr lang="en-US" altLang="en-US" dirty="0"/>
              <a:t>– each file occupies set of contiguous blocks</a:t>
            </a:r>
          </a:p>
          <a:p>
            <a:pPr lvl="1"/>
            <a:r>
              <a:rPr lang="en-US" altLang="en-US" dirty="0"/>
              <a:t>Best performance in most cases</a:t>
            </a:r>
          </a:p>
          <a:p>
            <a:pPr lvl="1"/>
            <a:r>
              <a:rPr lang="en-US" altLang="en-US" dirty="0"/>
              <a:t>Simple – only starting location (block #) and length (number of blocks) are required</a:t>
            </a:r>
          </a:p>
          <a:p>
            <a:pPr lvl="1"/>
            <a:r>
              <a:rPr lang="en-US" altLang="en-US" dirty="0"/>
              <a:t>Problems include finding space for file, knowing file size, external fragmentation, need for compaction off-line (downtime) or on-line</a:t>
            </a:r>
          </a:p>
          <a:p>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C96C497D-30FA-9C45-9FE6-D8F2D318891C}"/>
              </a:ext>
            </a:extLst>
          </p:cNvPr>
          <p:cNvSpPr>
            <a:spLocks noGrp="1" noChangeArrowheads="1"/>
          </p:cNvSpPr>
          <p:nvPr>
            <p:ph type="title"/>
          </p:nvPr>
        </p:nvSpPr>
        <p:spPr/>
        <p:txBody>
          <a:bodyPr/>
          <a:lstStyle/>
          <a:p>
            <a:r>
              <a:rPr lang="en-US" altLang="en-US"/>
              <a:t>Contiguous Allocation</a:t>
            </a:r>
          </a:p>
        </p:txBody>
      </p:sp>
      <p:sp>
        <p:nvSpPr>
          <p:cNvPr id="30722" name="Rectangle 3">
            <a:extLst>
              <a:ext uri="{FF2B5EF4-FFF2-40B4-BE49-F238E27FC236}">
                <a16:creationId xmlns:a16="http://schemas.microsoft.com/office/drawing/2014/main" id="{14547E14-39DC-C144-B06D-47B698B1E0CF}"/>
              </a:ext>
            </a:extLst>
          </p:cNvPr>
          <p:cNvSpPr>
            <a:spLocks noGrp="1" noChangeArrowheads="1"/>
          </p:cNvSpPr>
          <p:nvPr>
            <p:ph idx="1"/>
          </p:nvPr>
        </p:nvSpPr>
        <p:spPr/>
        <p:txBody>
          <a:bodyPr/>
          <a:lstStyle/>
          <a:p>
            <a:r>
              <a:rPr lang="en-US" altLang="en-US" dirty="0"/>
              <a:t>Mapping from logical to physical</a:t>
            </a:r>
          </a:p>
          <a:p>
            <a:endParaRPr kumimoji="0" lang="en-US" altLang="en-US" dirty="0"/>
          </a:p>
          <a:p>
            <a:endParaRPr kumimoji="0" lang="en-US" altLang="en-US" dirty="0"/>
          </a:p>
          <a:p>
            <a:endParaRPr kumimoji="0" lang="en-US" altLang="en-US" dirty="0"/>
          </a:p>
          <a:p>
            <a:endParaRPr kumimoji="0" lang="en-US" altLang="en-US" dirty="0"/>
          </a:p>
          <a:p>
            <a:endParaRPr kumimoji="0" lang="en-US" altLang="en-US" dirty="0"/>
          </a:p>
          <a:p>
            <a:endParaRPr kumimoji="0" lang="en-US" altLang="en-US" dirty="0"/>
          </a:p>
          <a:p>
            <a:pPr marL="0" indent="0">
              <a:buNone/>
            </a:pPr>
            <a:endParaRPr kumimoji="0" lang="en-US" altLang="en-US" dirty="0"/>
          </a:p>
          <a:p>
            <a:pPr lvl="1"/>
            <a:r>
              <a:rPr kumimoji="0" lang="en-US" altLang="en-US" dirty="0"/>
              <a:t>Block to be accessed = Q + starting address</a:t>
            </a:r>
          </a:p>
          <a:p>
            <a:pPr lvl="1"/>
            <a:r>
              <a:rPr kumimoji="0" lang="en-US" altLang="en-US" dirty="0"/>
              <a:t>Displacement into block = R</a:t>
            </a:r>
            <a:endParaRPr lang="en-US" altLang="en-US" dirty="0"/>
          </a:p>
          <a:p>
            <a:endParaRPr lang="en-US" altLang="en-US" dirty="0"/>
          </a:p>
        </p:txBody>
      </p:sp>
      <p:grpSp>
        <p:nvGrpSpPr>
          <p:cNvPr id="30723" name="Group 1">
            <a:extLst>
              <a:ext uri="{FF2B5EF4-FFF2-40B4-BE49-F238E27FC236}">
                <a16:creationId xmlns:a16="http://schemas.microsoft.com/office/drawing/2014/main" id="{83DAB4F6-311A-ED49-A8B6-34223F84A841}"/>
              </a:ext>
            </a:extLst>
          </p:cNvPr>
          <p:cNvGrpSpPr>
            <a:grpSpLocks/>
          </p:cNvGrpSpPr>
          <p:nvPr/>
        </p:nvGrpSpPr>
        <p:grpSpPr bwMode="auto">
          <a:xfrm>
            <a:off x="1630363" y="2994149"/>
            <a:ext cx="1917700" cy="1385888"/>
            <a:chOff x="2655888" y="2127250"/>
            <a:chExt cx="1917700" cy="1385888"/>
          </a:xfrm>
        </p:grpSpPr>
        <p:sp>
          <p:nvSpPr>
            <p:cNvPr id="30726" name="Text Box 4">
              <a:extLst>
                <a:ext uri="{FF2B5EF4-FFF2-40B4-BE49-F238E27FC236}">
                  <a16:creationId xmlns:a16="http://schemas.microsoft.com/office/drawing/2014/main" id="{95444EEE-CD31-8F47-89FB-2120F4B40425}"/>
                </a:ext>
              </a:extLst>
            </p:cNvPr>
            <p:cNvSpPr txBox="1">
              <a:spLocks noChangeArrowheads="1"/>
            </p:cNvSpPr>
            <p:nvPr/>
          </p:nvSpPr>
          <p:spPr bwMode="auto">
            <a:xfrm>
              <a:off x="2655888" y="2584450"/>
              <a:ext cx="12652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dirty="0"/>
                <a:t>LA/512</a:t>
              </a:r>
            </a:p>
          </p:txBody>
        </p:sp>
        <p:sp>
          <p:nvSpPr>
            <p:cNvPr id="30727" name="Text Box 5">
              <a:extLst>
                <a:ext uri="{FF2B5EF4-FFF2-40B4-BE49-F238E27FC236}">
                  <a16:creationId xmlns:a16="http://schemas.microsoft.com/office/drawing/2014/main" id="{F8B91681-CFC3-4F4F-BFFE-C14590B1D729}"/>
                </a:ext>
              </a:extLst>
            </p:cNvPr>
            <p:cNvSpPr txBox="1">
              <a:spLocks noChangeArrowheads="1"/>
            </p:cNvSpPr>
            <p:nvPr/>
          </p:nvSpPr>
          <p:spPr bwMode="auto">
            <a:xfrm>
              <a:off x="3768725" y="2127250"/>
              <a:ext cx="804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a:t>Q</a:t>
              </a:r>
            </a:p>
          </p:txBody>
        </p:sp>
        <p:sp>
          <p:nvSpPr>
            <p:cNvPr id="30728" name="Text Box 6">
              <a:extLst>
                <a:ext uri="{FF2B5EF4-FFF2-40B4-BE49-F238E27FC236}">
                  <a16:creationId xmlns:a16="http://schemas.microsoft.com/office/drawing/2014/main" id="{78576F0C-C113-6747-BF98-E1EA04D0600E}"/>
                </a:ext>
              </a:extLst>
            </p:cNvPr>
            <p:cNvSpPr txBox="1">
              <a:spLocks noChangeArrowheads="1"/>
            </p:cNvSpPr>
            <p:nvPr/>
          </p:nvSpPr>
          <p:spPr bwMode="auto">
            <a:xfrm>
              <a:off x="3825875" y="3143250"/>
              <a:ext cx="635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a:t>R</a:t>
              </a:r>
            </a:p>
          </p:txBody>
        </p:sp>
        <p:sp>
          <p:nvSpPr>
            <p:cNvPr id="30729" name="Line 7">
              <a:extLst>
                <a:ext uri="{FF2B5EF4-FFF2-40B4-BE49-F238E27FC236}">
                  <a16:creationId xmlns:a16="http://schemas.microsoft.com/office/drawing/2014/main" id="{26891822-57CC-C24F-BB65-92D86BE4DB09}"/>
                </a:ext>
              </a:extLst>
            </p:cNvPr>
            <p:cNvSpPr>
              <a:spLocks noChangeShapeType="1"/>
            </p:cNvSpPr>
            <p:nvPr/>
          </p:nvSpPr>
          <p:spPr bwMode="auto">
            <a:xfrm flipV="1">
              <a:off x="3675327" y="2437022"/>
              <a:ext cx="309298"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sp>
          <p:nvSpPr>
            <p:cNvPr id="30730" name="Line 8">
              <a:extLst>
                <a:ext uri="{FF2B5EF4-FFF2-40B4-BE49-F238E27FC236}">
                  <a16:creationId xmlns:a16="http://schemas.microsoft.com/office/drawing/2014/main" id="{F33C6BEB-45AF-7D42-BD09-261DC8601B13}"/>
                </a:ext>
              </a:extLst>
            </p:cNvPr>
            <p:cNvSpPr>
              <a:spLocks noChangeShapeType="1"/>
            </p:cNvSpPr>
            <p:nvPr/>
          </p:nvSpPr>
          <p:spPr bwMode="auto">
            <a:xfrm>
              <a:off x="3711575" y="2954338"/>
              <a:ext cx="27305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grpSp>
      <p:pic>
        <p:nvPicPr>
          <p:cNvPr id="30725" name="Picture 2">
            <a:extLst>
              <a:ext uri="{FF2B5EF4-FFF2-40B4-BE49-F238E27FC236}">
                <a16:creationId xmlns:a16="http://schemas.microsoft.com/office/drawing/2014/main" id="{98524759-BE91-FD41-8B83-C5607398EC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1669" y="1832893"/>
            <a:ext cx="3589337"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F5BB8603-B090-6A4D-82E2-C0E4A55EE01A}"/>
              </a:ext>
            </a:extLst>
          </p:cNvPr>
          <p:cNvSpPr>
            <a:spLocks noGrp="1" noChangeArrowheads="1"/>
          </p:cNvSpPr>
          <p:nvPr>
            <p:ph type="title"/>
          </p:nvPr>
        </p:nvSpPr>
        <p:spPr/>
        <p:txBody>
          <a:bodyPr/>
          <a:lstStyle/>
          <a:p>
            <a:r>
              <a:rPr lang="en-US" altLang="en-US"/>
              <a:t>Extent-Based Systems</a:t>
            </a:r>
          </a:p>
        </p:txBody>
      </p:sp>
      <p:sp>
        <p:nvSpPr>
          <p:cNvPr id="32770" name="Rectangle 3">
            <a:extLst>
              <a:ext uri="{FF2B5EF4-FFF2-40B4-BE49-F238E27FC236}">
                <a16:creationId xmlns:a16="http://schemas.microsoft.com/office/drawing/2014/main" id="{4ED5DB29-42B3-B340-8B22-57123773368F}"/>
              </a:ext>
            </a:extLst>
          </p:cNvPr>
          <p:cNvSpPr>
            <a:spLocks noGrp="1" noChangeArrowheads="1"/>
          </p:cNvSpPr>
          <p:nvPr>
            <p:ph idx="1"/>
          </p:nvPr>
        </p:nvSpPr>
        <p:spPr/>
        <p:txBody>
          <a:bodyPr/>
          <a:lstStyle/>
          <a:p>
            <a:r>
              <a:rPr lang="en-US" altLang="en-US" dirty="0"/>
              <a:t>Many newer file systems (e.g., </a:t>
            </a:r>
            <a:r>
              <a:rPr lang="en-US" altLang="en-US" i="1" dirty="0">
                <a:solidFill>
                  <a:srgbClr val="0070C0"/>
                </a:solidFill>
              </a:rPr>
              <a:t>Veritas File System</a:t>
            </a:r>
            <a:r>
              <a:rPr lang="en-US" altLang="en-US" dirty="0"/>
              <a:t>) use a modified contiguous allocation scheme</a:t>
            </a:r>
          </a:p>
          <a:p>
            <a:endParaRPr lang="en-US" altLang="en-US" dirty="0"/>
          </a:p>
          <a:p>
            <a:r>
              <a:rPr lang="en-US" altLang="en-US" i="1" dirty="0">
                <a:solidFill>
                  <a:srgbClr val="0070C0"/>
                </a:solidFill>
              </a:rPr>
              <a:t>Extent-based file systems </a:t>
            </a:r>
            <a:r>
              <a:rPr lang="en-US" altLang="en-US" dirty="0"/>
              <a:t>allocate disk blocks in extents</a:t>
            </a:r>
          </a:p>
          <a:p>
            <a:endParaRPr lang="en-US" altLang="en-US" dirty="0"/>
          </a:p>
          <a:p>
            <a:r>
              <a:rPr lang="en-US" altLang="en-US" dirty="0"/>
              <a:t>An extent is a contiguous block of disks</a:t>
            </a:r>
          </a:p>
          <a:p>
            <a:pPr lvl="1"/>
            <a:r>
              <a:rPr lang="en-US" altLang="en-US" dirty="0"/>
              <a:t>Extents are allocated for file allocation</a:t>
            </a:r>
          </a:p>
          <a:p>
            <a:pPr lvl="1"/>
            <a:r>
              <a:rPr lang="en-US" altLang="en-US" dirty="0"/>
              <a:t>A file consists of one or more extents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A01E2C7A-2DD4-F94F-A8BF-4093383F15E3}"/>
              </a:ext>
            </a:extLst>
          </p:cNvPr>
          <p:cNvSpPr>
            <a:spLocks noGrp="1" noChangeArrowheads="1"/>
          </p:cNvSpPr>
          <p:nvPr>
            <p:ph type="title"/>
          </p:nvPr>
        </p:nvSpPr>
        <p:spPr/>
        <p:txBody>
          <a:bodyPr/>
          <a:lstStyle/>
          <a:p>
            <a:r>
              <a:rPr lang="en-US" altLang="en-US"/>
              <a:t>Allocation Methods - Linked</a:t>
            </a:r>
          </a:p>
        </p:txBody>
      </p:sp>
      <p:sp>
        <p:nvSpPr>
          <p:cNvPr id="34818" name="Content Placeholder 2">
            <a:extLst>
              <a:ext uri="{FF2B5EF4-FFF2-40B4-BE49-F238E27FC236}">
                <a16:creationId xmlns:a16="http://schemas.microsoft.com/office/drawing/2014/main" id="{B404869C-69C7-6443-91CB-471C5AEBD4B8}"/>
              </a:ext>
            </a:extLst>
          </p:cNvPr>
          <p:cNvSpPr>
            <a:spLocks noGrp="1" noChangeArrowheads="1"/>
          </p:cNvSpPr>
          <p:nvPr>
            <p:ph idx="1"/>
          </p:nvPr>
        </p:nvSpPr>
        <p:spPr/>
        <p:txBody>
          <a:bodyPr/>
          <a:lstStyle/>
          <a:p>
            <a:pPr>
              <a:spcBef>
                <a:spcPts val="400"/>
              </a:spcBef>
              <a:spcAft>
                <a:spcPts val="400"/>
              </a:spcAft>
            </a:pPr>
            <a:r>
              <a:rPr lang="en-US" altLang="en-US" i="1" dirty="0">
                <a:solidFill>
                  <a:srgbClr val="0070C0"/>
                </a:solidFill>
              </a:rPr>
              <a:t>Linked allocation </a:t>
            </a:r>
            <a:r>
              <a:rPr lang="en-US" altLang="en-US" dirty="0"/>
              <a:t>– each file is a linked list of blocks</a:t>
            </a:r>
          </a:p>
          <a:p>
            <a:pPr lvl="1">
              <a:spcBef>
                <a:spcPts val="400"/>
              </a:spcBef>
              <a:spcAft>
                <a:spcPts val="400"/>
              </a:spcAft>
            </a:pPr>
            <a:r>
              <a:rPr lang="en-US" altLang="en-US" dirty="0"/>
              <a:t>File ends at nil pointer</a:t>
            </a:r>
          </a:p>
          <a:p>
            <a:pPr lvl="1">
              <a:spcBef>
                <a:spcPts val="400"/>
              </a:spcBef>
              <a:spcAft>
                <a:spcPts val="400"/>
              </a:spcAft>
            </a:pPr>
            <a:r>
              <a:rPr lang="en-US" altLang="en-US" dirty="0"/>
              <a:t>No external fragmentation</a:t>
            </a:r>
          </a:p>
          <a:p>
            <a:pPr lvl="1">
              <a:spcBef>
                <a:spcPts val="400"/>
              </a:spcBef>
              <a:spcAft>
                <a:spcPts val="400"/>
              </a:spcAft>
            </a:pPr>
            <a:r>
              <a:rPr lang="en-US" altLang="en-US" dirty="0"/>
              <a:t>Each block contains pointer to next block</a:t>
            </a:r>
          </a:p>
          <a:p>
            <a:pPr lvl="1">
              <a:spcBef>
                <a:spcPts val="400"/>
              </a:spcBef>
              <a:spcAft>
                <a:spcPts val="400"/>
              </a:spcAft>
            </a:pPr>
            <a:r>
              <a:rPr lang="en-US" altLang="en-US" dirty="0"/>
              <a:t>No compaction, external fragmentation</a:t>
            </a:r>
          </a:p>
          <a:p>
            <a:pPr lvl="1">
              <a:spcBef>
                <a:spcPts val="400"/>
              </a:spcBef>
              <a:spcAft>
                <a:spcPts val="400"/>
              </a:spcAft>
            </a:pPr>
            <a:r>
              <a:rPr lang="en-US" altLang="en-US" dirty="0"/>
              <a:t>Free space management system called when new block needed</a:t>
            </a:r>
          </a:p>
          <a:p>
            <a:pPr lvl="1">
              <a:spcBef>
                <a:spcPts val="400"/>
              </a:spcBef>
              <a:spcAft>
                <a:spcPts val="400"/>
              </a:spcAft>
            </a:pPr>
            <a:r>
              <a:rPr lang="en-US" altLang="en-US" dirty="0"/>
              <a:t>Improve efficiency by clustering blocks into groups but increases internal fragmentation</a:t>
            </a:r>
          </a:p>
          <a:p>
            <a:pPr lvl="1">
              <a:spcBef>
                <a:spcPts val="400"/>
              </a:spcBef>
              <a:spcAft>
                <a:spcPts val="400"/>
              </a:spcAft>
            </a:pPr>
            <a:r>
              <a:rPr lang="en-US" altLang="en-US" dirty="0"/>
              <a:t>Reliability can be a problem</a:t>
            </a:r>
          </a:p>
          <a:p>
            <a:pPr lvl="1">
              <a:spcBef>
                <a:spcPts val="400"/>
              </a:spcBef>
              <a:spcAft>
                <a:spcPts val="400"/>
              </a:spcAft>
            </a:pPr>
            <a:r>
              <a:rPr lang="en-US" altLang="en-US" dirty="0"/>
              <a:t>Locating a block can take many I/</a:t>
            </a:r>
            <a:r>
              <a:rPr lang="en-US" altLang="en-US" dirty="0" err="1"/>
              <a:t>Os</a:t>
            </a:r>
            <a:r>
              <a:rPr lang="en-US" altLang="en-US" dirty="0"/>
              <a:t> and disk seeks</a:t>
            </a:r>
          </a:p>
          <a:p>
            <a:pPr>
              <a:spcBef>
                <a:spcPts val="400"/>
              </a:spcBef>
              <a:spcAft>
                <a:spcPts val="400"/>
              </a:spcAft>
            </a:pPr>
            <a:r>
              <a:rPr lang="en-US" altLang="en-US" i="1" dirty="0">
                <a:solidFill>
                  <a:srgbClr val="0070C0"/>
                </a:solidFill>
              </a:rPr>
              <a:t>File Allocation Table </a:t>
            </a:r>
            <a:r>
              <a:rPr lang="en-US" altLang="en-US" dirty="0"/>
              <a:t>(</a:t>
            </a:r>
            <a:r>
              <a:rPr lang="en-US" altLang="en-US" b="1" dirty="0">
                <a:solidFill>
                  <a:srgbClr val="0070C0"/>
                </a:solidFill>
              </a:rPr>
              <a:t>FAT</a:t>
            </a:r>
            <a:r>
              <a:rPr lang="en-US" altLang="en-US" dirty="0"/>
              <a:t>) variation</a:t>
            </a:r>
          </a:p>
          <a:p>
            <a:pPr lvl="1">
              <a:spcBef>
                <a:spcPts val="400"/>
              </a:spcBef>
              <a:spcAft>
                <a:spcPts val="400"/>
              </a:spcAft>
            </a:pPr>
            <a:r>
              <a:rPr lang="en-US" altLang="en-US" dirty="0"/>
              <a:t>Beginning of volume has table, indexed by block number</a:t>
            </a:r>
          </a:p>
          <a:p>
            <a:pPr lvl="1">
              <a:spcBef>
                <a:spcPts val="400"/>
              </a:spcBef>
              <a:spcAft>
                <a:spcPts val="400"/>
              </a:spcAft>
            </a:pPr>
            <a:r>
              <a:rPr lang="en-US" altLang="en-US" dirty="0"/>
              <a:t>Much like a linked list, but faster on disk and cacheable </a:t>
            </a:r>
          </a:p>
          <a:p>
            <a:pPr lvl="1">
              <a:spcBef>
                <a:spcPts val="400"/>
              </a:spcBef>
              <a:spcAft>
                <a:spcPts val="400"/>
              </a:spcAft>
            </a:pPr>
            <a:r>
              <a:rPr lang="en-US" altLang="en-US" dirty="0"/>
              <a:t>New block allocation simple</a:t>
            </a:r>
          </a:p>
          <a:p>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1D660700-5F12-4D4F-BB5E-EF467B1A2EDE}"/>
              </a:ext>
            </a:extLst>
          </p:cNvPr>
          <p:cNvSpPr>
            <a:spLocks noGrp="1" noChangeArrowheads="1"/>
          </p:cNvSpPr>
          <p:nvPr>
            <p:ph type="title"/>
          </p:nvPr>
        </p:nvSpPr>
        <p:spPr/>
        <p:txBody>
          <a:bodyPr/>
          <a:lstStyle/>
          <a:p>
            <a:r>
              <a:rPr lang="en-US" altLang="en-US"/>
              <a:t>Linked Allocation</a:t>
            </a:r>
          </a:p>
        </p:txBody>
      </p:sp>
      <p:sp>
        <p:nvSpPr>
          <p:cNvPr id="36866" name="Rectangle 3">
            <a:extLst>
              <a:ext uri="{FF2B5EF4-FFF2-40B4-BE49-F238E27FC236}">
                <a16:creationId xmlns:a16="http://schemas.microsoft.com/office/drawing/2014/main" id="{D13E19B7-9AE9-244D-B1C5-A34A70120E6A}"/>
              </a:ext>
            </a:extLst>
          </p:cNvPr>
          <p:cNvSpPr>
            <a:spLocks noGrp="1" noChangeArrowheads="1"/>
          </p:cNvSpPr>
          <p:nvPr>
            <p:ph idx="1"/>
          </p:nvPr>
        </p:nvSpPr>
        <p:spPr/>
        <p:txBody>
          <a:bodyPr/>
          <a:lstStyle/>
          <a:p>
            <a:r>
              <a:rPr lang="en-US" altLang="en-US" dirty="0"/>
              <a:t>Each file is a linked list of disk blocks: blocks may be scattered anywhere on the disk</a:t>
            </a:r>
          </a:p>
          <a:p>
            <a:endParaRPr lang="en-US" altLang="en-US" dirty="0"/>
          </a:p>
          <a:p>
            <a:endParaRPr lang="en-US" altLang="en-US" dirty="0"/>
          </a:p>
          <a:p>
            <a:endParaRPr lang="en-US" altLang="en-US" dirty="0"/>
          </a:p>
          <a:p>
            <a:endParaRPr lang="en-US" altLang="en-US" dirty="0"/>
          </a:p>
          <a:p>
            <a:r>
              <a:rPr lang="en-US" altLang="en-US" dirty="0"/>
              <a:t>Mapping</a:t>
            </a:r>
          </a:p>
          <a:p>
            <a:pPr marL="0" indent="0">
              <a:buNone/>
            </a:pPr>
            <a:endParaRPr lang="en-US" altLang="en-US" dirty="0"/>
          </a:p>
          <a:p>
            <a:pPr lvl="1"/>
            <a:r>
              <a:rPr lang="en-US" altLang="en-US" dirty="0"/>
              <a:t>Block to be accessed is the </a:t>
            </a:r>
            <a:r>
              <a:rPr lang="en-US" altLang="en-US" dirty="0" err="1"/>
              <a:t>Q</a:t>
            </a:r>
            <a:r>
              <a:rPr lang="en-US" altLang="en-US" baseline="30000" dirty="0" err="1"/>
              <a:t>th</a:t>
            </a:r>
            <a:r>
              <a:rPr lang="en-US" altLang="en-US" dirty="0"/>
              <a:t> block in the linked chain of blocks representing the file</a:t>
            </a:r>
          </a:p>
          <a:p>
            <a:pPr lvl="1"/>
            <a:r>
              <a:rPr lang="en-US" altLang="en-US" dirty="0"/>
              <a:t>Displacement into block = R + 1</a:t>
            </a:r>
          </a:p>
          <a:p>
            <a:endParaRPr lang="en-US" altLang="en-US" dirty="0"/>
          </a:p>
          <a:p>
            <a:endParaRPr lang="en-US" altLang="en-US" dirty="0"/>
          </a:p>
        </p:txBody>
      </p:sp>
      <p:grpSp>
        <p:nvGrpSpPr>
          <p:cNvPr id="36867" name="Group 4">
            <a:extLst>
              <a:ext uri="{FF2B5EF4-FFF2-40B4-BE49-F238E27FC236}">
                <a16:creationId xmlns:a16="http://schemas.microsoft.com/office/drawing/2014/main" id="{6DE91BE0-3800-0641-B802-DB14041F71AE}"/>
              </a:ext>
            </a:extLst>
          </p:cNvPr>
          <p:cNvGrpSpPr>
            <a:grpSpLocks/>
          </p:cNvGrpSpPr>
          <p:nvPr/>
        </p:nvGrpSpPr>
        <p:grpSpPr bwMode="auto">
          <a:xfrm>
            <a:off x="4491831" y="2189165"/>
            <a:ext cx="2765425" cy="1500187"/>
            <a:chOff x="1684" y="1576"/>
            <a:chExt cx="1742" cy="945"/>
          </a:xfrm>
        </p:grpSpPr>
        <p:sp>
          <p:nvSpPr>
            <p:cNvPr id="36876" name="Rectangle 5">
              <a:extLst>
                <a:ext uri="{FF2B5EF4-FFF2-40B4-BE49-F238E27FC236}">
                  <a16:creationId xmlns:a16="http://schemas.microsoft.com/office/drawing/2014/main" id="{2E070058-E004-D64B-BD6B-6DCBB52E1F65}"/>
                </a:ext>
              </a:extLst>
            </p:cNvPr>
            <p:cNvSpPr>
              <a:spLocks noChangeArrowheads="1"/>
            </p:cNvSpPr>
            <p:nvPr/>
          </p:nvSpPr>
          <p:spPr bwMode="auto">
            <a:xfrm>
              <a:off x="2481" y="1576"/>
              <a:ext cx="945" cy="272"/>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0"/>
                </a:spcBef>
                <a:buClrTx/>
                <a:buSzTx/>
                <a:buFontTx/>
                <a:buNone/>
              </a:pPr>
              <a:r>
                <a:rPr kumimoji="0" lang="en-US" altLang="en-US" dirty="0"/>
                <a:t>pointer</a:t>
              </a:r>
            </a:p>
          </p:txBody>
        </p:sp>
        <p:sp>
          <p:nvSpPr>
            <p:cNvPr id="36877" name="Rectangle 6">
              <a:extLst>
                <a:ext uri="{FF2B5EF4-FFF2-40B4-BE49-F238E27FC236}">
                  <a16:creationId xmlns:a16="http://schemas.microsoft.com/office/drawing/2014/main" id="{76A9C941-D397-9347-A1E2-9C2E450282EB}"/>
                </a:ext>
              </a:extLst>
            </p:cNvPr>
            <p:cNvSpPr>
              <a:spLocks noChangeArrowheads="1"/>
            </p:cNvSpPr>
            <p:nvPr/>
          </p:nvSpPr>
          <p:spPr bwMode="auto">
            <a:xfrm>
              <a:off x="2481" y="1848"/>
              <a:ext cx="945" cy="673"/>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36878" name="Text Box 7">
              <a:extLst>
                <a:ext uri="{FF2B5EF4-FFF2-40B4-BE49-F238E27FC236}">
                  <a16:creationId xmlns:a16="http://schemas.microsoft.com/office/drawing/2014/main" id="{20CEA3B6-ED6A-6443-BF2B-D23988E3BAAD}"/>
                </a:ext>
              </a:extLst>
            </p:cNvPr>
            <p:cNvSpPr txBox="1">
              <a:spLocks noChangeArrowheads="1"/>
            </p:cNvSpPr>
            <p:nvPr/>
          </p:nvSpPr>
          <p:spPr bwMode="auto">
            <a:xfrm>
              <a:off x="1684" y="1596"/>
              <a:ext cx="7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a:t>block      =</a:t>
              </a:r>
            </a:p>
          </p:txBody>
        </p:sp>
      </p:grpSp>
      <p:grpSp>
        <p:nvGrpSpPr>
          <p:cNvPr id="36870" name="Group 1">
            <a:extLst>
              <a:ext uri="{FF2B5EF4-FFF2-40B4-BE49-F238E27FC236}">
                <a16:creationId xmlns:a16="http://schemas.microsoft.com/office/drawing/2014/main" id="{9534ABE8-A688-034E-B0B6-D105669247B5}"/>
              </a:ext>
            </a:extLst>
          </p:cNvPr>
          <p:cNvGrpSpPr>
            <a:grpSpLocks/>
          </p:cNvGrpSpPr>
          <p:nvPr/>
        </p:nvGrpSpPr>
        <p:grpSpPr bwMode="auto">
          <a:xfrm>
            <a:off x="3117056" y="3518695"/>
            <a:ext cx="1374775" cy="985837"/>
            <a:chOff x="3232150" y="3935037"/>
            <a:chExt cx="1374775" cy="985838"/>
          </a:xfrm>
        </p:grpSpPr>
        <p:sp>
          <p:nvSpPr>
            <p:cNvPr id="36871" name="Text Box 5">
              <a:extLst>
                <a:ext uri="{FF2B5EF4-FFF2-40B4-BE49-F238E27FC236}">
                  <a16:creationId xmlns:a16="http://schemas.microsoft.com/office/drawing/2014/main" id="{D4F371AB-C1B5-E747-A6DB-5441763E7036}"/>
                </a:ext>
              </a:extLst>
            </p:cNvPr>
            <p:cNvSpPr txBox="1">
              <a:spLocks noChangeArrowheads="1"/>
            </p:cNvSpPr>
            <p:nvPr/>
          </p:nvSpPr>
          <p:spPr bwMode="auto">
            <a:xfrm>
              <a:off x="3232150" y="4250950"/>
              <a:ext cx="898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dirty="0"/>
                <a:t>LA/511</a:t>
              </a:r>
            </a:p>
          </p:txBody>
        </p:sp>
        <p:sp>
          <p:nvSpPr>
            <p:cNvPr id="36872" name="Text Box 6">
              <a:extLst>
                <a:ext uri="{FF2B5EF4-FFF2-40B4-BE49-F238E27FC236}">
                  <a16:creationId xmlns:a16="http://schemas.microsoft.com/office/drawing/2014/main" id="{0781487B-FCDD-4748-83E7-1EA8F8FF9592}"/>
                </a:ext>
              </a:extLst>
            </p:cNvPr>
            <p:cNvSpPr txBox="1">
              <a:spLocks noChangeArrowheads="1"/>
            </p:cNvSpPr>
            <p:nvPr/>
          </p:nvSpPr>
          <p:spPr bwMode="auto">
            <a:xfrm>
              <a:off x="4241800" y="3935037"/>
              <a:ext cx="365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a:t>Q</a:t>
              </a:r>
            </a:p>
          </p:txBody>
        </p:sp>
        <p:sp>
          <p:nvSpPr>
            <p:cNvPr id="36873" name="Text Box 7">
              <a:extLst>
                <a:ext uri="{FF2B5EF4-FFF2-40B4-BE49-F238E27FC236}">
                  <a16:creationId xmlns:a16="http://schemas.microsoft.com/office/drawing/2014/main" id="{BA0F803E-4652-5B4E-937E-147998B9B376}"/>
                </a:ext>
              </a:extLst>
            </p:cNvPr>
            <p:cNvSpPr txBox="1">
              <a:spLocks noChangeArrowheads="1"/>
            </p:cNvSpPr>
            <p:nvPr/>
          </p:nvSpPr>
          <p:spPr bwMode="auto">
            <a:xfrm>
              <a:off x="4241800" y="4550987"/>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a:t>R</a:t>
              </a:r>
            </a:p>
          </p:txBody>
        </p:sp>
        <p:sp>
          <p:nvSpPr>
            <p:cNvPr id="36874" name="Line 8">
              <a:extLst>
                <a:ext uri="{FF2B5EF4-FFF2-40B4-BE49-F238E27FC236}">
                  <a16:creationId xmlns:a16="http://schemas.microsoft.com/office/drawing/2014/main" id="{3B853385-3FF9-6340-9054-419BD7286F5E}"/>
                </a:ext>
              </a:extLst>
            </p:cNvPr>
            <p:cNvSpPr>
              <a:spLocks noChangeShapeType="1"/>
            </p:cNvSpPr>
            <p:nvPr/>
          </p:nvSpPr>
          <p:spPr bwMode="auto">
            <a:xfrm flipV="1">
              <a:off x="4049713" y="4177925"/>
              <a:ext cx="258762"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sp>
          <p:nvSpPr>
            <p:cNvPr id="36875" name="Line 9">
              <a:extLst>
                <a:ext uri="{FF2B5EF4-FFF2-40B4-BE49-F238E27FC236}">
                  <a16:creationId xmlns:a16="http://schemas.microsoft.com/office/drawing/2014/main" id="{F0298F93-5EE1-734B-9862-ED74116A9D68}"/>
                </a:ext>
              </a:extLst>
            </p:cNvPr>
            <p:cNvSpPr>
              <a:spLocks noChangeShapeType="1"/>
            </p:cNvSpPr>
            <p:nvPr/>
          </p:nvSpPr>
          <p:spPr bwMode="auto">
            <a:xfrm>
              <a:off x="4057650" y="4489075"/>
              <a:ext cx="25876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AD6E1C8F-62A6-514D-99E8-2AF3C80164D8}"/>
              </a:ext>
            </a:extLst>
          </p:cNvPr>
          <p:cNvSpPr>
            <a:spLocks noGrp="1" noChangeArrowheads="1"/>
          </p:cNvSpPr>
          <p:nvPr>
            <p:ph type="title"/>
          </p:nvPr>
        </p:nvSpPr>
        <p:spPr/>
        <p:txBody>
          <a:bodyPr/>
          <a:lstStyle/>
          <a:p>
            <a:r>
              <a:rPr lang="en-US" altLang="en-US"/>
              <a:t>Linked Allocation</a:t>
            </a:r>
          </a:p>
        </p:txBody>
      </p:sp>
      <p:pic>
        <p:nvPicPr>
          <p:cNvPr id="38914" name="Picture 2">
            <a:extLst>
              <a:ext uri="{FF2B5EF4-FFF2-40B4-BE49-F238E27FC236}">
                <a16:creationId xmlns:a16="http://schemas.microsoft.com/office/drawing/2014/main" id="{2FBBD031-15E7-604A-B096-D17A1FF245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569" y="1524062"/>
            <a:ext cx="4437124" cy="4600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1C719BA4-E945-FA4E-96FD-3A8A89832EB3}"/>
              </a:ext>
            </a:extLst>
          </p:cNvPr>
          <p:cNvSpPr>
            <a:spLocks noGrp="1" noChangeArrowheads="1"/>
          </p:cNvSpPr>
          <p:nvPr>
            <p:ph type="title"/>
          </p:nvPr>
        </p:nvSpPr>
        <p:spPr/>
        <p:txBody>
          <a:bodyPr/>
          <a:lstStyle/>
          <a:p>
            <a:r>
              <a:rPr lang="en-US" altLang="en-US" dirty="0"/>
              <a:t>File-Allocation Table (FAT)</a:t>
            </a:r>
          </a:p>
        </p:txBody>
      </p:sp>
      <p:pic>
        <p:nvPicPr>
          <p:cNvPr id="40962" name="Picture 2">
            <a:extLst>
              <a:ext uri="{FF2B5EF4-FFF2-40B4-BE49-F238E27FC236}">
                <a16:creationId xmlns:a16="http://schemas.microsoft.com/office/drawing/2014/main" id="{5AC85745-3DAB-A046-89E4-B448273448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1932" y="1522808"/>
            <a:ext cx="5237019" cy="458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E9F26FF6-AF72-DE4E-8C92-F5188FF59A90}"/>
              </a:ext>
            </a:extLst>
          </p:cNvPr>
          <p:cNvSpPr>
            <a:spLocks noGrp="1" noChangeArrowheads="1"/>
          </p:cNvSpPr>
          <p:nvPr>
            <p:ph type="title"/>
          </p:nvPr>
        </p:nvSpPr>
        <p:spPr/>
        <p:txBody>
          <a:bodyPr/>
          <a:lstStyle/>
          <a:p>
            <a:r>
              <a:rPr lang="en-US" altLang="en-US" dirty="0"/>
              <a:t>Allocation Methods – Indexed</a:t>
            </a:r>
          </a:p>
        </p:txBody>
      </p:sp>
      <p:sp>
        <p:nvSpPr>
          <p:cNvPr id="43010" name="Content Placeholder 2">
            <a:extLst>
              <a:ext uri="{FF2B5EF4-FFF2-40B4-BE49-F238E27FC236}">
                <a16:creationId xmlns:a16="http://schemas.microsoft.com/office/drawing/2014/main" id="{B671B3BF-4146-E24C-8AAB-122D804BB28A}"/>
              </a:ext>
            </a:extLst>
          </p:cNvPr>
          <p:cNvSpPr>
            <a:spLocks noGrp="1" noChangeArrowheads="1"/>
          </p:cNvSpPr>
          <p:nvPr>
            <p:ph idx="1"/>
          </p:nvPr>
        </p:nvSpPr>
        <p:spPr/>
        <p:txBody>
          <a:bodyPr/>
          <a:lstStyle/>
          <a:p>
            <a:r>
              <a:rPr lang="en-US" altLang="en-US"/>
              <a:t>Indexed allocation</a:t>
            </a:r>
          </a:p>
          <a:p>
            <a:pPr lvl="1"/>
            <a:r>
              <a:rPr lang="en-US" altLang="en-US"/>
              <a:t>Each file has its own index block(s) of pointers to its data blocks</a:t>
            </a:r>
          </a:p>
          <a:p>
            <a:endParaRPr lang="en-US" altLang="en-US"/>
          </a:p>
          <a:p>
            <a:r>
              <a:rPr lang="en-US" altLang="en-US"/>
              <a:t>Logical view</a:t>
            </a:r>
          </a:p>
          <a:p>
            <a:endParaRPr lang="en-US" altLang="en-US"/>
          </a:p>
        </p:txBody>
      </p:sp>
      <p:pic>
        <p:nvPicPr>
          <p:cNvPr id="43011" name="Picture 2">
            <a:extLst>
              <a:ext uri="{FF2B5EF4-FFF2-40B4-BE49-F238E27FC236}">
                <a16:creationId xmlns:a16="http://schemas.microsoft.com/office/drawing/2014/main" id="{DD95F71D-38A5-E64A-91DF-8026FEE527F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72561" y="3674486"/>
            <a:ext cx="2286000"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D196C876-8FD0-714B-BED1-311447503417}"/>
              </a:ext>
            </a:extLst>
          </p:cNvPr>
          <p:cNvSpPr>
            <a:spLocks noGrp="1" noChangeArrowheads="1"/>
          </p:cNvSpPr>
          <p:nvPr>
            <p:ph type="title"/>
          </p:nvPr>
        </p:nvSpPr>
        <p:spPr/>
        <p:txBody>
          <a:bodyPr/>
          <a:lstStyle/>
          <a:p>
            <a:r>
              <a:rPr lang="en-US" altLang="en-US"/>
              <a:t>Example of Indexed Allocation</a:t>
            </a:r>
          </a:p>
        </p:txBody>
      </p:sp>
      <p:pic>
        <p:nvPicPr>
          <p:cNvPr id="44034" name="Picture 3">
            <a:extLst>
              <a:ext uri="{FF2B5EF4-FFF2-40B4-BE49-F238E27FC236}">
                <a16:creationId xmlns:a16="http://schemas.microsoft.com/office/drawing/2014/main" id="{9ED6E51C-9765-C24D-BC03-F66A2015E6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9810" y="1535114"/>
            <a:ext cx="5287962"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CCB34A00-ABD9-1D41-9E77-7BDD1B149830}"/>
              </a:ext>
            </a:extLst>
          </p:cNvPr>
          <p:cNvSpPr>
            <a:spLocks noGrp="1" noChangeArrowheads="1"/>
          </p:cNvSpPr>
          <p:nvPr>
            <p:ph type="title"/>
          </p:nvPr>
        </p:nvSpPr>
        <p:spPr/>
        <p:txBody>
          <a:bodyPr/>
          <a:lstStyle/>
          <a:p>
            <a:r>
              <a:rPr lang="en-US" altLang="en-US"/>
              <a:t>Indexed Allocation (Cont.)</a:t>
            </a:r>
          </a:p>
        </p:txBody>
      </p:sp>
      <p:sp>
        <p:nvSpPr>
          <p:cNvPr id="46082" name="Rectangle 3">
            <a:extLst>
              <a:ext uri="{FF2B5EF4-FFF2-40B4-BE49-F238E27FC236}">
                <a16:creationId xmlns:a16="http://schemas.microsoft.com/office/drawing/2014/main" id="{462697CF-7439-714F-BA9A-407EE806AACE}"/>
              </a:ext>
            </a:extLst>
          </p:cNvPr>
          <p:cNvSpPr>
            <a:spLocks noGrp="1" noChangeArrowheads="1"/>
          </p:cNvSpPr>
          <p:nvPr>
            <p:ph idx="1"/>
          </p:nvPr>
        </p:nvSpPr>
        <p:spPr/>
        <p:txBody>
          <a:bodyPr/>
          <a:lstStyle/>
          <a:p>
            <a:r>
              <a:rPr lang="en-US" altLang="en-US" dirty="0"/>
              <a:t>Need </a:t>
            </a:r>
            <a:r>
              <a:rPr lang="en-US" altLang="en-US" i="1" dirty="0">
                <a:solidFill>
                  <a:srgbClr val="0070C0"/>
                </a:solidFill>
              </a:rPr>
              <a:t>index table</a:t>
            </a:r>
          </a:p>
          <a:p>
            <a:r>
              <a:rPr lang="en-US" altLang="en-US" i="1" dirty="0">
                <a:solidFill>
                  <a:srgbClr val="0070C0"/>
                </a:solidFill>
              </a:rPr>
              <a:t>Random access</a:t>
            </a:r>
          </a:p>
          <a:p>
            <a:r>
              <a:rPr lang="en-US" altLang="en-US" i="1" dirty="0">
                <a:solidFill>
                  <a:srgbClr val="0070C0"/>
                </a:solidFill>
              </a:rPr>
              <a:t>Dynamic access </a:t>
            </a:r>
            <a:r>
              <a:rPr lang="en-US" altLang="en-US" dirty="0"/>
              <a:t>without external fragmentation, but have overhead of index block</a:t>
            </a:r>
          </a:p>
          <a:p>
            <a:pPr lvl="1"/>
            <a:r>
              <a:rPr lang="en-US" altLang="en-US" dirty="0"/>
              <a:t>E.g., Mapping from logical to physical in a file of maximum size of 256K bytes and block size of 512 bytes.  We need only 1 block for index table</a:t>
            </a:r>
          </a:p>
          <a:p>
            <a:pPr lvl="1"/>
            <a:r>
              <a:rPr kumimoji="0" lang="en-US" altLang="en-US" dirty="0"/>
              <a:t>Q = displacement into index table</a:t>
            </a:r>
          </a:p>
          <a:p>
            <a:pPr lvl="1"/>
            <a:r>
              <a:rPr kumimoji="0" lang="en-US" altLang="en-US" dirty="0"/>
              <a:t>R = displacement into block</a:t>
            </a:r>
          </a:p>
          <a:p>
            <a:endParaRPr lang="en-US" altLang="en-US" dirty="0"/>
          </a:p>
          <a:p>
            <a:endParaRPr lang="en-US" altLang="en-US" dirty="0"/>
          </a:p>
          <a:p>
            <a:pPr marL="0" indent="0">
              <a:buNone/>
            </a:pPr>
            <a:endParaRPr lang="en-US" altLang="en-US" dirty="0"/>
          </a:p>
        </p:txBody>
      </p:sp>
      <p:grpSp>
        <p:nvGrpSpPr>
          <p:cNvPr id="46083" name="Group 1">
            <a:extLst>
              <a:ext uri="{FF2B5EF4-FFF2-40B4-BE49-F238E27FC236}">
                <a16:creationId xmlns:a16="http://schemas.microsoft.com/office/drawing/2014/main" id="{51A231C4-5B68-3E4B-8777-9A5AD9AA6A8D}"/>
              </a:ext>
            </a:extLst>
          </p:cNvPr>
          <p:cNvGrpSpPr>
            <a:grpSpLocks/>
          </p:cNvGrpSpPr>
          <p:nvPr/>
        </p:nvGrpSpPr>
        <p:grpSpPr bwMode="auto">
          <a:xfrm>
            <a:off x="5639819" y="4350865"/>
            <a:ext cx="1382713" cy="985837"/>
            <a:chOff x="2984500" y="3600450"/>
            <a:chExt cx="1382713" cy="985838"/>
          </a:xfrm>
        </p:grpSpPr>
        <p:sp>
          <p:nvSpPr>
            <p:cNvPr id="46085" name="Text Box 4">
              <a:extLst>
                <a:ext uri="{FF2B5EF4-FFF2-40B4-BE49-F238E27FC236}">
                  <a16:creationId xmlns:a16="http://schemas.microsoft.com/office/drawing/2014/main" id="{D7F29683-65DE-8541-87A0-FCB5F9C3B383}"/>
                </a:ext>
              </a:extLst>
            </p:cNvPr>
            <p:cNvSpPr txBox="1">
              <a:spLocks noChangeArrowheads="1"/>
            </p:cNvSpPr>
            <p:nvPr/>
          </p:nvSpPr>
          <p:spPr bwMode="auto">
            <a:xfrm>
              <a:off x="2984500" y="3916363"/>
              <a:ext cx="914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dirty="0"/>
                <a:t>LA/512</a:t>
              </a:r>
            </a:p>
          </p:txBody>
        </p:sp>
        <p:sp>
          <p:nvSpPr>
            <p:cNvPr id="46086" name="Text Box 5">
              <a:extLst>
                <a:ext uri="{FF2B5EF4-FFF2-40B4-BE49-F238E27FC236}">
                  <a16:creationId xmlns:a16="http://schemas.microsoft.com/office/drawing/2014/main" id="{1B68AD9D-4D10-CF44-92C8-C8D871CA1E90}"/>
                </a:ext>
              </a:extLst>
            </p:cNvPr>
            <p:cNvSpPr txBox="1">
              <a:spLocks noChangeArrowheads="1"/>
            </p:cNvSpPr>
            <p:nvPr/>
          </p:nvSpPr>
          <p:spPr bwMode="auto">
            <a:xfrm>
              <a:off x="4002088" y="3600450"/>
              <a:ext cx="365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a:t>Q</a:t>
              </a:r>
            </a:p>
          </p:txBody>
        </p:sp>
        <p:sp>
          <p:nvSpPr>
            <p:cNvPr id="46087" name="Text Box 6">
              <a:extLst>
                <a:ext uri="{FF2B5EF4-FFF2-40B4-BE49-F238E27FC236}">
                  <a16:creationId xmlns:a16="http://schemas.microsoft.com/office/drawing/2014/main" id="{E5ECB8D4-CA9D-9F42-9E3E-F636EACE2D80}"/>
                </a:ext>
              </a:extLst>
            </p:cNvPr>
            <p:cNvSpPr txBox="1">
              <a:spLocks noChangeArrowheads="1"/>
            </p:cNvSpPr>
            <p:nvPr/>
          </p:nvSpPr>
          <p:spPr bwMode="auto">
            <a:xfrm>
              <a:off x="4002088" y="4216400"/>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dirty="0"/>
                <a:t>R</a:t>
              </a:r>
            </a:p>
          </p:txBody>
        </p:sp>
        <p:sp>
          <p:nvSpPr>
            <p:cNvPr id="46088" name="Line 7">
              <a:extLst>
                <a:ext uri="{FF2B5EF4-FFF2-40B4-BE49-F238E27FC236}">
                  <a16:creationId xmlns:a16="http://schemas.microsoft.com/office/drawing/2014/main" id="{61D5A002-E398-8141-B6D4-2DE7494F196F}"/>
                </a:ext>
              </a:extLst>
            </p:cNvPr>
            <p:cNvSpPr>
              <a:spLocks noChangeShapeType="1"/>
            </p:cNvSpPr>
            <p:nvPr/>
          </p:nvSpPr>
          <p:spPr bwMode="auto">
            <a:xfrm flipV="1">
              <a:off x="3810000" y="3843338"/>
              <a:ext cx="25876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sp>
          <p:nvSpPr>
            <p:cNvPr id="46089" name="Line 8">
              <a:extLst>
                <a:ext uri="{FF2B5EF4-FFF2-40B4-BE49-F238E27FC236}">
                  <a16:creationId xmlns:a16="http://schemas.microsoft.com/office/drawing/2014/main" id="{E890BEFA-93C9-2342-8F5F-B3487B0E8CA6}"/>
                </a:ext>
              </a:extLst>
            </p:cNvPr>
            <p:cNvSpPr>
              <a:spLocks noChangeShapeType="1"/>
            </p:cNvSpPr>
            <p:nvPr/>
          </p:nvSpPr>
          <p:spPr bwMode="auto">
            <a:xfrm>
              <a:off x="3817938" y="4154488"/>
              <a:ext cx="258762"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gr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012C820-835A-534D-9C10-F2C32AA40892}"/>
              </a:ext>
            </a:extLst>
          </p:cNvPr>
          <p:cNvSpPr>
            <a:spLocks noGrp="1" noChangeArrowheads="1"/>
          </p:cNvSpPr>
          <p:nvPr>
            <p:ph type="title"/>
          </p:nvPr>
        </p:nvSpPr>
        <p:spPr/>
        <p:txBody>
          <a:bodyPr/>
          <a:lstStyle/>
          <a:p>
            <a:r>
              <a:rPr lang="en-US" altLang="en-US"/>
              <a:t>Indexed Allocation – Mapping (Cont.)</a:t>
            </a:r>
          </a:p>
        </p:txBody>
      </p:sp>
      <p:sp>
        <p:nvSpPr>
          <p:cNvPr id="48130" name="Rectangle 3">
            <a:extLst>
              <a:ext uri="{FF2B5EF4-FFF2-40B4-BE49-F238E27FC236}">
                <a16:creationId xmlns:a16="http://schemas.microsoft.com/office/drawing/2014/main" id="{5910538A-71C3-6E47-BE54-EB72D0289395}"/>
              </a:ext>
            </a:extLst>
          </p:cNvPr>
          <p:cNvSpPr>
            <a:spLocks noGrp="1" noChangeArrowheads="1"/>
          </p:cNvSpPr>
          <p:nvPr>
            <p:ph idx="1"/>
          </p:nvPr>
        </p:nvSpPr>
        <p:spPr/>
        <p:txBody>
          <a:bodyPr/>
          <a:lstStyle/>
          <a:p>
            <a:r>
              <a:rPr lang="en-US" altLang="en-US" dirty="0"/>
              <a:t>Mapping from logical to physical in a file of unbounded length (block size of 512 words)</a:t>
            </a:r>
          </a:p>
          <a:p>
            <a:endParaRPr lang="en-US" altLang="en-US" dirty="0"/>
          </a:p>
          <a:p>
            <a:r>
              <a:rPr lang="en-US" altLang="en-US" dirty="0"/>
              <a:t>Linked scheme – Link blocks of index table (no limit on size)</a:t>
            </a:r>
          </a:p>
          <a:p>
            <a:pPr lvl="1"/>
            <a:r>
              <a:rPr kumimoji="0" lang="en-US" altLang="en-US" i="1" dirty="0"/>
              <a:t>Q</a:t>
            </a:r>
            <a:r>
              <a:rPr kumimoji="0" lang="en-US" altLang="en-US" i="1" baseline="-25000" dirty="0"/>
              <a:t>1</a:t>
            </a:r>
            <a:r>
              <a:rPr kumimoji="0" lang="en-US" altLang="en-US" i="1" dirty="0"/>
              <a:t> </a:t>
            </a:r>
            <a:r>
              <a:rPr kumimoji="0" lang="en-US" altLang="en-US" dirty="0"/>
              <a:t>= block of index table</a:t>
            </a:r>
          </a:p>
          <a:p>
            <a:pPr lvl="1"/>
            <a:r>
              <a:rPr kumimoji="0" lang="en-US" altLang="en-US" i="1" dirty="0"/>
              <a:t>R</a:t>
            </a:r>
            <a:r>
              <a:rPr kumimoji="0" lang="en-US" altLang="en-US" i="1" baseline="-25000" dirty="0"/>
              <a:t>1</a:t>
            </a:r>
            <a:r>
              <a:rPr kumimoji="0" lang="en-US" altLang="en-US" i="1" dirty="0"/>
              <a:t> </a:t>
            </a:r>
            <a:r>
              <a:rPr kumimoji="0" lang="en-US" altLang="en-US" dirty="0"/>
              <a:t>is used as follows:</a:t>
            </a:r>
          </a:p>
          <a:p>
            <a:pPr lvl="2"/>
            <a:r>
              <a:rPr kumimoji="0" lang="en-US" altLang="en-US" i="1" dirty="0"/>
              <a:t>Q</a:t>
            </a:r>
            <a:r>
              <a:rPr kumimoji="0" lang="en-US" altLang="en-US" baseline="-25000" dirty="0"/>
              <a:t>2</a:t>
            </a:r>
            <a:r>
              <a:rPr kumimoji="0" lang="en-US" altLang="en-US" dirty="0"/>
              <a:t> = displacement into block of index table</a:t>
            </a:r>
          </a:p>
          <a:p>
            <a:pPr lvl="2"/>
            <a:r>
              <a:rPr kumimoji="0" lang="en-US" altLang="en-US" i="1" dirty="0"/>
              <a:t>R</a:t>
            </a:r>
            <a:r>
              <a:rPr kumimoji="0" lang="en-US" altLang="en-US" baseline="-25000" dirty="0"/>
              <a:t>2</a:t>
            </a:r>
            <a:r>
              <a:rPr kumimoji="0" lang="en-US" altLang="en-US" dirty="0"/>
              <a:t> = displacement into block of file:</a:t>
            </a:r>
          </a:p>
          <a:p>
            <a:endParaRPr lang="en-US" altLang="en-US" dirty="0"/>
          </a:p>
        </p:txBody>
      </p:sp>
      <p:grpSp>
        <p:nvGrpSpPr>
          <p:cNvPr id="48131" name="Group 1">
            <a:extLst>
              <a:ext uri="{FF2B5EF4-FFF2-40B4-BE49-F238E27FC236}">
                <a16:creationId xmlns:a16="http://schemas.microsoft.com/office/drawing/2014/main" id="{F4984AEE-1635-644A-AE2E-26B630432B83}"/>
              </a:ext>
            </a:extLst>
          </p:cNvPr>
          <p:cNvGrpSpPr>
            <a:grpSpLocks/>
          </p:cNvGrpSpPr>
          <p:nvPr/>
        </p:nvGrpSpPr>
        <p:grpSpPr bwMode="auto">
          <a:xfrm>
            <a:off x="1992893" y="4816411"/>
            <a:ext cx="2368550" cy="852488"/>
            <a:chOff x="3230563" y="2765425"/>
            <a:chExt cx="2368550" cy="852488"/>
          </a:xfrm>
        </p:grpSpPr>
        <p:sp>
          <p:nvSpPr>
            <p:cNvPr id="48140" name="Text Box 4">
              <a:extLst>
                <a:ext uri="{FF2B5EF4-FFF2-40B4-BE49-F238E27FC236}">
                  <a16:creationId xmlns:a16="http://schemas.microsoft.com/office/drawing/2014/main" id="{731CBD03-40C0-9549-9E93-44059E7AB83D}"/>
                </a:ext>
              </a:extLst>
            </p:cNvPr>
            <p:cNvSpPr txBox="1">
              <a:spLocks noChangeArrowheads="1"/>
            </p:cNvSpPr>
            <p:nvPr/>
          </p:nvSpPr>
          <p:spPr bwMode="auto">
            <a:xfrm>
              <a:off x="3230563" y="3017838"/>
              <a:ext cx="16192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dirty="0"/>
                <a:t>LA / (512 x 511)</a:t>
              </a:r>
            </a:p>
          </p:txBody>
        </p:sp>
        <p:sp>
          <p:nvSpPr>
            <p:cNvPr id="48141" name="Text Box 5">
              <a:extLst>
                <a:ext uri="{FF2B5EF4-FFF2-40B4-BE49-F238E27FC236}">
                  <a16:creationId xmlns:a16="http://schemas.microsoft.com/office/drawing/2014/main" id="{475826D0-4B08-CC45-BFBA-4BD978B28BAB}"/>
                </a:ext>
              </a:extLst>
            </p:cNvPr>
            <p:cNvSpPr txBox="1">
              <a:spLocks noChangeArrowheads="1"/>
            </p:cNvSpPr>
            <p:nvPr/>
          </p:nvSpPr>
          <p:spPr bwMode="auto">
            <a:xfrm>
              <a:off x="5178425" y="2765425"/>
              <a:ext cx="4206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a:t>Q</a:t>
              </a:r>
              <a:r>
                <a:rPr kumimoji="0" lang="en-US" altLang="en-US" sz="1600" baseline="-25000"/>
                <a:t>1</a:t>
              </a:r>
              <a:endParaRPr kumimoji="0" lang="en-US" altLang="en-US" sz="1600"/>
            </a:p>
          </p:txBody>
        </p:sp>
        <p:sp>
          <p:nvSpPr>
            <p:cNvPr id="48142" name="Text Box 6">
              <a:extLst>
                <a:ext uri="{FF2B5EF4-FFF2-40B4-BE49-F238E27FC236}">
                  <a16:creationId xmlns:a16="http://schemas.microsoft.com/office/drawing/2014/main" id="{112E7A32-DBF9-CB4E-8B42-EEDAFDCC80E9}"/>
                </a:ext>
              </a:extLst>
            </p:cNvPr>
            <p:cNvSpPr txBox="1">
              <a:spLocks noChangeArrowheads="1"/>
            </p:cNvSpPr>
            <p:nvPr/>
          </p:nvSpPr>
          <p:spPr bwMode="auto">
            <a:xfrm>
              <a:off x="5178425" y="3278188"/>
              <a:ext cx="4079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a:t>R</a:t>
              </a:r>
              <a:r>
                <a:rPr kumimoji="0" lang="en-US" altLang="en-US" sz="1600" baseline="-25000"/>
                <a:t>1</a:t>
              </a:r>
              <a:endParaRPr kumimoji="0" lang="en-US" altLang="en-US" sz="1600"/>
            </a:p>
          </p:txBody>
        </p:sp>
        <p:sp>
          <p:nvSpPr>
            <p:cNvPr id="48143" name="Line 7">
              <a:extLst>
                <a:ext uri="{FF2B5EF4-FFF2-40B4-BE49-F238E27FC236}">
                  <a16:creationId xmlns:a16="http://schemas.microsoft.com/office/drawing/2014/main" id="{32548DD6-E254-B046-A2AD-CCD9CB1B532C}"/>
                </a:ext>
              </a:extLst>
            </p:cNvPr>
            <p:cNvSpPr>
              <a:spLocks noChangeShapeType="1"/>
            </p:cNvSpPr>
            <p:nvPr/>
          </p:nvSpPr>
          <p:spPr bwMode="auto">
            <a:xfrm flipV="1">
              <a:off x="4791075" y="2957513"/>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sp>
          <p:nvSpPr>
            <p:cNvPr id="48144" name="Line 8">
              <a:extLst>
                <a:ext uri="{FF2B5EF4-FFF2-40B4-BE49-F238E27FC236}">
                  <a16:creationId xmlns:a16="http://schemas.microsoft.com/office/drawing/2014/main" id="{7DCF559F-50FF-D041-88DF-BB5E2E18E5D4}"/>
                </a:ext>
              </a:extLst>
            </p:cNvPr>
            <p:cNvSpPr>
              <a:spLocks noChangeShapeType="1"/>
            </p:cNvSpPr>
            <p:nvPr/>
          </p:nvSpPr>
          <p:spPr bwMode="auto">
            <a:xfrm>
              <a:off x="4783138" y="3198813"/>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grpSp>
      <p:grpSp>
        <p:nvGrpSpPr>
          <p:cNvPr id="48133" name="Group 2">
            <a:extLst>
              <a:ext uri="{FF2B5EF4-FFF2-40B4-BE49-F238E27FC236}">
                <a16:creationId xmlns:a16="http://schemas.microsoft.com/office/drawing/2014/main" id="{C69CA907-CC8E-AC43-B056-501C1319705D}"/>
              </a:ext>
            </a:extLst>
          </p:cNvPr>
          <p:cNvGrpSpPr>
            <a:grpSpLocks/>
          </p:cNvGrpSpPr>
          <p:nvPr/>
        </p:nvGrpSpPr>
        <p:grpSpPr bwMode="auto">
          <a:xfrm>
            <a:off x="5090996" y="5110099"/>
            <a:ext cx="1641475" cy="852487"/>
            <a:chOff x="3662363" y="4116388"/>
            <a:chExt cx="1641475" cy="852487"/>
          </a:xfrm>
        </p:grpSpPr>
        <p:sp>
          <p:nvSpPr>
            <p:cNvPr id="48135" name="Text Box 10">
              <a:extLst>
                <a:ext uri="{FF2B5EF4-FFF2-40B4-BE49-F238E27FC236}">
                  <a16:creationId xmlns:a16="http://schemas.microsoft.com/office/drawing/2014/main" id="{142F4C7D-9DBC-9141-A82E-AC6DEC3DDD80}"/>
                </a:ext>
              </a:extLst>
            </p:cNvPr>
            <p:cNvSpPr txBox="1">
              <a:spLocks noChangeArrowheads="1"/>
            </p:cNvSpPr>
            <p:nvPr/>
          </p:nvSpPr>
          <p:spPr bwMode="auto">
            <a:xfrm>
              <a:off x="3662363" y="4383088"/>
              <a:ext cx="9207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dirty="0"/>
                <a:t>R</a:t>
              </a:r>
              <a:r>
                <a:rPr kumimoji="0" lang="en-US" altLang="en-US" sz="1600" baseline="-25000" dirty="0"/>
                <a:t>1</a:t>
              </a:r>
              <a:r>
                <a:rPr kumimoji="0" lang="en-US" altLang="en-US" sz="1600" dirty="0"/>
                <a:t> / 512</a:t>
              </a:r>
            </a:p>
          </p:txBody>
        </p:sp>
        <p:sp>
          <p:nvSpPr>
            <p:cNvPr id="48136" name="Text Box 11">
              <a:extLst>
                <a:ext uri="{FF2B5EF4-FFF2-40B4-BE49-F238E27FC236}">
                  <a16:creationId xmlns:a16="http://schemas.microsoft.com/office/drawing/2014/main" id="{22025D44-E376-C048-A43F-FD5B45DD3299}"/>
                </a:ext>
              </a:extLst>
            </p:cNvPr>
            <p:cNvSpPr txBox="1">
              <a:spLocks noChangeArrowheads="1"/>
            </p:cNvSpPr>
            <p:nvPr/>
          </p:nvSpPr>
          <p:spPr bwMode="auto">
            <a:xfrm>
              <a:off x="4883150" y="4116388"/>
              <a:ext cx="4206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a:t>Q</a:t>
              </a:r>
              <a:r>
                <a:rPr kumimoji="0" lang="en-US" altLang="en-US" sz="1600" baseline="-25000"/>
                <a:t>2</a:t>
              </a:r>
              <a:endParaRPr kumimoji="0" lang="en-US" altLang="en-US" sz="1600"/>
            </a:p>
          </p:txBody>
        </p:sp>
        <p:sp>
          <p:nvSpPr>
            <p:cNvPr id="48137" name="Text Box 12">
              <a:extLst>
                <a:ext uri="{FF2B5EF4-FFF2-40B4-BE49-F238E27FC236}">
                  <a16:creationId xmlns:a16="http://schemas.microsoft.com/office/drawing/2014/main" id="{F43AA4B6-3091-BE42-A0E3-F6D273817D71}"/>
                </a:ext>
              </a:extLst>
            </p:cNvPr>
            <p:cNvSpPr txBox="1">
              <a:spLocks noChangeArrowheads="1"/>
            </p:cNvSpPr>
            <p:nvPr/>
          </p:nvSpPr>
          <p:spPr bwMode="auto">
            <a:xfrm>
              <a:off x="4883150" y="4630738"/>
              <a:ext cx="4079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dirty="0"/>
                <a:t>R</a:t>
              </a:r>
              <a:r>
                <a:rPr kumimoji="0" lang="en-US" altLang="en-US" sz="1600" baseline="-25000" dirty="0"/>
                <a:t>2</a:t>
              </a:r>
              <a:endParaRPr kumimoji="0" lang="en-US" altLang="en-US" sz="1600" dirty="0"/>
            </a:p>
          </p:txBody>
        </p:sp>
        <p:sp>
          <p:nvSpPr>
            <p:cNvPr id="48138" name="Line 13">
              <a:extLst>
                <a:ext uri="{FF2B5EF4-FFF2-40B4-BE49-F238E27FC236}">
                  <a16:creationId xmlns:a16="http://schemas.microsoft.com/office/drawing/2014/main" id="{7C365DC3-8901-8642-838F-09753E33CB2D}"/>
                </a:ext>
              </a:extLst>
            </p:cNvPr>
            <p:cNvSpPr>
              <a:spLocks noChangeShapeType="1"/>
            </p:cNvSpPr>
            <p:nvPr/>
          </p:nvSpPr>
          <p:spPr bwMode="auto">
            <a:xfrm flipV="1">
              <a:off x="4495800" y="4308475"/>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sp>
          <p:nvSpPr>
            <p:cNvPr id="48139" name="Line 14">
              <a:extLst>
                <a:ext uri="{FF2B5EF4-FFF2-40B4-BE49-F238E27FC236}">
                  <a16:creationId xmlns:a16="http://schemas.microsoft.com/office/drawing/2014/main" id="{72C1C704-E87F-7543-8A6F-A381E8BCF93A}"/>
                </a:ext>
              </a:extLst>
            </p:cNvPr>
            <p:cNvSpPr>
              <a:spLocks noChangeShapeType="1"/>
            </p:cNvSpPr>
            <p:nvPr/>
          </p:nvSpPr>
          <p:spPr bwMode="auto">
            <a:xfrm>
              <a:off x="4487863" y="4549775"/>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gr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0A7CBBDD-A5A3-4043-964E-ECB9FADEE37C}"/>
              </a:ext>
            </a:extLst>
          </p:cNvPr>
          <p:cNvSpPr>
            <a:spLocks noGrp="1" noChangeArrowheads="1"/>
          </p:cNvSpPr>
          <p:nvPr>
            <p:ph type="title"/>
          </p:nvPr>
        </p:nvSpPr>
        <p:spPr/>
        <p:txBody>
          <a:bodyPr/>
          <a:lstStyle/>
          <a:p>
            <a:r>
              <a:rPr lang="en-US" altLang="en-US"/>
              <a:t>Indexed Allocation – Mapping (Cont.)</a:t>
            </a:r>
          </a:p>
        </p:txBody>
      </p:sp>
      <p:sp>
        <p:nvSpPr>
          <p:cNvPr id="50178" name="Rectangle 3">
            <a:extLst>
              <a:ext uri="{FF2B5EF4-FFF2-40B4-BE49-F238E27FC236}">
                <a16:creationId xmlns:a16="http://schemas.microsoft.com/office/drawing/2014/main" id="{71936219-C501-A547-AF81-F465EAD094AC}"/>
              </a:ext>
            </a:extLst>
          </p:cNvPr>
          <p:cNvSpPr>
            <a:spLocks noGrp="1" noChangeArrowheads="1"/>
          </p:cNvSpPr>
          <p:nvPr>
            <p:ph idx="1"/>
          </p:nvPr>
        </p:nvSpPr>
        <p:spPr/>
        <p:txBody>
          <a:bodyPr/>
          <a:lstStyle/>
          <a:p>
            <a:r>
              <a:rPr lang="en-US" altLang="en-US" dirty="0"/>
              <a:t>E.g., Two-level index (4K blocks could store 1,024 four-byte pointers in outer index -&gt; 1,048,567 data blocks and file size of up to 4GB)</a:t>
            </a:r>
          </a:p>
          <a:p>
            <a:pPr lvl="1"/>
            <a:r>
              <a:rPr kumimoji="0" lang="en-US" altLang="en-US" i="1" dirty="0"/>
              <a:t>Q</a:t>
            </a:r>
            <a:r>
              <a:rPr kumimoji="0" lang="en-US" altLang="en-US" baseline="-25000" dirty="0"/>
              <a:t>1</a:t>
            </a:r>
            <a:r>
              <a:rPr kumimoji="0" lang="en-US" altLang="en-US" dirty="0"/>
              <a:t> = displacement into outer-index</a:t>
            </a:r>
          </a:p>
          <a:p>
            <a:pPr lvl="1"/>
            <a:r>
              <a:rPr kumimoji="0" lang="en-US" altLang="en-US" i="1" dirty="0"/>
              <a:t>R</a:t>
            </a:r>
            <a:r>
              <a:rPr kumimoji="0" lang="en-US" altLang="en-US" baseline="-25000" dirty="0"/>
              <a:t>1</a:t>
            </a:r>
            <a:r>
              <a:rPr kumimoji="0" lang="en-US" altLang="en-US" dirty="0"/>
              <a:t> is used as follows:</a:t>
            </a:r>
          </a:p>
          <a:p>
            <a:pPr lvl="2"/>
            <a:r>
              <a:rPr kumimoji="0" lang="en-US" altLang="en-US" i="1" dirty="0"/>
              <a:t>Q</a:t>
            </a:r>
            <a:r>
              <a:rPr kumimoji="0" lang="en-US" altLang="en-US" baseline="-25000" dirty="0"/>
              <a:t>2</a:t>
            </a:r>
            <a:r>
              <a:rPr kumimoji="0" lang="en-US" altLang="en-US" dirty="0"/>
              <a:t> = displacement into block of index table</a:t>
            </a:r>
          </a:p>
          <a:p>
            <a:pPr lvl="2"/>
            <a:r>
              <a:rPr kumimoji="0" lang="en-US" altLang="en-US" i="1" dirty="0"/>
              <a:t>R</a:t>
            </a:r>
            <a:r>
              <a:rPr kumimoji="0" lang="en-US" altLang="en-US" baseline="-25000" dirty="0"/>
              <a:t>2</a:t>
            </a:r>
            <a:r>
              <a:rPr kumimoji="0" lang="en-US" altLang="en-US" dirty="0"/>
              <a:t> displacement into block of file:</a:t>
            </a:r>
          </a:p>
          <a:p>
            <a:pPr lvl="1"/>
            <a:endParaRPr kumimoji="0" lang="en-US" altLang="en-US" dirty="0"/>
          </a:p>
          <a:p>
            <a:endParaRPr lang="en-US" altLang="en-US" dirty="0"/>
          </a:p>
        </p:txBody>
      </p:sp>
      <p:grpSp>
        <p:nvGrpSpPr>
          <p:cNvPr id="50179" name="Group 1">
            <a:extLst>
              <a:ext uri="{FF2B5EF4-FFF2-40B4-BE49-F238E27FC236}">
                <a16:creationId xmlns:a16="http://schemas.microsoft.com/office/drawing/2014/main" id="{876F7A7F-A911-0948-A7D8-2A6755C9759D}"/>
              </a:ext>
            </a:extLst>
          </p:cNvPr>
          <p:cNvGrpSpPr>
            <a:grpSpLocks/>
          </p:cNvGrpSpPr>
          <p:nvPr/>
        </p:nvGrpSpPr>
        <p:grpSpPr bwMode="auto">
          <a:xfrm>
            <a:off x="1712441" y="4007017"/>
            <a:ext cx="2376487" cy="852488"/>
            <a:chOff x="3294063" y="2101850"/>
            <a:chExt cx="2376487" cy="852488"/>
          </a:xfrm>
        </p:grpSpPr>
        <p:sp>
          <p:nvSpPr>
            <p:cNvPr id="50188" name="Text Box 4">
              <a:extLst>
                <a:ext uri="{FF2B5EF4-FFF2-40B4-BE49-F238E27FC236}">
                  <a16:creationId xmlns:a16="http://schemas.microsoft.com/office/drawing/2014/main" id="{ABB634C7-6C5D-DA47-B6F8-69A4EE28616E}"/>
                </a:ext>
              </a:extLst>
            </p:cNvPr>
            <p:cNvSpPr txBox="1">
              <a:spLocks noChangeArrowheads="1"/>
            </p:cNvSpPr>
            <p:nvPr/>
          </p:nvSpPr>
          <p:spPr bwMode="auto">
            <a:xfrm>
              <a:off x="3294063" y="2354263"/>
              <a:ext cx="16351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dirty="0"/>
                <a:t>LA / (512 x 512)</a:t>
              </a:r>
            </a:p>
          </p:txBody>
        </p:sp>
        <p:sp>
          <p:nvSpPr>
            <p:cNvPr id="50189" name="Text Box 5">
              <a:extLst>
                <a:ext uri="{FF2B5EF4-FFF2-40B4-BE49-F238E27FC236}">
                  <a16:creationId xmlns:a16="http://schemas.microsoft.com/office/drawing/2014/main" id="{11D5C6BC-092E-1049-852D-90CFF1048F40}"/>
                </a:ext>
              </a:extLst>
            </p:cNvPr>
            <p:cNvSpPr txBox="1">
              <a:spLocks noChangeArrowheads="1"/>
            </p:cNvSpPr>
            <p:nvPr/>
          </p:nvSpPr>
          <p:spPr bwMode="auto">
            <a:xfrm>
              <a:off x="5249863" y="2101850"/>
              <a:ext cx="4206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a:t>Q</a:t>
              </a:r>
              <a:r>
                <a:rPr kumimoji="0" lang="en-US" altLang="en-US" sz="1600" baseline="-25000"/>
                <a:t>1</a:t>
              </a:r>
              <a:endParaRPr kumimoji="0" lang="en-US" altLang="en-US" sz="1600"/>
            </a:p>
          </p:txBody>
        </p:sp>
        <p:sp>
          <p:nvSpPr>
            <p:cNvPr id="50190" name="Text Box 6">
              <a:extLst>
                <a:ext uri="{FF2B5EF4-FFF2-40B4-BE49-F238E27FC236}">
                  <a16:creationId xmlns:a16="http://schemas.microsoft.com/office/drawing/2014/main" id="{EFA19A22-4C99-484F-82D7-79B0E5A845CF}"/>
                </a:ext>
              </a:extLst>
            </p:cNvPr>
            <p:cNvSpPr txBox="1">
              <a:spLocks noChangeArrowheads="1"/>
            </p:cNvSpPr>
            <p:nvPr/>
          </p:nvSpPr>
          <p:spPr bwMode="auto">
            <a:xfrm>
              <a:off x="5249863" y="2616200"/>
              <a:ext cx="4079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a:t>R</a:t>
              </a:r>
              <a:r>
                <a:rPr kumimoji="0" lang="en-US" altLang="en-US" sz="1600" baseline="-25000"/>
                <a:t>1</a:t>
              </a:r>
              <a:endParaRPr kumimoji="0" lang="en-US" altLang="en-US" sz="1600"/>
            </a:p>
          </p:txBody>
        </p:sp>
        <p:sp>
          <p:nvSpPr>
            <p:cNvPr id="50191" name="Line 7">
              <a:extLst>
                <a:ext uri="{FF2B5EF4-FFF2-40B4-BE49-F238E27FC236}">
                  <a16:creationId xmlns:a16="http://schemas.microsoft.com/office/drawing/2014/main" id="{FC59E8BC-1FAD-4047-9517-7EBA541A2F22}"/>
                </a:ext>
              </a:extLst>
            </p:cNvPr>
            <p:cNvSpPr>
              <a:spLocks noChangeShapeType="1"/>
            </p:cNvSpPr>
            <p:nvPr/>
          </p:nvSpPr>
          <p:spPr bwMode="auto">
            <a:xfrm flipV="1">
              <a:off x="4862513" y="2293938"/>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sp>
          <p:nvSpPr>
            <p:cNvPr id="50192" name="Line 8">
              <a:extLst>
                <a:ext uri="{FF2B5EF4-FFF2-40B4-BE49-F238E27FC236}">
                  <a16:creationId xmlns:a16="http://schemas.microsoft.com/office/drawing/2014/main" id="{D4EC2770-E40F-514A-B068-5F62402CD42A}"/>
                </a:ext>
              </a:extLst>
            </p:cNvPr>
            <p:cNvSpPr>
              <a:spLocks noChangeShapeType="1"/>
            </p:cNvSpPr>
            <p:nvPr/>
          </p:nvSpPr>
          <p:spPr bwMode="auto">
            <a:xfrm>
              <a:off x="4854575" y="2535238"/>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grpSp>
      <p:grpSp>
        <p:nvGrpSpPr>
          <p:cNvPr id="50181" name="Group 2">
            <a:extLst>
              <a:ext uri="{FF2B5EF4-FFF2-40B4-BE49-F238E27FC236}">
                <a16:creationId xmlns:a16="http://schemas.microsoft.com/office/drawing/2014/main" id="{CB4B28F9-2658-F94E-B929-0A90AEE22F33}"/>
              </a:ext>
            </a:extLst>
          </p:cNvPr>
          <p:cNvGrpSpPr>
            <a:grpSpLocks/>
          </p:cNvGrpSpPr>
          <p:nvPr/>
        </p:nvGrpSpPr>
        <p:grpSpPr bwMode="auto">
          <a:xfrm>
            <a:off x="4798347" y="4298611"/>
            <a:ext cx="1641475" cy="852487"/>
            <a:chOff x="3662363" y="4116388"/>
            <a:chExt cx="1641475" cy="852487"/>
          </a:xfrm>
        </p:grpSpPr>
        <p:sp>
          <p:nvSpPr>
            <p:cNvPr id="50183" name="Text Box 10">
              <a:extLst>
                <a:ext uri="{FF2B5EF4-FFF2-40B4-BE49-F238E27FC236}">
                  <a16:creationId xmlns:a16="http://schemas.microsoft.com/office/drawing/2014/main" id="{BBA2FD5B-91DA-8E45-8F6F-60995BA34E6A}"/>
                </a:ext>
              </a:extLst>
            </p:cNvPr>
            <p:cNvSpPr txBox="1">
              <a:spLocks noChangeArrowheads="1"/>
            </p:cNvSpPr>
            <p:nvPr/>
          </p:nvSpPr>
          <p:spPr bwMode="auto">
            <a:xfrm>
              <a:off x="3662363" y="4383088"/>
              <a:ext cx="9207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dirty="0"/>
                <a:t>R</a:t>
              </a:r>
              <a:r>
                <a:rPr kumimoji="0" lang="en-US" altLang="en-US" sz="1600" baseline="-25000" dirty="0"/>
                <a:t>1</a:t>
              </a:r>
              <a:r>
                <a:rPr kumimoji="0" lang="en-US" altLang="en-US" sz="1600" dirty="0"/>
                <a:t> / 512</a:t>
              </a:r>
            </a:p>
          </p:txBody>
        </p:sp>
        <p:sp>
          <p:nvSpPr>
            <p:cNvPr id="50184" name="Text Box 11">
              <a:extLst>
                <a:ext uri="{FF2B5EF4-FFF2-40B4-BE49-F238E27FC236}">
                  <a16:creationId xmlns:a16="http://schemas.microsoft.com/office/drawing/2014/main" id="{ED6F9E11-C525-464A-9DA5-DAADF5BD229E}"/>
                </a:ext>
              </a:extLst>
            </p:cNvPr>
            <p:cNvSpPr txBox="1">
              <a:spLocks noChangeArrowheads="1"/>
            </p:cNvSpPr>
            <p:nvPr/>
          </p:nvSpPr>
          <p:spPr bwMode="auto">
            <a:xfrm>
              <a:off x="4883150" y="4116388"/>
              <a:ext cx="4206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a:t>Q</a:t>
              </a:r>
              <a:r>
                <a:rPr kumimoji="0" lang="en-US" altLang="en-US" sz="1600" baseline="-25000"/>
                <a:t>2</a:t>
              </a:r>
              <a:endParaRPr kumimoji="0" lang="en-US" altLang="en-US" sz="1600"/>
            </a:p>
          </p:txBody>
        </p:sp>
        <p:sp>
          <p:nvSpPr>
            <p:cNvPr id="50185" name="Text Box 12">
              <a:extLst>
                <a:ext uri="{FF2B5EF4-FFF2-40B4-BE49-F238E27FC236}">
                  <a16:creationId xmlns:a16="http://schemas.microsoft.com/office/drawing/2014/main" id="{72D4C808-010F-C34B-AA90-91C8CF7D5AFB}"/>
                </a:ext>
              </a:extLst>
            </p:cNvPr>
            <p:cNvSpPr txBox="1">
              <a:spLocks noChangeArrowheads="1"/>
            </p:cNvSpPr>
            <p:nvPr/>
          </p:nvSpPr>
          <p:spPr bwMode="auto">
            <a:xfrm>
              <a:off x="4883150" y="4630738"/>
              <a:ext cx="4079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1600"/>
                <a:t>R</a:t>
              </a:r>
              <a:r>
                <a:rPr kumimoji="0" lang="en-US" altLang="en-US" sz="1600" baseline="-25000"/>
                <a:t>2</a:t>
              </a:r>
              <a:endParaRPr kumimoji="0" lang="en-US" altLang="en-US" sz="1600"/>
            </a:p>
          </p:txBody>
        </p:sp>
        <p:sp>
          <p:nvSpPr>
            <p:cNvPr id="50186" name="Line 13">
              <a:extLst>
                <a:ext uri="{FF2B5EF4-FFF2-40B4-BE49-F238E27FC236}">
                  <a16:creationId xmlns:a16="http://schemas.microsoft.com/office/drawing/2014/main" id="{92186E93-9334-F446-9D53-7ED8E952B2EC}"/>
                </a:ext>
              </a:extLst>
            </p:cNvPr>
            <p:cNvSpPr>
              <a:spLocks noChangeShapeType="1"/>
            </p:cNvSpPr>
            <p:nvPr/>
          </p:nvSpPr>
          <p:spPr bwMode="auto">
            <a:xfrm flipV="1">
              <a:off x="4495800" y="4308475"/>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sp>
          <p:nvSpPr>
            <p:cNvPr id="50187" name="Line 14">
              <a:extLst>
                <a:ext uri="{FF2B5EF4-FFF2-40B4-BE49-F238E27FC236}">
                  <a16:creationId xmlns:a16="http://schemas.microsoft.com/office/drawing/2014/main" id="{144D692D-E9A5-3B40-8E52-FFF4209FA1CF}"/>
                </a:ext>
              </a:extLst>
            </p:cNvPr>
            <p:cNvSpPr>
              <a:spLocks noChangeShapeType="1"/>
            </p:cNvSpPr>
            <p:nvPr/>
          </p:nvSpPr>
          <p:spPr bwMode="auto">
            <a:xfrm>
              <a:off x="4487863" y="4549775"/>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p>
          </p:txBody>
        </p:sp>
      </p:gr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938E9439-A5D3-1A44-84AE-6AF22BAE821E}"/>
              </a:ext>
            </a:extLst>
          </p:cNvPr>
          <p:cNvSpPr>
            <a:spLocks noGrp="1" noChangeArrowheads="1"/>
          </p:cNvSpPr>
          <p:nvPr>
            <p:ph type="title"/>
          </p:nvPr>
        </p:nvSpPr>
        <p:spPr>
          <a:xfrm>
            <a:off x="1028700" y="277813"/>
            <a:ext cx="7658100" cy="576262"/>
          </a:xfrm>
        </p:spPr>
        <p:txBody>
          <a:bodyPr/>
          <a:lstStyle/>
          <a:p>
            <a:pPr eaLnBrk="1" hangingPunct="1"/>
            <a:r>
              <a:rPr lang="en-US" altLang="en-US"/>
              <a:t>Indexed Allocation – Mapping (Cont.)</a:t>
            </a:r>
          </a:p>
        </p:txBody>
      </p:sp>
      <p:pic>
        <p:nvPicPr>
          <p:cNvPr id="52226" name="Picture 3">
            <a:extLst>
              <a:ext uri="{FF2B5EF4-FFF2-40B4-BE49-F238E27FC236}">
                <a16:creationId xmlns:a16="http://schemas.microsoft.com/office/drawing/2014/main" id="{069F7AAC-EBE7-B742-B0CF-D0351238F89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1562245"/>
            <a:ext cx="6980237"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4966AE87-0983-E14F-A578-4B0DCA31124A}"/>
              </a:ext>
            </a:extLst>
          </p:cNvPr>
          <p:cNvSpPr>
            <a:spLocks noGrp="1" noChangeArrowheads="1"/>
          </p:cNvSpPr>
          <p:nvPr>
            <p:ph type="title"/>
          </p:nvPr>
        </p:nvSpPr>
        <p:spPr>
          <a:xfrm>
            <a:off x="-144048" y="-165671"/>
            <a:ext cx="7161397" cy="566884"/>
          </a:xfrm>
        </p:spPr>
        <p:txBody>
          <a:bodyPr/>
          <a:lstStyle/>
          <a:p>
            <a:r>
              <a:rPr lang="en-US" altLang="en-US" dirty="0"/>
              <a:t>Combined Scheme:  UNIX UFS</a:t>
            </a:r>
          </a:p>
        </p:txBody>
      </p:sp>
      <p:sp>
        <p:nvSpPr>
          <p:cNvPr id="2" name="Picture Placeholder 1">
            <a:extLst>
              <a:ext uri="{FF2B5EF4-FFF2-40B4-BE49-F238E27FC236}">
                <a16:creationId xmlns:a16="http://schemas.microsoft.com/office/drawing/2014/main" id="{DC205A4E-0305-7A4C-986E-D25FEAE9A1BB}"/>
              </a:ext>
            </a:extLst>
          </p:cNvPr>
          <p:cNvSpPr>
            <a:spLocks noGrp="1"/>
          </p:cNvSpPr>
          <p:nvPr>
            <p:ph type="pic" idx="1"/>
          </p:nvPr>
        </p:nvSpPr>
        <p:spPr/>
        <p:txBody>
          <a:bodyPr/>
          <a:lstStyle/>
          <a:p>
            <a:endParaRPr lang="en-VN"/>
          </a:p>
        </p:txBody>
      </p:sp>
      <p:sp>
        <p:nvSpPr>
          <p:cNvPr id="3" name="Content Placeholder 2">
            <a:extLst>
              <a:ext uri="{FF2B5EF4-FFF2-40B4-BE49-F238E27FC236}">
                <a16:creationId xmlns:a16="http://schemas.microsoft.com/office/drawing/2014/main" id="{51EC6DA2-8388-0941-A979-CC24EE51D2CA}"/>
              </a:ext>
            </a:extLst>
          </p:cNvPr>
          <p:cNvSpPr>
            <a:spLocks noGrp="1"/>
          </p:cNvSpPr>
          <p:nvPr>
            <p:ph sz="half" idx="10"/>
          </p:nvPr>
        </p:nvSpPr>
        <p:spPr>
          <a:xfrm>
            <a:off x="6226241" y="2924540"/>
            <a:ext cx="2866056" cy="5037071"/>
          </a:xfrm>
        </p:spPr>
        <p:txBody>
          <a:bodyPr anchor="ctr"/>
          <a:lstStyle/>
          <a:p>
            <a:r>
              <a:rPr kumimoji="0" lang="en-US" altLang="en-US" dirty="0">
                <a:latin typeface="Verdana" panose="020B0604030504040204" pitchFamily="34" charset="0"/>
              </a:rPr>
              <a:t>4K bytes per block, 32-bit addresses</a:t>
            </a:r>
          </a:p>
          <a:p>
            <a:pPr lvl="1"/>
            <a:r>
              <a:rPr kumimoji="0" lang="en-US" altLang="en-US" dirty="0">
                <a:latin typeface="Verdana" panose="020B0604030504040204" pitchFamily="34" charset="0"/>
              </a:rPr>
              <a:t>More index blocks than can be addressed with 32-bit file pointer</a:t>
            </a:r>
          </a:p>
          <a:p>
            <a:endParaRPr kumimoji="0" lang="en-US" altLang="en-US" dirty="0">
              <a:latin typeface="Verdana" panose="020B0604030504040204" pitchFamily="34" charset="0"/>
            </a:endParaRPr>
          </a:p>
          <a:p>
            <a:endParaRPr lang="en-US" dirty="0"/>
          </a:p>
        </p:txBody>
      </p:sp>
      <p:pic>
        <p:nvPicPr>
          <p:cNvPr id="54276" name="Picture 2">
            <a:extLst>
              <a:ext uri="{FF2B5EF4-FFF2-40B4-BE49-F238E27FC236}">
                <a16:creationId xmlns:a16="http://schemas.microsoft.com/office/drawing/2014/main" id="{9548FAC1-E744-0645-92C5-4C9F42A976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099" y="1449226"/>
            <a:ext cx="5329713" cy="5066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3762584" y="356085"/>
            <a:ext cx="5062653" cy="3293209"/>
          </a:xfrm>
          <a:prstGeom prst="rect">
            <a:avLst/>
          </a:prstGeom>
          <a:noFill/>
        </p:spPr>
        <p:txBody>
          <a:bodyPr wrap="square" rtlCol="0">
            <a:spAutoFit/>
          </a:bodyPr>
          <a:lstStyle/>
          <a:p>
            <a:r>
              <a:rPr lang="en-US" sz="1600" dirty="0"/>
              <a:t>Suppose that on a computer, the OS uses </a:t>
            </a:r>
            <a:r>
              <a:rPr lang="en-US" sz="1600" dirty="0" err="1"/>
              <a:t>i</a:t>
            </a:r>
            <a:r>
              <a:rPr lang="en-US" sz="1600" dirty="0"/>
              <a:t>-nodes and each disk block is 4KB. </a:t>
            </a:r>
          </a:p>
          <a:p>
            <a:r>
              <a:rPr lang="en-US" sz="1600" dirty="0"/>
              <a:t>Assume that an </a:t>
            </a:r>
            <a:r>
              <a:rPr lang="en-US" sz="1600" dirty="0" err="1"/>
              <a:t>i</a:t>
            </a:r>
            <a:r>
              <a:rPr lang="en-US" sz="1600" dirty="0"/>
              <a:t>-node contains 12 direct block </a:t>
            </a:r>
          </a:p>
          <a:p>
            <a:r>
              <a:rPr lang="en-US" sz="1600" dirty="0"/>
              <a:t>numbers (disk addresses) </a:t>
            </a:r>
          </a:p>
          <a:p>
            <a:r>
              <a:rPr lang="en-US" sz="1600" dirty="0"/>
              <a:t>and the block numbers for one indirect block, </a:t>
            </a:r>
          </a:p>
          <a:p>
            <a:r>
              <a:rPr lang="en-US" sz="1600" dirty="0"/>
              <a:t>one double indirect block, </a:t>
            </a:r>
          </a:p>
          <a:p>
            <a:r>
              <a:rPr lang="en-US" sz="1600" dirty="0"/>
              <a:t>and one triple indirect block. Assume also that a block </a:t>
            </a:r>
          </a:p>
          <a:p>
            <a:r>
              <a:rPr lang="en-US" sz="1600" dirty="0"/>
              <a:t>number is 4 bytes. </a:t>
            </a:r>
          </a:p>
          <a:p>
            <a:r>
              <a:rPr lang="en-US" sz="1600" dirty="0"/>
              <a:t>What is the largest possible file on that computer </a:t>
            </a:r>
          </a:p>
          <a:p>
            <a:r>
              <a:rPr lang="en-US" sz="1600" dirty="0"/>
              <a:t>(assuming the disk is large enough). </a:t>
            </a:r>
          </a:p>
          <a:p>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Number Placeholder 3"/>
          <p:cNvSpPr>
            <a:spLocks noGrp="1"/>
          </p:cNvSpPr>
          <p:nvPr>
            <p:ph type="sldNum" sz="quarter" idx="4294967295"/>
          </p:nvPr>
        </p:nvSpPr>
        <p:spPr>
          <a:xfrm>
            <a:off x="8382000" y="6596063"/>
            <a:ext cx="609600" cy="212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spcBef>
                <a:spcPct val="0"/>
              </a:spcBef>
              <a:buClrTx/>
              <a:buSzTx/>
              <a:buFontTx/>
              <a:buNone/>
            </a:pPr>
            <a:fld id="{C78B73A8-5987-A346-B231-D03BDD83F929}" type="slidenum">
              <a:rPr lang="en-US" altLang="zh-TW" sz="1400">
                <a:solidFill>
                  <a:schemeClr val="tx1"/>
                </a:solidFill>
                <a:latin typeface="Arial" charset="0"/>
                <a:ea typeface="新細明體" charset="-120"/>
              </a:rPr>
              <a:pPr>
                <a:spcBef>
                  <a:spcPct val="0"/>
                </a:spcBef>
                <a:buClrTx/>
                <a:buSzTx/>
                <a:buFontTx/>
                <a:buNone/>
              </a:pPr>
              <a:t>28</a:t>
            </a:fld>
            <a:endParaRPr lang="en-US" altLang="zh-TW" sz="1400">
              <a:solidFill>
                <a:schemeClr val="tx1"/>
              </a:solidFill>
              <a:latin typeface="Arial" charset="0"/>
              <a:ea typeface="新細明體" charset="-120"/>
            </a:endParaRPr>
          </a:p>
        </p:txBody>
      </p:sp>
      <p:pic>
        <p:nvPicPr>
          <p:cNvPr id="3993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250" y="401638"/>
            <a:ext cx="6996113" cy="639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pic>
      <p:sp>
        <p:nvSpPr>
          <p:cNvPr id="39939" name="Rectangle 2"/>
          <p:cNvSpPr>
            <a:spLocks noGrp="1" noChangeArrowheads="1"/>
          </p:cNvSpPr>
          <p:nvPr>
            <p:ph type="title"/>
          </p:nvPr>
        </p:nvSpPr>
        <p:spPr/>
        <p:txBody>
          <a:bodyPr/>
          <a:lstStyle/>
          <a:p>
            <a:pPr eaLnBrk="1" hangingPunct="1"/>
            <a:endParaRPr lang="en-US" altLang="en-US" dirty="0"/>
          </a:p>
        </p:txBody>
      </p:sp>
      <p:sp>
        <p:nvSpPr>
          <p:cNvPr id="39941" name="Text Box 5"/>
          <p:cNvSpPr txBox="1">
            <a:spLocks noChangeArrowheads="1"/>
          </p:cNvSpPr>
          <p:nvPr/>
        </p:nvSpPr>
        <p:spPr bwMode="auto">
          <a:xfrm>
            <a:off x="5973763" y="427038"/>
            <a:ext cx="1733550" cy="366712"/>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800">
                <a:solidFill>
                  <a:schemeClr val="tx1"/>
                </a:solidFill>
                <a:latin typeface="Arial" charset="0"/>
              </a:rPr>
              <a:t>File (user view)</a:t>
            </a:r>
          </a:p>
        </p:txBody>
      </p:sp>
      <p:sp>
        <p:nvSpPr>
          <p:cNvPr id="2" name="Content Placeholder 1"/>
          <p:cNvSpPr>
            <a:spLocks noGrp="1"/>
          </p:cNvSpPr>
          <p:nvPr>
            <p:ph idx="1"/>
          </p:nvPr>
        </p:nvSpPr>
        <p:spPr/>
        <p:txBody>
          <a:bodyPr/>
          <a:lstStyle/>
          <a:p>
            <a:endParaRPr lang="en-US"/>
          </a:p>
        </p:txBody>
      </p:sp>
    </p:spTree>
    <p:extLst>
      <p:ext uri="{BB962C8B-B14F-4D97-AF65-F5344CB8AC3E}">
        <p14:creationId xmlns:p14="http://schemas.microsoft.com/office/powerpoint/2010/main" val="1999385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52709077-AF54-8441-8886-975836C1E5A0}"/>
              </a:ext>
            </a:extLst>
          </p:cNvPr>
          <p:cNvSpPr>
            <a:spLocks noGrp="1" noChangeArrowheads="1"/>
          </p:cNvSpPr>
          <p:nvPr>
            <p:ph type="title"/>
          </p:nvPr>
        </p:nvSpPr>
        <p:spPr/>
        <p:txBody>
          <a:bodyPr/>
          <a:lstStyle/>
          <a:p>
            <a:r>
              <a:rPr lang="en-US" altLang="en-US"/>
              <a:t>Performance</a:t>
            </a:r>
          </a:p>
        </p:txBody>
      </p:sp>
      <p:sp>
        <p:nvSpPr>
          <p:cNvPr id="56322" name="Content Placeholder 2">
            <a:extLst>
              <a:ext uri="{FF2B5EF4-FFF2-40B4-BE49-F238E27FC236}">
                <a16:creationId xmlns:a16="http://schemas.microsoft.com/office/drawing/2014/main" id="{22CFBD54-FBAF-AF4C-956D-437911C1950D}"/>
              </a:ext>
            </a:extLst>
          </p:cNvPr>
          <p:cNvSpPr>
            <a:spLocks noGrp="1" noChangeArrowheads="1"/>
          </p:cNvSpPr>
          <p:nvPr>
            <p:ph idx="1"/>
          </p:nvPr>
        </p:nvSpPr>
        <p:spPr/>
        <p:txBody>
          <a:bodyPr/>
          <a:lstStyle/>
          <a:p>
            <a:pPr>
              <a:spcBef>
                <a:spcPts val="400"/>
              </a:spcBef>
              <a:spcAft>
                <a:spcPts val="400"/>
              </a:spcAft>
            </a:pPr>
            <a:r>
              <a:rPr lang="en-US" altLang="en-US" i="1" dirty="0">
                <a:solidFill>
                  <a:srgbClr val="0070C0"/>
                </a:solidFill>
              </a:rPr>
              <a:t>Best method </a:t>
            </a:r>
            <a:r>
              <a:rPr lang="en-US" altLang="en-US" dirty="0"/>
              <a:t>depends on file access type</a:t>
            </a:r>
          </a:p>
          <a:p>
            <a:pPr lvl="1">
              <a:spcBef>
                <a:spcPts val="400"/>
              </a:spcBef>
              <a:spcAft>
                <a:spcPts val="400"/>
              </a:spcAft>
            </a:pPr>
            <a:r>
              <a:rPr lang="en-US" altLang="en-US" dirty="0"/>
              <a:t>Contiguous great for sequential and random</a:t>
            </a:r>
          </a:p>
          <a:p>
            <a:pPr>
              <a:spcBef>
                <a:spcPts val="400"/>
              </a:spcBef>
              <a:spcAft>
                <a:spcPts val="400"/>
              </a:spcAft>
            </a:pPr>
            <a:r>
              <a:rPr lang="en-US" altLang="en-US" dirty="0"/>
              <a:t>Linked good for sequential, not random</a:t>
            </a:r>
          </a:p>
          <a:p>
            <a:pPr>
              <a:spcBef>
                <a:spcPts val="400"/>
              </a:spcBef>
              <a:spcAft>
                <a:spcPts val="400"/>
              </a:spcAft>
            </a:pPr>
            <a:r>
              <a:rPr lang="en-US" altLang="en-US" dirty="0"/>
              <a:t>Declare access type at creation –&gt; select either contiguous or linked</a:t>
            </a:r>
          </a:p>
          <a:p>
            <a:pPr>
              <a:spcBef>
                <a:spcPts val="400"/>
              </a:spcBef>
              <a:spcAft>
                <a:spcPts val="400"/>
              </a:spcAft>
            </a:pPr>
            <a:r>
              <a:rPr lang="en-US" altLang="en-US" dirty="0"/>
              <a:t>Indexed more complex</a:t>
            </a:r>
          </a:p>
          <a:p>
            <a:pPr lvl="1">
              <a:spcBef>
                <a:spcPts val="400"/>
              </a:spcBef>
              <a:spcAft>
                <a:spcPts val="400"/>
              </a:spcAft>
            </a:pPr>
            <a:r>
              <a:rPr lang="en-US" altLang="en-US" dirty="0"/>
              <a:t>Single block access could require 2 index block reads, then data block read</a:t>
            </a:r>
          </a:p>
          <a:p>
            <a:pPr lvl="1">
              <a:spcBef>
                <a:spcPts val="400"/>
              </a:spcBef>
              <a:spcAft>
                <a:spcPts val="400"/>
              </a:spcAft>
            </a:pPr>
            <a:r>
              <a:rPr lang="en-US" altLang="en-US" dirty="0"/>
              <a:t>Clustering can help improve throughput, reduce CPU overhead</a:t>
            </a:r>
          </a:p>
          <a:p>
            <a:pPr>
              <a:spcBef>
                <a:spcPts val="400"/>
              </a:spcBef>
              <a:spcAft>
                <a:spcPts val="400"/>
              </a:spcAft>
            </a:pPr>
            <a:r>
              <a:rPr lang="en-US" altLang="en-US" dirty="0"/>
              <a:t>For NVM, no disk head so different algorithms and optimizations needed</a:t>
            </a:r>
          </a:p>
          <a:p>
            <a:pPr lvl="1">
              <a:spcBef>
                <a:spcPts val="400"/>
              </a:spcBef>
              <a:spcAft>
                <a:spcPts val="400"/>
              </a:spcAft>
            </a:pPr>
            <a:r>
              <a:rPr lang="en-US" altLang="en-US" dirty="0"/>
              <a:t>An old algorithm uses many CPU cycles for trying to avoid non-existent head movement</a:t>
            </a:r>
          </a:p>
          <a:p>
            <a:pPr lvl="1">
              <a:spcBef>
                <a:spcPts val="400"/>
              </a:spcBef>
              <a:spcAft>
                <a:spcPts val="400"/>
              </a:spcAft>
            </a:pPr>
            <a:r>
              <a:rPr lang="en-US" altLang="en-US" dirty="0"/>
              <a:t>With NVM goal is to reduce CPU cycles and overall path needed for I/O</a:t>
            </a:r>
          </a:p>
          <a:p>
            <a:pPr lvl="1"/>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07854142-4CFE-FA4E-B90A-977783B4938D}"/>
              </a:ext>
            </a:extLst>
          </p:cNvPr>
          <p:cNvSpPr>
            <a:spLocks noGrp="1" noChangeArrowheads="1"/>
          </p:cNvSpPr>
          <p:nvPr>
            <p:ph type="title"/>
          </p:nvPr>
        </p:nvSpPr>
        <p:spPr/>
        <p:txBody>
          <a:bodyPr/>
          <a:lstStyle/>
          <a:p>
            <a:r>
              <a:rPr lang="en-US" altLang="en-US"/>
              <a:t>Performance (Cont.)</a:t>
            </a:r>
          </a:p>
        </p:txBody>
      </p:sp>
      <p:sp>
        <p:nvSpPr>
          <p:cNvPr id="57346" name="Content Placeholder 2">
            <a:extLst>
              <a:ext uri="{FF2B5EF4-FFF2-40B4-BE49-F238E27FC236}">
                <a16:creationId xmlns:a16="http://schemas.microsoft.com/office/drawing/2014/main" id="{042BCC2D-67B0-364C-8E41-AF36B05543AD}"/>
              </a:ext>
            </a:extLst>
          </p:cNvPr>
          <p:cNvSpPr>
            <a:spLocks noGrp="1" noChangeArrowheads="1"/>
          </p:cNvSpPr>
          <p:nvPr>
            <p:ph idx="1"/>
          </p:nvPr>
        </p:nvSpPr>
        <p:spPr/>
        <p:txBody>
          <a:bodyPr/>
          <a:lstStyle/>
          <a:p>
            <a:r>
              <a:rPr lang="en-US" altLang="en-US"/>
              <a:t>Adding instructions to the execution path to save one disk I/O is reasonable</a:t>
            </a:r>
          </a:p>
          <a:p>
            <a:pPr lvl="1"/>
            <a:r>
              <a:rPr lang="en-US" altLang="en-US"/>
              <a:t>Intel Core i7 Extreme Edition 990x (2011) at 3.46Ghz = 159,000 MIPS</a:t>
            </a:r>
          </a:p>
          <a:p>
            <a:pPr lvl="2"/>
            <a:r>
              <a:rPr lang="en-US" altLang="en-US"/>
              <a:t>http://en.wikipedia.org/wiki/Instructions_per_second</a:t>
            </a:r>
          </a:p>
          <a:p>
            <a:pPr lvl="1"/>
            <a:r>
              <a:rPr lang="en-US" altLang="en-US"/>
              <a:t>Typical disk drive at 250 I/Os per second</a:t>
            </a:r>
          </a:p>
          <a:p>
            <a:pPr lvl="2"/>
            <a:r>
              <a:rPr lang="en-US" altLang="en-US"/>
              <a:t>159,000 MIPS / 250 = 630 million instructions during one disk I/O </a:t>
            </a:r>
          </a:p>
          <a:p>
            <a:pPr lvl="1"/>
            <a:r>
              <a:rPr lang="en-US" altLang="en-US"/>
              <a:t>Fast SSD drives provide 60,000 IOPS</a:t>
            </a:r>
          </a:p>
          <a:p>
            <a:pPr lvl="2"/>
            <a:r>
              <a:rPr lang="en-US" altLang="en-US"/>
              <a:t>159,000 MIPS / 60,000 = 2.65 millions instructions during one disk I/O</a:t>
            </a:r>
          </a:p>
          <a:p>
            <a:pPr lvl="1"/>
            <a:endParaRPr lang="en-US" altLang="en-US"/>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74546E27-BD21-1F43-A9D7-A7EBA3E43B10}"/>
              </a:ext>
            </a:extLst>
          </p:cNvPr>
          <p:cNvSpPr>
            <a:spLocks noGrp="1" noChangeArrowheads="1"/>
          </p:cNvSpPr>
          <p:nvPr>
            <p:ph type="title"/>
          </p:nvPr>
        </p:nvSpPr>
        <p:spPr/>
        <p:txBody>
          <a:bodyPr/>
          <a:lstStyle/>
          <a:p>
            <a:r>
              <a:rPr lang="en-US" altLang="en-US"/>
              <a:t>Free-Space Management</a:t>
            </a:r>
          </a:p>
        </p:txBody>
      </p:sp>
      <p:sp>
        <p:nvSpPr>
          <p:cNvPr id="58370" name="Rectangle 3">
            <a:extLst>
              <a:ext uri="{FF2B5EF4-FFF2-40B4-BE49-F238E27FC236}">
                <a16:creationId xmlns:a16="http://schemas.microsoft.com/office/drawing/2014/main" id="{00B802A0-392C-D741-9464-2FAF1961BEAF}"/>
              </a:ext>
            </a:extLst>
          </p:cNvPr>
          <p:cNvSpPr>
            <a:spLocks noGrp="1" noChangeArrowheads="1"/>
          </p:cNvSpPr>
          <p:nvPr>
            <p:ph idx="1"/>
          </p:nvPr>
        </p:nvSpPr>
        <p:spPr/>
        <p:txBody>
          <a:bodyPr/>
          <a:lstStyle/>
          <a:p>
            <a:r>
              <a:rPr lang="en-US" altLang="en-US" dirty="0"/>
              <a:t>File system maintains free-space list to track available blocks/clusters</a:t>
            </a:r>
          </a:p>
          <a:p>
            <a:pPr lvl="1"/>
            <a:r>
              <a:rPr lang="en-US" altLang="en-US" dirty="0"/>
              <a:t>(Using term </a:t>
            </a:r>
            <a:r>
              <a:rPr lang="ja-JP" altLang="en-US"/>
              <a:t>“</a:t>
            </a:r>
            <a:r>
              <a:rPr lang="en-US" altLang="ja-JP" dirty="0"/>
              <a:t>block</a:t>
            </a:r>
            <a:r>
              <a:rPr lang="ja-JP" altLang="en-US"/>
              <a:t>”</a:t>
            </a:r>
            <a:r>
              <a:rPr lang="en-US" altLang="ja-JP" dirty="0"/>
              <a:t> for simplicity)</a:t>
            </a:r>
          </a:p>
          <a:p>
            <a:r>
              <a:rPr lang="en-US" altLang="en-US" dirty="0"/>
              <a:t>Bit vector or bit map (n blocks)</a:t>
            </a:r>
          </a:p>
          <a:p>
            <a:endParaRPr lang="en-US" altLang="en-US" dirty="0"/>
          </a:p>
          <a:p>
            <a:endParaRPr lang="en-US" altLang="en-US" dirty="0"/>
          </a:p>
          <a:p>
            <a:pPr marL="0" indent="0">
              <a:buNone/>
            </a:pPr>
            <a:endParaRPr lang="en-US" altLang="en-US" dirty="0"/>
          </a:p>
          <a:p>
            <a:r>
              <a:rPr lang="en-US" altLang="en-US" dirty="0"/>
              <a:t>Block number calculation</a:t>
            </a:r>
          </a:p>
          <a:p>
            <a:pPr lvl="1"/>
            <a:r>
              <a:rPr kumimoji="0" lang="en-US" altLang="en-US" i="1" dirty="0">
                <a:solidFill>
                  <a:srgbClr val="0070C0"/>
                </a:solidFill>
              </a:rPr>
              <a:t>(number of bits per word)* (number of 0-value words) + offset of first 1 bit</a:t>
            </a:r>
          </a:p>
          <a:p>
            <a:r>
              <a:rPr lang="en-US" altLang="en-US" dirty="0"/>
              <a:t>CPUs have instructions to return offset within word of first </a:t>
            </a:r>
            <a:r>
              <a:rPr lang="ja-JP" altLang="en-US"/>
              <a:t>“</a:t>
            </a:r>
            <a:r>
              <a:rPr lang="en-US" altLang="ja-JP" dirty="0"/>
              <a:t>1</a:t>
            </a:r>
            <a:r>
              <a:rPr lang="ja-JP" altLang="en-US"/>
              <a:t>”</a:t>
            </a:r>
            <a:r>
              <a:rPr lang="en-US" altLang="ja-JP" dirty="0"/>
              <a:t> bit</a:t>
            </a:r>
            <a:endParaRPr lang="en-US" altLang="en-US" dirty="0"/>
          </a:p>
          <a:p>
            <a:endParaRPr lang="en-US" altLang="en-US" dirty="0"/>
          </a:p>
        </p:txBody>
      </p:sp>
      <p:grpSp>
        <p:nvGrpSpPr>
          <p:cNvPr id="58371" name="Group 1">
            <a:extLst>
              <a:ext uri="{FF2B5EF4-FFF2-40B4-BE49-F238E27FC236}">
                <a16:creationId xmlns:a16="http://schemas.microsoft.com/office/drawing/2014/main" id="{61016C22-36E6-B348-8852-447C2876E32F}"/>
              </a:ext>
            </a:extLst>
          </p:cNvPr>
          <p:cNvGrpSpPr>
            <a:grpSpLocks/>
          </p:cNvGrpSpPr>
          <p:nvPr/>
        </p:nvGrpSpPr>
        <p:grpSpPr bwMode="auto">
          <a:xfrm>
            <a:off x="3804380" y="2742900"/>
            <a:ext cx="3878262" cy="1944687"/>
            <a:chOff x="2784475" y="2216150"/>
            <a:chExt cx="3878263" cy="1944688"/>
          </a:xfrm>
        </p:grpSpPr>
        <p:sp>
          <p:nvSpPr>
            <p:cNvPr id="58375" name="Rectangle 4">
              <a:extLst>
                <a:ext uri="{FF2B5EF4-FFF2-40B4-BE49-F238E27FC236}">
                  <a16:creationId xmlns:a16="http://schemas.microsoft.com/office/drawing/2014/main" id="{1DD7B9CC-894A-E347-BD76-9BA3EF229140}"/>
                </a:ext>
              </a:extLst>
            </p:cNvPr>
            <p:cNvSpPr>
              <a:spLocks noChangeArrowheads="1"/>
            </p:cNvSpPr>
            <p:nvPr/>
          </p:nvSpPr>
          <p:spPr bwMode="auto">
            <a:xfrm>
              <a:off x="3017838" y="2627313"/>
              <a:ext cx="360362" cy="36195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8376" name="Rectangle 5">
              <a:extLst>
                <a:ext uri="{FF2B5EF4-FFF2-40B4-BE49-F238E27FC236}">
                  <a16:creationId xmlns:a16="http://schemas.microsoft.com/office/drawing/2014/main" id="{A29385A8-9E22-A541-AD68-CE703E8567B7}"/>
                </a:ext>
              </a:extLst>
            </p:cNvPr>
            <p:cNvSpPr>
              <a:spLocks noChangeArrowheads="1"/>
            </p:cNvSpPr>
            <p:nvPr/>
          </p:nvSpPr>
          <p:spPr bwMode="auto">
            <a:xfrm>
              <a:off x="3346450" y="2627313"/>
              <a:ext cx="360363" cy="36195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8377" name="Rectangle 6">
              <a:extLst>
                <a:ext uri="{FF2B5EF4-FFF2-40B4-BE49-F238E27FC236}">
                  <a16:creationId xmlns:a16="http://schemas.microsoft.com/office/drawing/2014/main" id="{4E268F26-35F2-2B40-B420-BF7FD8EE9031}"/>
                </a:ext>
              </a:extLst>
            </p:cNvPr>
            <p:cNvSpPr>
              <a:spLocks noChangeArrowheads="1"/>
            </p:cNvSpPr>
            <p:nvPr/>
          </p:nvSpPr>
          <p:spPr bwMode="auto">
            <a:xfrm>
              <a:off x="3675063" y="2627313"/>
              <a:ext cx="360362" cy="36195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8378" name="Rectangle 7">
              <a:extLst>
                <a:ext uri="{FF2B5EF4-FFF2-40B4-BE49-F238E27FC236}">
                  <a16:creationId xmlns:a16="http://schemas.microsoft.com/office/drawing/2014/main" id="{EF8B0F77-9682-E54D-9255-9E508F2B2473}"/>
                </a:ext>
              </a:extLst>
            </p:cNvPr>
            <p:cNvSpPr>
              <a:spLocks noChangeArrowheads="1"/>
            </p:cNvSpPr>
            <p:nvPr/>
          </p:nvSpPr>
          <p:spPr bwMode="auto">
            <a:xfrm>
              <a:off x="4003675" y="2627313"/>
              <a:ext cx="360363" cy="36195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8379" name="Rectangle 8">
              <a:extLst>
                <a:ext uri="{FF2B5EF4-FFF2-40B4-BE49-F238E27FC236}">
                  <a16:creationId xmlns:a16="http://schemas.microsoft.com/office/drawing/2014/main" id="{76C0043F-6170-A048-A849-81347598881E}"/>
                </a:ext>
              </a:extLst>
            </p:cNvPr>
            <p:cNvSpPr>
              <a:spLocks noChangeArrowheads="1"/>
            </p:cNvSpPr>
            <p:nvPr/>
          </p:nvSpPr>
          <p:spPr bwMode="auto">
            <a:xfrm>
              <a:off x="4332288" y="2627313"/>
              <a:ext cx="360362" cy="36195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8380" name="Rectangle 9">
              <a:extLst>
                <a:ext uri="{FF2B5EF4-FFF2-40B4-BE49-F238E27FC236}">
                  <a16:creationId xmlns:a16="http://schemas.microsoft.com/office/drawing/2014/main" id="{EA14FBF7-0B9F-8249-9881-125CCDC9F6A1}"/>
                </a:ext>
              </a:extLst>
            </p:cNvPr>
            <p:cNvSpPr>
              <a:spLocks noChangeArrowheads="1"/>
            </p:cNvSpPr>
            <p:nvPr/>
          </p:nvSpPr>
          <p:spPr bwMode="auto">
            <a:xfrm>
              <a:off x="4660900" y="2627313"/>
              <a:ext cx="360363" cy="36195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8381" name="Rectangle 10">
              <a:extLst>
                <a:ext uri="{FF2B5EF4-FFF2-40B4-BE49-F238E27FC236}">
                  <a16:creationId xmlns:a16="http://schemas.microsoft.com/office/drawing/2014/main" id="{BB0F2931-3608-F64A-82E0-F7A6FCBF8667}"/>
                </a:ext>
              </a:extLst>
            </p:cNvPr>
            <p:cNvSpPr>
              <a:spLocks noChangeArrowheads="1"/>
            </p:cNvSpPr>
            <p:nvPr/>
          </p:nvSpPr>
          <p:spPr bwMode="auto">
            <a:xfrm>
              <a:off x="5022850" y="2627313"/>
              <a:ext cx="1219200" cy="36195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0"/>
                </a:spcBef>
                <a:buClrTx/>
                <a:buSzTx/>
                <a:buFontTx/>
                <a:buNone/>
              </a:pPr>
              <a:r>
                <a:rPr kumimoji="0" lang="en-US" altLang="en-US" sz="2000"/>
                <a:t>…</a:t>
              </a:r>
              <a:endParaRPr kumimoji="0" lang="en-US" altLang="en-US"/>
            </a:p>
          </p:txBody>
        </p:sp>
        <p:sp>
          <p:nvSpPr>
            <p:cNvPr id="58382" name="Rectangle 11">
              <a:extLst>
                <a:ext uri="{FF2B5EF4-FFF2-40B4-BE49-F238E27FC236}">
                  <a16:creationId xmlns:a16="http://schemas.microsoft.com/office/drawing/2014/main" id="{EFF9E830-27E8-D74A-A489-42BD150744FE}"/>
                </a:ext>
              </a:extLst>
            </p:cNvPr>
            <p:cNvSpPr>
              <a:spLocks noChangeArrowheads="1"/>
            </p:cNvSpPr>
            <p:nvPr/>
          </p:nvSpPr>
          <p:spPr bwMode="auto">
            <a:xfrm>
              <a:off x="6242050" y="2627313"/>
              <a:ext cx="360363" cy="361950"/>
            </a:xfrm>
            <a:prstGeom prst="rect">
              <a:avLst/>
            </a:prstGeom>
            <a:solidFill>
              <a:schemeClr val="bg1"/>
            </a:solidFill>
            <a:ln w="9525">
              <a:solidFill>
                <a:schemeClr val="tx1"/>
              </a:solidFill>
              <a:miter lim="800000"/>
              <a:headEnd/>
              <a:tailEnd/>
            </a:ln>
          </p:spPr>
          <p:txBody>
            <a:bodyPr wrap="none" lIns="91435" tIns="45718" rIns="91435" bIns="45718" anchor="ct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58383" name="Text Box 12">
              <a:extLst>
                <a:ext uri="{FF2B5EF4-FFF2-40B4-BE49-F238E27FC236}">
                  <a16:creationId xmlns:a16="http://schemas.microsoft.com/office/drawing/2014/main" id="{DA06E475-0B21-E64D-AC9C-79DCB8C716F4}"/>
                </a:ext>
              </a:extLst>
            </p:cNvPr>
            <p:cNvSpPr txBox="1">
              <a:spLocks noChangeArrowheads="1"/>
            </p:cNvSpPr>
            <p:nvPr/>
          </p:nvSpPr>
          <p:spPr bwMode="auto">
            <a:xfrm>
              <a:off x="3040063" y="2216150"/>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a:t>0</a:t>
              </a:r>
            </a:p>
          </p:txBody>
        </p:sp>
        <p:sp>
          <p:nvSpPr>
            <p:cNvPr id="58384" name="Text Box 13">
              <a:extLst>
                <a:ext uri="{FF2B5EF4-FFF2-40B4-BE49-F238E27FC236}">
                  <a16:creationId xmlns:a16="http://schemas.microsoft.com/office/drawing/2014/main" id="{73D95918-ABD9-E947-B7C3-AD1409D534DC}"/>
                </a:ext>
              </a:extLst>
            </p:cNvPr>
            <p:cNvSpPr txBox="1">
              <a:spLocks noChangeArrowheads="1"/>
            </p:cNvSpPr>
            <p:nvPr/>
          </p:nvSpPr>
          <p:spPr bwMode="auto">
            <a:xfrm>
              <a:off x="3344863" y="2216150"/>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a:t>1</a:t>
              </a:r>
            </a:p>
          </p:txBody>
        </p:sp>
        <p:sp>
          <p:nvSpPr>
            <p:cNvPr id="58385" name="Text Box 14">
              <a:extLst>
                <a:ext uri="{FF2B5EF4-FFF2-40B4-BE49-F238E27FC236}">
                  <a16:creationId xmlns:a16="http://schemas.microsoft.com/office/drawing/2014/main" id="{73927DE9-AD6F-8645-9B53-E848E00007A4}"/>
                </a:ext>
              </a:extLst>
            </p:cNvPr>
            <p:cNvSpPr txBox="1">
              <a:spLocks noChangeArrowheads="1"/>
            </p:cNvSpPr>
            <p:nvPr/>
          </p:nvSpPr>
          <p:spPr bwMode="auto">
            <a:xfrm>
              <a:off x="3802063" y="2216150"/>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a:t>2</a:t>
              </a:r>
            </a:p>
          </p:txBody>
        </p:sp>
        <p:sp>
          <p:nvSpPr>
            <p:cNvPr id="58386" name="Text Box 15">
              <a:extLst>
                <a:ext uri="{FF2B5EF4-FFF2-40B4-BE49-F238E27FC236}">
                  <a16:creationId xmlns:a16="http://schemas.microsoft.com/office/drawing/2014/main" id="{715195AA-19A3-DA49-9287-BBAA1F21425C}"/>
                </a:ext>
              </a:extLst>
            </p:cNvPr>
            <p:cNvSpPr txBox="1">
              <a:spLocks noChangeArrowheads="1"/>
            </p:cNvSpPr>
            <p:nvPr/>
          </p:nvSpPr>
          <p:spPr bwMode="auto">
            <a:xfrm>
              <a:off x="6132513" y="2216150"/>
              <a:ext cx="530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b="1" i="1"/>
                <a:t>n</a:t>
              </a:r>
              <a:r>
                <a:rPr kumimoji="0" lang="en-US" altLang="en-US"/>
                <a:t>-1</a:t>
              </a:r>
            </a:p>
          </p:txBody>
        </p:sp>
        <p:sp>
          <p:nvSpPr>
            <p:cNvPr id="58387" name="Text Box 16">
              <a:extLst>
                <a:ext uri="{FF2B5EF4-FFF2-40B4-BE49-F238E27FC236}">
                  <a16:creationId xmlns:a16="http://schemas.microsoft.com/office/drawing/2014/main" id="{0E2964B5-A465-A946-BAA2-72825862215A}"/>
                </a:ext>
              </a:extLst>
            </p:cNvPr>
            <p:cNvSpPr txBox="1">
              <a:spLocks noChangeArrowheads="1"/>
            </p:cNvSpPr>
            <p:nvPr/>
          </p:nvSpPr>
          <p:spPr bwMode="auto">
            <a:xfrm>
              <a:off x="2784475" y="3479800"/>
              <a:ext cx="819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a:t>bit[</a:t>
              </a:r>
              <a:r>
                <a:rPr kumimoji="0" lang="en-US" altLang="en-US" b="1" i="1"/>
                <a:t>i</a:t>
              </a:r>
              <a:r>
                <a:rPr kumimoji="0" lang="en-US" altLang="en-US"/>
                <a:t>] =</a:t>
              </a:r>
            </a:p>
          </p:txBody>
        </p:sp>
        <p:sp>
          <p:nvSpPr>
            <p:cNvPr id="58388" name="Text Box 17">
              <a:extLst>
                <a:ext uri="{FF2B5EF4-FFF2-40B4-BE49-F238E27FC236}">
                  <a16:creationId xmlns:a16="http://schemas.microsoft.com/office/drawing/2014/main" id="{46AA586B-6AA0-D741-8E2A-C4BD2F60E42A}"/>
                </a:ext>
              </a:extLst>
            </p:cNvPr>
            <p:cNvSpPr txBox="1">
              <a:spLocks noChangeArrowheads="1"/>
            </p:cNvSpPr>
            <p:nvPr/>
          </p:nvSpPr>
          <p:spPr bwMode="auto">
            <a:xfrm rot="-5400000">
              <a:off x="3142456" y="3482182"/>
              <a:ext cx="957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gn="ctr">
                <a:spcBef>
                  <a:spcPct val="50000"/>
                </a:spcBef>
                <a:buClrTx/>
                <a:buSzTx/>
                <a:buFontTx/>
                <a:buNone/>
              </a:pPr>
              <a:r>
                <a:rPr kumimoji="0" lang="en-US" altLang="en-US" sz="2000">
                  <a:sym typeface="MT Extra" pitchFamily="2" charset="77"/>
                </a:rPr>
                <a:t></a:t>
              </a:r>
              <a:endParaRPr kumimoji="0" lang="en-US" altLang="en-US" sz="5400">
                <a:sym typeface="Monotype Sorts" pitchFamily="2" charset="2"/>
              </a:endParaRPr>
            </a:p>
          </p:txBody>
        </p:sp>
        <p:sp>
          <p:nvSpPr>
            <p:cNvPr id="58389" name="Text Box 18">
              <a:extLst>
                <a:ext uri="{FF2B5EF4-FFF2-40B4-BE49-F238E27FC236}">
                  <a16:creationId xmlns:a16="http://schemas.microsoft.com/office/drawing/2014/main" id="{D9C4C6C4-3866-A846-9151-B9F0A0716C74}"/>
                </a:ext>
              </a:extLst>
            </p:cNvPr>
            <p:cNvSpPr txBox="1">
              <a:spLocks noChangeArrowheads="1"/>
            </p:cNvSpPr>
            <p:nvPr/>
          </p:nvSpPr>
          <p:spPr bwMode="auto">
            <a:xfrm>
              <a:off x="3879850" y="3281363"/>
              <a:ext cx="24511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2"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50000"/>
                </a:spcBef>
                <a:buClrTx/>
                <a:buSzTx/>
                <a:buFontTx/>
                <a:buNone/>
              </a:pPr>
              <a:r>
                <a:rPr kumimoji="0" lang="en-US" altLang="en-US" dirty="0"/>
                <a:t>1 </a:t>
              </a:r>
              <a:r>
                <a:rPr kumimoji="0" lang="en-US" altLang="en-US" dirty="0">
                  <a:sym typeface="Symbol" pitchFamily="2" charset="2"/>
                </a:rPr>
                <a:t> block[</a:t>
              </a:r>
              <a:r>
                <a:rPr kumimoji="0" lang="en-US" altLang="en-US" b="1" i="1" dirty="0" err="1">
                  <a:sym typeface="Symbol" pitchFamily="2" charset="2"/>
                </a:rPr>
                <a:t>i</a:t>
              </a:r>
              <a:r>
                <a:rPr kumimoji="0" lang="en-US" altLang="en-US" dirty="0">
                  <a:sym typeface="Symbol" pitchFamily="2" charset="2"/>
                </a:rPr>
                <a:t>] free</a:t>
              </a:r>
            </a:p>
            <a:p>
              <a:pPr>
                <a:spcBef>
                  <a:spcPct val="50000"/>
                </a:spcBef>
                <a:buClrTx/>
                <a:buSzTx/>
                <a:buFontTx/>
                <a:buNone/>
              </a:pPr>
              <a:r>
                <a:rPr kumimoji="0" lang="en-US" altLang="en-US" dirty="0">
                  <a:sym typeface="Symbol" pitchFamily="2" charset="2"/>
                </a:rPr>
                <a:t>0 </a:t>
              </a:r>
              <a:r>
                <a:rPr kumimoji="0" lang="en-US" altLang="en-US" dirty="0"/>
                <a:t> </a:t>
              </a:r>
              <a:r>
                <a:rPr kumimoji="0" lang="en-US" altLang="en-US" dirty="0">
                  <a:sym typeface="Symbol" pitchFamily="2" charset="2"/>
                </a:rPr>
                <a:t> block[</a:t>
              </a:r>
              <a:r>
                <a:rPr kumimoji="0" lang="en-US" altLang="en-US" b="1" i="1" dirty="0" err="1">
                  <a:sym typeface="Symbol" pitchFamily="2" charset="2"/>
                </a:rPr>
                <a:t>i</a:t>
              </a:r>
              <a:r>
                <a:rPr kumimoji="0" lang="en-US" altLang="en-US" dirty="0">
                  <a:sym typeface="Symbol" pitchFamily="2" charset="2"/>
                </a:rPr>
                <a:t>] occupied</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D7E07917-6460-AA40-923A-25253248B92F}"/>
              </a:ext>
            </a:extLst>
          </p:cNvPr>
          <p:cNvSpPr>
            <a:spLocks noGrp="1" noChangeArrowheads="1"/>
          </p:cNvSpPr>
          <p:nvPr>
            <p:ph type="title"/>
          </p:nvPr>
        </p:nvSpPr>
        <p:spPr/>
        <p:txBody>
          <a:bodyPr/>
          <a:lstStyle/>
          <a:p>
            <a:r>
              <a:rPr lang="en-US" altLang="en-US"/>
              <a:t>Free-Space Management (Cont.)</a:t>
            </a:r>
          </a:p>
        </p:txBody>
      </p:sp>
      <p:sp>
        <p:nvSpPr>
          <p:cNvPr id="60418" name="Rectangle 3">
            <a:extLst>
              <a:ext uri="{FF2B5EF4-FFF2-40B4-BE49-F238E27FC236}">
                <a16:creationId xmlns:a16="http://schemas.microsoft.com/office/drawing/2014/main" id="{A4CA4492-13EF-F147-AB37-9DCEF7C7D0CF}"/>
              </a:ext>
            </a:extLst>
          </p:cNvPr>
          <p:cNvSpPr>
            <a:spLocks noGrp="1" noChangeArrowheads="1"/>
          </p:cNvSpPr>
          <p:nvPr>
            <p:ph idx="1"/>
          </p:nvPr>
        </p:nvSpPr>
        <p:spPr/>
        <p:txBody>
          <a:bodyPr/>
          <a:lstStyle/>
          <a:p>
            <a:r>
              <a:rPr lang="en-US" altLang="en-US" dirty="0"/>
              <a:t>Bit map requires extra space</a:t>
            </a:r>
          </a:p>
          <a:p>
            <a:pPr lvl="1"/>
            <a:r>
              <a:rPr lang="en-US" altLang="en-US" dirty="0"/>
              <a:t>Example:</a:t>
            </a:r>
          </a:p>
          <a:p>
            <a:pPr marL="0" indent="0">
              <a:buNone/>
            </a:pPr>
            <a:r>
              <a:rPr lang="en-US" altLang="en-US" dirty="0"/>
              <a:t>		block size = 4KB =  212 bytes</a:t>
            </a:r>
          </a:p>
          <a:p>
            <a:pPr marL="0" indent="0">
              <a:buNone/>
            </a:pPr>
            <a:r>
              <a:rPr lang="en-US" altLang="en-US" dirty="0"/>
              <a:t>		disk size = 240 bytes (1 terabyte)</a:t>
            </a:r>
          </a:p>
          <a:p>
            <a:pPr marL="0" indent="0">
              <a:buNone/>
            </a:pPr>
            <a:r>
              <a:rPr lang="en-US" altLang="en-US" dirty="0"/>
              <a:t>		n = 240/212 = 228 bits (or 32MB)</a:t>
            </a:r>
          </a:p>
          <a:p>
            <a:pPr marL="0" indent="0">
              <a:buNone/>
            </a:pPr>
            <a:r>
              <a:rPr lang="en-US" altLang="en-US" dirty="0"/>
              <a:t>		if clusters of 4 blocks -&gt; 8MB of memory</a:t>
            </a:r>
          </a:p>
          <a:p>
            <a:endParaRPr lang="en-US" altLang="en-US" dirty="0"/>
          </a:p>
          <a:p>
            <a:r>
              <a:rPr lang="en-US" altLang="en-US" dirty="0"/>
              <a:t>Easy to get contiguous files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DD1612D0-F1DE-3E48-808C-534FCE1A21A5}"/>
              </a:ext>
            </a:extLst>
          </p:cNvPr>
          <p:cNvSpPr>
            <a:spLocks noGrp="1" noChangeArrowheads="1"/>
          </p:cNvSpPr>
          <p:nvPr>
            <p:ph type="title"/>
          </p:nvPr>
        </p:nvSpPr>
        <p:spPr/>
        <p:txBody>
          <a:bodyPr/>
          <a:lstStyle/>
          <a:p>
            <a:r>
              <a:rPr lang="en-US" altLang="en-US"/>
              <a:t>Linked Free Space List on Disk</a:t>
            </a:r>
          </a:p>
        </p:txBody>
      </p:sp>
      <p:sp>
        <p:nvSpPr>
          <p:cNvPr id="7" name="Content Placeholder 6">
            <a:extLst>
              <a:ext uri="{FF2B5EF4-FFF2-40B4-BE49-F238E27FC236}">
                <a16:creationId xmlns:a16="http://schemas.microsoft.com/office/drawing/2014/main" id="{D539061D-F40E-CA42-88B5-496A1BE9815C}"/>
              </a:ext>
            </a:extLst>
          </p:cNvPr>
          <p:cNvSpPr>
            <a:spLocks noGrp="1"/>
          </p:cNvSpPr>
          <p:nvPr>
            <p:ph sz="half" idx="10"/>
          </p:nvPr>
        </p:nvSpPr>
        <p:spPr>
          <a:xfrm>
            <a:off x="490331" y="1376980"/>
            <a:ext cx="4032242" cy="5037071"/>
          </a:xfrm>
        </p:spPr>
        <p:txBody>
          <a:bodyPr/>
          <a:lstStyle/>
          <a:p>
            <a:pPr>
              <a:lnSpc>
                <a:spcPct val="90000"/>
              </a:lnSpc>
            </a:pPr>
            <a:r>
              <a:rPr lang="en-US" altLang="en-US" dirty="0"/>
              <a:t>Linked list (free list)</a:t>
            </a:r>
          </a:p>
          <a:p>
            <a:pPr lvl="1">
              <a:lnSpc>
                <a:spcPct val="90000"/>
              </a:lnSpc>
            </a:pPr>
            <a:r>
              <a:rPr lang="en-US" altLang="en-US" dirty="0"/>
              <a:t>Cannot get contiguous space easily</a:t>
            </a:r>
          </a:p>
          <a:p>
            <a:pPr lvl="1">
              <a:lnSpc>
                <a:spcPct val="90000"/>
              </a:lnSpc>
            </a:pPr>
            <a:r>
              <a:rPr lang="en-US" altLang="en-US" dirty="0"/>
              <a:t>No waste of space</a:t>
            </a:r>
          </a:p>
          <a:p>
            <a:pPr lvl="1">
              <a:lnSpc>
                <a:spcPct val="90000"/>
              </a:lnSpc>
            </a:pPr>
            <a:r>
              <a:rPr lang="en-US" altLang="en-US" dirty="0"/>
              <a:t>No need to traverse the entire list (if # free blocks recorded)</a:t>
            </a:r>
          </a:p>
          <a:p>
            <a:endParaRPr lang="en-US" dirty="0"/>
          </a:p>
        </p:txBody>
      </p:sp>
      <p:sp>
        <p:nvSpPr>
          <p:cNvPr id="2" name="Picture Placeholder 1">
            <a:extLst>
              <a:ext uri="{FF2B5EF4-FFF2-40B4-BE49-F238E27FC236}">
                <a16:creationId xmlns:a16="http://schemas.microsoft.com/office/drawing/2014/main" id="{D038474F-7F78-FF47-9077-3EEE7195438D}"/>
              </a:ext>
            </a:extLst>
          </p:cNvPr>
          <p:cNvSpPr>
            <a:spLocks noGrp="1"/>
          </p:cNvSpPr>
          <p:nvPr>
            <p:ph type="pic" idx="1"/>
          </p:nvPr>
        </p:nvSpPr>
        <p:spPr>
          <a:xfrm>
            <a:off x="4722434" y="1376980"/>
            <a:ext cx="4090262" cy="5037072"/>
          </a:xfrm>
        </p:spPr>
        <p:txBody>
          <a:bodyPr/>
          <a:lstStyle/>
          <a:p>
            <a:endParaRPr lang="en-VN"/>
          </a:p>
        </p:txBody>
      </p:sp>
      <p:pic>
        <p:nvPicPr>
          <p:cNvPr id="62467" name="Picture 2">
            <a:extLst>
              <a:ext uri="{FF2B5EF4-FFF2-40B4-BE49-F238E27FC236}">
                <a16:creationId xmlns:a16="http://schemas.microsoft.com/office/drawing/2014/main" id="{97614B07-83BF-2C4B-A8CE-1CD4F91B9B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2434" y="1398494"/>
            <a:ext cx="3797061" cy="4441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A759FF96-F85D-E544-925D-B237315082AC}"/>
              </a:ext>
            </a:extLst>
          </p:cNvPr>
          <p:cNvSpPr>
            <a:spLocks noGrp="1" noChangeArrowheads="1"/>
          </p:cNvSpPr>
          <p:nvPr>
            <p:ph type="title"/>
          </p:nvPr>
        </p:nvSpPr>
        <p:spPr/>
        <p:txBody>
          <a:bodyPr/>
          <a:lstStyle/>
          <a:p>
            <a:r>
              <a:rPr lang="en-US" altLang="en-US"/>
              <a:t>Free-Space Management (Cont.)</a:t>
            </a:r>
          </a:p>
        </p:txBody>
      </p:sp>
      <p:sp>
        <p:nvSpPr>
          <p:cNvPr id="64514" name="Content Placeholder 2">
            <a:extLst>
              <a:ext uri="{FF2B5EF4-FFF2-40B4-BE49-F238E27FC236}">
                <a16:creationId xmlns:a16="http://schemas.microsoft.com/office/drawing/2014/main" id="{7DEB4E2C-31F4-9C46-B664-175D26077EB8}"/>
              </a:ext>
            </a:extLst>
          </p:cNvPr>
          <p:cNvSpPr>
            <a:spLocks noGrp="1" noChangeArrowheads="1"/>
          </p:cNvSpPr>
          <p:nvPr>
            <p:ph idx="1"/>
          </p:nvPr>
        </p:nvSpPr>
        <p:spPr/>
        <p:txBody>
          <a:bodyPr/>
          <a:lstStyle/>
          <a:p>
            <a:r>
              <a:rPr lang="en-US" altLang="en-US" dirty="0"/>
              <a:t>Grouping </a:t>
            </a:r>
          </a:p>
          <a:p>
            <a:pPr lvl="1"/>
            <a:r>
              <a:rPr lang="en-US" altLang="en-US" dirty="0"/>
              <a:t>Modify linked list to store address of next </a:t>
            </a:r>
            <a:r>
              <a:rPr lang="en-US" altLang="en-US" b="1" i="1" dirty="0"/>
              <a:t>(n-1) </a:t>
            </a:r>
            <a:r>
              <a:rPr lang="en-US" altLang="en-US" dirty="0"/>
              <a:t>free blocks in first free block, plus a pointer to next block that contains free-block-pointers (like this one)</a:t>
            </a:r>
          </a:p>
          <a:p>
            <a:endParaRPr lang="en-US" altLang="en-US" dirty="0"/>
          </a:p>
          <a:p>
            <a:r>
              <a:rPr lang="en-US" altLang="en-US" dirty="0"/>
              <a:t>Counting</a:t>
            </a:r>
          </a:p>
          <a:p>
            <a:pPr lvl="1"/>
            <a:r>
              <a:rPr lang="en-US" altLang="en-US" dirty="0"/>
              <a:t>Because space is frequently contiguously used and freed,  with contiguous-allocation allocation, extents, or clustering</a:t>
            </a:r>
          </a:p>
          <a:p>
            <a:pPr lvl="2"/>
            <a:r>
              <a:rPr lang="en-US" altLang="en-US" dirty="0"/>
              <a:t>Keep address of first free block and count of following free blocks</a:t>
            </a:r>
          </a:p>
          <a:p>
            <a:pPr lvl="2"/>
            <a:r>
              <a:rPr lang="en-US" altLang="en-US" dirty="0"/>
              <a:t>Free space list then has entries containing addresses and counts</a:t>
            </a:r>
          </a:p>
          <a:p>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A759FF96-F85D-E544-925D-B237315082AC}"/>
              </a:ext>
            </a:extLst>
          </p:cNvPr>
          <p:cNvSpPr>
            <a:spLocks noGrp="1" noChangeArrowheads="1"/>
          </p:cNvSpPr>
          <p:nvPr>
            <p:ph type="title"/>
          </p:nvPr>
        </p:nvSpPr>
        <p:spPr/>
        <p:txBody>
          <a:bodyPr/>
          <a:lstStyle/>
          <a:p>
            <a:r>
              <a:rPr lang="en-US" altLang="en-US"/>
              <a:t>Free-Space Management (Cont.)</a:t>
            </a:r>
          </a:p>
        </p:txBody>
      </p:sp>
      <p:sp>
        <p:nvSpPr>
          <p:cNvPr id="64514" name="Content Placeholder 2">
            <a:extLst>
              <a:ext uri="{FF2B5EF4-FFF2-40B4-BE49-F238E27FC236}">
                <a16:creationId xmlns:a16="http://schemas.microsoft.com/office/drawing/2014/main" id="{7DEB4E2C-31F4-9C46-B664-175D26077EB8}"/>
              </a:ext>
            </a:extLst>
          </p:cNvPr>
          <p:cNvSpPr>
            <a:spLocks noGrp="1" noChangeArrowheads="1"/>
          </p:cNvSpPr>
          <p:nvPr>
            <p:ph idx="1"/>
          </p:nvPr>
        </p:nvSpPr>
        <p:spPr>
          <a:xfrm>
            <a:off x="490538" y="1398494"/>
            <a:ext cx="4728233" cy="1478521"/>
          </a:xfrm>
        </p:spPr>
        <p:txBody>
          <a:bodyPr/>
          <a:lstStyle/>
          <a:p>
            <a:r>
              <a:rPr lang="en-US" altLang="en-US" dirty="0"/>
              <a:t>Grouping </a:t>
            </a:r>
          </a:p>
          <a:p>
            <a:pPr lvl="1"/>
            <a:r>
              <a:rPr lang="en-US" altLang="en-US" dirty="0"/>
              <a:t>Modify linked list to store address of next </a:t>
            </a:r>
            <a:r>
              <a:rPr lang="en-US" altLang="en-US" b="1" i="1" dirty="0"/>
              <a:t>(n) </a:t>
            </a:r>
            <a:r>
              <a:rPr lang="en-US" altLang="en-US" dirty="0"/>
              <a:t>free blocks in first free block, plus a pointer to next block that contains free-block-pointers (like this one)</a:t>
            </a:r>
          </a:p>
          <a:p>
            <a:endParaRPr lang="en-US" altLang="en-US" dirty="0"/>
          </a:p>
          <a:p>
            <a:endParaRPr lang="en-US" altLang="en-US" dirty="0"/>
          </a:p>
        </p:txBody>
      </p:sp>
      <p:sp>
        <p:nvSpPr>
          <p:cNvPr id="2" name="Rectangle 1"/>
          <p:cNvSpPr/>
          <p:nvPr/>
        </p:nvSpPr>
        <p:spPr>
          <a:xfrm>
            <a:off x="513506" y="3588597"/>
            <a:ext cx="4572000" cy="1846659"/>
          </a:xfrm>
          <a:prstGeom prst="rect">
            <a:avLst/>
          </a:prstGeom>
        </p:spPr>
        <p:txBody>
          <a:bodyPr>
            <a:spAutoFit/>
          </a:bodyPr>
          <a:lstStyle/>
          <a:p>
            <a:pPr eaLnBrk="1" hangingPunct="1"/>
            <a:r>
              <a:rPr lang="en-US" altLang="zh-TW" sz="2400" dirty="0">
                <a:solidFill>
                  <a:srgbClr val="000000"/>
                </a:solidFill>
              </a:rPr>
              <a:t>Grouping, </a:t>
            </a:r>
            <a:r>
              <a:rPr lang="en-US" altLang="zh-TW" sz="2400" i="1" dirty="0">
                <a:solidFill>
                  <a:srgbClr val="000000"/>
                </a:solidFill>
              </a:rPr>
              <a:t>n</a:t>
            </a:r>
            <a:r>
              <a:rPr lang="en-US" altLang="zh-TW" sz="2400" dirty="0">
                <a:solidFill>
                  <a:srgbClr val="000000"/>
                </a:solidFill>
              </a:rPr>
              <a:t> = 3</a:t>
            </a:r>
            <a:br>
              <a:rPr lang="en-US" altLang="zh-TW" sz="2400" b="1" dirty="0">
                <a:solidFill>
                  <a:srgbClr val="000000"/>
                </a:solidFill>
              </a:rPr>
            </a:br>
            <a:r>
              <a:rPr lang="en-US" altLang="zh-TW" b="1" dirty="0">
                <a:solidFill>
                  <a:srgbClr val="000000"/>
                </a:solidFill>
              </a:rPr>
              <a:t>     </a:t>
            </a:r>
            <a:r>
              <a:rPr lang="en-US" altLang="zh-TW" dirty="0">
                <a:solidFill>
                  <a:srgbClr val="000000"/>
                </a:solidFill>
              </a:rPr>
              <a:t>Block 2    </a:t>
            </a:r>
            <a:r>
              <a:rPr lang="vi-VN" altLang="zh-TW" dirty="0">
                <a:solidFill>
                  <a:srgbClr val="000000"/>
                </a:solidFill>
                <a:sym typeface="Wingdings" charset="2"/>
              </a:rPr>
              <a:t>stores</a:t>
            </a:r>
            <a:r>
              <a:rPr lang="en-US" altLang="zh-TW" dirty="0">
                <a:solidFill>
                  <a:srgbClr val="000000"/>
                </a:solidFill>
                <a:sym typeface="Wingdings" charset="2"/>
              </a:rPr>
              <a:t>   3, 4, 5</a:t>
            </a:r>
            <a:br>
              <a:rPr lang="en-US" altLang="zh-TW" dirty="0">
                <a:solidFill>
                  <a:srgbClr val="000000"/>
                </a:solidFill>
                <a:sym typeface="Wingdings" charset="2"/>
              </a:rPr>
            </a:br>
            <a:r>
              <a:rPr lang="en-US" altLang="zh-TW" dirty="0">
                <a:solidFill>
                  <a:srgbClr val="000000"/>
                </a:solidFill>
                <a:sym typeface="Wingdings" charset="2"/>
              </a:rPr>
              <a:t>     Block 5    </a:t>
            </a:r>
            <a:r>
              <a:rPr lang="vi-VN" altLang="zh-TW" dirty="0">
                <a:solidFill>
                  <a:srgbClr val="000000"/>
                </a:solidFill>
                <a:sym typeface="Wingdings" charset="2"/>
              </a:rPr>
              <a:t>stores</a:t>
            </a:r>
            <a:r>
              <a:rPr lang="en-US" altLang="zh-TW" dirty="0">
                <a:solidFill>
                  <a:srgbClr val="000000"/>
                </a:solidFill>
                <a:sym typeface="Wingdings" charset="2"/>
              </a:rPr>
              <a:t>   8, 9, 10</a:t>
            </a:r>
            <a:br>
              <a:rPr lang="en-US" altLang="zh-TW" dirty="0">
                <a:solidFill>
                  <a:srgbClr val="000000"/>
                </a:solidFill>
                <a:sym typeface="Wingdings" charset="2"/>
              </a:rPr>
            </a:br>
            <a:r>
              <a:rPr lang="en-US" altLang="zh-TW" dirty="0">
                <a:solidFill>
                  <a:srgbClr val="000000"/>
                </a:solidFill>
                <a:sym typeface="Wingdings" charset="2"/>
              </a:rPr>
              <a:t>     Block 10 </a:t>
            </a:r>
            <a:r>
              <a:rPr lang="vi-VN" altLang="zh-TW" dirty="0">
                <a:solidFill>
                  <a:srgbClr val="000000"/>
                </a:solidFill>
                <a:sym typeface="Wingdings" charset="2"/>
              </a:rPr>
              <a:t>stores</a:t>
            </a:r>
            <a:r>
              <a:rPr lang="en-US" altLang="zh-TW" dirty="0">
                <a:solidFill>
                  <a:srgbClr val="000000"/>
                </a:solidFill>
                <a:sym typeface="Wingdings" charset="2"/>
              </a:rPr>
              <a:t>   11, 12, 13</a:t>
            </a:r>
            <a:br>
              <a:rPr lang="en-US" altLang="zh-TW" dirty="0">
                <a:solidFill>
                  <a:srgbClr val="000000"/>
                </a:solidFill>
                <a:sym typeface="Wingdings" charset="2"/>
              </a:rPr>
            </a:br>
            <a:r>
              <a:rPr lang="en-US" altLang="zh-TW" dirty="0">
                <a:solidFill>
                  <a:srgbClr val="000000"/>
                </a:solidFill>
                <a:sym typeface="Wingdings" charset="2"/>
              </a:rPr>
              <a:t>     Block 13 </a:t>
            </a:r>
            <a:r>
              <a:rPr lang="vi-VN" altLang="zh-TW" dirty="0">
                <a:solidFill>
                  <a:srgbClr val="000000"/>
                </a:solidFill>
                <a:sym typeface="Wingdings" charset="2"/>
              </a:rPr>
              <a:t>stores</a:t>
            </a:r>
            <a:r>
              <a:rPr lang="en-US" altLang="zh-TW" dirty="0">
                <a:solidFill>
                  <a:srgbClr val="000000"/>
                </a:solidFill>
                <a:sym typeface="Wingdings" charset="2"/>
              </a:rPr>
              <a:t>   17, 28, 25</a:t>
            </a:r>
            <a:br>
              <a:rPr lang="en-US" altLang="zh-TW" dirty="0">
                <a:solidFill>
                  <a:srgbClr val="000000"/>
                </a:solidFill>
                <a:sym typeface="Wingdings" charset="2"/>
              </a:rPr>
            </a:br>
            <a:r>
              <a:rPr lang="en-US" altLang="zh-TW" dirty="0">
                <a:solidFill>
                  <a:srgbClr val="000000"/>
                </a:solidFill>
                <a:sym typeface="Wingdings" charset="2"/>
              </a:rPr>
              <a:t>     Block 25 </a:t>
            </a:r>
            <a:r>
              <a:rPr lang="vi-VN" altLang="zh-TW" dirty="0">
                <a:solidFill>
                  <a:srgbClr val="000000"/>
                </a:solidFill>
                <a:sym typeface="Wingdings" charset="2"/>
              </a:rPr>
              <a:t>stores</a:t>
            </a:r>
            <a:r>
              <a:rPr lang="en-US" altLang="zh-TW" dirty="0">
                <a:solidFill>
                  <a:srgbClr val="000000"/>
                </a:solidFill>
                <a:sym typeface="Wingdings" charset="2"/>
              </a:rPr>
              <a:t>  26, 27</a:t>
            </a:r>
          </a:p>
        </p:txBody>
      </p:sp>
      <p:sp>
        <p:nvSpPr>
          <p:cNvPr id="71" name="Can 8"/>
          <p:cNvSpPr>
            <a:spLocks noChangeArrowheads="1"/>
          </p:cNvSpPr>
          <p:nvPr/>
        </p:nvSpPr>
        <p:spPr bwMode="auto">
          <a:xfrm>
            <a:off x="5930900" y="1021410"/>
            <a:ext cx="2330450" cy="3962400"/>
          </a:xfrm>
          <a:prstGeom prst="can">
            <a:avLst>
              <a:gd name="adj" fmla="val 25000"/>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72" name="Rectangle 9"/>
          <p:cNvSpPr>
            <a:spLocks noChangeAspect="1"/>
          </p:cNvSpPr>
          <p:nvPr/>
        </p:nvSpPr>
        <p:spPr bwMode="auto">
          <a:xfrm>
            <a:off x="6248400" y="1742135"/>
            <a:ext cx="184150"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73" name="Rectangle 10"/>
          <p:cNvSpPr>
            <a:spLocks noChangeAspect="1"/>
          </p:cNvSpPr>
          <p:nvPr/>
        </p:nvSpPr>
        <p:spPr bwMode="auto">
          <a:xfrm>
            <a:off x="6848475" y="1734198"/>
            <a:ext cx="182563" cy="184150"/>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74" name="Rectangle 11"/>
          <p:cNvSpPr>
            <a:spLocks noChangeAspect="1"/>
          </p:cNvSpPr>
          <p:nvPr/>
        </p:nvSpPr>
        <p:spPr bwMode="auto">
          <a:xfrm>
            <a:off x="7413625" y="1742135"/>
            <a:ext cx="182563" cy="182563"/>
          </a:xfrm>
          <a:prstGeom prst="rect">
            <a:avLst/>
          </a:prstGeom>
          <a:solidFill>
            <a:srgbClr val="B0EE00"/>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75" name="Rectangle 12"/>
          <p:cNvSpPr>
            <a:spLocks noChangeAspect="1"/>
          </p:cNvSpPr>
          <p:nvPr/>
        </p:nvSpPr>
        <p:spPr bwMode="auto">
          <a:xfrm>
            <a:off x="7962900" y="1734198"/>
            <a:ext cx="182563" cy="184150"/>
          </a:xfrm>
          <a:prstGeom prst="rect">
            <a:avLst/>
          </a:prstGeom>
          <a:solidFill>
            <a:schemeClr val="bg2"/>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76" name="TextBox 13"/>
          <p:cNvSpPr txBox="1">
            <a:spLocks noChangeArrowheads="1"/>
          </p:cNvSpPr>
          <p:nvPr/>
        </p:nvSpPr>
        <p:spPr bwMode="auto">
          <a:xfrm>
            <a:off x="5988050" y="1696098"/>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0</a:t>
            </a:r>
          </a:p>
        </p:txBody>
      </p:sp>
      <p:sp>
        <p:nvSpPr>
          <p:cNvPr id="77" name="TextBox 14"/>
          <p:cNvSpPr txBox="1">
            <a:spLocks noChangeArrowheads="1"/>
          </p:cNvSpPr>
          <p:nvPr/>
        </p:nvSpPr>
        <p:spPr bwMode="auto">
          <a:xfrm>
            <a:off x="6591300" y="1696098"/>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a:t>
            </a:r>
          </a:p>
        </p:txBody>
      </p:sp>
      <p:sp>
        <p:nvSpPr>
          <p:cNvPr id="78" name="TextBox 15"/>
          <p:cNvSpPr txBox="1">
            <a:spLocks noChangeArrowheads="1"/>
          </p:cNvSpPr>
          <p:nvPr/>
        </p:nvSpPr>
        <p:spPr bwMode="auto">
          <a:xfrm>
            <a:off x="7156450" y="1696098"/>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a:t>
            </a:r>
          </a:p>
        </p:txBody>
      </p:sp>
      <p:sp>
        <p:nvSpPr>
          <p:cNvPr id="79" name="TextBox 16"/>
          <p:cNvSpPr txBox="1">
            <a:spLocks noChangeArrowheads="1"/>
          </p:cNvSpPr>
          <p:nvPr/>
        </p:nvSpPr>
        <p:spPr bwMode="auto">
          <a:xfrm>
            <a:off x="7715250" y="1696098"/>
            <a:ext cx="268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3</a:t>
            </a:r>
          </a:p>
        </p:txBody>
      </p:sp>
      <p:sp>
        <p:nvSpPr>
          <p:cNvPr id="80" name="Rectangle 17"/>
          <p:cNvSpPr>
            <a:spLocks noChangeAspect="1"/>
          </p:cNvSpPr>
          <p:nvPr/>
        </p:nvSpPr>
        <p:spPr bwMode="auto">
          <a:xfrm>
            <a:off x="6248400" y="2119960"/>
            <a:ext cx="182563" cy="182563"/>
          </a:xfrm>
          <a:prstGeom prst="rect">
            <a:avLst/>
          </a:prstGeom>
          <a:solidFill>
            <a:schemeClr val="bg2"/>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81" name="Rectangle 18"/>
          <p:cNvSpPr>
            <a:spLocks noChangeAspect="1"/>
          </p:cNvSpPr>
          <p:nvPr/>
        </p:nvSpPr>
        <p:spPr bwMode="auto">
          <a:xfrm>
            <a:off x="6846888" y="2112023"/>
            <a:ext cx="182562" cy="182562"/>
          </a:xfrm>
          <a:prstGeom prst="rect">
            <a:avLst/>
          </a:prstGeom>
          <a:solidFill>
            <a:schemeClr val="bg2"/>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82" name="Rectangle 19"/>
          <p:cNvSpPr>
            <a:spLocks noChangeAspect="1"/>
          </p:cNvSpPr>
          <p:nvPr/>
        </p:nvSpPr>
        <p:spPr bwMode="auto">
          <a:xfrm>
            <a:off x="7412038" y="2119960"/>
            <a:ext cx="184150"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83" name="Rectangle 20"/>
          <p:cNvSpPr>
            <a:spLocks noChangeAspect="1"/>
          </p:cNvSpPr>
          <p:nvPr/>
        </p:nvSpPr>
        <p:spPr bwMode="auto">
          <a:xfrm>
            <a:off x="7961313" y="2112023"/>
            <a:ext cx="182562" cy="182562"/>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84" name="TextBox 21"/>
          <p:cNvSpPr txBox="1">
            <a:spLocks noChangeArrowheads="1"/>
          </p:cNvSpPr>
          <p:nvPr/>
        </p:nvSpPr>
        <p:spPr bwMode="auto">
          <a:xfrm>
            <a:off x="5986463" y="207233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4</a:t>
            </a:r>
          </a:p>
        </p:txBody>
      </p:sp>
      <p:sp>
        <p:nvSpPr>
          <p:cNvPr id="85" name="TextBox 22"/>
          <p:cNvSpPr txBox="1">
            <a:spLocks noChangeArrowheads="1"/>
          </p:cNvSpPr>
          <p:nvPr/>
        </p:nvSpPr>
        <p:spPr bwMode="auto">
          <a:xfrm>
            <a:off x="6591300" y="207233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5</a:t>
            </a:r>
          </a:p>
        </p:txBody>
      </p:sp>
      <p:sp>
        <p:nvSpPr>
          <p:cNvPr id="86" name="TextBox 23"/>
          <p:cNvSpPr txBox="1">
            <a:spLocks noChangeArrowheads="1"/>
          </p:cNvSpPr>
          <p:nvPr/>
        </p:nvSpPr>
        <p:spPr bwMode="auto">
          <a:xfrm>
            <a:off x="7156450" y="207233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6</a:t>
            </a:r>
          </a:p>
        </p:txBody>
      </p:sp>
      <p:sp>
        <p:nvSpPr>
          <p:cNvPr id="87" name="TextBox 24"/>
          <p:cNvSpPr txBox="1">
            <a:spLocks noChangeArrowheads="1"/>
          </p:cNvSpPr>
          <p:nvPr/>
        </p:nvSpPr>
        <p:spPr bwMode="auto">
          <a:xfrm>
            <a:off x="7713663" y="207233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7</a:t>
            </a:r>
          </a:p>
        </p:txBody>
      </p:sp>
      <p:sp>
        <p:nvSpPr>
          <p:cNvPr id="88" name="Rectangle 25"/>
          <p:cNvSpPr>
            <a:spLocks noChangeAspect="1"/>
          </p:cNvSpPr>
          <p:nvPr/>
        </p:nvSpPr>
        <p:spPr bwMode="auto">
          <a:xfrm>
            <a:off x="6259513" y="2520010"/>
            <a:ext cx="184150" cy="182563"/>
          </a:xfrm>
          <a:prstGeom prst="rect">
            <a:avLst/>
          </a:prstGeom>
          <a:solidFill>
            <a:srgbClr val="B0EE00"/>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89" name="Rectangle 26"/>
          <p:cNvSpPr>
            <a:spLocks noChangeAspect="1"/>
          </p:cNvSpPr>
          <p:nvPr/>
        </p:nvSpPr>
        <p:spPr bwMode="auto">
          <a:xfrm>
            <a:off x="6859588" y="2512073"/>
            <a:ext cx="182562" cy="182562"/>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90" name="Rectangle 27"/>
          <p:cNvSpPr>
            <a:spLocks noChangeAspect="1"/>
          </p:cNvSpPr>
          <p:nvPr/>
        </p:nvSpPr>
        <p:spPr bwMode="auto">
          <a:xfrm>
            <a:off x="7424738" y="2520010"/>
            <a:ext cx="182562" cy="182563"/>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91" name="Rectangle 28"/>
          <p:cNvSpPr>
            <a:spLocks noChangeAspect="1"/>
          </p:cNvSpPr>
          <p:nvPr/>
        </p:nvSpPr>
        <p:spPr bwMode="auto">
          <a:xfrm>
            <a:off x="7974013" y="2512073"/>
            <a:ext cx="182562" cy="182562"/>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92" name="TextBox 29"/>
          <p:cNvSpPr txBox="1">
            <a:spLocks noChangeArrowheads="1"/>
          </p:cNvSpPr>
          <p:nvPr/>
        </p:nvSpPr>
        <p:spPr bwMode="auto">
          <a:xfrm>
            <a:off x="5999163" y="247238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8</a:t>
            </a:r>
          </a:p>
        </p:txBody>
      </p:sp>
      <p:sp>
        <p:nvSpPr>
          <p:cNvPr id="93" name="TextBox 30"/>
          <p:cNvSpPr txBox="1">
            <a:spLocks noChangeArrowheads="1"/>
          </p:cNvSpPr>
          <p:nvPr/>
        </p:nvSpPr>
        <p:spPr bwMode="auto">
          <a:xfrm>
            <a:off x="6602413" y="247238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9</a:t>
            </a:r>
          </a:p>
        </p:txBody>
      </p:sp>
      <p:sp>
        <p:nvSpPr>
          <p:cNvPr id="94" name="TextBox 31"/>
          <p:cNvSpPr txBox="1">
            <a:spLocks noChangeArrowheads="1"/>
          </p:cNvSpPr>
          <p:nvPr/>
        </p:nvSpPr>
        <p:spPr bwMode="auto">
          <a:xfrm>
            <a:off x="7126288" y="2472385"/>
            <a:ext cx="3540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10</a:t>
            </a:r>
          </a:p>
        </p:txBody>
      </p:sp>
      <p:sp>
        <p:nvSpPr>
          <p:cNvPr id="95" name="TextBox 32"/>
          <p:cNvSpPr txBox="1">
            <a:spLocks noChangeArrowheads="1"/>
          </p:cNvSpPr>
          <p:nvPr/>
        </p:nvSpPr>
        <p:spPr bwMode="auto">
          <a:xfrm>
            <a:off x="7688263" y="2472385"/>
            <a:ext cx="3444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11</a:t>
            </a:r>
          </a:p>
        </p:txBody>
      </p:sp>
      <p:sp>
        <p:nvSpPr>
          <p:cNvPr id="96" name="Rectangle 33"/>
          <p:cNvSpPr>
            <a:spLocks noChangeAspect="1"/>
          </p:cNvSpPr>
          <p:nvPr/>
        </p:nvSpPr>
        <p:spPr bwMode="auto">
          <a:xfrm>
            <a:off x="6259513" y="2896248"/>
            <a:ext cx="182562" cy="182562"/>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97" name="Rectangle 34"/>
          <p:cNvSpPr>
            <a:spLocks noChangeAspect="1"/>
          </p:cNvSpPr>
          <p:nvPr/>
        </p:nvSpPr>
        <p:spPr bwMode="auto">
          <a:xfrm>
            <a:off x="6858000" y="2889898"/>
            <a:ext cx="182563" cy="182562"/>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98" name="Rectangle 35"/>
          <p:cNvSpPr>
            <a:spLocks noChangeAspect="1"/>
          </p:cNvSpPr>
          <p:nvPr/>
        </p:nvSpPr>
        <p:spPr bwMode="auto">
          <a:xfrm>
            <a:off x="7423150" y="2896248"/>
            <a:ext cx="184150" cy="182562"/>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99" name="Rectangle 36"/>
          <p:cNvSpPr>
            <a:spLocks noChangeAspect="1"/>
          </p:cNvSpPr>
          <p:nvPr/>
        </p:nvSpPr>
        <p:spPr bwMode="auto">
          <a:xfrm>
            <a:off x="7972425" y="2889898"/>
            <a:ext cx="182563" cy="182562"/>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00" name="TextBox 37"/>
          <p:cNvSpPr txBox="1">
            <a:spLocks noChangeArrowheads="1"/>
          </p:cNvSpPr>
          <p:nvPr/>
        </p:nvSpPr>
        <p:spPr bwMode="auto">
          <a:xfrm>
            <a:off x="5956300" y="2850210"/>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12</a:t>
            </a:r>
          </a:p>
        </p:txBody>
      </p:sp>
      <p:sp>
        <p:nvSpPr>
          <p:cNvPr id="101" name="TextBox 38"/>
          <p:cNvSpPr txBox="1">
            <a:spLocks noChangeArrowheads="1"/>
          </p:cNvSpPr>
          <p:nvPr/>
        </p:nvSpPr>
        <p:spPr bwMode="auto">
          <a:xfrm>
            <a:off x="6559550" y="2850210"/>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13</a:t>
            </a:r>
          </a:p>
        </p:txBody>
      </p:sp>
      <p:sp>
        <p:nvSpPr>
          <p:cNvPr id="102" name="TextBox 39"/>
          <p:cNvSpPr txBox="1">
            <a:spLocks noChangeArrowheads="1"/>
          </p:cNvSpPr>
          <p:nvPr/>
        </p:nvSpPr>
        <p:spPr bwMode="auto">
          <a:xfrm>
            <a:off x="7124700" y="2850210"/>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14</a:t>
            </a:r>
          </a:p>
        </p:txBody>
      </p:sp>
      <p:sp>
        <p:nvSpPr>
          <p:cNvPr id="103" name="TextBox 40"/>
          <p:cNvSpPr txBox="1">
            <a:spLocks noChangeArrowheads="1"/>
          </p:cNvSpPr>
          <p:nvPr/>
        </p:nvSpPr>
        <p:spPr bwMode="auto">
          <a:xfrm>
            <a:off x="7681913" y="2850210"/>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15</a:t>
            </a:r>
          </a:p>
        </p:txBody>
      </p:sp>
      <p:sp>
        <p:nvSpPr>
          <p:cNvPr id="104" name="Rectangle 41"/>
          <p:cNvSpPr>
            <a:spLocks noChangeAspect="1"/>
          </p:cNvSpPr>
          <p:nvPr/>
        </p:nvSpPr>
        <p:spPr bwMode="auto">
          <a:xfrm>
            <a:off x="6256338" y="3288360"/>
            <a:ext cx="182562" cy="184150"/>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05" name="Rectangle 42"/>
          <p:cNvSpPr>
            <a:spLocks noChangeAspect="1"/>
          </p:cNvSpPr>
          <p:nvPr/>
        </p:nvSpPr>
        <p:spPr bwMode="auto">
          <a:xfrm>
            <a:off x="6856413" y="3282010"/>
            <a:ext cx="182562" cy="182563"/>
          </a:xfrm>
          <a:prstGeom prst="rect">
            <a:avLst/>
          </a:prstGeom>
          <a:solidFill>
            <a:srgbClr val="B0EE00"/>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06" name="Rectangle 43"/>
          <p:cNvSpPr>
            <a:spLocks noChangeAspect="1"/>
          </p:cNvSpPr>
          <p:nvPr/>
        </p:nvSpPr>
        <p:spPr bwMode="auto">
          <a:xfrm>
            <a:off x="7421563" y="3288360"/>
            <a:ext cx="182562" cy="184150"/>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107" name="Rectangle 44"/>
          <p:cNvSpPr>
            <a:spLocks noChangeAspect="1"/>
          </p:cNvSpPr>
          <p:nvPr/>
        </p:nvSpPr>
        <p:spPr bwMode="auto">
          <a:xfrm>
            <a:off x="7970838" y="3282010"/>
            <a:ext cx="182562"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08" name="TextBox 45"/>
          <p:cNvSpPr txBox="1">
            <a:spLocks noChangeArrowheads="1"/>
          </p:cNvSpPr>
          <p:nvPr/>
        </p:nvSpPr>
        <p:spPr bwMode="auto">
          <a:xfrm>
            <a:off x="5953125" y="3242323"/>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16</a:t>
            </a:r>
          </a:p>
        </p:txBody>
      </p:sp>
      <p:sp>
        <p:nvSpPr>
          <p:cNvPr id="109" name="TextBox 46"/>
          <p:cNvSpPr txBox="1">
            <a:spLocks noChangeArrowheads="1"/>
          </p:cNvSpPr>
          <p:nvPr/>
        </p:nvSpPr>
        <p:spPr bwMode="auto">
          <a:xfrm>
            <a:off x="6557963" y="3242323"/>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17</a:t>
            </a:r>
          </a:p>
        </p:txBody>
      </p:sp>
      <p:sp>
        <p:nvSpPr>
          <p:cNvPr id="110" name="TextBox 47"/>
          <p:cNvSpPr txBox="1">
            <a:spLocks noChangeArrowheads="1"/>
          </p:cNvSpPr>
          <p:nvPr/>
        </p:nvSpPr>
        <p:spPr bwMode="auto">
          <a:xfrm>
            <a:off x="7123113" y="3242323"/>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18</a:t>
            </a:r>
          </a:p>
        </p:txBody>
      </p:sp>
      <p:sp>
        <p:nvSpPr>
          <p:cNvPr id="111" name="TextBox 48"/>
          <p:cNvSpPr txBox="1">
            <a:spLocks noChangeArrowheads="1"/>
          </p:cNvSpPr>
          <p:nvPr/>
        </p:nvSpPr>
        <p:spPr bwMode="auto">
          <a:xfrm>
            <a:off x="7680325" y="3242323"/>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19</a:t>
            </a:r>
          </a:p>
        </p:txBody>
      </p:sp>
      <p:sp>
        <p:nvSpPr>
          <p:cNvPr id="112" name="Rectangle 49"/>
          <p:cNvSpPr>
            <a:spLocks noChangeAspect="1"/>
          </p:cNvSpPr>
          <p:nvPr/>
        </p:nvSpPr>
        <p:spPr bwMode="auto">
          <a:xfrm>
            <a:off x="6262688" y="3666185"/>
            <a:ext cx="182562"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13" name="Rectangle 50"/>
          <p:cNvSpPr>
            <a:spLocks noChangeAspect="1"/>
          </p:cNvSpPr>
          <p:nvPr/>
        </p:nvSpPr>
        <p:spPr bwMode="auto">
          <a:xfrm>
            <a:off x="6862763" y="3658248"/>
            <a:ext cx="182562" cy="184150"/>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14" name="Rectangle 51"/>
          <p:cNvSpPr>
            <a:spLocks noChangeAspect="1"/>
          </p:cNvSpPr>
          <p:nvPr/>
        </p:nvSpPr>
        <p:spPr bwMode="auto">
          <a:xfrm>
            <a:off x="7427913" y="3666185"/>
            <a:ext cx="182562"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15" name="Rectangle 52"/>
          <p:cNvSpPr>
            <a:spLocks noChangeAspect="1"/>
          </p:cNvSpPr>
          <p:nvPr/>
        </p:nvSpPr>
        <p:spPr bwMode="auto">
          <a:xfrm>
            <a:off x="7977188" y="3658248"/>
            <a:ext cx="182562" cy="184150"/>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16" name="TextBox 53"/>
          <p:cNvSpPr txBox="1">
            <a:spLocks noChangeArrowheads="1"/>
          </p:cNvSpPr>
          <p:nvPr/>
        </p:nvSpPr>
        <p:spPr bwMode="auto">
          <a:xfrm>
            <a:off x="5959475" y="3620148"/>
            <a:ext cx="355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20</a:t>
            </a:r>
          </a:p>
        </p:txBody>
      </p:sp>
      <p:sp>
        <p:nvSpPr>
          <p:cNvPr id="117" name="TextBox 54"/>
          <p:cNvSpPr txBox="1">
            <a:spLocks noChangeArrowheads="1"/>
          </p:cNvSpPr>
          <p:nvPr/>
        </p:nvSpPr>
        <p:spPr bwMode="auto">
          <a:xfrm>
            <a:off x="6564313" y="3618560"/>
            <a:ext cx="3540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21</a:t>
            </a:r>
          </a:p>
        </p:txBody>
      </p:sp>
      <p:sp>
        <p:nvSpPr>
          <p:cNvPr id="118" name="TextBox 55"/>
          <p:cNvSpPr txBox="1">
            <a:spLocks noChangeArrowheads="1"/>
          </p:cNvSpPr>
          <p:nvPr/>
        </p:nvSpPr>
        <p:spPr bwMode="auto">
          <a:xfrm>
            <a:off x="7129463" y="3620148"/>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22</a:t>
            </a:r>
          </a:p>
        </p:txBody>
      </p:sp>
      <p:sp>
        <p:nvSpPr>
          <p:cNvPr id="119" name="TextBox 56"/>
          <p:cNvSpPr txBox="1">
            <a:spLocks noChangeArrowheads="1"/>
          </p:cNvSpPr>
          <p:nvPr/>
        </p:nvSpPr>
        <p:spPr bwMode="auto">
          <a:xfrm>
            <a:off x="7686675" y="3620148"/>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23</a:t>
            </a:r>
          </a:p>
        </p:txBody>
      </p:sp>
      <p:sp>
        <p:nvSpPr>
          <p:cNvPr id="120" name="Rectangle 57"/>
          <p:cNvSpPr>
            <a:spLocks noChangeAspect="1"/>
          </p:cNvSpPr>
          <p:nvPr/>
        </p:nvSpPr>
        <p:spPr bwMode="auto">
          <a:xfrm>
            <a:off x="6267450" y="4066235"/>
            <a:ext cx="182563"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21" name="Rectangle 58"/>
          <p:cNvSpPr>
            <a:spLocks noChangeAspect="1"/>
          </p:cNvSpPr>
          <p:nvPr/>
        </p:nvSpPr>
        <p:spPr bwMode="auto">
          <a:xfrm>
            <a:off x="6867525" y="4058298"/>
            <a:ext cx="182563" cy="184150"/>
          </a:xfrm>
          <a:prstGeom prst="rect">
            <a:avLst/>
          </a:prstGeom>
          <a:solidFill>
            <a:srgbClr val="B0EE00"/>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22" name="Rectangle 59"/>
          <p:cNvSpPr>
            <a:spLocks noChangeAspect="1"/>
          </p:cNvSpPr>
          <p:nvPr/>
        </p:nvSpPr>
        <p:spPr bwMode="auto">
          <a:xfrm>
            <a:off x="7432675" y="4066235"/>
            <a:ext cx="182563" cy="182563"/>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123" name="Rectangle 60"/>
          <p:cNvSpPr>
            <a:spLocks noChangeAspect="1"/>
          </p:cNvSpPr>
          <p:nvPr/>
        </p:nvSpPr>
        <p:spPr bwMode="auto">
          <a:xfrm>
            <a:off x="7981950" y="4058298"/>
            <a:ext cx="182563" cy="184150"/>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124" name="TextBox 61"/>
          <p:cNvSpPr txBox="1">
            <a:spLocks noChangeArrowheads="1"/>
          </p:cNvSpPr>
          <p:nvPr/>
        </p:nvSpPr>
        <p:spPr bwMode="auto">
          <a:xfrm>
            <a:off x="5964238" y="4020198"/>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24</a:t>
            </a:r>
          </a:p>
        </p:txBody>
      </p:sp>
      <p:sp>
        <p:nvSpPr>
          <p:cNvPr id="125" name="TextBox 62"/>
          <p:cNvSpPr txBox="1">
            <a:spLocks noChangeArrowheads="1"/>
          </p:cNvSpPr>
          <p:nvPr/>
        </p:nvSpPr>
        <p:spPr bwMode="auto">
          <a:xfrm>
            <a:off x="6569075" y="4020198"/>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25</a:t>
            </a:r>
          </a:p>
        </p:txBody>
      </p:sp>
      <p:sp>
        <p:nvSpPr>
          <p:cNvPr id="126" name="TextBox 63"/>
          <p:cNvSpPr txBox="1">
            <a:spLocks noChangeArrowheads="1"/>
          </p:cNvSpPr>
          <p:nvPr/>
        </p:nvSpPr>
        <p:spPr bwMode="auto">
          <a:xfrm>
            <a:off x="7134225" y="4020198"/>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26</a:t>
            </a:r>
          </a:p>
        </p:txBody>
      </p:sp>
      <p:sp>
        <p:nvSpPr>
          <p:cNvPr id="127" name="TextBox 64"/>
          <p:cNvSpPr txBox="1">
            <a:spLocks noChangeArrowheads="1"/>
          </p:cNvSpPr>
          <p:nvPr/>
        </p:nvSpPr>
        <p:spPr bwMode="auto">
          <a:xfrm>
            <a:off x="7691438" y="4020198"/>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27</a:t>
            </a:r>
          </a:p>
        </p:txBody>
      </p:sp>
      <p:sp>
        <p:nvSpPr>
          <p:cNvPr id="128" name="Rectangle 65"/>
          <p:cNvSpPr>
            <a:spLocks noChangeAspect="1"/>
          </p:cNvSpPr>
          <p:nvPr/>
        </p:nvSpPr>
        <p:spPr bwMode="auto">
          <a:xfrm>
            <a:off x="6265863" y="4444060"/>
            <a:ext cx="184150"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29" name="Rectangle 66"/>
          <p:cNvSpPr>
            <a:spLocks noChangeAspect="1"/>
          </p:cNvSpPr>
          <p:nvPr/>
        </p:nvSpPr>
        <p:spPr bwMode="auto">
          <a:xfrm>
            <a:off x="6865938" y="4436123"/>
            <a:ext cx="182562" cy="182562"/>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30" name="Rectangle 67"/>
          <p:cNvSpPr>
            <a:spLocks noChangeAspect="1"/>
          </p:cNvSpPr>
          <p:nvPr/>
        </p:nvSpPr>
        <p:spPr bwMode="auto">
          <a:xfrm>
            <a:off x="7431088" y="4444060"/>
            <a:ext cx="182562"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31" name="Rectangle 68"/>
          <p:cNvSpPr>
            <a:spLocks noChangeAspect="1"/>
          </p:cNvSpPr>
          <p:nvPr/>
        </p:nvSpPr>
        <p:spPr bwMode="auto">
          <a:xfrm>
            <a:off x="7980363" y="4436123"/>
            <a:ext cx="182562" cy="182562"/>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32" name="TextBox 69"/>
          <p:cNvSpPr txBox="1">
            <a:spLocks noChangeArrowheads="1"/>
          </p:cNvSpPr>
          <p:nvPr/>
        </p:nvSpPr>
        <p:spPr bwMode="auto">
          <a:xfrm>
            <a:off x="5962650" y="4396435"/>
            <a:ext cx="355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28</a:t>
            </a:r>
          </a:p>
        </p:txBody>
      </p:sp>
      <p:sp>
        <p:nvSpPr>
          <p:cNvPr id="133" name="TextBox 70"/>
          <p:cNvSpPr txBox="1">
            <a:spLocks noChangeArrowheads="1"/>
          </p:cNvSpPr>
          <p:nvPr/>
        </p:nvSpPr>
        <p:spPr bwMode="auto">
          <a:xfrm>
            <a:off x="6567488" y="4396435"/>
            <a:ext cx="3540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29</a:t>
            </a:r>
          </a:p>
        </p:txBody>
      </p:sp>
      <p:sp>
        <p:nvSpPr>
          <p:cNvPr id="134" name="TextBox 71"/>
          <p:cNvSpPr txBox="1">
            <a:spLocks noChangeArrowheads="1"/>
          </p:cNvSpPr>
          <p:nvPr/>
        </p:nvSpPr>
        <p:spPr bwMode="auto">
          <a:xfrm>
            <a:off x="7132638" y="4396435"/>
            <a:ext cx="3540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30</a:t>
            </a:r>
          </a:p>
        </p:txBody>
      </p:sp>
      <p:sp>
        <p:nvSpPr>
          <p:cNvPr id="135" name="TextBox 72"/>
          <p:cNvSpPr txBox="1">
            <a:spLocks noChangeArrowheads="1"/>
          </p:cNvSpPr>
          <p:nvPr/>
        </p:nvSpPr>
        <p:spPr bwMode="auto">
          <a:xfrm>
            <a:off x="7689850" y="4396435"/>
            <a:ext cx="35401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31</a:t>
            </a:r>
          </a:p>
        </p:txBody>
      </p:sp>
    </p:spTree>
    <p:extLst>
      <p:ext uri="{BB962C8B-B14F-4D97-AF65-F5344CB8AC3E}">
        <p14:creationId xmlns:p14="http://schemas.microsoft.com/office/powerpoint/2010/main" val="672019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A759FF96-F85D-E544-925D-B237315082AC}"/>
              </a:ext>
            </a:extLst>
          </p:cNvPr>
          <p:cNvSpPr>
            <a:spLocks noGrp="1" noChangeArrowheads="1"/>
          </p:cNvSpPr>
          <p:nvPr>
            <p:ph type="title"/>
          </p:nvPr>
        </p:nvSpPr>
        <p:spPr/>
        <p:txBody>
          <a:bodyPr/>
          <a:lstStyle/>
          <a:p>
            <a:r>
              <a:rPr lang="en-US" altLang="en-US"/>
              <a:t>Free-Space Management (Cont.)</a:t>
            </a:r>
          </a:p>
        </p:txBody>
      </p:sp>
      <p:sp>
        <p:nvSpPr>
          <p:cNvPr id="64514" name="Content Placeholder 2">
            <a:extLst>
              <a:ext uri="{FF2B5EF4-FFF2-40B4-BE49-F238E27FC236}">
                <a16:creationId xmlns:a16="http://schemas.microsoft.com/office/drawing/2014/main" id="{7DEB4E2C-31F4-9C46-B664-175D26077EB8}"/>
              </a:ext>
            </a:extLst>
          </p:cNvPr>
          <p:cNvSpPr>
            <a:spLocks noGrp="1" noChangeArrowheads="1"/>
          </p:cNvSpPr>
          <p:nvPr>
            <p:ph idx="1"/>
          </p:nvPr>
        </p:nvSpPr>
        <p:spPr>
          <a:xfrm>
            <a:off x="490538" y="1398494"/>
            <a:ext cx="4672012" cy="5019769"/>
          </a:xfrm>
        </p:spPr>
        <p:txBody>
          <a:bodyPr/>
          <a:lstStyle/>
          <a:p>
            <a:r>
              <a:rPr lang="en-US" altLang="en-US" dirty="0"/>
              <a:t>Counting</a:t>
            </a:r>
          </a:p>
          <a:p>
            <a:pPr lvl="1"/>
            <a:r>
              <a:rPr lang="en-US" altLang="en-US" dirty="0"/>
              <a:t>Because space is frequently contiguously used and freed,  with contiguous-allocation allocation, extents, or clustering</a:t>
            </a:r>
          </a:p>
          <a:p>
            <a:pPr lvl="2"/>
            <a:r>
              <a:rPr lang="en-US" altLang="en-US" dirty="0"/>
              <a:t>Keep address of first free block and count of following free blocks</a:t>
            </a:r>
          </a:p>
          <a:p>
            <a:pPr lvl="2"/>
            <a:r>
              <a:rPr lang="en-US" altLang="en-US" dirty="0"/>
              <a:t>Free space list then has entries containing addresses and counts</a:t>
            </a:r>
          </a:p>
          <a:p>
            <a:endParaRPr lang="en-US" altLang="en-US" dirty="0"/>
          </a:p>
        </p:txBody>
      </p:sp>
      <p:sp>
        <p:nvSpPr>
          <p:cNvPr id="4" name="Content Placeholder 2"/>
          <p:cNvSpPr txBox="1">
            <a:spLocks/>
          </p:cNvSpPr>
          <p:nvPr/>
        </p:nvSpPr>
        <p:spPr>
          <a:xfrm>
            <a:off x="2297112" y="4670288"/>
            <a:ext cx="3384550" cy="2130425"/>
          </a:xfrm>
          <a:prstGeom prst="rect">
            <a:avLst/>
          </a:prstGeom>
        </p:spPr>
        <p:txBody>
          <a:bodyPr/>
          <a:lstStyle>
            <a:lvl1pPr marL="342900" indent="-342900" algn="l" rtl="0" eaLnBrk="1" fontAlgn="base" hangingPunct="1">
              <a:lnSpc>
                <a:spcPct val="100000"/>
              </a:lnSpc>
              <a:spcBef>
                <a:spcPts val="800"/>
              </a:spcBef>
              <a:spcAft>
                <a:spcPts val="800"/>
              </a:spcAft>
              <a:buClr>
                <a:srgbClr val="993300"/>
              </a:buClr>
              <a:buSzPct val="90000"/>
              <a:buFont typeface="Monotype Sorts" pitchFamily="2" charset="2"/>
              <a:buChar char="n"/>
              <a:defRPr kumimoji="1" sz="2000">
                <a:solidFill>
                  <a:schemeClr val="tx1"/>
                </a:solidFill>
                <a:latin typeface="+mn-lt"/>
                <a:ea typeface="MS PGothic" pitchFamily="34" charset="-128"/>
                <a:cs typeface="ＭＳ Ｐゴシック" charset="-128"/>
              </a:defRPr>
            </a:lvl1pPr>
            <a:lvl2pPr marL="742950" indent="-285750" algn="l" rtl="0" eaLnBrk="1" fontAlgn="base" hangingPunct="1">
              <a:lnSpc>
                <a:spcPct val="100000"/>
              </a:lnSpc>
              <a:spcBef>
                <a:spcPts val="800"/>
              </a:spcBef>
              <a:spcAft>
                <a:spcPts val="800"/>
              </a:spcAft>
              <a:buClr>
                <a:srgbClr val="CC6600"/>
              </a:buClr>
              <a:buSzPct val="80000"/>
              <a:buFont typeface="Monotype Sorts" pitchFamily="2" charset="2"/>
              <a:buChar char="l"/>
              <a:defRPr kumimoji="1">
                <a:solidFill>
                  <a:schemeClr val="tx1"/>
                </a:solidFill>
                <a:latin typeface="+mn-lt"/>
                <a:ea typeface="MS PGothic" pitchFamily="34" charset="-128"/>
              </a:defRPr>
            </a:lvl2pPr>
            <a:lvl3pPr marL="1085850" indent="-228600" algn="l" rtl="0" eaLnBrk="1" fontAlgn="base" hangingPunct="1">
              <a:lnSpc>
                <a:spcPct val="100000"/>
              </a:lnSpc>
              <a:spcBef>
                <a:spcPts val="800"/>
              </a:spcBef>
              <a:spcAft>
                <a:spcPts val="800"/>
              </a:spcAft>
              <a:buClr>
                <a:srgbClr val="009900"/>
              </a:buClr>
              <a:buSzPct val="75000"/>
              <a:buFont typeface="Webdings" pitchFamily="2" charset="2"/>
              <a:buChar char="4"/>
              <a:defRPr kumimoji="1" sz="1600">
                <a:solidFill>
                  <a:schemeClr val="tx1"/>
                </a:solidFill>
                <a:latin typeface="+mn-lt"/>
                <a:ea typeface="MS PGothic" pitchFamily="34" charset="-128"/>
              </a:defRPr>
            </a:lvl3pPr>
            <a:lvl4pPr marL="1428750" indent="-228600" algn="l" rtl="0" eaLnBrk="1" fontAlgn="base" hangingPunct="1">
              <a:lnSpc>
                <a:spcPct val="100000"/>
              </a:lnSpc>
              <a:spcBef>
                <a:spcPts val="800"/>
              </a:spcBef>
              <a:spcAft>
                <a:spcPts val="800"/>
              </a:spcAft>
              <a:buClr>
                <a:schemeClr val="hlink"/>
              </a:buClr>
              <a:buSzPct val="75000"/>
              <a:buChar char="–"/>
              <a:defRPr kumimoji="1" sz="1400">
                <a:solidFill>
                  <a:schemeClr val="tx1"/>
                </a:solidFill>
                <a:latin typeface="+mn-lt"/>
                <a:ea typeface="MS PGothic" pitchFamily="34" charset="-128"/>
              </a:defRPr>
            </a:lvl4pPr>
            <a:lvl5pPr marL="1771650" indent="-228600" algn="l" rtl="0" eaLnBrk="1" fontAlgn="base" hangingPunct="1">
              <a:lnSpc>
                <a:spcPct val="100000"/>
              </a:lnSpc>
              <a:spcBef>
                <a:spcPts val="800"/>
              </a:spcBef>
              <a:spcAft>
                <a:spcPts val="800"/>
              </a:spcAft>
              <a:buClr>
                <a:srgbClr val="FF0066"/>
              </a:buClr>
              <a:buSzPct val="75000"/>
              <a:buChar char="»"/>
              <a:defRPr kumimoji="1" sz="1200">
                <a:solidFill>
                  <a:schemeClr val="tx1"/>
                </a:solidFill>
                <a:latin typeface="+mn-lt"/>
                <a:ea typeface="MS PGothic" pitchFamily="34" charset="-128"/>
              </a:defRPr>
            </a:lvl5pPr>
            <a:lvl6pPr marL="22288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altLang="zh-TW" sz="1600" kern="0" dirty="0">
                <a:solidFill>
                  <a:srgbClr val="000000"/>
                </a:solidFill>
              </a:rPr>
              <a:t>start    count</a:t>
            </a:r>
          </a:p>
          <a:p>
            <a:pPr>
              <a:buFont typeface="Webdings" charset="2"/>
              <a:buNone/>
            </a:pPr>
            <a:r>
              <a:rPr lang="en-US" altLang="zh-TW" sz="1600" b="1" kern="0" dirty="0">
                <a:solidFill>
                  <a:srgbClr val="000000"/>
                </a:solidFill>
              </a:rPr>
              <a:t>	        </a:t>
            </a:r>
            <a:r>
              <a:rPr lang="en-US" altLang="zh-TW" sz="1600" kern="0" dirty="0">
                <a:solidFill>
                  <a:srgbClr val="000000"/>
                </a:solidFill>
              </a:rPr>
              <a:t>2         4</a:t>
            </a:r>
            <a:br>
              <a:rPr lang="en-US" altLang="zh-TW" sz="1600" kern="0" dirty="0">
                <a:solidFill>
                  <a:srgbClr val="000000"/>
                </a:solidFill>
              </a:rPr>
            </a:br>
            <a:r>
              <a:rPr lang="en-US" altLang="zh-TW" sz="1600" kern="0" dirty="0">
                <a:solidFill>
                  <a:srgbClr val="000000"/>
                </a:solidFill>
              </a:rPr>
              <a:t>        8         6</a:t>
            </a:r>
            <a:br>
              <a:rPr lang="en-US" altLang="zh-TW" sz="1600" kern="0" dirty="0">
                <a:solidFill>
                  <a:srgbClr val="000000"/>
                </a:solidFill>
              </a:rPr>
            </a:br>
            <a:r>
              <a:rPr lang="en-US" altLang="zh-TW" sz="1600" kern="0" dirty="0">
                <a:solidFill>
                  <a:srgbClr val="000000"/>
                </a:solidFill>
              </a:rPr>
              <a:t>      17         2</a:t>
            </a:r>
            <a:br>
              <a:rPr lang="en-US" altLang="zh-TW" sz="1600" kern="0" dirty="0">
                <a:solidFill>
                  <a:srgbClr val="000000"/>
                </a:solidFill>
              </a:rPr>
            </a:br>
            <a:r>
              <a:rPr lang="en-US" altLang="zh-TW" sz="1600" kern="0" dirty="0">
                <a:solidFill>
                  <a:srgbClr val="000000"/>
                </a:solidFill>
              </a:rPr>
              <a:t>      25         3</a:t>
            </a:r>
            <a:endParaRPr lang="en-US" altLang="en-US" sz="1600" kern="0" dirty="0"/>
          </a:p>
        </p:txBody>
      </p:sp>
      <p:sp>
        <p:nvSpPr>
          <p:cNvPr id="5" name="Can 8"/>
          <p:cNvSpPr>
            <a:spLocks noChangeArrowheads="1"/>
          </p:cNvSpPr>
          <p:nvPr/>
        </p:nvSpPr>
        <p:spPr bwMode="auto">
          <a:xfrm>
            <a:off x="5930900" y="1021410"/>
            <a:ext cx="2330450" cy="3962400"/>
          </a:xfrm>
          <a:prstGeom prst="can">
            <a:avLst>
              <a:gd name="adj" fmla="val 25000"/>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6" name="Rectangle 9"/>
          <p:cNvSpPr>
            <a:spLocks noChangeAspect="1"/>
          </p:cNvSpPr>
          <p:nvPr/>
        </p:nvSpPr>
        <p:spPr bwMode="auto">
          <a:xfrm>
            <a:off x="6248400" y="1742135"/>
            <a:ext cx="184150"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7" name="Rectangle 10"/>
          <p:cNvSpPr>
            <a:spLocks noChangeAspect="1"/>
          </p:cNvSpPr>
          <p:nvPr/>
        </p:nvSpPr>
        <p:spPr bwMode="auto">
          <a:xfrm>
            <a:off x="6848475" y="1734198"/>
            <a:ext cx="182563" cy="184150"/>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8" name="Rectangle 11"/>
          <p:cNvSpPr>
            <a:spLocks noChangeAspect="1"/>
          </p:cNvSpPr>
          <p:nvPr/>
        </p:nvSpPr>
        <p:spPr bwMode="auto">
          <a:xfrm>
            <a:off x="7413625" y="1742135"/>
            <a:ext cx="182563" cy="182563"/>
          </a:xfrm>
          <a:prstGeom prst="rect">
            <a:avLst/>
          </a:prstGeom>
          <a:solidFill>
            <a:srgbClr val="B0EE00"/>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9" name="Rectangle 12"/>
          <p:cNvSpPr>
            <a:spLocks noChangeAspect="1"/>
          </p:cNvSpPr>
          <p:nvPr/>
        </p:nvSpPr>
        <p:spPr bwMode="auto">
          <a:xfrm>
            <a:off x="7962900" y="1734198"/>
            <a:ext cx="182563" cy="184150"/>
          </a:xfrm>
          <a:prstGeom prst="rect">
            <a:avLst/>
          </a:prstGeom>
          <a:solidFill>
            <a:schemeClr val="bg2"/>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0" name="TextBox 13"/>
          <p:cNvSpPr txBox="1">
            <a:spLocks noChangeArrowheads="1"/>
          </p:cNvSpPr>
          <p:nvPr/>
        </p:nvSpPr>
        <p:spPr bwMode="auto">
          <a:xfrm>
            <a:off x="5988050" y="1696098"/>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0</a:t>
            </a:r>
          </a:p>
        </p:txBody>
      </p:sp>
      <p:sp>
        <p:nvSpPr>
          <p:cNvPr id="11" name="TextBox 14"/>
          <p:cNvSpPr txBox="1">
            <a:spLocks noChangeArrowheads="1"/>
          </p:cNvSpPr>
          <p:nvPr/>
        </p:nvSpPr>
        <p:spPr bwMode="auto">
          <a:xfrm>
            <a:off x="6591300" y="1696098"/>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a:t>
            </a:r>
          </a:p>
        </p:txBody>
      </p:sp>
      <p:sp>
        <p:nvSpPr>
          <p:cNvPr id="12" name="TextBox 15"/>
          <p:cNvSpPr txBox="1">
            <a:spLocks noChangeArrowheads="1"/>
          </p:cNvSpPr>
          <p:nvPr/>
        </p:nvSpPr>
        <p:spPr bwMode="auto">
          <a:xfrm>
            <a:off x="7156450" y="1696098"/>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a:t>
            </a:r>
          </a:p>
        </p:txBody>
      </p:sp>
      <p:sp>
        <p:nvSpPr>
          <p:cNvPr id="13" name="TextBox 16"/>
          <p:cNvSpPr txBox="1">
            <a:spLocks noChangeArrowheads="1"/>
          </p:cNvSpPr>
          <p:nvPr/>
        </p:nvSpPr>
        <p:spPr bwMode="auto">
          <a:xfrm>
            <a:off x="7715250" y="1696098"/>
            <a:ext cx="268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3</a:t>
            </a:r>
          </a:p>
        </p:txBody>
      </p:sp>
      <p:sp>
        <p:nvSpPr>
          <p:cNvPr id="14" name="Rectangle 17"/>
          <p:cNvSpPr>
            <a:spLocks noChangeAspect="1"/>
          </p:cNvSpPr>
          <p:nvPr/>
        </p:nvSpPr>
        <p:spPr bwMode="auto">
          <a:xfrm>
            <a:off x="6248400" y="2119960"/>
            <a:ext cx="182563" cy="182563"/>
          </a:xfrm>
          <a:prstGeom prst="rect">
            <a:avLst/>
          </a:prstGeom>
          <a:solidFill>
            <a:schemeClr val="bg2"/>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5" name="Rectangle 18"/>
          <p:cNvSpPr>
            <a:spLocks noChangeAspect="1"/>
          </p:cNvSpPr>
          <p:nvPr/>
        </p:nvSpPr>
        <p:spPr bwMode="auto">
          <a:xfrm>
            <a:off x="6846888" y="2112023"/>
            <a:ext cx="182562" cy="182562"/>
          </a:xfrm>
          <a:prstGeom prst="rect">
            <a:avLst/>
          </a:prstGeom>
          <a:solidFill>
            <a:schemeClr val="bg2"/>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6" name="Rectangle 19"/>
          <p:cNvSpPr>
            <a:spLocks noChangeAspect="1"/>
          </p:cNvSpPr>
          <p:nvPr/>
        </p:nvSpPr>
        <p:spPr bwMode="auto">
          <a:xfrm>
            <a:off x="7412038" y="2119960"/>
            <a:ext cx="184150"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7" name="Rectangle 20"/>
          <p:cNvSpPr>
            <a:spLocks noChangeAspect="1"/>
          </p:cNvSpPr>
          <p:nvPr/>
        </p:nvSpPr>
        <p:spPr bwMode="auto">
          <a:xfrm>
            <a:off x="7961313" y="2112023"/>
            <a:ext cx="182562" cy="182562"/>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18" name="TextBox 21"/>
          <p:cNvSpPr txBox="1">
            <a:spLocks noChangeArrowheads="1"/>
          </p:cNvSpPr>
          <p:nvPr/>
        </p:nvSpPr>
        <p:spPr bwMode="auto">
          <a:xfrm>
            <a:off x="5986463" y="207233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4</a:t>
            </a:r>
          </a:p>
        </p:txBody>
      </p:sp>
      <p:sp>
        <p:nvSpPr>
          <p:cNvPr id="19" name="TextBox 22"/>
          <p:cNvSpPr txBox="1">
            <a:spLocks noChangeArrowheads="1"/>
          </p:cNvSpPr>
          <p:nvPr/>
        </p:nvSpPr>
        <p:spPr bwMode="auto">
          <a:xfrm>
            <a:off x="6591300" y="207233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5</a:t>
            </a:r>
          </a:p>
        </p:txBody>
      </p:sp>
      <p:sp>
        <p:nvSpPr>
          <p:cNvPr id="20" name="TextBox 23"/>
          <p:cNvSpPr txBox="1">
            <a:spLocks noChangeArrowheads="1"/>
          </p:cNvSpPr>
          <p:nvPr/>
        </p:nvSpPr>
        <p:spPr bwMode="auto">
          <a:xfrm>
            <a:off x="7156450" y="207233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6</a:t>
            </a:r>
          </a:p>
        </p:txBody>
      </p:sp>
      <p:sp>
        <p:nvSpPr>
          <p:cNvPr id="21" name="TextBox 24"/>
          <p:cNvSpPr txBox="1">
            <a:spLocks noChangeArrowheads="1"/>
          </p:cNvSpPr>
          <p:nvPr/>
        </p:nvSpPr>
        <p:spPr bwMode="auto">
          <a:xfrm>
            <a:off x="7713663" y="207233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7</a:t>
            </a:r>
          </a:p>
        </p:txBody>
      </p:sp>
      <p:sp>
        <p:nvSpPr>
          <p:cNvPr id="22" name="Rectangle 25"/>
          <p:cNvSpPr>
            <a:spLocks noChangeAspect="1"/>
          </p:cNvSpPr>
          <p:nvPr/>
        </p:nvSpPr>
        <p:spPr bwMode="auto">
          <a:xfrm>
            <a:off x="6259513" y="2520010"/>
            <a:ext cx="184150" cy="182563"/>
          </a:xfrm>
          <a:prstGeom prst="rect">
            <a:avLst/>
          </a:prstGeom>
          <a:solidFill>
            <a:srgbClr val="B0EE00"/>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23" name="Rectangle 26"/>
          <p:cNvSpPr>
            <a:spLocks noChangeAspect="1"/>
          </p:cNvSpPr>
          <p:nvPr/>
        </p:nvSpPr>
        <p:spPr bwMode="auto">
          <a:xfrm>
            <a:off x="6859588" y="2512073"/>
            <a:ext cx="182562" cy="182562"/>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24" name="Rectangle 27"/>
          <p:cNvSpPr>
            <a:spLocks noChangeAspect="1"/>
          </p:cNvSpPr>
          <p:nvPr/>
        </p:nvSpPr>
        <p:spPr bwMode="auto">
          <a:xfrm>
            <a:off x="7424738" y="2520010"/>
            <a:ext cx="182562" cy="182563"/>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25" name="Rectangle 28"/>
          <p:cNvSpPr>
            <a:spLocks noChangeAspect="1"/>
          </p:cNvSpPr>
          <p:nvPr/>
        </p:nvSpPr>
        <p:spPr bwMode="auto">
          <a:xfrm>
            <a:off x="7974013" y="2512073"/>
            <a:ext cx="182562" cy="182562"/>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26" name="TextBox 29"/>
          <p:cNvSpPr txBox="1">
            <a:spLocks noChangeArrowheads="1"/>
          </p:cNvSpPr>
          <p:nvPr/>
        </p:nvSpPr>
        <p:spPr bwMode="auto">
          <a:xfrm>
            <a:off x="5999163" y="247238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8</a:t>
            </a:r>
          </a:p>
        </p:txBody>
      </p:sp>
      <p:sp>
        <p:nvSpPr>
          <p:cNvPr id="27" name="TextBox 30"/>
          <p:cNvSpPr txBox="1">
            <a:spLocks noChangeArrowheads="1"/>
          </p:cNvSpPr>
          <p:nvPr/>
        </p:nvSpPr>
        <p:spPr bwMode="auto">
          <a:xfrm>
            <a:off x="6602413" y="2472385"/>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9</a:t>
            </a:r>
          </a:p>
        </p:txBody>
      </p:sp>
      <p:sp>
        <p:nvSpPr>
          <p:cNvPr id="28" name="TextBox 31"/>
          <p:cNvSpPr txBox="1">
            <a:spLocks noChangeArrowheads="1"/>
          </p:cNvSpPr>
          <p:nvPr/>
        </p:nvSpPr>
        <p:spPr bwMode="auto">
          <a:xfrm>
            <a:off x="7126288" y="2472385"/>
            <a:ext cx="3540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10</a:t>
            </a:r>
          </a:p>
        </p:txBody>
      </p:sp>
      <p:sp>
        <p:nvSpPr>
          <p:cNvPr id="29" name="TextBox 32"/>
          <p:cNvSpPr txBox="1">
            <a:spLocks noChangeArrowheads="1"/>
          </p:cNvSpPr>
          <p:nvPr/>
        </p:nvSpPr>
        <p:spPr bwMode="auto">
          <a:xfrm>
            <a:off x="7688263" y="2472385"/>
            <a:ext cx="3444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11</a:t>
            </a:r>
          </a:p>
        </p:txBody>
      </p:sp>
      <p:sp>
        <p:nvSpPr>
          <p:cNvPr id="30" name="Rectangle 33"/>
          <p:cNvSpPr>
            <a:spLocks noChangeAspect="1"/>
          </p:cNvSpPr>
          <p:nvPr/>
        </p:nvSpPr>
        <p:spPr bwMode="auto">
          <a:xfrm>
            <a:off x="6259513" y="2896248"/>
            <a:ext cx="182562" cy="182562"/>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31" name="Rectangle 34"/>
          <p:cNvSpPr>
            <a:spLocks noChangeAspect="1"/>
          </p:cNvSpPr>
          <p:nvPr/>
        </p:nvSpPr>
        <p:spPr bwMode="auto">
          <a:xfrm>
            <a:off x="6858000" y="2889898"/>
            <a:ext cx="182563" cy="182562"/>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32" name="Rectangle 35"/>
          <p:cNvSpPr>
            <a:spLocks noChangeAspect="1"/>
          </p:cNvSpPr>
          <p:nvPr/>
        </p:nvSpPr>
        <p:spPr bwMode="auto">
          <a:xfrm>
            <a:off x="7423150" y="2896248"/>
            <a:ext cx="184150" cy="182562"/>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33" name="Rectangle 36"/>
          <p:cNvSpPr>
            <a:spLocks noChangeAspect="1"/>
          </p:cNvSpPr>
          <p:nvPr/>
        </p:nvSpPr>
        <p:spPr bwMode="auto">
          <a:xfrm>
            <a:off x="7972425" y="2889898"/>
            <a:ext cx="182563" cy="182562"/>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34" name="TextBox 37"/>
          <p:cNvSpPr txBox="1">
            <a:spLocks noChangeArrowheads="1"/>
          </p:cNvSpPr>
          <p:nvPr/>
        </p:nvSpPr>
        <p:spPr bwMode="auto">
          <a:xfrm>
            <a:off x="5956300" y="2850210"/>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12</a:t>
            </a:r>
          </a:p>
        </p:txBody>
      </p:sp>
      <p:sp>
        <p:nvSpPr>
          <p:cNvPr id="35" name="TextBox 38"/>
          <p:cNvSpPr txBox="1">
            <a:spLocks noChangeArrowheads="1"/>
          </p:cNvSpPr>
          <p:nvPr/>
        </p:nvSpPr>
        <p:spPr bwMode="auto">
          <a:xfrm>
            <a:off x="6559550" y="2850210"/>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13</a:t>
            </a:r>
          </a:p>
        </p:txBody>
      </p:sp>
      <p:sp>
        <p:nvSpPr>
          <p:cNvPr id="36" name="TextBox 39"/>
          <p:cNvSpPr txBox="1">
            <a:spLocks noChangeArrowheads="1"/>
          </p:cNvSpPr>
          <p:nvPr/>
        </p:nvSpPr>
        <p:spPr bwMode="auto">
          <a:xfrm>
            <a:off x="7124700" y="2850210"/>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14</a:t>
            </a:r>
          </a:p>
        </p:txBody>
      </p:sp>
      <p:sp>
        <p:nvSpPr>
          <p:cNvPr id="37" name="TextBox 40"/>
          <p:cNvSpPr txBox="1">
            <a:spLocks noChangeArrowheads="1"/>
          </p:cNvSpPr>
          <p:nvPr/>
        </p:nvSpPr>
        <p:spPr bwMode="auto">
          <a:xfrm>
            <a:off x="7681913" y="2850210"/>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15</a:t>
            </a:r>
          </a:p>
        </p:txBody>
      </p:sp>
      <p:sp>
        <p:nvSpPr>
          <p:cNvPr id="38" name="Rectangle 41"/>
          <p:cNvSpPr>
            <a:spLocks noChangeAspect="1"/>
          </p:cNvSpPr>
          <p:nvPr/>
        </p:nvSpPr>
        <p:spPr bwMode="auto">
          <a:xfrm>
            <a:off x="6256338" y="3288360"/>
            <a:ext cx="182562" cy="184150"/>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39" name="Rectangle 42"/>
          <p:cNvSpPr>
            <a:spLocks noChangeAspect="1"/>
          </p:cNvSpPr>
          <p:nvPr/>
        </p:nvSpPr>
        <p:spPr bwMode="auto">
          <a:xfrm>
            <a:off x="6856413" y="3282010"/>
            <a:ext cx="182562" cy="182563"/>
          </a:xfrm>
          <a:prstGeom prst="rect">
            <a:avLst/>
          </a:prstGeom>
          <a:solidFill>
            <a:srgbClr val="B0EE00"/>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40" name="Rectangle 43"/>
          <p:cNvSpPr>
            <a:spLocks noChangeAspect="1"/>
          </p:cNvSpPr>
          <p:nvPr/>
        </p:nvSpPr>
        <p:spPr bwMode="auto">
          <a:xfrm>
            <a:off x="7421563" y="3288360"/>
            <a:ext cx="182562" cy="184150"/>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41" name="Rectangle 44"/>
          <p:cNvSpPr>
            <a:spLocks noChangeAspect="1"/>
          </p:cNvSpPr>
          <p:nvPr/>
        </p:nvSpPr>
        <p:spPr bwMode="auto">
          <a:xfrm>
            <a:off x="7970838" y="3282010"/>
            <a:ext cx="182562"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42" name="TextBox 45"/>
          <p:cNvSpPr txBox="1">
            <a:spLocks noChangeArrowheads="1"/>
          </p:cNvSpPr>
          <p:nvPr/>
        </p:nvSpPr>
        <p:spPr bwMode="auto">
          <a:xfrm>
            <a:off x="5953125" y="3242323"/>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16</a:t>
            </a:r>
          </a:p>
        </p:txBody>
      </p:sp>
      <p:sp>
        <p:nvSpPr>
          <p:cNvPr id="43" name="TextBox 46"/>
          <p:cNvSpPr txBox="1">
            <a:spLocks noChangeArrowheads="1"/>
          </p:cNvSpPr>
          <p:nvPr/>
        </p:nvSpPr>
        <p:spPr bwMode="auto">
          <a:xfrm>
            <a:off x="6557963" y="3242323"/>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17</a:t>
            </a:r>
          </a:p>
        </p:txBody>
      </p:sp>
      <p:sp>
        <p:nvSpPr>
          <p:cNvPr id="44" name="TextBox 47"/>
          <p:cNvSpPr txBox="1">
            <a:spLocks noChangeArrowheads="1"/>
          </p:cNvSpPr>
          <p:nvPr/>
        </p:nvSpPr>
        <p:spPr bwMode="auto">
          <a:xfrm>
            <a:off x="7123113" y="3242323"/>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18</a:t>
            </a:r>
          </a:p>
        </p:txBody>
      </p:sp>
      <p:sp>
        <p:nvSpPr>
          <p:cNvPr id="45" name="TextBox 48"/>
          <p:cNvSpPr txBox="1">
            <a:spLocks noChangeArrowheads="1"/>
          </p:cNvSpPr>
          <p:nvPr/>
        </p:nvSpPr>
        <p:spPr bwMode="auto">
          <a:xfrm>
            <a:off x="7680325" y="3242323"/>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19</a:t>
            </a:r>
          </a:p>
        </p:txBody>
      </p:sp>
      <p:sp>
        <p:nvSpPr>
          <p:cNvPr id="46" name="Rectangle 49"/>
          <p:cNvSpPr>
            <a:spLocks noChangeAspect="1"/>
          </p:cNvSpPr>
          <p:nvPr/>
        </p:nvSpPr>
        <p:spPr bwMode="auto">
          <a:xfrm>
            <a:off x="6262688" y="3666185"/>
            <a:ext cx="182562"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47" name="Rectangle 50"/>
          <p:cNvSpPr>
            <a:spLocks noChangeAspect="1"/>
          </p:cNvSpPr>
          <p:nvPr/>
        </p:nvSpPr>
        <p:spPr bwMode="auto">
          <a:xfrm>
            <a:off x="6862763" y="3658248"/>
            <a:ext cx="182562" cy="184150"/>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48" name="Rectangle 51"/>
          <p:cNvSpPr>
            <a:spLocks noChangeAspect="1"/>
          </p:cNvSpPr>
          <p:nvPr/>
        </p:nvSpPr>
        <p:spPr bwMode="auto">
          <a:xfrm>
            <a:off x="7427913" y="3666185"/>
            <a:ext cx="182562"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49" name="Rectangle 52"/>
          <p:cNvSpPr>
            <a:spLocks noChangeAspect="1"/>
          </p:cNvSpPr>
          <p:nvPr/>
        </p:nvSpPr>
        <p:spPr bwMode="auto">
          <a:xfrm>
            <a:off x="7977188" y="3658248"/>
            <a:ext cx="182562" cy="184150"/>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50" name="TextBox 53"/>
          <p:cNvSpPr txBox="1">
            <a:spLocks noChangeArrowheads="1"/>
          </p:cNvSpPr>
          <p:nvPr/>
        </p:nvSpPr>
        <p:spPr bwMode="auto">
          <a:xfrm>
            <a:off x="5959475" y="3620148"/>
            <a:ext cx="355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20</a:t>
            </a:r>
          </a:p>
        </p:txBody>
      </p:sp>
      <p:sp>
        <p:nvSpPr>
          <p:cNvPr id="51" name="TextBox 54"/>
          <p:cNvSpPr txBox="1">
            <a:spLocks noChangeArrowheads="1"/>
          </p:cNvSpPr>
          <p:nvPr/>
        </p:nvSpPr>
        <p:spPr bwMode="auto">
          <a:xfrm>
            <a:off x="6564313" y="3618560"/>
            <a:ext cx="3540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21</a:t>
            </a:r>
          </a:p>
        </p:txBody>
      </p:sp>
      <p:sp>
        <p:nvSpPr>
          <p:cNvPr id="52" name="TextBox 55"/>
          <p:cNvSpPr txBox="1">
            <a:spLocks noChangeArrowheads="1"/>
          </p:cNvSpPr>
          <p:nvPr/>
        </p:nvSpPr>
        <p:spPr bwMode="auto">
          <a:xfrm>
            <a:off x="7129463" y="3620148"/>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22</a:t>
            </a:r>
          </a:p>
        </p:txBody>
      </p:sp>
      <p:sp>
        <p:nvSpPr>
          <p:cNvPr id="53" name="TextBox 56"/>
          <p:cNvSpPr txBox="1">
            <a:spLocks noChangeArrowheads="1"/>
          </p:cNvSpPr>
          <p:nvPr/>
        </p:nvSpPr>
        <p:spPr bwMode="auto">
          <a:xfrm>
            <a:off x="7686675" y="3620148"/>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23</a:t>
            </a:r>
          </a:p>
        </p:txBody>
      </p:sp>
      <p:sp>
        <p:nvSpPr>
          <p:cNvPr id="54" name="Rectangle 57"/>
          <p:cNvSpPr>
            <a:spLocks noChangeAspect="1"/>
          </p:cNvSpPr>
          <p:nvPr/>
        </p:nvSpPr>
        <p:spPr bwMode="auto">
          <a:xfrm>
            <a:off x="6267450" y="4066235"/>
            <a:ext cx="182563"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55" name="Rectangle 58"/>
          <p:cNvSpPr>
            <a:spLocks noChangeAspect="1"/>
          </p:cNvSpPr>
          <p:nvPr/>
        </p:nvSpPr>
        <p:spPr bwMode="auto">
          <a:xfrm>
            <a:off x="6867525" y="4058298"/>
            <a:ext cx="182563" cy="184150"/>
          </a:xfrm>
          <a:prstGeom prst="rect">
            <a:avLst/>
          </a:prstGeom>
          <a:solidFill>
            <a:srgbClr val="B0EE00"/>
          </a:solidFill>
          <a:ln w="19050">
            <a:solidFill>
              <a:schemeClr val="tx1"/>
            </a:solidFill>
            <a:round/>
            <a:headEnd/>
            <a:tailEnd type="none" w="lg" len="lg"/>
          </a:ln>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56" name="Rectangle 59"/>
          <p:cNvSpPr>
            <a:spLocks noChangeAspect="1"/>
          </p:cNvSpPr>
          <p:nvPr/>
        </p:nvSpPr>
        <p:spPr bwMode="auto">
          <a:xfrm>
            <a:off x="7432675" y="4066235"/>
            <a:ext cx="182563" cy="182563"/>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57" name="Rectangle 60"/>
          <p:cNvSpPr>
            <a:spLocks noChangeAspect="1"/>
          </p:cNvSpPr>
          <p:nvPr/>
        </p:nvSpPr>
        <p:spPr bwMode="auto">
          <a:xfrm>
            <a:off x="7981950" y="4058298"/>
            <a:ext cx="182563" cy="184150"/>
          </a:xfrm>
          <a:prstGeom prst="rect">
            <a:avLst/>
          </a:prstGeom>
          <a:solidFill>
            <a:schemeClr val="bg2">
              <a:lumMod val="75000"/>
            </a:schemeClr>
          </a:solidFill>
          <a:ln w="19050" algn="ctr">
            <a:solidFill>
              <a:schemeClr val="tx1"/>
            </a:solidFill>
            <a:round/>
            <a:headEnd/>
            <a:tailEnd type="none" w="lg" len="lg"/>
          </a:ln>
        </p:spPr>
        <p:txBody>
          <a:bodyPr wrap="none" anchor="ctr"/>
          <a:lstStyle/>
          <a:p>
            <a:pPr algn="ctr" eaLnBrk="1" hangingPunct="1">
              <a:defRPr/>
            </a:pPr>
            <a:endParaRPr lang="en-US">
              <a:ea typeface="標楷體" pitchFamily="65" charset="-120"/>
            </a:endParaRPr>
          </a:p>
        </p:txBody>
      </p:sp>
      <p:sp>
        <p:nvSpPr>
          <p:cNvPr id="58" name="TextBox 61"/>
          <p:cNvSpPr txBox="1">
            <a:spLocks noChangeArrowheads="1"/>
          </p:cNvSpPr>
          <p:nvPr/>
        </p:nvSpPr>
        <p:spPr bwMode="auto">
          <a:xfrm>
            <a:off x="5964238" y="4020198"/>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24</a:t>
            </a:r>
          </a:p>
        </p:txBody>
      </p:sp>
      <p:sp>
        <p:nvSpPr>
          <p:cNvPr id="59" name="TextBox 62"/>
          <p:cNvSpPr txBox="1">
            <a:spLocks noChangeArrowheads="1"/>
          </p:cNvSpPr>
          <p:nvPr/>
        </p:nvSpPr>
        <p:spPr bwMode="auto">
          <a:xfrm>
            <a:off x="6569075" y="4020198"/>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25</a:t>
            </a:r>
          </a:p>
        </p:txBody>
      </p:sp>
      <p:sp>
        <p:nvSpPr>
          <p:cNvPr id="60" name="TextBox 63"/>
          <p:cNvSpPr txBox="1">
            <a:spLocks noChangeArrowheads="1"/>
          </p:cNvSpPr>
          <p:nvPr/>
        </p:nvSpPr>
        <p:spPr bwMode="auto">
          <a:xfrm>
            <a:off x="7134225" y="4020198"/>
            <a:ext cx="354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26</a:t>
            </a:r>
          </a:p>
        </p:txBody>
      </p:sp>
      <p:sp>
        <p:nvSpPr>
          <p:cNvPr id="61" name="TextBox 64"/>
          <p:cNvSpPr txBox="1">
            <a:spLocks noChangeArrowheads="1"/>
          </p:cNvSpPr>
          <p:nvPr/>
        </p:nvSpPr>
        <p:spPr bwMode="auto">
          <a:xfrm>
            <a:off x="7691438" y="4020198"/>
            <a:ext cx="354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27</a:t>
            </a:r>
          </a:p>
        </p:txBody>
      </p:sp>
      <p:sp>
        <p:nvSpPr>
          <p:cNvPr id="62" name="Rectangle 65"/>
          <p:cNvSpPr>
            <a:spLocks noChangeAspect="1"/>
          </p:cNvSpPr>
          <p:nvPr/>
        </p:nvSpPr>
        <p:spPr bwMode="auto">
          <a:xfrm>
            <a:off x="6265863" y="4444060"/>
            <a:ext cx="184150"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63" name="Rectangle 66"/>
          <p:cNvSpPr>
            <a:spLocks noChangeAspect="1"/>
          </p:cNvSpPr>
          <p:nvPr/>
        </p:nvSpPr>
        <p:spPr bwMode="auto">
          <a:xfrm>
            <a:off x="6865938" y="4436123"/>
            <a:ext cx="182562" cy="182562"/>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64" name="Rectangle 67"/>
          <p:cNvSpPr>
            <a:spLocks noChangeAspect="1"/>
          </p:cNvSpPr>
          <p:nvPr/>
        </p:nvSpPr>
        <p:spPr bwMode="auto">
          <a:xfrm>
            <a:off x="7431088" y="4444060"/>
            <a:ext cx="182562" cy="182563"/>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65" name="Rectangle 68"/>
          <p:cNvSpPr>
            <a:spLocks noChangeAspect="1"/>
          </p:cNvSpPr>
          <p:nvPr/>
        </p:nvSpPr>
        <p:spPr bwMode="auto">
          <a:xfrm>
            <a:off x="7980363" y="4436123"/>
            <a:ext cx="182562" cy="182562"/>
          </a:xfrm>
          <a:prstGeom prst="rect">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endParaRPr lang="en-US" altLang="en-US" sz="1800">
              <a:solidFill>
                <a:schemeClr val="tx1"/>
              </a:solidFill>
              <a:latin typeface="Arial" charset="0"/>
            </a:endParaRPr>
          </a:p>
        </p:txBody>
      </p:sp>
      <p:sp>
        <p:nvSpPr>
          <p:cNvPr id="66" name="TextBox 69"/>
          <p:cNvSpPr txBox="1">
            <a:spLocks noChangeArrowheads="1"/>
          </p:cNvSpPr>
          <p:nvPr/>
        </p:nvSpPr>
        <p:spPr bwMode="auto">
          <a:xfrm>
            <a:off x="5962650" y="4396435"/>
            <a:ext cx="355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28</a:t>
            </a:r>
          </a:p>
        </p:txBody>
      </p:sp>
      <p:sp>
        <p:nvSpPr>
          <p:cNvPr id="67" name="TextBox 70"/>
          <p:cNvSpPr txBox="1">
            <a:spLocks noChangeArrowheads="1"/>
          </p:cNvSpPr>
          <p:nvPr/>
        </p:nvSpPr>
        <p:spPr bwMode="auto">
          <a:xfrm>
            <a:off x="6567488" y="4396435"/>
            <a:ext cx="3540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29</a:t>
            </a:r>
          </a:p>
        </p:txBody>
      </p:sp>
      <p:sp>
        <p:nvSpPr>
          <p:cNvPr id="68" name="TextBox 71"/>
          <p:cNvSpPr txBox="1">
            <a:spLocks noChangeArrowheads="1"/>
          </p:cNvSpPr>
          <p:nvPr/>
        </p:nvSpPr>
        <p:spPr bwMode="auto">
          <a:xfrm>
            <a:off x="7132638" y="4396435"/>
            <a:ext cx="3540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30</a:t>
            </a:r>
          </a:p>
        </p:txBody>
      </p:sp>
      <p:sp>
        <p:nvSpPr>
          <p:cNvPr id="69" name="TextBox 72"/>
          <p:cNvSpPr txBox="1">
            <a:spLocks noChangeArrowheads="1"/>
          </p:cNvSpPr>
          <p:nvPr/>
        </p:nvSpPr>
        <p:spPr bwMode="auto">
          <a:xfrm>
            <a:off x="7689850" y="4396435"/>
            <a:ext cx="35401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60000"/>
              <a:buFont typeface="Webdings" charset="2"/>
              <a:buChar char="&lt;"/>
              <a:defRPr kumimoji="1" sz="2400">
                <a:solidFill>
                  <a:srgbClr val="1C1C1C"/>
                </a:solidFill>
                <a:latin typeface="VNI-Helve" charset="0"/>
                <a:ea typeface="標楷體" charset="0"/>
              </a:defRPr>
            </a:lvl1pPr>
            <a:lvl2pPr marL="742950" indent="-285750">
              <a:spcBef>
                <a:spcPct val="20000"/>
              </a:spcBef>
              <a:buClr>
                <a:srgbClr val="CC6600"/>
              </a:buClr>
              <a:buSzPct val="50000"/>
              <a:buFont typeface="Wingdings" charset="2"/>
              <a:buChar char="l"/>
              <a:defRPr kumimoji="1" sz="2000">
                <a:solidFill>
                  <a:srgbClr val="1C1C1C"/>
                </a:solidFill>
                <a:latin typeface="VNI-Helve" charset="0"/>
                <a:ea typeface="標楷體" charset="0"/>
              </a:defRPr>
            </a:lvl2pPr>
            <a:lvl3pPr marL="1143000" indent="-228600">
              <a:spcBef>
                <a:spcPct val="20000"/>
              </a:spcBef>
              <a:buClr>
                <a:srgbClr val="009900"/>
              </a:buClr>
              <a:buSzPct val="75000"/>
              <a:buFont typeface="Webdings" charset="2"/>
              <a:buChar char="4"/>
              <a:defRPr kumimoji="1" sz="2000">
                <a:solidFill>
                  <a:srgbClr val="1C1C1C"/>
                </a:solidFill>
                <a:latin typeface="VNI-Helve" charset="0"/>
                <a:ea typeface="標楷體" charset="0"/>
              </a:defRPr>
            </a:lvl3pPr>
            <a:lvl4pPr marL="1600200" indent="-228600">
              <a:spcBef>
                <a:spcPct val="20000"/>
              </a:spcBef>
              <a:buChar char="–"/>
              <a:defRPr kumimoji="1" sz="2000">
                <a:solidFill>
                  <a:srgbClr val="1C1C1C"/>
                </a:solidFill>
                <a:latin typeface="VNI-Helve" charset="0"/>
                <a:ea typeface="標楷體" charset="0"/>
              </a:defRPr>
            </a:lvl4pPr>
            <a:lvl5pPr marL="2057400" indent="-228600">
              <a:spcBef>
                <a:spcPct val="20000"/>
              </a:spcBef>
              <a:buChar char="»"/>
              <a:defRPr kumimoji="1" sz="2000">
                <a:solidFill>
                  <a:srgbClr val="1C1C1C"/>
                </a:solidFill>
                <a:latin typeface="VNI-Helve" charset="0"/>
                <a:ea typeface="標楷體" charset="0"/>
              </a:defRPr>
            </a:lvl5pPr>
            <a:lvl6pPr marL="2514600" indent="-228600" eaLnBrk="0" fontAlgn="base" hangingPunct="0">
              <a:spcBef>
                <a:spcPct val="20000"/>
              </a:spcBef>
              <a:spcAft>
                <a:spcPct val="0"/>
              </a:spcAft>
              <a:buChar char="»"/>
              <a:defRPr kumimoji="1" sz="2000">
                <a:solidFill>
                  <a:srgbClr val="1C1C1C"/>
                </a:solidFill>
                <a:latin typeface="VNI-Helve" charset="0"/>
                <a:ea typeface="標楷體" charset="0"/>
              </a:defRPr>
            </a:lvl6pPr>
            <a:lvl7pPr marL="2971800" indent="-228600" eaLnBrk="0" fontAlgn="base" hangingPunct="0">
              <a:spcBef>
                <a:spcPct val="20000"/>
              </a:spcBef>
              <a:spcAft>
                <a:spcPct val="0"/>
              </a:spcAft>
              <a:buChar char="»"/>
              <a:defRPr kumimoji="1" sz="2000">
                <a:solidFill>
                  <a:srgbClr val="1C1C1C"/>
                </a:solidFill>
                <a:latin typeface="VNI-Helve" charset="0"/>
                <a:ea typeface="標楷體" charset="0"/>
              </a:defRPr>
            </a:lvl7pPr>
            <a:lvl8pPr marL="3429000" indent="-228600" eaLnBrk="0" fontAlgn="base" hangingPunct="0">
              <a:spcBef>
                <a:spcPct val="20000"/>
              </a:spcBef>
              <a:spcAft>
                <a:spcPct val="0"/>
              </a:spcAft>
              <a:buChar char="»"/>
              <a:defRPr kumimoji="1" sz="2000">
                <a:solidFill>
                  <a:srgbClr val="1C1C1C"/>
                </a:solidFill>
                <a:latin typeface="VNI-Helve" charset="0"/>
                <a:ea typeface="標楷體" charset="0"/>
              </a:defRPr>
            </a:lvl8pPr>
            <a:lvl9pPr marL="3886200" indent="-228600" eaLnBrk="0" fontAlgn="base" hangingPunct="0">
              <a:spcBef>
                <a:spcPct val="20000"/>
              </a:spcBef>
              <a:spcAft>
                <a:spcPct val="0"/>
              </a:spcAft>
              <a:buChar char="»"/>
              <a:defRPr kumimoji="1" sz="2000">
                <a:solidFill>
                  <a:srgbClr val="1C1C1C"/>
                </a:solidFill>
                <a:latin typeface="VNI-Helve" charset="0"/>
                <a:ea typeface="標楷體" charset="0"/>
              </a:defRPr>
            </a:lvl9pPr>
          </a:lstStyle>
          <a:p>
            <a:pPr algn="ctr" eaLnBrk="1" hangingPunct="1">
              <a:spcBef>
                <a:spcPct val="0"/>
              </a:spcBef>
              <a:buClrTx/>
              <a:buSzTx/>
              <a:buFontTx/>
              <a:buNone/>
            </a:pPr>
            <a:r>
              <a:rPr lang="en-US" altLang="en-US" sz="1200">
                <a:solidFill>
                  <a:schemeClr val="tx1"/>
                </a:solidFill>
                <a:latin typeface="Arial" charset="0"/>
              </a:rPr>
              <a:t>31</a:t>
            </a:r>
          </a:p>
        </p:txBody>
      </p:sp>
    </p:spTree>
    <p:extLst>
      <p:ext uri="{BB962C8B-B14F-4D97-AF65-F5344CB8AC3E}">
        <p14:creationId xmlns:p14="http://schemas.microsoft.com/office/powerpoint/2010/main" val="1618556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7F1F19A6-CD9C-DA46-92FF-C3FAE327D10F}"/>
              </a:ext>
            </a:extLst>
          </p:cNvPr>
          <p:cNvSpPr>
            <a:spLocks noGrp="1" noChangeArrowheads="1"/>
          </p:cNvSpPr>
          <p:nvPr>
            <p:ph type="title"/>
          </p:nvPr>
        </p:nvSpPr>
        <p:spPr/>
        <p:txBody>
          <a:bodyPr/>
          <a:lstStyle/>
          <a:p>
            <a:r>
              <a:rPr lang="en-US" altLang="en-US"/>
              <a:t>Free-Space Management (Cont.)</a:t>
            </a:r>
          </a:p>
        </p:txBody>
      </p:sp>
      <p:sp>
        <p:nvSpPr>
          <p:cNvPr id="65538" name="Content Placeholder 2">
            <a:extLst>
              <a:ext uri="{FF2B5EF4-FFF2-40B4-BE49-F238E27FC236}">
                <a16:creationId xmlns:a16="http://schemas.microsoft.com/office/drawing/2014/main" id="{AC489EE4-5CE2-D74D-AFDE-86F2AA783984}"/>
              </a:ext>
            </a:extLst>
          </p:cNvPr>
          <p:cNvSpPr>
            <a:spLocks noGrp="1" noChangeArrowheads="1"/>
          </p:cNvSpPr>
          <p:nvPr>
            <p:ph idx="1"/>
          </p:nvPr>
        </p:nvSpPr>
        <p:spPr/>
        <p:txBody>
          <a:bodyPr/>
          <a:lstStyle/>
          <a:p>
            <a:pPr>
              <a:spcBef>
                <a:spcPts val="400"/>
              </a:spcBef>
              <a:spcAft>
                <a:spcPts val="400"/>
              </a:spcAft>
            </a:pPr>
            <a:r>
              <a:rPr lang="en-US" altLang="en-US" dirty="0"/>
              <a:t>Space Maps</a:t>
            </a:r>
          </a:p>
          <a:p>
            <a:pPr lvl="1">
              <a:spcBef>
                <a:spcPts val="400"/>
              </a:spcBef>
              <a:spcAft>
                <a:spcPts val="400"/>
              </a:spcAft>
            </a:pPr>
            <a:r>
              <a:rPr lang="en-US" altLang="en-US" dirty="0"/>
              <a:t>Used in ZFS</a:t>
            </a:r>
          </a:p>
          <a:p>
            <a:pPr lvl="1">
              <a:spcBef>
                <a:spcPts val="400"/>
              </a:spcBef>
              <a:spcAft>
                <a:spcPts val="400"/>
              </a:spcAft>
            </a:pPr>
            <a:r>
              <a:rPr lang="en-US" altLang="en-US" dirty="0"/>
              <a:t>Consider meta-data I/O on very large file systems</a:t>
            </a:r>
          </a:p>
          <a:p>
            <a:pPr lvl="2">
              <a:spcBef>
                <a:spcPts val="400"/>
              </a:spcBef>
              <a:spcAft>
                <a:spcPts val="400"/>
              </a:spcAft>
            </a:pPr>
            <a:r>
              <a:rPr lang="en-US" altLang="en-US" dirty="0"/>
              <a:t>Full data structures like bit maps </a:t>
            </a:r>
            <a:r>
              <a:rPr lang="en-US" altLang="en-US" dirty="0" err="1"/>
              <a:t>couldn</a:t>
            </a:r>
            <a:r>
              <a:rPr lang="ja-JP" altLang="en-US"/>
              <a:t>’</a:t>
            </a:r>
            <a:r>
              <a:rPr lang="en-US" altLang="ja-JP" dirty="0"/>
              <a:t>t fit in memory –&gt; thousands of I/</a:t>
            </a:r>
            <a:r>
              <a:rPr lang="en-US" altLang="ja-JP" dirty="0" err="1"/>
              <a:t>Os</a:t>
            </a:r>
            <a:endParaRPr lang="en-US" altLang="ja-JP" dirty="0"/>
          </a:p>
          <a:p>
            <a:pPr lvl="1">
              <a:spcBef>
                <a:spcPts val="400"/>
              </a:spcBef>
              <a:spcAft>
                <a:spcPts val="400"/>
              </a:spcAft>
            </a:pPr>
            <a:r>
              <a:rPr lang="en-US" altLang="en-US" dirty="0"/>
              <a:t>Divides device space into </a:t>
            </a:r>
            <a:r>
              <a:rPr lang="en-US" altLang="en-US" dirty="0" err="1"/>
              <a:t>metaslab</a:t>
            </a:r>
            <a:r>
              <a:rPr lang="en-US" altLang="en-US" dirty="0"/>
              <a:t> units and manages </a:t>
            </a:r>
            <a:r>
              <a:rPr lang="en-US" altLang="en-US" dirty="0" err="1"/>
              <a:t>metaslabs</a:t>
            </a:r>
            <a:endParaRPr lang="en-US" altLang="en-US" dirty="0"/>
          </a:p>
          <a:p>
            <a:pPr lvl="2">
              <a:spcBef>
                <a:spcPts val="400"/>
              </a:spcBef>
              <a:spcAft>
                <a:spcPts val="400"/>
              </a:spcAft>
            </a:pPr>
            <a:r>
              <a:rPr lang="en-US" altLang="en-US" dirty="0"/>
              <a:t>Given volume can contain hundreds of </a:t>
            </a:r>
            <a:r>
              <a:rPr lang="en-US" altLang="en-US" dirty="0" err="1"/>
              <a:t>metaslabs</a:t>
            </a:r>
            <a:endParaRPr lang="en-US" altLang="en-US" dirty="0"/>
          </a:p>
          <a:p>
            <a:pPr lvl="1">
              <a:spcBef>
                <a:spcPts val="400"/>
              </a:spcBef>
              <a:spcAft>
                <a:spcPts val="400"/>
              </a:spcAft>
            </a:pPr>
            <a:r>
              <a:rPr lang="en-US" altLang="en-US" dirty="0"/>
              <a:t>Each </a:t>
            </a:r>
            <a:r>
              <a:rPr lang="en-US" altLang="en-US" dirty="0" err="1"/>
              <a:t>metaslab</a:t>
            </a:r>
            <a:r>
              <a:rPr lang="en-US" altLang="en-US" dirty="0"/>
              <a:t> has associated space map</a:t>
            </a:r>
          </a:p>
          <a:p>
            <a:pPr lvl="2">
              <a:spcBef>
                <a:spcPts val="400"/>
              </a:spcBef>
              <a:spcAft>
                <a:spcPts val="400"/>
              </a:spcAft>
            </a:pPr>
            <a:r>
              <a:rPr lang="en-US" altLang="en-US" dirty="0"/>
              <a:t>Uses counting algorithm</a:t>
            </a:r>
          </a:p>
          <a:p>
            <a:pPr lvl="1">
              <a:spcBef>
                <a:spcPts val="400"/>
              </a:spcBef>
              <a:spcAft>
                <a:spcPts val="400"/>
              </a:spcAft>
            </a:pPr>
            <a:r>
              <a:rPr lang="en-US" altLang="en-US" dirty="0"/>
              <a:t>But records to log file rather than file system</a:t>
            </a:r>
          </a:p>
          <a:p>
            <a:pPr lvl="2">
              <a:spcBef>
                <a:spcPts val="400"/>
              </a:spcBef>
              <a:spcAft>
                <a:spcPts val="400"/>
              </a:spcAft>
            </a:pPr>
            <a:r>
              <a:rPr lang="en-US" altLang="en-US" dirty="0"/>
              <a:t>Log of all block activity, in time order, in counting format</a:t>
            </a:r>
          </a:p>
          <a:p>
            <a:pPr lvl="1">
              <a:spcBef>
                <a:spcPts val="400"/>
              </a:spcBef>
              <a:spcAft>
                <a:spcPts val="400"/>
              </a:spcAft>
            </a:pPr>
            <a:r>
              <a:rPr lang="en-US" altLang="en-US" dirty="0" err="1"/>
              <a:t>Metaslab</a:t>
            </a:r>
            <a:r>
              <a:rPr lang="en-US" altLang="en-US" dirty="0"/>
              <a:t> activity –&gt; load space map into memory in balanced-tree structure, indexed  by offset</a:t>
            </a:r>
          </a:p>
          <a:p>
            <a:pPr lvl="2">
              <a:spcBef>
                <a:spcPts val="400"/>
              </a:spcBef>
              <a:spcAft>
                <a:spcPts val="400"/>
              </a:spcAft>
            </a:pPr>
            <a:r>
              <a:rPr lang="en-US" altLang="en-US" dirty="0"/>
              <a:t>Replay log into that structure</a:t>
            </a:r>
          </a:p>
          <a:p>
            <a:pPr lvl="2">
              <a:spcBef>
                <a:spcPts val="400"/>
              </a:spcBef>
              <a:spcAft>
                <a:spcPts val="400"/>
              </a:spcAft>
            </a:pPr>
            <a:r>
              <a:rPr lang="en-US" altLang="en-US" dirty="0"/>
              <a:t>Combine contiguous free blocks into single entry</a:t>
            </a:r>
          </a:p>
          <a:p>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1" name="Title 1">
            <a:extLst>
              <a:ext uri="{FF2B5EF4-FFF2-40B4-BE49-F238E27FC236}">
                <a16:creationId xmlns:a16="http://schemas.microsoft.com/office/drawing/2014/main" id="{EFF9E975-8190-E24D-9036-13B449CE7DD5}"/>
              </a:ext>
            </a:extLst>
          </p:cNvPr>
          <p:cNvSpPr>
            <a:spLocks noGrp="1" noChangeArrowheads="1"/>
          </p:cNvSpPr>
          <p:nvPr>
            <p:ph type="title"/>
          </p:nvPr>
        </p:nvSpPr>
        <p:spPr/>
        <p:txBody>
          <a:bodyPr/>
          <a:lstStyle/>
          <a:p>
            <a:r>
              <a:rPr lang="en-US" altLang="en-US"/>
              <a:t>TRIMing Unused Blocks</a:t>
            </a:r>
          </a:p>
        </p:txBody>
      </p:sp>
      <p:sp>
        <p:nvSpPr>
          <p:cNvPr id="66562" name="Content Placeholder 2">
            <a:extLst>
              <a:ext uri="{FF2B5EF4-FFF2-40B4-BE49-F238E27FC236}">
                <a16:creationId xmlns:a16="http://schemas.microsoft.com/office/drawing/2014/main" id="{20E12541-B276-394D-A7C6-F77956F8DAFA}"/>
              </a:ext>
            </a:extLst>
          </p:cNvPr>
          <p:cNvSpPr>
            <a:spLocks noGrp="1" noChangeArrowheads="1"/>
          </p:cNvSpPr>
          <p:nvPr>
            <p:ph idx="1"/>
          </p:nvPr>
        </p:nvSpPr>
        <p:spPr/>
        <p:txBody>
          <a:bodyPr/>
          <a:lstStyle/>
          <a:p>
            <a:r>
              <a:rPr lang="en-US" altLang="en-US" b="1" dirty="0">
                <a:solidFill>
                  <a:srgbClr val="0070C0"/>
                </a:solidFill>
              </a:rPr>
              <a:t>HDDs</a:t>
            </a:r>
            <a:r>
              <a:rPr lang="en-US" altLang="en-US" dirty="0"/>
              <a:t> overwrite in place so need only free list</a:t>
            </a:r>
          </a:p>
          <a:p>
            <a:pPr lvl="1"/>
            <a:r>
              <a:rPr lang="en-US" altLang="en-US" dirty="0"/>
              <a:t>Blocks not treated specially when freed</a:t>
            </a:r>
          </a:p>
          <a:p>
            <a:pPr lvl="1"/>
            <a:r>
              <a:rPr lang="en-US" altLang="en-US" dirty="0"/>
              <a:t>Keeps its data but without any file pointers to it, until overwritten</a:t>
            </a:r>
          </a:p>
          <a:p>
            <a:r>
              <a:rPr lang="en-US" altLang="en-US" dirty="0"/>
              <a:t>Storage devices not allowing overwrite (e.g., </a:t>
            </a:r>
            <a:r>
              <a:rPr lang="en-US" altLang="en-US" b="1" dirty="0">
                <a:solidFill>
                  <a:srgbClr val="0070C0"/>
                </a:solidFill>
              </a:rPr>
              <a:t>NVM</a:t>
            </a:r>
            <a:r>
              <a:rPr lang="en-US" altLang="en-US" dirty="0"/>
              <a:t>) suffer badly with same algorithm</a:t>
            </a:r>
          </a:p>
          <a:p>
            <a:pPr lvl="1"/>
            <a:r>
              <a:rPr lang="en-US" altLang="en-US" dirty="0"/>
              <a:t>Must be erased before written, erases made in large chunks (blocks, composed of pages) and are slow</a:t>
            </a:r>
          </a:p>
          <a:p>
            <a:pPr lvl="1"/>
            <a:r>
              <a:rPr lang="en-US" altLang="en-US" i="1" dirty="0">
                <a:solidFill>
                  <a:srgbClr val="0070C0"/>
                </a:solidFill>
              </a:rPr>
              <a:t>TRIM</a:t>
            </a:r>
            <a:r>
              <a:rPr lang="en-US" altLang="en-US" dirty="0"/>
              <a:t> is a newer mechanism for the file system to inform the NVM storage device that a page is free</a:t>
            </a:r>
          </a:p>
          <a:p>
            <a:pPr lvl="2"/>
            <a:r>
              <a:rPr lang="en-US" altLang="en-US" dirty="0"/>
              <a:t>Can be garbage collected or if block is free, now block can be erased</a:t>
            </a:r>
          </a:p>
          <a:p>
            <a:pPr lvl="1"/>
            <a:endParaRPr lang="en-US" altLang="en-US" dirty="0"/>
          </a:p>
          <a:p>
            <a:pPr lvl="2"/>
            <a:endParaRPr lang="en-US" altLang="en-US" dirty="0"/>
          </a:p>
          <a:p>
            <a:endParaRPr lang="en-US"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478B01B1-045B-5F49-9034-40507FF0DC41}"/>
              </a:ext>
            </a:extLst>
          </p:cNvPr>
          <p:cNvSpPr>
            <a:spLocks noGrp="1" noChangeArrowheads="1"/>
          </p:cNvSpPr>
          <p:nvPr>
            <p:ph type="title"/>
          </p:nvPr>
        </p:nvSpPr>
        <p:spPr/>
        <p:txBody>
          <a:bodyPr/>
          <a:lstStyle/>
          <a:p>
            <a:r>
              <a:rPr lang="en-US" altLang="en-US"/>
              <a:t>Efficiency and Performance</a:t>
            </a:r>
          </a:p>
        </p:txBody>
      </p:sp>
      <p:sp>
        <p:nvSpPr>
          <p:cNvPr id="67586" name="Rectangle 3">
            <a:extLst>
              <a:ext uri="{FF2B5EF4-FFF2-40B4-BE49-F238E27FC236}">
                <a16:creationId xmlns:a16="http://schemas.microsoft.com/office/drawing/2014/main" id="{D23CA7C5-0D14-E047-A227-4D06D9D060FE}"/>
              </a:ext>
            </a:extLst>
          </p:cNvPr>
          <p:cNvSpPr>
            <a:spLocks noGrp="1" noChangeArrowheads="1"/>
          </p:cNvSpPr>
          <p:nvPr>
            <p:ph idx="1"/>
          </p:nvPr>
        </p:nvSpPr>
        <p:spPr/>
        <p:txBody>
          <a:bodyPr/>
          <a:lstStyle/>
          <a:p>
            <a:pPr>
              <a:spcBef>
                <a:spcPts val="400"/>
              </a:spcBef>
              <a:spcAft>
                <a:spcPts val="400"/>
              </a:spcAft>
            </a:pPr>
            <a:r>
              <a:rPr lang="en-US" altLang="en-US" i="1" dirty="0">
                <a:solidFill>
                  <a:srgbClr val="0070C0"/>
                </a:solidFill>
              </a:rPr>
              <a:t>Efficiency</a:t>
            </a:r>
            <a:r>
              <a:rPr lang="en-US" altLang="en-US" dirty="0"/>
              <a:t> dependent on:</a:t>
            </a:r>
          </a:p>
          <a:p>
            <a:pPr lvl="1">
              <a:spcBef>
                <a:spcPts val="400"/>
              </a:spcBef>
              <a:spcAft>
                <a:spcPts val="400"/>
              </a:spcAft>
            </a:pPr>
            <a:r>
              <a:rPr lang="en-US" altLang="en-US" dirty="0"/>
              <a:t>Disk allocation and directory algorithms</a:t>
            </a:r>
          </a:p>
          <a:p>
            <a:pPr lvl="1">
              <a:spcBef>
                <a:spcPts val="400"/>
              </a:spcBef>
              <a:spcAft>
                <a:spcPts val="400"/>
              </a:spcAft>
            </a:pPr>
            <a:r>
              <a:rPr lang="en-US" altLang="en-US" dirty="0"/>
              <a:t>Types of data kept in file</a:t>
            </a:r>
            <a:r>
              <a:rPr lang="ja-JP" altLang="en-US"/>
              <a:t>’</a:t>
            </a:r>
            <a:r>
              <a:rPr lang="en-US" altLang="ja-JP" dirty="0"/>
              <a:t>s directory entry</a:t>
            </a:r>
          </a:p>
          <a:p>
            <a:pPr lvl="1">
              <a:spcBef>
                <a:spcPts val="400"/>
              </a:spcBef>
              <a:spcAft>
                <a:spcPts val="400"/>
              </a:spcAft>
            </a:pPr>
            <a:r>
              <a:rPr lang="en-US" altLang="en-US" dirty="0"/>
              <a:t>Pre-allocation or as-needed allocation of metadata structures</a:t>
            </a:r>
          </a:p>
          <a:p>
            <a:pPr lvl="1">
              <a:spcBef>
                <a:spcPts val="400"/>
              </a:spcBef>
              <a:spcAft>
                <a:spcPts val="400"/>
              </a:spcAft>
            </a:pPr>
            <a:r>
              <a:rPr lang="en-US" altLang="en-US" dirty="0"/>
              <a:t>Fixed-size or varying-size data structures</a:t>
            </a:r>
          </a:p>
          <a:p>
            <a:pPr>
              <a:spcBef>
                <a:spcPts val="400"/>
              </a:spcBef>
              <a:spcAft>
                <a:spcPts val="400"/>
              </a:spcAft>
            </a:pPr>
            <a:r>
              <a:rPr lang="en-US" altLang="en-US" i="1" dirty="0">
                <a:solidFill>
                  <a:srgbClr val="0070C0"/>
                </a:solidFill>
              </a:rPr>
              <a:t>Performance</a:t>
            </a:r>
          </a:p>
          <a:p>
            <a:pPr lvl="1">
              <a:spcBef>
                <a:spcPts val="400"/>
              </a:spcBef>
              <a:spcAft>
                <a:spcPts val="400"/>
              </a:spcAft>
            </a:pPr>
            <a:r>
              <a:rPr lang="en-US" altLang="en-US" dirty="0"/>
              <a:t>Keeping data and metadata close together</a:t>
            </a:r>
          </a:p>
          <a:p>
            <a:pPr lvl="1">
              <a:spcBef>
                <a:spcPts val="400"/>
              </a:spcBef>
              <a:spcAft>
                <a:spcPts val="400"/>
              </a:spcAft>
            </a:pPr>
            <a:r>
              <a:rPr lang="en-US" altLang="en-US" dirty="0"/>
              <a:t>Buffer cache – separate section of main memory for frequently used blocks</a:t>
            </a:r>
          </a:p>
          <a:p>
            <a:pPr lvl="1">
              <a:spcBef>
                <a:spcPts val="400"/>
              </a:spcBef>
              <a:spcAft>
                <a:spcPts val="400"/>
              </a:spcAft>
            </a:pPr>
            <a:r>
              <a:rPr lang="en-US" altLang="en-US" dirty="0"/>
              <a:t>Synchronous writes sometimes requested by apps or needed by OS</a:t>
            </a:r>
          </a:p>
          <a:p>
            <a:pPr lvl="2">
              <a:spcBef>
                <a:spcPts val="400"/>
              </a:spcBef>
              <a:spcAft>
                <a:spcPts val="400"/>
              </a:spcAft>
            </a:pPr>
            <a:r>
              <a:rPr lang="en-US" altLang="en-US" dirty="0"/>
              <a:t>No buffering / caching – writes must hit disk before acknowledgement</a:t>
            </a:r>
          </a:p>
          <a:p>
            <a:pPr lvl="2">
              <a:spcBef>
                <a:spcPts val="400"/>
              </a:spcBef>
              <a:spcAft>
                <a:spcPts val="400"/>
              </a:spcAft>
            </a:pPr>
            <a:r>
              <a:rPr lang="en-US" altLang="en-US" dirty="0"/>
              <a:t>Asynchronous writes more common, buffer-able, faster</a:t>
            </a:r>
          </a:p>
          <a:p>
            <a:pPr lvl="1">
              <a:spcBef>
                <a:spcPts val="400"/>
              </a:spcBef>
              <a:spcAft>
                <a:spcPts val="400"/>
              </a:spcAft>
            </a:pPr>
            <a:r>
              <a:rPr lang="en-US" altLang="en-US" dirty="0"/>
              <a:t>Free-behind and read-ahead – techniques to optimize sequential access</a:t>
            </a:r>
          </a:p>
          <a:p>
            <a:pPr lvl="1">
              <a:spcBef>
                <a:spcPts val="400"/>
              </a:spcBef>
              <a:spcAft>
                <a:spcPts val="400"/>
              </a:spcAft>
            </a:pPr>
            <a:r>
              <a:rPr lang="en-US" altLang="en-US" dirty="0"/>
              <a:t>Reads frequently slower than writes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84D6E4A3-35A3-8C43-9696-B164C8EBD220}"/>
              </a:ext>
            </a:extLst>
          </p:cNvPr>
          <p:cNvSpPr>
            <a:spLocks noGrp="1" noChangeArrowheads="1"/>
          </p:cNvSpPr>
          <p:nvPr>
            <p:ph type="title"/>
          </p:nvPr>
        </p:nvSpPr>
        <p:spPr/>
        <p:txBody>
          <a:bodyPr/>
          <a:lstStyle/>
          <a:p>
            <a:r>
              <a:rPr lang="en-US" altLang="en-US"/>
              <a:t>Page Cache</a:t>
            </a:r>
          </a:p>
        </p:txBody>
      </p:sp>
      <p:sp>
        <p:nvSpPr>
          <p:cNvPr id="71682" name="Rectangle 3">
            <a:extLst>
              <a:ext uri="{FF2B5EF4-FFF2-40B4-BE49-F238E27FC236}">
                <a16:creationId xmlns:a16="http://schemas.microsoft.com/office/drawing/2014/main" id="{A04B2A94-B62A-8841-85E3-E78DC07A9A88}"/>
              </a:ext>
            </a:extLst>
          </p:cNvPr>
          <p:cNvSpPr>
            <a:spLocks noGrp="1" noChangeArrowheads="1"/>
          </p:cNvSpPr>
          <p:nvPr>
            <p:ph idx="1"/>
          </p:nvPr>
        </p:nvSpPr>
        <p:spPr/>
        <p:txBody>
          <a:bodyPr/>
          <a:lstStyle/>
          <a:p>
            <a:r>
              <a:rPr lang="en-US" altLang="en-US" dirty="0"/>
              <a:t>A page cache caches pages rather than disk blocks using virtual memory techniques and addresses</a:t>
            </a:r>
          </a:p>
          <a:p>
            <a:endParaRPr lang="en-US" altLang="en-US" dirty="0"/>
          </a:p>
          <a:p>
            <a:r>
              <a:rPr lang="en-US" altLang="en-US" dirty="0"/>
              <a:t>Memory-mapped I/O uses a page cache</a:t>
            </a:r>
          </a:p>
          <a:p>
            <a:endParaRPr lang="en-US" altLang="en-US" dirty="0"/>
          </a:p>
          <a:p>
            <a:r>
              <a:rPr lang="en-US" altLang="en-US" dirty="0"/>
              <a:t>Routine I/O through the file system uses the buffer (disk) cache</a:t>
            </a:r>
          </a:p>
          <a:p>
            <a:endParaRPr lang="en-US" altLang="en-US" dirty="0"/>
          </a:p>
          <a:p>
            <a:r>
              <a:rPr lang="en-US" altLang="en-US" dirty="0"/>
              <a:t>This leads to the following figure</a:t>
            </a:r>
          </a:p>
          <a:p>
            <a:endParaRPr lang="en-US" altLang="en-US" dirty="0"/>
          </a:p>
          <a:p>
            <a:endParaRPr lang="en-US"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D1DA8F83-81AF-9E4F-B76C-6118E7EB3720}"/>
              </a:ext>
            </a:extLst>
          </p:cNvPr>
          <p:cNvSpPr>
            <a:spLocks noGrp="1" noChangeArrowheads="1"/>
          </p:cNvSpPr>
          <p:nvPr>
            <p:ph type="title"/>
          </p:nvPr>
        </p:nvSpPr>
        <p:spPr/>
        <p:txBody>
          <a:bodyPr/>
          <a:lstStyle/>
          <a:p>
            <a:r>
              <a:rPr lang="en-US" altLang="en-US"/>
              <a:t>I/O Without a Unified Buffer Cache</a:t>
            </a:r>
          </a:p>
        </p:txBody>
      </p:sp>
      <p:pic>
        <p:nvPicPr>
          <p:cNvPr id="73730" name="Picture 2">
            <a:extLst>
              <a:ext uri="{FF2B5EF4-FFF2-40B4-BE49-F238E27FC236}">
                <a16:creationId xmlns:a16="http://schemas.microsoft.com/office/drawing/2014/main" id="{036000AC-9EE9-3042-B93D-C6B1E19EE7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538" y="1547813"/>
            <a:ext cx="4151312" cy="404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04FCD70C-7492-8A4A-890A-40976FC2319B}"/>
              </a:ext>
            </a:extLst>
          </p:cNvPr>
          <p:cNvSpPr>
            <a:spLocks noGrp="1" noChangeArrowheads="1"/>
          </p:cNvSpPr>
          <p:nvPr>
            <p:ph type="title"/>
          </p:nvPr>
        </p:nvSpPr>
        <p:spPr/>
        <p:txBody>
          <a:bodyPr/>
          <a:lstStyle/>
          <a:p>
            <a:r>
              <a:rPr lang="en-US" altLang="en-US"/>
              <a:t>I/O Using a Unified Buffer Cache</a:t>
            </a:r>
          </a:p>
        </p:txBody>
      </p:sp>
      <p:sp>
        <p:nvSpPr>
          <p:cNvPr id="3" name="Content Placeholder 2">
            <a:extLst>
              <a:ext uri="{FF2B5EF4-FFF2-40B4-BE49-F238E27FC236}">
                <a16:creationId xmlns:a16="http://schemas.microsoft.com/office/drawing/2014/main" id="{DBF30210-B3E9-A340-A04D-761BF1AB9138}"/>
              </a:ext>
            </a:extLst>
          </p:cNvPr>
          <p:cNvSpPr>
            <a:spLocks noGrp="1"/>
          </p:cNvSpPr>
          <p:nvPr>
            <p:ph sz="half" idx="10"/>
          </p:nvPr>
        </p:nvSpPr>
        <p:spPr/>
        <p:txBody>
          <a:bodyPr/>
          <a:lstStyle/>
          <a:p>
            <a:r>
              <a:rPr lang="en-US" altLang="en-US" dirty="0"/>
              <a:t>A </a:t>
            </a:r>
            <a:r>
              <a:rPr lang="en-US" altLang="en-US" i="1" dirty="0">
                <a:solidFill>
                  <a:srgbClr val="0070C0"/>
                </a:solidFill>
              </a:rPr>
              <a:t>unified buffer cache </a:t>
            </a:r>
            <a:r>
              <a:rPr lang="en-US" altLang="en-US" dirty="0"/>
              <a:t>uses the same page cache to cache both memory-mapped pages and ordinary file system I/O to avoid double caching</a:t>
            </a:r>
          </a:p>
          <a:p>
            <a:pPr lvl="1"/>
            <a:endParaRPr lang="en-US" altLang="en-US" dirty="0"/>
          </a:p>
          <a:p>
            <a:r>
              <a:rPr lang="en-US" altLang="en-US" dirty="0"/>
              <a:t>But which caches get priority, and what replacement algorithms to use?</a:t>
            </a:r>
          </a:p>
          <a:p>
            <a:endParaRPr lang="en-US" dirty="0"/>
          </a:p>
        </p:txBody>
      </p:sp>
      <p:pic>
        <p:nvPicPr>
          <p:cNvPr id="77826" name="Picture 2">
            <a:extLst>
              <a:ext uri="{FF2B5EF4-FFF2-40B4-BE49-F238E27FC236}">
                <a16:creationId xmlns:a16="http://schemas.microsoft.com/office/drawing/2014/main" id="{AC74F318-EBBD-534F-944D-48FE1FDA2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100" y="2125364"/>
            <a:ext cx="5326844" cy="3700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CF9EEE73-D563-F34A-BB3A-EB19D4C823B1}"/>
              </a:ext>
            </a:extLst>
          </p:cNvPr>
          <p:cNvSpPr>
            <a:spLocks noGrp="1" noChangeArrowheads="1"/>
          </p:cNvSpPr>
          <p:nvPr>
            <p:ph type="title"/>
          </p:nvPr>
        </p:nvSpPr>
        <p:spPr/>
        <p:txBody>
          <a:bodyPr/>
          <a:lstStyle/>
          <a:p>
            <a:r>
              <a:rPr lang="en-US" altLang="en-US"/>
              <a:t>Recovery</a:t>
            </a:r>
          </a:p>
        </p:txBody>
      </p:sp>
      <p:sp>
        <p:nvSpPr>
          <p:cNvPr id="79874" name="Rectangle 3">
            <a:extLst>
              <a:ext uri="{FF2B5EF4-FFF2-40B4-BE49-F238E27FC236}">
                <a16:creationId xmlns:a16="http://schemas.microsoft.com/office/drawing/2014/main" id="{B3087E92-46A8-7745-82A6-97E375D82A48}"/>
              </a:ext>
            </a:extLst>
          </p:cNvPr>
          <p:cNvSpPr>
            <a:spLocks noGrp="1" noChangeArrowheads="1"/>
          </p:cNvSpPr>
          <p:nvPr>
            <p:ph idx="1"/>
          </p:nvPr>
        </p:nvSpPr>
        <p:spPr/>
        <p:txBody>
          <a:bodyPr/>
          <a:lstStyle/>
          <a:p>
            <a:r>
              <a:rPr lang="en-US" altLang="en-US" i="1" dirty="0">
                <a:solidFill>
                  <a:srgbClr val="0070C0"/>
                </a:solidFill>
              </a:rPr>
              <a:t>Consistency checking </a:t>
            </a:r>
            <a:r>
              <a:rPr lang="en-US" altLang="en-US" dirty="0"/>
              <a:t>– compares data in directory structure with data blocks on disk, and tries to fix inconsistencies</a:t>
            </a:r>
          </a:p>
          <a:p>
            <a:pPr lvl="1"/>
            <a:r>
              <a:rPr lang="en-US" altLang="en-US" dirty="0"/>
              <a:t>Can be slow and sometimes fails</a:t>
            </a:r>
            <a:br>
              <a:rPr lang="en-US" altLang="en-US" dirty="0"/>
            </a:br>
            <a:endParaRPr lang="en-US" altLang="en-US" dirty="0"/>
          </a:p>
          <a:p>
            <a:r>
              <a:rPr lang="en-US" altLang="en-US" dirty="0"/>
              <a:t>Use system programs to </a:t>
            </a:r>
            <a:r>
              <a:rPr lang="en-US" altLang="en-US" i="1" dirty="0">
                <a:solidFill>
                  <a:srgbClr val="0070C0"/>
                </a:solidFill>
              </a:rPr>
              <a:t>back up data </a:t>
            </a:r>
            <a:r>
              <a:rPr lang="en-US" altLang="en-US" dirty="0"/>
              <a:t>from disk to another storage device (magnetic tape, other magnetic disk, optical)</a:t>
            </a:r>
            <a:br>
              <a:rPr lang="en-US" altLang="en-US" dirty="0"/>
            </a:br>
            <a:endParaRPr lang="en-US" altLang="en-US" dirty="0"/>
          </a:p>
          <a:p>
            <a:r>
              <a:rPr lang="en-US" altLang="en-US" dirty="0"/>
              <a:t>Recover lost file or disk by </a:t>
            </a:r>
            <a:r>
              <a:rPr lang="en-US" altLang="en-US" i="1" dirty="0">
                <a:solidFill>
                  <a:srgbClr val="0070C0"/>
                </a:solidFill>
              </a:rPr>
              <a:t>restoring data from backup</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CBC79F07-A9C3-F146-9103-435351D4F1AF}"/>
              </a:ext>
            </a:extLst>
          </p:cNvPr>
          <p:cNvSpPr>
            <a:spLocks noGrp="1" noChangeArrowheads="1"/>
          </p:cNvSpPr>
          <p:nvPr>
            <p:ph type="title"/>
          </p:nvPr>
        </p:nvSpPr>
        <p:spPr/>
        <p:txBody>
          <a:bodyPr/>
          <a:lstStyle/>
          <a:p>
            <a:r>
              <a:rPr lang="en-US" altLang="en-US"/>
              <a:t>Log Structured File Systems</a:t>
            </a:r>
          </a:p>
        </p:txBody>
      </p:sp>
      <p:sp>
        <p:nvSpPr>
          <p:cNvPr id="81922" name="Rectangle 3">
            <a:extLst>
              <a:ext uri="{FF2B5EF4-FFF2-40B4-BE49-F238E27FC236}">
                <a16:creationId xmlns:a16="http://schemas.microsoft.com/office/drawing/2014/main" id="{88E6AC57-26DE-7C47-A831-B866DDE4836A}"/>
              </a:ext>
            </a:extLst>
          </p:cNvPr>
          <p:cNvSpPr>
            <a:spLocks noGrp="1" noChangeArrowheads="1"/>
          </p:cNvSpPr>
          <p:nvPr>
            <p:ph idx="1"/>
          </p:nvPr>
        </p:nvSpPr>
        <p:spPr/>
        <p:txBody>
          <a:bodyPr/>
          <a:lstStyle/>
          <a:p>
            <a:pPr>
              <a:spcBef>
                <a:spcPts val="400"/>
              </a:spcBef>
              <a:spcAft>
                <a:spcPts val="400"/>
              </a:spcAft>
            </a:pPr>
            <a:r>
              <a:rPr lang="en-US" altLang="en-US" i="1" dirty="0">
                <a:solidFill>
                  <a:srgbClr val="0070C0"/>
                </a:solidFill>
              </a:rPr>
              <a:t>Log structured (or journaling) file systems </a:t>
            </a:r>
            <a:r>
              <a:rPr lang="en-US" altLang="en-US" dirty="0"/>
              <a:t>record each metadata update to the file system as a transaction</a:t>
            </a:r>
          </a:p>
          <a:p>
            <a:pPr lvl="1">
              <a:spcBef>
                <a:spcPts val="400"/>
              </a:spcBef>
              <a:spcAft>
                <a:spcPts val="400"/>
              </a:spcAft>
            </a:pPr>
            <a:r>
              <a:rPr lang="en-US" altLang="en-US" dirty="0"/>
              <a:t>All transactions are written to a log</a:t>
            </a:r>
          </a:p>
          <a:p>
            <a:pPr lvl="2">
              <a:spcBef>
                <a:spcPts val="400"/>
              </a:spcBef>
              <a:spcAft>
                <a:spcPts val="400"/>
              </a:spcAft>
            </a:pPr>
            <a:r>
              <a:rPr lang="en-US" altLang="en-US" dirty="0"/>
              <a:t> A transaction is considered committed once it is written to the log (sequentially)</a:t>
            </a:r>
          </a:p>
          <a:p>
            <a:pPr lvl="2">
              <a:spcBef>
                <a:spcPts val="400"/>
              </a:spcBef>
              <a:spcAft>
                <a:spcPts val="400"/>
              </a:spcAft>
            </a:pPr>
            <a:r>
              <a:rPr lang="en-US" altLang="en-US" dirty="0"/>
              <a:t>Sometimes to a separate device or section of disk</a:t>
            </a:r>
          </a:p>
          <a:p>
            <a:pPr lvl="2">
              <a:spcBef>
                <a:spcPts val="400"/>
              </a:spcBef>
              <a:spcAft>
                <a:spcPts val="400"/>
              </a:spcAft>
            </a:pPr>
            <a:r>
              <a:rPr lang="en-US" altLang="en-US" dirty="0"/>
              <a:t>However, the file system may not yet be updated</a:t>
            </a:r>
          </a:p>
          <a:p>
            <a:pPr lvl="1">
              <a:spcBef>
                <a:spcPts val="400"/>
              </a:spcBef>
              <a:spcAft>
                <a:spcPts val="400"/>
              </a:spcAft>
            </a:pPr>
            <a:r>
              <a:rPr lang="en-US" altLang="en-US" dirty="0"/>
              <a:t>The transactions in the log are asynchronously written to the file system structures</a:t>
            </a:r>
          </a:p>
          <a:p>
            <a:pPr lvl="1">
              <a:spcBef>
                <a:spcPts val="400"/>
              </a:spcBef>
              <a:spcAft>
                <a:spcPts val="400"/>
              </a:spcAft>
            </a:pPr>
            <a:r>
              <a:rPr lang="en-US" altLang="en-US" dirty="0"/>
              <a:t> When the file system structures are modified, the transaction is removed from the log</a:t>
            </a:r>
          </a:p>
          <a:p>
            <a:pPr>
              <a:spcBef>
                <a:spcPts val="400"/>
              </a:spcBef>
              <a:spcAft>
                <a:spcPts val="400"/>
              </a:spcAft>
            </a:pPr>
            <a:r>
              <a:rPr lang="en-US" altLang="en-US" dirty="0"/>
              <a:t>If the file system crashes, all remaining transactions in the log must still be performed</a:t>
            </a:r>
          </a:p>
          <a:p>
            <a:pPr>
              <a:spcBef>
                <a:spcPts val="400"/>
              </a:spcBef>
              <a:spcAft>
                <a:spcPts val="400"/>
              </a:spcAft>
            </a:pPr>
            <a:r>
              <a:rPr lang="en-US" altLang="en-US" dirty="0"/>
              <a:t>Faster recovery from crash, removes chance of inconsistency of metadata</a:t>
            </a:r>
          </a:p>
          <a:p>
            <a:endParaRPr lang="en-US"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4EF28632-DEB6-174C-8482-A1C0B1294649}"/>
              </a:ext>
            </a:extLst>
          </p:cNvPr>
          <p:cNvSpPr>
            <a:spLocks noGrp="1" noChangeArrowheads="1"/>
          </p:cNvSpPr>
          <p:nvPr>
            <p:ph type="title"/>
          </p:nvPr>
        </p:nvSpPr>
        <p:spPr/>
        <p:txBody>
          <a:bodyPr/>
          <a:lstStyle/>
          <a:p>
            <a:r>
              <a:rPr lang="en-US" altLang="en-US"/>
              <a:t>Example: WAFL File System</a:t>
            </a:r>
          </a:p>
        </p:txBody>
      </p:sp>
      <p:sp>
        <p:nvSpPr>
          <p:cNvPr id="83970" name="Rectangle 3">
            <a:extLst>
              <a:ext uri="{FF2B5EF4-FFF2-40B4-BE49-F238E27FC236}">
                <a16:creationId xmlns:a16="http://schemas.microsoft.com/office/drawing/2014/main" id="{AE813969-D603-EF4D-99D0-EA21FEE1888E}"/>
              </a:ext>
            </a:extLst>
          </p:cNvPr>
          <p:cNvSpPr>
            <a:spLocks noGrp="1" noChangeArrowheads="1"/>
          </p:cNvSpPr>
          <p:nvPr>
            <p:ph idx="1"/>
          </p:nvPr>
        </p:nvSpPr>
        <p:spPr/>
        <p:txBody>
          <a:bodyPr/>
          <a:lstStyle/>
          <a:p>
            <a:r>
              <a:rPr lang="en-US" i="1" dirty="0">
                <a:solidFill>
                  <a:srgbClr val="0070C0"/>
                </a:solidFill>
              </a:rPr>
              <a:t>Write-Anywhere File Layout </a:t>
            </a:r>
            <a:r>
              <a:rPr lang="en-US" dirty="0"/>
              <a:t>(</a:t>
            </a:r>
            <a:r>
              <a:rPr lang="en-US" b="1" dirty="0">
                <a:solidFill>
                  <a:srgbClr val="0070C0"/>
                </a:solidFill>
              </a:rPr>
              <a:t>WAFL</a:t>
            </a:r>
            <a:r>
              <a:rPr lang="en-US" dirty="0"/>
              <a:t>)</a:t>
            </a:r>
            <a:endParaRPr lang="en-US" altLang="en-US" dirty="0"/>
          </a:p>
          <a:p>
            <a:pPr lvl="1"/>
            <a:r>
              <a:rPr lang="en-US" altLang="en-US" dirty="0"/>
              <a:t>Used on Network Appliance </a:t>
            </a:r>
            <a:r>
              <a:rPr lang="ja-JP" altLang="en-US"/>
              <a:t>“</a:t>
            </a:r>
            <a:r>
              <a:rPr lang="en-US" altLang="ja-JP" dirty="0"/>
              <a:t>Filers</a:t>
            </a:r>
            <a:r>
              <a:rPr lang="ja-JP" altLang="en-US"/>
              <a:t>”</a:t>
            </a:r>
            <a:r>
              <a:rPr lang="en-US" altLang="ja-JP" dirty="0"/>
              <a:t> – distributed file system appliances</a:t>
            </a:r>
            <a:endParaRPr lang="en-US" altLang="en-US" dirty="0"/>
          </a:p>
          <a:p>
            <a:pPr lvl="1"/>
            <a:r>
              <a:rPr lang="en-US" altLang="en-US" dirty="0"/>
              <a:t>Serves up NFS, CIFS, http, ftp</a:t>
            </a:r>
          </a:p>
          <a:p>
            <a:pPr lvl="1"/>
            <a:r>
              <a:rPr lang="en-US" altLang="en-US" dirty="0"/>
              <a:t>Random I/O optimized, write optimized</a:t>
            </a:r>
          </a:p>
          <a:p>
            <a:pPr lvl="2"/>
            <a:r>
              <a:rPr lang="en-US" altLang="en-US" dirty="0"/>
              <a:t>NVRAM for write caching</a:t>
            </a:r>
          </a:p>
          <a:p>
            <a:pPr lvl="1"/>
            <a:r>
              <a:rPr lang="en-US" altLang="en-US" dirty="0"/>
              <a:t>Similar to Berkeley Fast File System, with extensive modifications</a:t>
            </a:r>
          </a:p>
        </p:txBody>
      </p:sp>
      <p:pic>
        <p:nvPicPr>
          <p:cNvPr id="4" name="Picture 2">
            <a:extLst>
              <a:ext uri="{FF2B5EF4-FFF2-40B4-BE49-F238E27FC236}">
                <a16:creationId xmlns:a16="http://schemas.microsoft.com/office/drawing/2014/main" id="{3ECFE977-0A82-4143-B10F-3F9E94D13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00" y="4181997"/>
            <a:ext cx="6590150" cy="2236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CC22D22D-C0CC-934B-9C91-C17AAAEA5678}"/>
              </a:ext>
            </a:extLst>
          </p:cNvPr>
          <p:cNvSpPr>
            <a:spLocks noGrp="1" noChangeArrowheads="1"/>
          </p:cNvSpPr>
          <p:nvPr>
            <p:ph type="title"/>
          </p:nvPr>
        </p:nvSpPr>
        <p:spPr>
          <a:xfrm>
            <a:off x="685800" y="101600"/>
            <a:ext cx="8077200" cy="609600"/>
          </a:xfrm>
        </p:spPr>
        <p:txBody>
          <a:bodyPr/>
          <a:lstStyle/>
          <a:p>
            <a:pPr eaLnBrk="1" hangingPunct="1"/>
            <a:r>
              <a:rPr lang="en-US" altLang="en-US"/>
              <a:t>Snapshots in WAFL</a:t>
            </a:r>
          </a:p>
        </p:txBody>
      </p:sp>
      <p:pic>
        <p:nvPicPr>
          <p:cNvPr id="88066" name="Picture 2">
            <a:extLst>
              <a:ext uri="{FF2B5EF4-FFF2-40B4-BE49-F238E27FC236}">
                <a16:creationId xmlns:a16="http://schemas.microsoft.com/office/drawing/2014/main" id="{69C405E3-1E0A-1F46-B715-99E0D5645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2497" y="1144563"/>
            <a:ext cx="3719384" cy="535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92652BD8-D8EC-1044-8961-20EB046D27DC}"/>
              </a:ext>
            </a:extLst>
          </p:cNvPr>
          <p:cNvSpPr>
            <a:spLocks noGrp="1" noChangeArrowheads="1"/>
          </p:cNvSpPr>
          <p:nvPr>
            <p:ph type="title"/>
          </p:nvPr>
        </p:nvSpPr>
        <p:spPr/>
        <p:txBody>
          <a:bodyPr/>
          <a:lstStyle/>
          <a:p>
            <a:r>
              <a:rPr lang="en-US" altLang="en-US"/>
              <a:t>The Apple File System</a:t>
            </a:r>
          </a:p>
        </p:txBody>
      </p:sp>
      <p:pic>
        <p:nvPicPr>
          <p:cNvPr id="93186" name="Content Placeholder 4">
            <a:extLst>
              <a:ext uri="{FF2B5EF4-FFF2-40B4-BE49-F238E27FC236}">
                <a16:creationId xmlns:a16="http://schemas.microsoft.com/office/drawing/2014/main" id="{F246CA29-93FB-3D4B-8E68-15FBBADB9A0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79221" y="1049851"/>
            <a:ext cx="5573712" cy="5329238"/>
          </a:xfr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509C3-DFFB-DF4F-9E16-780D40C244D8}"/>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E1F0D32-792C-3E41-8D30-33E57F9FB20C}"/>
              </a:ext>
            </a:extLst>
          </p:cNvPr>
          <p:cNvSpPr>
            <a:spLocks noGrp="1"/>
          </p:cNvSpPr>
          <p:nvPr>
            <p:ph idx="1"/>
          </p:nvPr>
        </p:nvSpPr>
        <p:spPr/>
        <p:txBody>
          <a:bodyPr/>
          <a:lstStyle/>
          <a:p>
            <a:r>
              <a:rPr lang="en-US" dirty="0"/>
              <a:t>Most file systems reside on </a:t>
            </a:r>
            <a:r>
              <a:rPr lang="en-US" i="1" dirty="0">
                <a:solidFill>
                  <a:srgbClr val="0070C0"/>
                </a:solidFill>
              </a:rPr>
              <a:t>secondary storage</a:t>
            </a:r>
            <a:r>
              <a:rPr lang="en-US" dirty="0"/>
              <a:t>, which is designed to hold a large amount of data permanently. The most common secondary-storage medium is the </a:t>
            </a:r>
            <a:r>
              <a:rPr lang="en-US" i="1" dirty="0">
                <a:solidFill>
                  <a:srgbClr val="0070C0"/>
                </a:solidFill>
              </a:rPr>
              <a:t>disk</a:t>
            </a:r>
            <a:r>
              <a:rPr lang="en-US" dirty="0"/>
              <a:t>, but the use of </a:t>
            </a:r>
            <a:r>
              <a:rPr lang="en-US" i="1" dirty="0">
                <a:solidFill>
                  <a:srgbClr val="0070C0"/>
                </a:solidFill>
              </a:rPr>
              <a:t>NVM devices </a:t>
            </a:r>
            <a:r>
              <a:rPr lang="en-US" dirty="0"/>
              <a:t>is increasing.</a:t>
            </a:r>
          </a:p>
          <a:p>
            <a:r>
              <a:rPr lang="en-US" dirty="0"/>
              <a:t>Storage devices are segmented into </a:t>
            </a:r>
            <a:r>
              <a:rPr lang="en-US" i="1" dirty="0">
                <a:solidFill>
                  <a:srgbClr val="0070C0"/>
                </a:solidFill>
              </a:rPr>
              <a:t>partitions</a:t>
            </a:r>
            <a:r>
              <a:rPr lang="en-US" dirty="0"/>
              <a:t> to control media use and to allow </a:t>
            </a:r>
            <a:r>
              <a:rPr lang="en-US" i="1" dirty="0">
                <a:solidFill>
                  <a:srgbClr val="0070C0"/>
                </a:solidFill>
              </a:rPr>
              <a:t>multiple, possibly varying, file systems on a single device</a:t>
            </a:r>
            <a:r>
              <a:rPr lang="en-US" dirty="0"/>
              <a:t>. These file systems are mounted onto a logical file system architecture to make them available for use.</a:t>
            </a:r>
          </a:p>
          <a:p>
            <a:r>
              <a:rPr lang="en-US" i="1" dirty="0">
                <a:solidFill>
                  <a:srgbClr val="0070C0"/>
                </a:solidFill>
              </a:rPr>
              <a:t>File systems </a:t>
            </a:r>
            <a:r>
              <a:rPr lang="en-US" dirty="0"/>
              <a:t>are often implemented in a </a:t>
            </a:r>
            <a:r>
              <a:rPr lang="en-US" i="1" dirty="0">
                <a:solidFill>
                  <a:srgbClr val="0070C0"/>
                </a:solidFill>
              </a:rPr>
              <a:t>layered or modular structure</a:t>
            </a:r>
            <a:r>
              <a:rPr lang="en-US" dirty="0"/>
              <a:t>. The lower levels deal with the physical properties of storage devices and communicating with them. Upper levels deal with symbolic file names and logical properties of files.</a:t>
            </a:r>
          </a:p>
        </p:txBody>
      </p:sp>
    </p:spTree>
    <p:extLst>
      <p:ext uri="{BB962C8B-B14F-4D97-AF65-F5344CB8AC3E}">
        <p14:creationId xmlns:p14="http://schemas.microsoft.com/office/powerpoint/2010/main" val="17659316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001C3-08C5-CD42-8208-D60E079E2E09}"/>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A5ED9097-C25A-674E-B96F-47158A300BE6}"/>
              </a:ext>
            </a:extLst>
          </p:cNvPr>
          <p:cNvSpPr>
            <a:spLocks noGrp="1"/>
          </p:cNvSpPr>
          <p:nvPr>
            <p:ph idx="1"/>
          </p:nvPr>
        </p:nvSpPr>
        <p:spPr/>
        <p:txBody>
          <a:bodyPr/>
          <a:lstStyle/>
          <a:p>
            <a:r>
              <a:rPr lang="en-US" dirty="0"/>
              <a:t>The various files within a file system can be allocated space on the storage device in three ways: through </a:t>
            </a:r>
            <a:r>
              <a:rPr lang="en-US" i="1" dirty="0">
                <a:solidFill>
                  <a:srgbClr val="0070C0"/>
                </a:solidFill>
              </a:rPr>
              <a:t>contiguous</a:t>
            </a:r>
            <a:r>
              <a:rPr lang="en-US" dirty="0"/>
              <a:t>, </a:t>
            </a:r>
            <a:r>
              <a:rPr lang="en-US" i="1" dirty="0">
                <a:solidFill>
                  <a:srgbClr val="0070C0"/>
                </a:solidFill>
              </a:rPr>
              <a:t>linked</a:t>
            </a:r>
            <a:r>
              <a:rPr lang="en-US" dirty="0"/>
              <a:t>, or </a:t>
            </a:r>
            <a:r>
              <a:rPr lang="en-US" i="1" dirty="0">
                <a:solidFill>
                  <a:srgbClr val="0070C0"/>
                </a:solidFill>
              </a:rPr>
              <a:t>indexed</a:t>
            </a:r>
            <a:r>
              <a:rPr lang="en-US" dirty="0"/>
              <a:t> </a:t>
            </a:r>
            <a:r>
              <a:rPr lang="en-US" i="1" dirty="0">
                <a:solidFill>
                  <a:srgbClr val="0070C0"/>
                </a:solidFill>
              </a:rPr>
              <a:t>allocation</a:t>
            </a:r>
            <a:r>
              <a:rPr lang="en-US" dirty="0"/>
              <a:t>. Contiguous allocation can suffer from external fragmentation. Direct access is very inefficient with linked allocation. Indexed allocation may require substantial overhead for its index block. </a:t>
            </a:r>
          </a:p>
          <a:p>
            <a:pPr marL="400050" lvl="1" indent="0">
              <a:buNone/>
            </a:pPr>
            <a:r>
              <a:rPr lang="en-US" sz="2000" dirty="0"/>
              <a:t>These algorithms can be optimized in many ways. Contiguous space can be enlarged through extents to increase flexibility and to decrease external fragmentation. Indexed allocation can be done in clusters of multiple blocks to increase throughput and to reduce the number of index entries needed. Indexing in large clusters is similar to contiguous allocation with extents.</a:t>
            </a:r>
          </a:p>
        </p:txBody>
      </p:sp>
    </p:spTree>
    <p:extLst>
      <p:ext uri="{BB962C8B-B14F-4D97-AF65-F5344CB8AC3E}">
        <p14:creationId xmlns:p14="http://schemas.microsoft.com/office/powerpoint/2010/main" val="24833619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415F9-2F5E-D947-AA61-3B68B21DA3CE}"/>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DFD74AD6-9EC6-3A4A-A512-B4E96A4974A7}"/>
              </a:ext>
            </a:extLst>
          </p:cNvPr>
          <p:cNvSpPr>
            <a:spLocks noGrp="1"/>
          </p:cNvSpPr>
          <p:nvPr>
            <p:ph idx="1"/>
          </p:nvPr>
        </p:nvSpPr>
        <p:spPr/>
        <p:txBody>
          <a:bodyPr/>
          <a:lstStyle/>
          <a:p>
            <a:r>
              <a:rPr lang="en-US" i="1" dirty="0">
                <a:solidFill>
                  <a:srgbClr val="0070C0"/>
                </a:solidFill>
              </a:rPr>
              <a:t>Free-space allocation methods </a:t>
            </a:r>
            <a:r>
              <a:rPr lang="en-US" dirty="0"/>
              <a:t>also influence the efficiency of disk-space use, the performance of the file system, and the reliability of secondary storage. The methods used include bit vectors and linked lists. Optimizations include grouping, counting, and the FAT, which places the linked list in one contiguous area.</a:t>
            </a:r>
          </a:p>
          <a:p>
            <a:r>
              <a:rPr lang="en-US" i="1" dirty="0">
                <a:solidFill>
                  <a:srgbClr val="0070C0"/>
                </a:solidFill>
              </a:rPr>
              <a:t>Directory-management routines</a:t>
            </a:r>
            <a:r>
              <a:rPr lang="en-US" dirty="0"/>
              <a:t> must consider efficiency, performance, and reliability. A hash table is a commonly used method, as it is fast and efficient. Unfortunately, damage to the table or a system crash can result in inconsistency between the directory information and the disk’s contents.</a:t>
            </a:r>
          </a:p>
          <a:p>
            <a:r>
              <a:rPr lang="en-US" dirty="0"/>
              <a:t>A </a:t>
            </a:r>
            <a:r>
              <a:rPr lang="en-US" i="1" dirty="0">
                <a:solidFill>
                  <a:srgbClr val="0070C0"/>
                </a:solidFill>
              </a:rPr>
              <a:t>consistency checker </a:t>
            </a:r>
            <a:r>
              <a:rPr lang="en-US" dirty="0"/>
              <a:t>can be used to repair damaged file-system structures. Operating-system backup tools allow data to be copied to magnetic tape or other storage devices, enabling the user to recover from data loss or even entire device loss due to hardware failure, operating system bug, or user error.</a:t>
            </a:r>
          </a:p>
        </p:txBody>
      </p:sp>
    </p:spTree>
    <p:extLst>
      <p:ext uri="{BB962C8B-B14F-4D97-AF65-F5344CB8AC3E}">
        <p14:creationId xmlns:p14="http://schemas.microsoft.com/office/powerpoint/2010/main" val="9374143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415F9-2F5E-D947-AA61-3B68B21DA3CE}"/>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DFD74AD6-9EC6-3A4A-A512-B4E96A4974A7}"/>
              </a:ext>
            </a:extLst>
          </p:cNvPr>
          <p:cNvSpPr>
            <a:spLocks noGrp="1"/>
          </p:cNvSpPr>
          <p:nvPr>
            <p:ph idx="1"/>
          </p:nvPr>
        </p:nvSpPr>
        <p:spPr/>
        <p:txBody>
          <a:bodyPr/>
          <a:lstStyle/>
          <a:p>
            <a:r>
              <a:rPr lang="en-US"/>
              <a:t>Due </a:t>
            </a:r>
            <a:r>
              <a:rPr lang="en-US" dirty="0"/>
              <a:t>to the fundamental role that file systems play in system operation, their </a:t>
            </a:r>
            <a:r>
              <a:rPr lang="en-US" i="1" dirty="0">
                <a:solidFill>
                  <a:srgbClr val="0070C0"/>
                </a:solidFill>
              </a:rPr>
              <a:t>performance</a:t>
            </a:r>
            <a:r>
              <a:rPr lang="en-US" dirty="0"/>
              <a:t> and </a:t>
            </a:r>
            <a:r>
              <a:rPr lang="en-US" i="1" dirty="0">
                <a:solidFill>
                  <a:srgbClr val="0070C0"/>
                </a:solidFill>
              </a:rPr>
              <a:t>reliability</a:t>
            </a:r>
            <a:r>
              <a:rPr lang="en-US" dirty="0"/>
              <a:t> are crucial. Techniques such as log structures and caching help improve performance, while log structures and RAID improve reliability. The WAFL file system is an example of optimization of performance to match a specific I/O load.</a:t>
            </a:r>
          </a:p>
          <a:p>
            <a:endParaRPr lang="en-US" dirty="0"/>
          </a:p>
        </p:txBody>
      </p:sp>
    </p:spTree>
    <p:extLst>
      <p:ext uri="{BB962C8B-B14F-4D97-AF65-F5344CB8AC3E}">
        <p14:creationId xmlns:p14="http://schemas.microsoft.com/office/powerpoint/2010/main" val="15642301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9BFA83E3-4E2A-DD49-92C6-090088AD1EA0}"/>
              </a:ext>
            </a:extLst>
          </p:cNvPr>
          <p:cNvSpPr>
            <a:spLocks noGrp="1" noChangeArrowheads="1"/>
          </p:cNvSpPr>
          <p:nvPr>
            <p:ph type="ctrTitle"/>
          </p:nvPr>
        </p:nvSpPr>
        <p:spPr/>
        <p:txBody>
          <a:bodyPr/>
          <a:lstStyle/>
          <a:p>
            <a:r>
              <a:rPr lang="en-US" altLang="en-US" dirty="0"/>
              <a:t>End of </a:t>
            </a:r>
            <a:r>
              <a:rPr lang="en-US" altLang="en-US"/>
              <a:t>Chapter 10.B.</a:t>
            </a:r>
            <a:endParaRPr lang="en-US" altLang="en-US" dirty="0"/>
          </a:p>
        </p:txBody>
      </p:sp>
    </p:spTree>
  </p:cSld>
  <p:clrMapOvr>
    <a:masterClrMapping/>
  </p:clrMapOvr>
</p:sld>
</file>

<file path=ppt/theme/theme1.xml><?xml version="1.0" encoding="utf-8"?>
<a:theme xmlns:a="http://schemas.openxmlformats.org/drawingml/2006/main" name="OperatingSystemConcepts">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peratingSystemConcepts" id="{F8E01D2B-A27E-FF48-B737-DDB7D6CB064F}" vid="{D97EA67A-8CE5-DC46-BC31-5702E291385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OperatingSystemConcepts</Template>
  <TotalTime>48384</TotalTime>
  <Words>3273</Words>
  <Application>Microsoft Macintosh PowerPoint</Application>
  <PresentationFormat>On-screen Show (4:3)</PresentationFormat>
  <Paragraphs>459</Paragraphs>
  <Slides>52</Slides>
  <Notes>35</Notes>
  <HiddenSlides>16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Helvetica</vt:lpstr>
      <vt:lpstr>Monotype Sorts</vt:lpstr>
      <vt:lpstr>Times New Roman</vt:lpstr>
      <vt:lpstr>Verdana</vt:lpstr>
      <vt:lpstr>Webdings</vt:lpstr>
      <vt:lpstr>OperatingSystemConcepts</vt:lpstr>
      <vt:lpstr>Chapter 10.B:  File-System Implementation</vt:lpstr>
      <vt:lpstr> Chapter 10.B: Outline</vt:lpstr>
      <vt:lpstr>Objectives</vt:lpstr>
      <vt:lpstr>File-System Structure</vt:lpstr>
      <vt:lpstr>Layered File System</vt:lpstr>
      <vt:lpstr>Layered File System</vt:lpstr>
      <vt:lpstr>File System Layers (Cont.)</vt:lpstr>
      <vt:lpstr>File-System Implementation</vt:lpstr>
      <vt:lpstr>File-System Implementation (Cont.)</vt:lpstr>
      <vt:lpstr>File-System Implementation (Cont.)</vt:lpstr>
      <vt:lpstr>In-Memory File System Structures</vt:lpstr>
      <vt:lpstr>In-Memory File System Structures</vt:lpstr>
      <vt:lpstr>Directory Implementation</vt:lpstr>
      <vt:lpstr>Allocation Methods – Contiguous</vt:lpstr>
      <vt:lpstr>Contiguous Allocation</vt:lpstr>
      <vt:lpstr>Extent-Based Systems</vt:lpstr>
      <vt:lpstr>Allocation Methods - Linked</vt:lpstr>
      <vt:lpstr>Linked Allocation</vt:lpstr>
      <vt:lpstr>Linked Allocation</vt:lpstr>
      <vt:lpstr>File-Allocation Table (FAT)</vt:lpstr>
      <vt:lpstr>Allocation Methods – Indexed</vt:lpstr>
      <vt:lpstr>Example of Indexed Allocation</vt:lpstr>
      <vt:lpstr>Indexed Allocation (Cont.)</vt:lpstr>
      <vt:lpstr>Indexed Allocation – Mapping (Cont.)</vt:lpstr>
      <vt:lpstr>Indexed Allocation – Mapping (Cont.)</vt:lpstr>
      <vt:lpstr>Indexed Allocation – Mapping (Cont.)</vt:lpstr>
      <vt:lpstr>Combined Scheme:  UNIX UFS</vt:lpstr>
      <vt:lpstr>PowerPoint Presentation</vt:lpstr>
      <vt:lpstr>Performance</vt:lpstr>
      <vt:lpstr>Performance (Cont.)</vt:lpstr>
      <vt:lpstr>Free-Space Management</vt:lpstr>
      <vt:lpstr>Free-Space Management (Cont.)</vt:lpstr>
      <vt:lpstr>Linked Free Space List on Disk</vt:lpstr>
      <vt:lpstr>Free-Space Management (Cont.)</vt:lpstr>
      <vt:lpstr>Free-Space Management (Cont.)</vt:lpstr>
      <vt:lpstr>Free-Space Management (Cont.)</vt:lpstr>
      <vt:lpstr>Free-Space Management (Cont.)</vt:lpstr>
      <vt:lpstr>TRIMing Unused Blocks</vt:lpstr>
      <vt:lpstr>Efficiency and Performance</vt:lpstr>
      <vt:lpstr>Page Cache</vt:lpstr>
      <vt:lpstr>I/O Without a Unified Buffer Cache</vt:lpstr>
      <vt:lpstr>I/O Using a Unified Buffer Cache</vt:lpstr>
      <vt:lpstr>Recovery</vt:lpstr>
      <vt:lpstr>Log Structured File Systems</vt:lpstr>
      <vt:lpstr>Example: WAFL File System</vt:lpstr>
      <vt:lpstr>Snapshots in WAFL</vt:lpstr>
      <vt:lpstr>The Apple File System</vt:lpstr>
      <vt:lpstr>Summary</vt:lpstr>
      <vt:lpstr>Summary (Cont.)</vt:lpstr>
      <vt:lpstr>Summary (Cont.)</vt:lpstr>
      <vt:lpstr>Summary (Cont.)</vt:lpstr>
      <vt:lpstr>End of Chapter 10.B.</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Microsoft Office User</cp:lastModifiedBy>
  <cp:revision>278</cp:revision>
  <cp:lastPrinted>2020-06-01T04:41:36Z</cp:lastPrinted>
  <dcterms:created xsi:type="dcterms:W3CDTF">2011-01-13T23:43:38Z</dcterms:created>
  <dcterms:modified xsi:type="dcterms:W3CDTF">2024-01-08T07:36:18Z</dcterms:modified>
</cp:coreProperties>
</file>