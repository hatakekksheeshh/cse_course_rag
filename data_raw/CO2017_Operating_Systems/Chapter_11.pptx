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24" r:id="rId1"/>
  </p:sldMasterIdLst>
  <p:notesMasterIdLst>
    <p:notesMasterId r:id="rId51"/>
  </p:notesMasterIdLst>
  <p:handoutMasterIdLst>
    <p:handoutMasterId r:id="rId52"/>
  </p:handoutMasterIdLst>
  <p:sldIdLst>
    <p:sldId id="331" r:id="rId2"/>
    <p:sldId id="332" r:id="rId3"/>
    <p:sldId id="333" r:id="rId4"/>
    <p:sldId id="334" r:id="rId5"/>
    <p:sldId id="335" r:id="rId6"/>
    <p:sldId id="336" r:id="rId7"/>
    <p:sldId id="337" r:id="rId8"/>
    <p:sldId id="338" r:id="rId9"/>
    <p:sldId id="339" r:id="rId10"/>
    <p:sldId id="394" r:id="rId11"/>
    <p:sldId id="395" r:id="rId12"/>
    <p:sldId id="396" r:id="rId13"/>
    <p:sldId id="340" r:id="rId14"/>
    <p:sldId id="342" r:id="rId15"/>
    <p:sldId id="397" r:id="rId16"/>
    <p:sldId id="347" r:id="rId17"/>
    <p:sldId id="374" r:id="rId18"/>
    <p:sldId id="348" r:id="rId19"/>
    <p:sldId id="349" r:id="rId20"/>
    <p:sldId id="352" r:id="rId21"/>
    <p:sldId id="353" r:id="rId22"/>
    <p:sldId id="354" r:id="rId23"/>
    <p:sldId id="355" r:id="rId24"/>
    <p:sldId id="376" r:id="rId25"/>
    <p:sldId id="398" r:id="rId26"/>
    <p:sldId id="399" r:id="rId27"/>
    <p:sldId id="377" r:id="rId28"/>
    <p:sldId id="400" r:id="rId29"/>
    <p:sldId id="391" r:id="rId30"/>
    <p:sldId id="401" r:id="rId31"/>
    <p:sldId id="343" r:id="rId32"/>
    <p:sldId id="346" r:id="rId33"/>
    <p:sldId id="403" r:id="rId34"/>
    <p:sldId id="402" r:id="rId35"/>
    <p:sldId id="344" r:id="rId36"/>
    <p:sldId id="345" r:id="rId37"/>
    <p:sldId id="381" r:id="rId38"/>
    <p:sldId id="382" r:id="rId39"/>
    <p:sldId id="383" r:id="rId40"/>
    <p:sldId id="384" r:id="rId41"/>
    <p:sldId id="385" r:id="rId42"/>
    <p:sldId id="386" r:id="rId43"/>
    <p:sldId id="388" r:id="rId44"/>
    <p:sldId id="393" r:id="rId45"/>
    <p:sldId id="404" r:id="rId46"/>
    <p:sldId id="405" r:id="rId47"/>
    <p:sldId id="406" r:id="rId48"/>
    <p:sldId id="407" r:id="rId49"/>
    <p:sldId id="390" r:id="rId50"/>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547" autoAdjust="0"/>
    <p:restoredTop sz="68333" autoAdjust="0"/>
  </p:normalViewPr>
  <p:slideViewPr>
    <p:cSldViewPr snapToGrid="0">
      <p:cViewPr varScale="1">
        <p:scale>
          <a:sx n="71" d="100"/>
          <a:sy n="71" d="100"/>
        </p:scale>
        <p:origin x="1904" y="17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53FCF5B-D6E3-694A-9465-830FDD3CEA4C}"/>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D2FDD3B0-2343-2044-8F4B-6BA6A307CF41}"/>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76D7A87-BDFD-8D42-9430-E2E5A44744B3}"/>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F9CCC644-F5A6-3741-B175-A336ED0D5272}"/>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smtClean="0">
                <a:latin typeface="Helvetica" pitchFamily="2" charset="0"/>
              </a:defRPr>
            </a:lvl1pPr>
          </a:lstStyle>
          <a:p>
            <a:pPr>
              <a:defRPr/>
            </a:pPr>
            <a:fld id="{577C62C2-0662-9E4C-B8A8-084C673C0CE4}" type="slidenum">
              <a:rPr lang="en-US" altLang="en-US"/>
              <a:pPr>
                <a:defRPr/>
              </a:pPr>
              <a:t>‹#›</a:t>
            </a:fld>
            <a:endParaRPr lang="en-US" altLang="en-US"/>
          </a:p>
        </p:txBody>
      </p:sp>
    </p:spTree>
    <p:extLst>
      <p:ext uri="{BB962C8B-B14F-4D97-AF65-F5344CB8AC3E}">
        <p14:creationId xmlns:p14="http://schemas.microsoft.com/office/powerpoint/2010/main" val="265218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B9FA9FB-A58C-B342-9C47-1B53B063DB24}"/>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0105D26D-32EF-5E4F-BB50-A2E5FC0910D1}"/>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38685316-D9BD-1849-834B-F112EE06F25E}"/>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A364167-6F9D-8D46-8695-3C2A0D36D459}"/>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4039E3B-E592-4C46-983B-C9A615270155}"/>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B931BAC6-6EE4-D24E-A181-C9A4611BFE6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smtClean="0">
                <a:latin typeface="Times New Roman" panose="02020603050405020304" pitchFamily="18" charset="0"/>
              </a:defRPr>
            </a:lvl1pPr>
          </a:lstStyle>
          <a:p>
            <a:pPr>
              <a:defRPr/>
            </a:pPr>
            <a:fld id="{A416FF8D-0FFC-694E-BB8C-B01470260483}" type="slidenum">
              <a:rPr lang="en-US" altLang="en-US"/>
              <a:pPr>
                <a:defRPr/>
              </a:pPr>
              <a:t>‹#›</a:t>
            </a:fld>
            <a:endParaRPr lang="en-US" altLang="en-US"/>
          </a:p>
        </p:txBody>
      </p:sp>
    </p:spTree>
    <p:extLst>
      <p:ext uri="{BB962C8B-B14F-4D97-AF65-F5344CB8AC3E}">
        <p14:creationId xmlns:p14="http://schemas.microsoft.com/office/powerpoint/2010/main" val="964904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3B42D7BA-13D3-7242-A49D-E31939044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37D02B-65BB-3E4B-B165-019A907EB467}"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3BA71870-2BE2-F74A-9753-67CE5F9EF218}"/>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E883171-5EEA-A245-8134-7C7058DAB0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5041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BFC8B6F3-D594-EE41-A8B4-A3318B1A7B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8DA7C1-AC16-C14F-9B1C-F3A0BD1130AB}"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DF9F6C99-DCC8-EB47-AAFA-A9C6FF6EFDA6}"/>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D02D26CC-309A-1A4E-BA09-A68CE1DBA4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036656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7761B808-61FB-D943-95E5-34F81D639D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E9B7B-3521-6243-96D4-61256FA4BAB7}"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95143977-4D89-DD49-BD33-BFC50F1660D8}"/>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A01C04F3-E895-5A4F-B0AF-A95FA349CF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49172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059A7763-DF57-8040-B993-91BF4B4D82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039A56-2A57-CD46-AE1F-1FC8CF1FAF35}"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ADAEA25D-51E4-844F-9D2A-8A0DFA69CE85}"/>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46156B64-01BB-F743-A933-203519D09F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69841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574DB9CF-70B9-EF4C-8055-2397BACF5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725285-A6E2-3E4A-9C84-D2600E5CC3C7}"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86DA4E14-C45B-C04D-A2FD-99D46C70BCED}"/>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DBC986CC-792B-D94D-8C2C-687EA4E7CB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81977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29CDCD29-861B-E949-9F3C-F22472F2F4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EA4F59-5059-F244-A63E-F8E1876DBF6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1506" name="Rectangle 2">
            <a:extLst>
              <a:ext uri="{FF2B5EF4-FFF2-40B4-BE49-F238E27FC236}">
                <a16:creationId xmlns:a16="http://schemas.microsoft.com/office/drawing/2014/main" id="{0DF16296-678F-7C4D-A645-F261BAA3899F}"/>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6CBB087A-87F0-6442-8EC5-6ABC162339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61737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95A7B79C-F85A-6C46-A233-FD52C6B2E3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BE34C0D-595E-444A-9213-F38671CC5C77}"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3554" name="Rectangle 2">
            <a:extLst>
              <a:ext uri="{FF2B5EF4-FFF2-40B4-BE49-F238E27FC236}">
                <a16:creationId xmlns:a16="http://schemas.microsoft.com/office/drawing/2014/main" id="{C767C1BA-184A-C343-B8C5-0D862BABB545}"/>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4AC86457-396D-6B48-941C-0CBB439400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56747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A81EE61D-7569-9B48-95ED-9AC23E1B20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8AD73D-53C6-7D49-B857-E8B270E31600}"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66A94BAB-15B6-3848-A151-7E1FBFEDE4F5}"/>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FE7BF274-3ADD-C649-81A6-2BADD14E5A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73259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78857306-D18C-2845-95CB-390C26A9DB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335690-EBF0-AD4C-ACFA-AA0B72A5E4A2}"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AA3A8325-2F26-2E47-AF06-14891CA80E3D}"/>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25FACE91-DE11-F04E-88DD-BB6B661C73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767614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0B6EFD6-9391-CB42-B836-3584B5523B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80C9367-8B65-2D4A-A284-1389B7508686}"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6E03E98F-1977-7E40-83CF-B81318EDBC78}"/>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EB71F29E-7763-2B44-A727-D0C8B98946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63558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9E4A0FA0-EB9E-7C43-A779-A8208CC912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DE737F-8714-2F4F-8DDB-93AD52AEE116}"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711B1D7F-A51C-EB49-BB02-5F947CF12458}"/>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57A29461-5E1D-704C-9A0B-8A1AE7B63B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527292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66ADCA70-3BE9-3643-AC2E-0DA2D49CB6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931C92-FBBF-3F43-AE7D-CA53F503A21E}"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5842" name="Rectangle 2">
            <a:extLst>
              <a:ext uri="{FF2B5EF4-FFF2-40B4-BE49-F238E27FC236}">
                <a16:creationId xmlns:a16="http://schemas.microsoft.com/office/drawing/2014/main" id="{E81A588F-C3AA-AC40-A6FE-A4F2E408A3A9}"/>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291BE7EA-E355-9542-917B-7E29EDB9F3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7216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60B7B780-2568-0C4C-BD60-EE7A53F19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7D3BAA-ECA4-E04D-852E-93918908D65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15D71BE1-5BD5-4B4F-BB06-BC440E0498DC}"/>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CECFA8A0-11A3-1E46-A99A-4549913F1D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969478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230006D2-79E4-7840-9215-A964042BBC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FC18C0-EF56-B24A-900F-8549D8040F60}"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2CCAB0C9-A853-8C44-B46E-BE80358CFB2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C9708A96-A931-1C48-A386-7CB9B6C0B6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56975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3DC0DB0-D8A4-9349-85D6-27543E340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F21F24-C3BD-2E4E-9746-7C48386AC833}"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1986" name="Rectangle 2">
            <a:extLst>
              <a:ext uri="{FF2B5EF4-FFF2-40B4-BE49-F238E27FC236}">
                <a16:creationId xmlns:a16="http://schemas.microsoft.com/office/drawing/2014/main" id="{56B37746-A198-844B-9807-B2584B524B03}"/>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56D24C07-F1FF-0640-AEE7-B32CECB46B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08311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2C9F598-9642-5C4A-920C-3A0C1EA61C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8E2B3-A90D-524C-93A1-A8898326E85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4034" name="Rectangle 2">
            <a:extLst>
              <a:ext uri="{FF2B5EF4-FFF2-40B4-BE49-F238E27FC236}">
                <a16:creationId xmlns:a16="http://schemas.microsoft.com/office/drawing/2014/main" id="{CC73CFE0-11D2-5C4D-AF00-67FDF435B60F}"/>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EF46B057-17E6-5846-B6A3-9033E769F9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1997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5B85E5D6-3189-D245-9F03-D8FC908BA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70FFE0-DD0D-4D45-A69A-DA86BDB9D428}"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6082" name="Rectangle 2">
            <a:extLst>
              <a:ext uri="{FF2B5EF4-FFF2-40B4-BE49-F238E27FC236}">
                <a16:creationId xmlns:a16="http://schemas.microsoft.com/office/drawing/2014/main" id="{45763072-69E6-BC4A-9C06-D27A78B72CB8}"/>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B8820995-4B42-4E4D-BA10-7E24FF9B33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68393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5877070B-11EC-E04F-9056-FA6455BCE9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A52357-C8C6-864D-86D5-D64A95A29295}"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5D819150-B1E0-584B-A248-9819FA8C8A19}"/>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8CF405D1-E63F-134E-B047-E10CA21C6D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99943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134E44DE-B088-754F-9A67-4A87FEBF51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2A68289-2D65-AD45-8442-89F2FECE27DE}"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8F9CFFC9-CEFB-BF4C-B2A0-F95F12D748DF}"/>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7B482646-32F5-3A40-A398-8E50037B7D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14496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B09621F7-62D5-1943-A8D9-6B1AE46F3E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B2FAF0-811D-104B-9602-C8BEF65D76B6}"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0797BFEC-24E6-244B-93E9-E5BEC14FB159}"/>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1707A708-2BE0-7348-B6AE-15BCBFA3F1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89607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CE301280-1351-9746-BEEB-4C77B33ECE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A05D37-EC0C-AD49-8F72-954DD202FE0F}"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55793C5E-2869-6147-8BE8-C6DCF9DED891}"/>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3D2FAECD-99F2-1E4D-86DB-58702AF63E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654246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3BCCB04-A1FA-514B-A56F-A2E104D243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E6A9CE-00E9-294D-9328-9FBFA40F79D6}"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11DB2AAF-3BD4-6844-B0C9-9C47E323D36E}"/>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6834829-9532-514E-898A-FB693B4D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08451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6E5150B7-D48D-0C46-98CE-7C841BAF0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DBFB12-5FBA-6D41-83F4-FF2779D5AF6C}"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802E18AB-7319-6648-8B36-0018F6F84D0A}"/>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6C9DC259-97D4-7C4D-B47F-4E024FCC28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10989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1F4C9111-58C9-B94A-91B1-DA08B57FA2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1C1663A-731F-564A-8571-92739FE9D20A}"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0AEC61AE-04DD-A14C-9B1A-ECDEBBD720B8}"/>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AC89E927-9BCA-EF4D-83B4-6D14513940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17203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3A862B15-7209-6E4C-ADCD-395B349D77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DA701-C5BA-D540-8B78-C354AFF78765}"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BA12BA9F-0B1A-7247-9BD1-C7FAFA8D5F1F}"/>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F3DF9B16-4726-C64F-85A7-B9CA0505CF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8848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DC702B40-910E-BD47-B791-FCA6354EC1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6AFB70-919E-204C-A857-C26446AF8DE4}"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1D8DA136-8A71-664C-BF1E-DA0B1F6170C4}"/>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06D3BCFD-AD63-5C46-A890-D5AE02234D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11493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4A8F59CC-E755-0448-A789-ECFCA16A5D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D49E15-A5D2-EB4B-BAD6-E48E1830C9E8}"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013463D0-13CF-414B-A8FA-36533A6D4B14}"/>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0BF7229A-6E5E-9B4D-AACB-24B8BDF552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6810009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C9EFE5E-5C84-034E-B161-EC6D107015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406AB0-A8D9-5047-8963-1808D5879BA0}"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89C0D906-BCC8-F045-865C-3B6CAA60F074}"/>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B9969815-557A-E143-BDE0-C7820D0237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762047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391B2A28-7045-FB48-9529-3B81577A833D}"/>
              </a:ext>
            </a:extLst>
          </p:cNvPr>
          <p:cNvSpPr>
            <a:spLocks noGrp="1" noRot="1" noChangeAspect="1" noChangeArrowheads="1" noTextEdit="1"/>
          </p:cNvSpPr>
          <p:nvPr>
            <p:ph type="sldImg"/>
          </p:nvPr>
        </p:nvSpPr>
        <p:spPr>
          <a:ln/>
        </p:spPr>
      </p:sp>
      <p:sp>
        <p:nvSpPr>
          <p:cNvPr id="76802" name="Rectangle 3">
            <a:extLst>
              <a:ext uri="{FF2B5EF4-FFF2-40B4-BE49-F238E27FC236}">
                <a16:creationId xmlns:a16="http://schemas.microsoft.com/office/drawing/2014/main" id="{91BAABF4-042C-134A-B3A1-8C3E6E539A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84035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4EB2D193-9C09-164A-B28F-C53145C7DCC4}"/>
              </a:ext>
            </a:extLst>
          </p:cNvPr>
          <p:cNvSpPr>
            <a:spLocks noGrp="1" noRot="1" noChangeAspect="1" noChangeArrowheads="1" noTextEdit="1"/>
          </p:cNvSpPr>
          <p:nvPr>
            <p:ph type="sldImg"/>
          </p:nvPr>
        </p:nvSpPr>
        <p:spPr>
          <a:ln/>
        </p:spPr>
      </p:sp>
      <p:sp>
        <p:nvSpPr>
          <p:cNvPr id="78850" name="Rectangle 3">
            <a:extLst>
              <a:ext uri="{FF2B5EF4-FFF2-40B4-BE49-F238E27FC236}">
                <a16:creationId xmlns:a16="http://schemas.microsoft.com/office/drawing/2014/main" id="{729E74F2-08F7-C346-8F9D-C3E3D95482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14724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BE2FCCC9-7C44-7543-AB9F-086A97ADA909}"/>
              </a:ext>
            </a:extLst>
          </p:cNvPr>
          <p:cNvSpPr>
            <a:spLocks noGrp="1" noRot="1" noChangeAspect="1" noChangeArrowheads="1" noTextEdit="1"/>
          </p:cNvSpPr>
          <p:nvPr>
            <p:ph type="sldImg"/>
          </p:nvPr>
        </p:nvSpPr>
        <p:spPr>
          <a:ln/>
        </p:spPr>
      </p:sp>
      <p:sp>
        <p:nvSpPr>
          <p:cNvPr id="80898" name="Rectangle 3">
            <a:extLst>
              <a:ext uri="{FF2B5EF4-FFF2-40B4-BE49-F238E27FC236}">
                <a16:creationId xmlns:a16="http://schemas.microsoft.com/office/drawing/2014/main" id="{4DB560F6-6AD6-4748-8CB6-2B3E50BA14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141286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EB7F8F9-682B-E144-8919-FE31B69959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B98D55-378A-E240-8654-F0AE7D4FAFE5}"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C640DF23-A666-FC45-A078-2671BC479A6D}"/>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E9AA0038-1304-224E-A07F-F6D1A434EF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387981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9249A205-BBCB-284B-86D7-11F3095D9B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23C332B-B573-274B-9080-71EEEEACBDB3}"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84994" name="Rectangle 2">
            <a:extLst>
              <a:ext uri="{FF2B5EF4-FFF2-40B4-BE49-F238E27FC236}">
                <a16:creationId xmlns:a16="http://schemas.microsoft.com/office/drawing/2014/main" id="{3A476D3C-F7FC-E841-B65A-C6CFDB51EAC2}"/>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E32F0A97-3596-9A4A-AE29-30928F3100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436792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CE36EE-05D9-9540-9A29-1E822A54EB91}"/>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AF9EEEF-636F-0E4C-A531-C7519579E19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5" name="Rectangle 5">
              <a:extLst>
                <a:ext uri="{FF2B5EF4-FFF2-40B4-BE49-F238E27FC236}">
                  <a16:creationId xmlns:a16="http://schemas.microsoft.com/office/drawing/2014/main" id="{C25BFCC2-5B5A-6D4B-879D-94990960268B}"/>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6" name="Rectangle 6">
              <a:extLst>
                <a:ext uri="{FF2B5EF4-FFF2-40B4-BE49-F238E27FC236}">
                  <a16:creationId xmlns:a16="http://schemas.microsoft.com/office/drawing/2014/main" id="{372CC58E-F1D6-3F4E-8F96-BBFF843B9CBD}"/>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grpSp>
      <p:sp>
        <p:nvSpPr>
          <p:cNvPr id="7" name="Text Box 7">
            <a:extLst>
              <a:ext uri="{FF2B5EF4-FFF2-40B4-BE49-F238E27FC236}">
                <a16:creationId xmlns:a16="http://schemas.microsoft.com/office/drawing/2014/main" id="{37490F7D-90BC-3645-B9B1-5DB45D101682}"/>
              </a:ext>
            </a:extLst>
          </p:cNvPr>
          <p:cNvSpPr txBox="1">
            <a:spLocks noChangeArrowheads="1"/>
          </p:cNvSpPr>
          <p:nvPr/>
        </p:nvSpPr>
        <p:spPr bwMode="auto">
          <a:xfrm>
            <a:off x="5938838" y="6580213"/>
            <a:ext cx="28702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spcBef>
                <a:spcPct val="50000"/>
              </a:spcBef>
              <a:defRPr/>
            </a:pPr>
            <a:r>
              <a:rPr lang="en-US" altLang="en-US" sz="1000" b="1">
                <a:solidFill>
                  <a:srgbClr val="006699"/>
                </a:solidFill>
                <a:latin typeface="Helvetica" pitchFamily="2" charset="0"/>
              </a:rPr>
              <a:t>Chapter 10, OS Slides, CSE-HCMUT ©2022</a:t>
            </a:r>
            <a:endParaRPr lang="en-US" altLang="en-US" sz="1000" b="1" dirty="0">
              <a:solidFill>
                <a:srgbClr val="006699"/>
              </a:solidFill>
              <a:latin typeface="Helvetica" pitchFamily="2" charset="0"/>
            </a:endParaRPr>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pic>
        <p:nvPicPr>
          <p:cNvPr id="11" name="Picture 10">
            <a:extLst>
              <a:ext uri="{FF2B5EF4-FFF2-40B4-BE49-F238E27FC236}">
                <a16:creationId xmlns:a16="http://schemas.microsoft.com/office/drawing/2014/main" id="{4382D20C-7028-504C-9A1D-BA83B74F07BF}"/>
              </a:ext>
            </a:extLst>
          </p:cNvPr>
          <p:cNvPicPr>
            <a:picLocks noChangeAspect="1"/>
          </p:cNvPicPr>
          <p:nvPr/>
        </p:nvPicPr>
        <p:blipFill>
          <a:blip r:embed="rId2"/>
          <a:stretch>
            <a:fillRect/>
          </a:stretch>
        </p:blipFill>
        <p:spPr>
          <a:xfrm>
            <a:off x="2673275" y="3531208"/>
            <a:ext cx="3797451" cy="2842958"/>
          </a:xfrm>
          <a:prstGeom prst="rect">
            <a:avLst/>
          </a:prstGeom>
        </p:spPr>
      </p:pic>
      <p:sp>
        <p:nvSpPr>
          <p:cNvPr id="2" name="Text Box 11">
            <a:extLst>
              <a:ext uri="{FF2B5EF4-FFF2-40B4-BE49-F238E27FC236}">
                <a16:creationId xmlns:a16="http://schemas.microsoft.com/office/drawing/2014/main" id="{E4CB8D2A-44DD-8F1D-0C88-81BAA6B5FD02}"/>
              </a:ext>
            </a:extLst>
          </p:cNvPr>
          <p:cNvSpPr txBox="1">
            <a:spLocks noChangeArrowheads="1"/>
          </p:cNvSpPr>
          <p:nvPr userDrawn="1"/>
        </p:nvSpPr>
        <p:spPr bwMode="auto">
          <a:xfrm>
            <a:off x="426720" y="6470394"/>
            <a:ext cx="4004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Some slides from the Silberschatz, Galvin and Gagne, “Operating System Concepts”,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eds, 2018. </a:t>
            </a:r>
            <a:endParaRPr lang="en-US" altLang="en-US" sz="1000" b="1" dirty="0">
              <a:solidFill>
                <a:srgbClr val="006699"/>
              </a:solidFill>
              <a:latin typeface="Helvetica" pitchFamily="2" charset="0"/>
            </a:endParaRPr>
          </a:p>
        </p:txBody>
      </p:sp>
    </p:spTree>
    <p:extLst>
      <p:ext uri="{BB962C8B-B14F-4D97-AF65-F5344CB8AC3E}">
        <p14:creationId xmlns:p14="http://schemas.microsoft.com/office/powerpoint/2010/main" val="2510042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1037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EC79F471-96B9-5F48-AE95-4752EB27D65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000"/>
            </a:lvl1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1162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8FDA7D86-6757-6341-8015-8A71AC163B4B}"/>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0330" y="1420008"/>
            <a:ext cx="4134679" cy="5007295"/>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7287" y="1420008"/>
            <a:ext cx="4055165" cy="500729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40559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14330"/>
            <a:ext cx="4040188"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227302"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014330"/>
            <a:ext cx="4227302"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6648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left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1" y="268941"/>
            <a:ext cx="7430936" cy="566884"/>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3496234"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1"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1153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 with right Caption">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482099"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5965448"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377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op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85136"/>
            <a:ext cx="744418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1376979"/>
            <a:ext cx="8344166" cy="3096698"/>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4601497"/>
            <a:ext cx="8344166" cy="1828800"/>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30329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3334870"/>
            <a:ext cx="8344166"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7034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placeholders with right Picture">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788568" y="3334870"/>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81782" y="3334870"/>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0694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 placeholders with left Picture">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64519" y="3334869"/>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653865" y="3334868"/>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35071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hree placeholders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0" y="2974694"/>
            <a:ext cx="4048215"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862332FD-5017-BB4E-9D08-B3E025FA1B18}"/>
              </a:ext>
            </a:extLst>
          </p:cNvPr>
          <p:cNvSpPr>
            <a:spLocks noGrp="1"/>
          </p:cNvSpPr>
          <p:nvPr>
            <p:ph sz="half" idx="2" hasCustomPrompt="1"/>
          </p:nvPr>
        </p:nvSpPr>
        <p:spPr>
          <a:xfrm>
            <a:off x="490331" y="1376979"/>
            <a:ext cx="8344166" cy="1435669"/>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2">
            <a:extLst>
              <a:ext uri="{FF2B5EF4-FFF2-40B4-BE49-F238E27FC236}">
                <a16:creationId xmlns:a16="http://schemas.microsoft.com/office/drawing/2014/main" id="{4F349085-6470-FF4A-9ACD-18A7D8B083F2}"/>
              </a:ext>
            </a:extLst>
          </p:cNvPr>
          <p:cNvSpPr>
            <a:spLocks noGrp="1"/>
          </p:cNvSpPr>
          <p:nvPr>
            <p:ph sz="half" idx="11"/>
          </p:nvPr>
        </p:nvSpPr>
        <p:spPr>
          <a:xfrm>
            <a:off x="4716965" y="2974694"/>
            <a:ext cx="4117531"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047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9E0F0151-74CD-6844-ACA6-4954E916801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01417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1441524"/>
            <a:ext cx="1921358" cy="4680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0330" y="1441525"/>
            <a:ext cx="6248608" cy="46809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7339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2874-CCA4-4B4E-88E6-AE54EDB7895F}"/>
              </a:ext>
            </a:extLst>
          </p:cNvPr>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1110258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782A5125-203A-834E-9201-F7E7164E8896}"/>
              </a:ext>
            </a:extLst>
          </p:cNvPr>
          <p:cNvSpPr>
            <a:spLocks noGrp="1" noChangeArrowheads="1"/>
          </p:cNvSpPr>
          <p:nvPr>
            <p:ph type="title"/>
          </p:nvPr>
        </p:nvSpPr>
        <p:spPr bwMode="auto">
          <a:xfrm>
            <a:off x="1379221" y="277813"/>
            <a:ext cx="747268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4">
            <a:extLst>
              <a:ext uri="{FF2B5EF4-FFF2-40B4-BE49-F238E27FC236}">
                <a16:creationId xmlns:a16="http://schemas.microsoft.com/office/drawing/2014/main" id="{E43018F0-BEC7-1044-AAEB-1337A9D18AC4}"/>
              </a:ext>
            </a:extLst>
          </p:cNvPr>
          <p:cNvSpPr>
            <a:spLocks noGrp="1" noChangeArrowheads="1"/>
          </p:cNvSpPr>
          <p:nvPr>
            <p:ph type="body" idx="1"/>
          </p:nvPr>
        </p:nvSpPr>
        <p:spPr bwMode="auto">
          <a:xfrm>
            <a:off x="490538" y="1398494"/>
            <a:ext cx="8361362"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2" name="Line 6">
            <a:extLst>
              <a:ext uri="{FF2B5EF4-FFF2-40B4-BE49-F238E27FC236}">
                <a16:creationId xmlns:a16="http://schemas.microsoft.com/office/drawing/2014/main" id="{5379D03F-22E6-5647-AB90-772852545043}"/>
              </a:ext>
            </a:extLst>
          </p:cNvPr>
          <p:cNvSpPr>
            <a:spLocks noChangeShapeType="1"/>
          </p:cNvSpPr>
          <p:nvPr/>
        </p:nvSpPr>
        <p:spPr bwMode="auto">
          <a:xfrm>
            <a:off x="1379221" y="866775"/>
            <a:ext cx="7472679" cy="0"/>
          </a:xfrm>
          <a:prstGeom prst="line">
            <a:avLst/>
          </a:prstGeom>
          <a:noFill/>
          <a:ln w="381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309045" y="6613525"/>
            <a:ext cx="341760"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fld id="{23FB9004-5CA7-3B41-9B70-CD9EED42E16C}" type="slidenum">
              <a:rPr lang="en-US" altLang="en-US" sz="1000" b="1" smtClean="0">
                <a:solidFill>
                  <a:srgbClr val="006699"/>
                </a:solidFill>
                <a:latin typeface="Helvetica" pitchFamily="2" charset="0"/>
              </a:rPr>
              <a:pPr algn="ctr">
                <a:spcBef>
                  <a:spcPct val="50000"/>
                </a:spcBef>
                <a:defRPr/>
              </a:pPr>
              <a:t>‹#›</a:t>
            </a:fld>
            <a:endParaRPr lang="en-US" altLang="en-US" sz="1000" b="1" dirty="0">
              <a:solidFill>
                <a:srgbClr val="006699"/>
              </a:solidFill>
              <a:latin typeface="Helvetica" pitchFamily="2" charset="0"/>
            </a:endParaRPr>
          </a:p>
        </p:txBody>
      </p:sp>
      <p:pic>
        <p:nvPicPr>
          <p:cNvPr id="1036" name="Picture 2">
            <a:extLst>
              <a:ext uri="{FF2B5EF4-FFF2-40B4-BE49-F238E27FC236}">
                <a16:creationId xmlns:a16="http://schemas.microsoft.com/office/drawing/2014/main" id="{C76FE807-484C-804F-BD4B-45F326DCC7A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6720" y="187551"/>
            <a:ext cx="754380" cy="67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7161" y="6622368"/>
            <a:ext cx="24891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spcBef>
                <a:spcPct val="50000"/>
              </a:spcBef>
              <a:defRPr/>
            </a:pPr>
            <a:r>
              <a:rPr lang="en-US" altLang="en-US" sz="1000" b="1">
                <a:solidFill>
                  <a:srgbClr val="006699"/>
                </a:solidFill>
                <a:latin typeface="Helvetica" pitchFamily="2" charset="0"/>
              </a:rPr>
              <a:t>OS Slides, CSE-HCMUT ©2022</a:t>
            </a:r>
            <a:endParaRPr lang="en-US" altLang="en-US" sz="1000" b="1" dirty="0">
              <a:solidFill>
                <a:srgbClr val="006699"/>
              </a:solidFill>
              <a:latin typeface="Helvetica" pitchFamily="2" charset="0"/>
            </a:endParaRPr>
          </a:p>
        </p:txBody>
      </p:sp>
      <p:pic>
        <p:nvPicPr>
          <p:cNvPr id="3" name="Picture 12" descr="dino_6">
            <a:extLst>
              <a:ext uri="{FF2B5EF4-FFF2-40B4-BE49-F238E27FC236}">
                <a16:creationId xmlns:a16="http://schemas.microsoft.com/office/drawing/2014/main" id="{4D81C6D4-006D-6C4B-B74F-24D40B3104E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15553" y="6262457"/>
            <a:ext cx="1160876" cy="32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6C6CC5FA-2F14-274D-837F-9ABE04428BD1}"/>
              </a:ext>
            </a:extLst>
          </p:cNvPr>
          <p:cNvPicPr>
            <a:picLocks noChangeAspect="1"/>
          </p:cNvPicPr>
          <p:nvPr/>
        </p:nvPicPr>
        <p:blipFill>
          <a:blip r:embed="rId19"/>
          <a:stretch>
            <a:fillRect/>
          </a:stretch>
        </p:blipFill>
        <p:spPr>
          <a:xfrm>
            <a:off x="6967593" y="6184266"/>
            <a:ext cx="1905000" cy="438102"/>
          </a:xfrm>
          <a:prstGeom prst="rect">
            <a:avLst/>
          </a:prstGeom>
        </p:spPr>
      </p:pic>
      <p:sp>
        <p:nvSpPr>
          <p:cNvPr id="4" name="Text Box 11">
            <a:extLst>
              <a:ext uri="{FF2B5EF4-FFF2-40B4-BE49-F238E27FC236}">
                <a16:creationId xmlns:a16="http://schemas.microsoft.com/office/drawing/2014/main" id="{D4534C91-8320-3B87-DC15-7D4804F35AE7}"/>
              </a:ext>
            </a:extLst>
          </p:cNvPr>
          <p:cNvSpPr txBox="1">
            <a:spLocks noChangeArrowheads="1"/>
          </p:cNvSpPr>
          <p:nvPr userDrawn="1"/>
        </p:nvSpPr>
        <p:spPr bwMode="auto">
          <a:xfrm>
            <a:off x="426720" y="6470394"/>
            <a:ext cx="4004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Some slides from the Silberschatz, Galvin and Gagne, “Operating System Concepts”,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eds, 2018. </a:t>
            </a:r>
            <a:endParaRPr lang="en-US" altLang="en-US" sz="1000" b="1" dirty="0">
              <a:solidFill>
                <a:srgbClr val="006699"/>
              </a:solidFill>
              <a:latin typeface="Helvetica" pitchFamily="2" charset="0"/>
            </a:endParaRPr>
          </a:p>
        </p:txBody>
      </p:sp>
    </p:spTree>
    <p:extLst>
      <p:ext uri="{BB962C8B-B14F-4D97-AF65-F5344CB8AC3E}">
        <p14:creationId xmlns:p14="http://schemas.microsoft.com/office/powerpoint/2010/main" val="2613752512"/>
      </p:ext>
    </p:extLst>
  </p:cSld>
  <p:clrMap bg1="lt1" tx1="dk1" bg2="lt2" tx2="dk2" accent1="accent1" accent2="accent2" accent3="accent3" accent4="accent4" accent5="accent5" accent6="accent6" hlink="hlink" folHlink="folHlink"/>
  <p:sldLayoutIdLst>
    <p:sldLayoutId id="2147484125" r:id="rId1"/>
    <p:sldLayoutId id="2147484126" r:id="rId2"/>
    <p:sldLayoutId id="2147484127" r:id="rId3"/>
    <p:sldLayoutId id="2147484128" r:id="rId4"/>
    <p:sldLayoutId id="2147484129" r:id="rId5"/>
    <p:sldLayoutId id="2147484130" r:id="rId6"/>
    <p:sldLayoutId id="2147484131" r:id="rId7"/>
    <p:sldLayoutId id="2147484132" r:id="rId8"/>
    <p:sldLayoutId id="2147484133" r:id="rId9"/>
    <p:sldLayoutId id="2147484134" r:id="rId10"/>
    <p:sldLayoutId id="2147484135" r:id="rId11"/>
    <p:sldLayoutId id="2147484136" r:id="rId12"/>
    <p:sldLayoutId id="2147484137" r:id="rId13"/>
    <p:sldLayoutId id="2147484138" r:id="rId14"/>
    <p:sldLayoutId id="2147484139" r:id="rId15"/>
  </p:sldLayoutIdLst>
  <p:txStyles>
    <p:titleStyle>
      <a:lvl1pPr algn="ctr" rtl="0" eaLnBrk="1" fontAlgn="base" hangingPunct="1">
        <a:spcBef>
          <a:spcPct val="0"/>
        </a:spcBef>
        <a:spcAft>
          <a:spcPct val="0"/>
        </a:spcAft>
        <a:defRPr sz="2800" b="1">
          <a:solidFill>
            <a:srgbClr val="006699"/>
          </a:solidFill>
          <a:latin typeface="+mj-lt"/>
          <a:ea typeface="MS PGothic" pitchFamily="34" charset="-128"/>
          <a:cs typeface="ＭＳ Ｐゴシック" charset="-128"/>
        </a:defRPr>
      </a:lvl1pPr>
      <a:lvl2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eaLnBrk="1" fontAlgn="base" hangingPunct="1">
        <a:spcBef>
          <a:spcPct val="0"/>
        </a:spcBef>
        <a:spcAft>
          <a:spcPct val="0"/>
        </a:spcAft>
        <a:defRPr sz="3200" b="1">
          <a:solidFill>
            <a:srgbClr val="006699"/>
          </a:solidFill>
          <a:latin typeface="Arial" charset="0"/>
        </a:defRPr>
      </a:lvl6pPr>
      <a:lvl7pPr marL="914400" algn="ctr" rtl="0" eaLnBrk="1" fontAlgn="base" hangingPunct="1">
        <a:spcBef>
          <a:spcPct val="0"/>
        </a:spcBef>
        <a:spcAft>
          <a:spcPct val="0"/>
        </a:spcAft>
        <a:defRPr sz="3200" b="1">
          <a:solidFill>
            <a:srgbClr val="006699"/>
          </a:solidFill>
          <a:latin typeface="Arial" charset="0"/>
        </a:defRPr>
      </a:lvl7pPr>
      <a:lvl8pPr marL="1371600" algn="ctr" rtl="0" eaLnBrk="1" fontAlgn="base" hangingPunct="1">
        <a:spcBef>
          <a:spcPct val="0"/>
        </a:spcBef>
        <a:spcAft>
          <a:spcPct val="0"/>
        </a:spcAft>
        <a:defRPr sz="3200" b="1">
          <a:solidFill>
            <a:srgbClr val="006699"/>
          </a:solidFill>
          <a:latin typeface="Arial" charset="0"/>
        </a:defRPr>
      </a:lvl8pPr>
      <a:lvl9pPr marL="1828800" algn="ctr" rtl="0" eaLnBrk="1" fontAlgn="base" hangingPunct="1">
        <a:spcBef>
          <a:spcPct val="0"/>
        </a:spcBef>
        <a:spcAft>
          <a:spcPct val="0"/>
        </a:spcAft>
        <a:defRPr sz="3200" b="1">
          <a:solidFill>
            <a:srgbClr val="006699"/>
          </a:solidFill>
          <a:latin typeface="Arial" charset="0"/>
        </a:defRPr>
      </a:lvl9pPr>
    </p:titleStyle>
    <p:bodyStyle>
      <a:lvl1pPr marL="342900" indent="-342900" algn="l" rtl="0" eaLnBrk="1" fontAlgn="base" hangingPunct="1">
        <a:lnSpc>
          <a:spcPct val="100000"/>
        </a:lnSpc>
        <a:spcBef>
          <a:spcPts val="800"/>
        </a:spcBef>
        <a:spcAft>
          <a:spcPts val="800"/>
        </a:spcAft>
        <a:buClr>
          <a:srgbClr val="993300"/>
        </a:buClr>
        <a:buSzPct val="90000"/>
        <a:buFont typeface="Monotype Sorts" pitchFamily="2" charset="2"/>
        <a:buChar char="n"/>
        <a:defRPr kumimoji="1" sz="2000">
          <a:solidFill>
            <a:schemeClr val="tx1"/>
          </a:solidFill>
          <a:latin typeface="+mn-lt"/>
          <a:ea typeface="MS PGothic" pitchFamily="34" charset="-128"/>
          <a:cs typeface="ＭＳ Ｐゴシック" charset="-128"/>
        </a:defRPr>
      </a:lvl1pPr>
      <a:lvl2pPr marL="742950" indent="-285750" algn="l" rtl="0" eaLnBrk="1" fontAlgn="base" hangingPunct="1">
        <a:lnSpc>
          <a:spcPct val="100000"/>
        </a:lnSpc>
        <a:spcBef>
          <a:spcPts val="800"/>
        </a:spcBef>
        <a:spcAft>
          <a:spcPts val="80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085850" indent="-228600" algn="l" rtl="0" eaLnBrk="1" fontAlgn="base" hangingPunct="1">
        <a:lnSpc>
          <a:spcPct val="100000"/>
        </a:lnSpc>
        <a:spcBef>
          <a:spcPts val="800"/>
        </a:spcBef>
        <a:spcAft>
          <a:spcPts val="800"/>
        </a:spcAft>
        <a:buClr>
          <a:srgbClr val="009900"/>
        </a:buClr>
        <a:buSzPct val="75000"/>
        <a:buFont typeface="Webdings" pitchFamily="2" charset="2"/>
        <a:buChar char="4"/>
        <a:defRPr kumimoji="1" sz="1600">
          <a:solidFill>
            <a:schemeClr val="tx1"/>
          </a:solidFill>
          <a:latin typeface="+mn-lt"/>
          <a:ea typeface="MS PGothic" pitchFamily="34" charset="-128"/>
        </a:defRPr>
      </a:lvl3pPr>
      <a:lvl4pPr marL="1428750" indent="-228600" algn="l" rtl="0" eaLnBrk="1" fontAlgn="base" hangingPunct="1">
        <a:lnSpc>
          <a:spcPct val="100000"/>
        </a:lnSpc>
        <a:spcBef>
          <a:spcPts val="800"/>
        </a:spcBef>
        <a:spcAft>
          <a:spcPts val="800"/>
        </a:spcAft>
        <a:buClr>
          <a:schemeClr val="hlink"/>
        </a:buClr>
        <a:buSzPct val="75000"/>
        <a:buChar char="–"/>
        <a:defRPr kumimoji="1" sz="1400">
          <a:solidFill>
            <a:schemeClr val="tx1"/>
          </a:solidFill>
          <a:latin typeface="+mn-lt"/>
          <a:ea typeface="MS PGothic" pitchFamily="34" charset="-128"/>
        </a:defRPr>
      </a:lvl4pPr>
      <a:lvl5pPr marL="1771650" indent="-228600" algn="l" rtl="0" eaLnBrk="1" fontAlgn="base" hangingPunct="1">
        <a:lnSpc>
          <a:spcPct val="100000"/>
        </a:lnSpc>
        <a:spcBef>
          <a:spcPts val="800"/>
        </a:spcBef>
        <a:spcAft>
          <a:spcPts val="800"/>
        </a:spcAft>
        <a:buClr>
          <a:srgbClr val="FF0066"/>
        </a:buClr>
        <a:buSzPct val="75000"/>
        <a:buChar char="»"/>
        <a:defRPr kumimoji="1" sz="1200">
          <a:solidFill>
            <a:schemeClr val="tx1"/>
          </a:solidFill>
          <a:latin typeface="+mn-lt"/>
          <a:ea typeface="MS PGothic" pitchFamily="34" charset="-128"/>
        </a:defRPr>
      </a:lvl5pPr>
      <a:lvl6pPr marL="22288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51FAC904-3034-7C48-B41F-C1DB51A2F47D}"/>
              </a:ext>
            </a:extLst>
          </p:cNvPr>
          <p:cNvSpPr>
            <a:spLocks noGrp="1" noChangeArrowheads="1"/>
          </p:cNvSpPr>
          <p:nvPr>
            <p:ph type="ctrTitle"/>
          </p:nvPr>
        </p:nvSpPr>
        <p:spPr>
          <a:xfrm>
            <a:off x="685800" y="808038"/>
            <a:ext cx="7772400" cy="2128837"/>
          </a:xfrm>
        </p:spPr>
        <p:txBody>
          <a:bodyPr/>
          <a:lstStyle/>
          <a:p>
            <a:pPr eaLnBrk="1" hangingPunct="1"/>
            <a:r>
              <a:rPr lang="en-US" altLang="en-US" dirty="0"/>
              <a:t>Chapter 11: </a:t>
            </a:r>
            <a:br>
              <a:rPr lang="en-US" altLang="en-US" dirty="0"/>
            </a:br>
            <a:r>
              <a:rPr lang="en-US" altLang="en-US" dirty="0"/>
              <a:t>Mass-Storage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96B3FAA-48BD-DA48-BA81-5ADDF410E7CE}"/>
              </a:ext>
            </a:extLst>
          </p:cNvPr>
          <p:cNvSpPr>
            <a:spLocks noGrp="1" noChangeArrowheads="1"/>
          </p:cNvSpPr>
          <p:nvPr>
            <p:ph type="title"/>
          </p:nvPr>
        </p:nvSpPr>
        <p:spPr/>
        <p:txBody>
          <a:bodyPr/>
          <a:lstStyle/>
          <a:p>
            <a:r>
              <a:rPr lang="en-US" altLang="en-US"/>
              <a:t>Outline</a:t>
            </a:r>
            <a:endParaRPr lang="en-US" altLang="en-US" dirty="0"/>
          </a:p>
        </p:txBody>
      </p:sp>
      <p:sp>
        <p:nvSpPr>
          <p:cNvPr id="7170" name="Rectangle 3">
            <a:extLst>
              <a:ext uri="{FF2B5EF4-FFF2-40B4-BE49-F238E27FC236}">
                <a16:creationId xmlns:a16="http://schemas.microsoft.com/office/drawing/2014/main" id="{8525D7A8-77D7-C846-B46B-7A949263035E}"/>
              </a:ext>
            </a:extLst>
          </p:cNvPr>
          <p:cNvSpPr>
            <a:spLocks noGrp="1" noChangeArrowheads="1"/>
          </p:cNvSpPr>
          <p:nvPr>
            <p:ph idx="1"/>
          </p:nvPr>
        </p:nvSpPr>
        <p:spPr/>
        <p:txBody>
          <a:bodyPr/>
          <a:lstStyle/>
          <a:p>
            <a:r>
              <a:rPr lang="en-US" altLang="en-US" dirty="0"/>
              <a:t>Overview of Mass Storage Structure</a:t>
            </a:r>
          </a:p>
          <a:p>
            <a:r>
              <a:rPr lang="en-US" altLang="en-US" dirty="0"/>
              <a:t>HDD Scheduling</a:t>
            </a:r>
          </a:p>
          <a:p>
            <a:r>
              <a:rPr lang="en-US" altLang="en-US" dirty="0"/>
              <a:t>NVM Scheduling</a:t>
            </a:r>
          </a:p>
          <a:p>
            <a:r>
              <a:rPr lang="en-US" altLang="en-US" dirty="0"/>
              <a:t>Error Detection and Correction</a:t>
            </a:r>
          </a:p>
          <a:p>
            <a:r>
              <a:rPr lang="en-US" altLang="en-US" dirty="0"/>
              <a:t>Storage Device Management</a:t>
            </a:r>
          </a:p>
          <a:p>
            <a:r>
              <a:rPr lang="en-US" altLang="en-US" dirty="0"/>
              <a:t>Swap-Space Management</a:t>
            </a:r>
          </a:p>
          <a:p>
            <a:r>
              <a:rPr lang="en-US" altLang="en-US"/>
              <a:t>Storage Attachment</a:t>
            </a:r>
          </a:p>
          <a:p>
            <a:r>
              <a:rPr lang="en-US" altLang="en-US"/>
              <a:t>RAID Structure </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EB4DA5C7-1B0B-664C-93CA-D2DAE4053092}"/>
              </a:ext>
            </a:extLst>
          </p:cNvPr>
          <p:cNvSpPr>
            <a:spLocks noGrp="1" noChangeArrowheads="1"/>
          </p:cNvSpPr>
          <p:nvPr>
            <p:ph type="title"/>
          </p:nvPr>
        </p:nvSpPr>
        <p:spPr/>
        <p:txBody>
          <a:bodyPr/>
          <a:lstStyle/>
          <a:p>
            <a:r>
              <a:rPr lang="en-US" altLang="en-US"/>
              <a:t>Objectives</a:t>
            </a:r>
          </a:p>
        </p:txBody>
      </p:sp>
      <p:sp>
        <p:nvSpPr>
          <p:cNvPr id="5123" name="Rectangle 3">
            <a:extLst>
              <a:ext uri="{FF2B5EF4-FFF2-40B4-BE49-F238E27FC236}">
                <a16:creationId xmlns:a16="http://schemas.microsoft.com/office/drawing/2014/main" id="{9CA236D2-D1B1-1C46-99DF-440156F9DF2D}"/>
              </a:ext>
            </a:extLst>
          </p:cNvPr>
          <p:cNvSpPr>
            <a:spLocks noGrp="1" noChangeArrowheads="1"/>
          </p:cNvSpPr>
          <p:nvPr>
            <p:ph idx="1"/>
          </p:nvPr>
        </p:nvSpPr>
        <p:spPr/>
        <p:txBody>
          <a:bodyPr/>
          <a:lstStyle/>
          <a:p>
            <a:r>
              <a:rPr lang="en-US" dirty="0"/>
              <a:t>Describe the </a:t>
            </a:r>
            <a:r>
              <a:rPr lang="en-US" i="1" dirty="0">
                <a:solidFill>
                  <a:srgbClr val="0070C0"/>
                </a:solidFill>
              </a:rPr>
              <a:t>physical structure of secondary storage devices </a:t>
            </a:r>
            <a:r>
              <a:rPr lang="en-US" dirty="0"/>
              <a:t>and the effect of a device’s structure on its uses</a:t>
            </a:r>
          </a:p>
          <a:p>
            <a:r>
              <a:rPr lang="en-US" dirty="0"/>
              <a:t>Explain the </a:t>
            </a:r>
            <a:r>
              <a:rPr lang="en-US" i="1" dirty="0">
                <a:solidFill>
                  <a:srgbClr val="0070C0"/>
                </a:solidFill>
              </a:rPr>
              <a:t>performance characteristics </a:t>
            </a:r>
            <a:r>
              <a:rPr lang="en-US" dirty="0"/>
              <a:t>of mass-storage devices</a:t>
            </a:r>
          </a:p>
          <a:p>
            <a:r>
              <a:rPr lang="en-US" dirty="0"/>
              <a:t>Evaluate </a:t>
            </a:r>
            <a:r>
              <a:rPr lang="en-US" i="1" dirty="0">
                <a:solidFill>
                  <a:srgbClr val="0070C0"/>
                </a:solidFill>
              </a:rPr>
              <a:t>I/O scheduling algorithms</a:t>
            </a:r>
          </a:p>
          <a:p>
            <a:r>
              <a:rPr lang="en-US" dirty="0"/>
              <a:t>Discuss </a:t>
            </a:r>
            <a:r>
              <a:rPr lang="en-US" i="1" dirty="0">
                <a:solidFill>
                  <a:srgbClr val="0070C0"/>
                </a:solidFill>
              </a:rPr>
              <a:t>operating-system services </a:t>
            </a:r>
            <a:r>
              <a:rPr lang="en-US" dirty="0"/>
              <a:t>provided for mass storage, including </a:t>
            </a:r>
            <a:r>
              <a:rPr lang="en-US" b="1" dirty="0">
                <a:solidFill>
                  <a:srgbClr val="0070C0"/>
                </a:solidFill>
              </a:rPr>
              <a:t>RAID</a:t>
            </a:r>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485C8C5F-B7E3-5241-88EB-4DF224EAA591}"/>
              </a:ext>
            </a:extLst>
          </p:cNvPr>
          <p:cNvSpPr>
            <a:spLocks noGrp="1" noChangeArrowheads="1"/>
          </p:cNvSpPr>
          <p:nvPr>
            <p:ph type="title"/>
          </p:nvPr>
        </p:nvSpPr>
        <p:spPr/>
        <p:txBody>
          <a:bodyPr/>
          <a:lstStyle/>
          <a:p>
            <a:r>
              <a:rPr lang="en-US" altLang="en-US"/>
              <a:t>Overview of Mass Storage Structure</a:t>
            </a:r>
          </a:p>
        </p:txBody>
      </p:sp>
      <p:sp>
        <p:nvSpPr>
          <p:cNvPr id="6147" name="Rectangle 3">
            <a:extLst>
              <a:ext uri="{FF2B5EF4-FFF2-40B4-BE49-F238E27FC236}">
                <a16:creationId xmlns:a16="http://schemas.microsoft.com/office/drawing/2014/main" id="{ACC91CC2-48D5-A84F-B48A-1DB03E8AD11D}"/>
              </a:ext>
            </a:extLst>
          </p:cNvPr>
          <p:cNvSpPr>
            <a:spLocks noGrp="1" noChangeArrowheads="1"/>
          </p:cNvSpPr>
          <p:nvPr>
            <p:ph idx="1"/>
          </p:nvPr>
        </p:nvSpPr>
        <p:spPr/>
        <p:txBody>
          <a:bodyPr/>
          <a:lstStyle/>
          <a:p>
            <a:r>
              <a:rPr lang="en-US" altLang="en-US" dirty="0"/>
              <a:t>Bulk of secondary storage for modern computers is </a:t>
            </a:r>
            <a:r>
              <a:rPr lang="en-US" altLang="en-US" i="1" dirty="0">
                <a:solidFill>
                  <a:srgbClr val="0070C0"/>
                </a:solidFill>
              </a:rPr>
              <a:t>hard disk drives </a:t>
            </a:r>
            <a:r>
              <a:rPr lang="en-US" altLang="en-US" dirty="0"/>
              <a:t>(</a:t>
            </a:r>
            <a:r>
              <a:rPr lang="en-US" altLang="en-US" b="1" dirty="0">
                <a:solidFill>
                  <a:srgbClr val="0070C0"/>
                </a:solidFill>
              </a:rPr>
              <a:t>HDD</a:t>
            </a:r>
            <a:r>
              <a:rPr lang="en-US" altLang="en-US" dirty="0"/>
              <a:t>s) and </a:t>
            </a:r>
            <a:r>
              <a:rPr lang="en-US" altLang="en-US" i="1" dirty="0">
                <a:solidFill>
                  <a:srgbClr val="0070C0"/>
                </a:solidFill>
              </a:rPr>
              <a:t>nonvolatile memory </a:t>
            </a:r>
            <a:r>
              <a:rPr lang="en-US" altLang="en-US" dirty="0"/>
              <a:t>(</a:t>
            </a:r>
            <a:r>
              <a:rPr lang="en-US" altLang="en-US" b="1" dirty="0">
                <a:solidFill>
                  <a:srgbClr val="0070C0"/>
                </a:solidFill>
              </a:rPr>
              <a:t>NVM</a:t>
            </a:r>
            <a:r>
              <a:rPr lang="en-US" altLang="en-US" dirty="0"/>
              <a:t>) devices</a:t>
            </a:r>
          </a:p>
          <a:p>
            <a:r>
              <a:rPr lang="en-US" altLang="en-US" dirty="0"/>
              <a:t>HDDs spin </a:t>
            </a:r>
            <a:r>
              <a:rPr lang="en-US" altLang="en-US" i="1" dirty="0">
                <a:solidFill>
                  <a:srgbClr val="0070C0"/>
                </a:solidFill>
              </a:rPr>
              <a:t>platters</a:t>
            </a:r>
            <a:r>
              <a:rPr lang="en-US" altLang="en-US" dirty="0"/>
              <a:t> of magnetically-coated material under moving read-write </a:t>
            </a:r>
            <a:r>
              <a:rPr lang="en-US" altLang="en-US" i="1" dirty="0">
                <a:solidFill>
                  <a:srgbClr val="0070C0"/>
                </a:solidFill>
              </a:rPr>
              <a:t>heads</a:t>
            </a:r>
          </a:p>
          <a:p>
            <a:pPr lvl="1">
              <a:spcBef>
                <a:spcPts val="400"/>
              </a:spcBef>
              <a:spcAft>
                <a:spcPts val="400"/>
              </a:spcAft>
            </a:pPr>
            <a:r>
              <a:rPr lang="en-US" altLang="en-US" dirty="0"/>
              <a:t>Disks can be removable</a:t>
            </a:r>
          </a:p>
          <a:p>
            <a:pPr lvl="1">
              <a:spcBef>
                <a:spcPts val="400"/>
              </a:spcBef>
              <a:spcAft>
                <a:spcPts val="400"/>
              </a:spcAft>
            </a:pPr>
            <a:r>
              <a:rPr lang="en-US" altLang="en-US" i="1" dirty="0">
                <a:solidFill>
                  <a:srgbClr val="0070C0"/>
                </a:solidFill>
              </a:rPr>
              <a:t>Head crash </a:t>
            </a:r>
            <a:r>
              <a:rPr lang="en-US" altLang="en-US" dirty="0"/>
              <a:t>results from disk head making contact with the disk surface</a:t>
            </a:r>
          </a:p>
          <a:p>
            <a:pPr lvl="2">
              <a:spcBef>
                <a:spcPts val="400"/>
              </a:spcBef>
              <a:spcAft>
                <a:spcPts val="400"/>
              </a:spcAft>
            </a:pPr>
            <a:r>
              <a:rPr lang="en-US" altLang="en-US" dirty="0"/>
              <a:t>That</a:t>
            </a:r>
            <a:r>
              <a:rPr lang="ja-JP" altLang="en-US"/>
              <a:t>’</a:t>
            </a:r>
            <a:r>
              <a:rPr lang="en-US" altLang="ja-JP" dirty="0"/>
              <a:t>s bad</a:t>
            </a:r>
            <a:endParaRPr lang="en-US" altLang="en-US" i="1" dirty="0">
              <a:solidFill>
                <a:srgbClr val="0070C0"/>
              </a:solidFill>
            </a:endParaRPr>
          </a:p>
          <a:p>
            <a:r>
              <a:rPr lang="en-US" altLang="en-US" dirty="0"/>
              <a:t>Performance</a:t>
            </a:r>
          </a:p>
          <a:p>
            <a:pPr lvl="1">
              <a:spcBef>
                <a:spcPts val="400"/>
              </a:spcBef>
              <a:spcAft>
                <a:spcPts val="400"/>
              </a:spcAft>
            </a:pPr>
            <a:r>
              <a:rPr lang="en-US" altLang="en-US" i="1" dirty="0">
                <a:solidFill>
                  <a:srgbClr val="0070C0"/>
                </a:solidFill>
              </a:rPr>
              <a:t>Drive rotation </a:t>
            </a:r>
            <a:r>
              <a:rPr lang="en-US" altLang="en-US" dirty="0"/>
              <a:t>is at </a:t>
            </a:r>
            <a:r>
              <a:rPr lang="en-US" altLang="en-US" i="1" dirty="0"/>
              <a:t>60</a:t>
            </a:r>
            <a:r>
              <a:rPr lang="en-US" altLang="en-US" dirty="0"/>
              <a:t> to </a:t>
            </a:r>
            <a:r>
              <a:rPr lang="en-US" altLang="en-US" i="1" dirty="0"/>
              <a:t>250</a:t>
            </a:r>
            <a:r>
              <a:rPr lang="en-US" altLang="en-US" dirty="0"/>
              <a:t> times per second</a:t>
            </a:r>
          </a:p>
          <a:p>
            <a:pPr lvl="1">
              <a:spcBef>
                <a:spcPts val="400"/>
              </a:spcBef>
              <a:spcAft>
                <a:spcPts val="400"/>
              </a:spcAft>
            </a:pPr>
            <a:r>
              <a:rPr lang="en-US" altLang="en-US" i="1" dirty="0">
                <a:solidFill>
                  <a:srgbClr val="0070C0"/>
                </a:solidFill>
              </a:rPr>
              <a:t>Transfer rate </a:t>
            </a:r>
            <a:r>
              <a:rPr lang="en-US" altLang="en-US" dirty="0"/>
              <a:t>is rate at which data flow between drive and computer</a:t>
            </a:r>
          </a:p>
          <a:p>
            <a:pPr lvl="1">
              <a:spcBef>
                <a:spcPts val="400"/>
              </a:spcBef>
              <a:spcAft>
                <a:spcPts val="400"/>
              </a:spcAft>
            </a:pPr>
            <a:r>
              <a:rPr lang="en-US" altLang="en-US" i="1" dirty="0">
                <a:solidFill>
                  <a:srgbClr val="0070C0"/>
                </a:solidFill>
              </a:rPr>
              <a:t>Positioning time </a:t>
            </a:r>
            <a:r>
              <a:rPr lang="en-US" altLang="en-US" dirty="0"/>
              <a:t>(random-access time) is time to move disk arm to desired cylinder (</a:t>
            </a:r>
            <a:r>
              <a:rPr lang="en-US" altLang="en-US" i="1" dirty="0">
                <a:solidFill>
                  <a:srgbClr val="0070C0"/>
                </a:solidFill>
              </a:rPr>
              <a:t>seek time</a:t>
            </a:r>
            <a:r>
              <a:rPr lang="en-US" altLang="en-US" dirty="0"/>
              <a:t>) and time for desired sector to rotate under the disk head (</a:t>
            </a:r>
            <a:r>
              <a:rPr lang="en-US" altLang="en-US" i="1" dirty="0">
                <a:solidFill>
                  <a:srgbClr val="0070C0"/>
                </a:solidFill>
              </a:rPr>
              <a:t>rotational latency</a:t>
            </a:r>
            <a:r>
              <a:rPr lang="en-US" alt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4">
            <a:extLst>
              <a:ext uri="{FF2B5EF4-FFF2-40B4-BE49-F238E27FC236}">
                <a16:creationId xmlns:a16="http://schemas.microsoft.com/office/drawing/2014/main" id="{88A37AA1-B285-E543-9E42-D6FE2D17F28E}"/>
              </a:ext>
            </a:extLst>
          </p:cNvPr>
          <p:cNvSpPr>
            <a:spLocks noGrp="1" noChangeArrowheads="1"/>
          </p:cNvSpPr>
          <p:nvPr>
            <p:ph type="title"/>
          </p:nvPr>
        </p:nvSpPr>
        <p:spPr/>
        <p:txBody>
          <a:bodyPr/>
          <a:lstStyle/>
          <a:p>
            <a:r>
              <a:rPr lang="en-US" altLang="en-US"/>
              <a:t>Moving-head Disk Mechanism</a:t>
            </a:r>
          </a:p>
        </p:txBody>
      </p:sp>
      <p:pic>
        <p:nvPicPr>
          <p:cNvPr id="13314" name="Picture 1" descr="10_01.pdf">
            <a:extLst>
              <a:ext uri="{FF2B5EF4-FFF2-40B4-BE49-F238E27FC236}">
                <a16:creationId xmlns:a16="http://schemas.microsoft.com/office/drawing/2014/main" id="{0983F7F3-0F61-134F-91B4-5FCBD46E1F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8123" y="1764686"/>
            <a:ext cx="5464573" cy="4450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7009FF36-8774-2C43-AC26-B447D8A13B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304" y="1764686"/>
            <a:ext cx="2959973" cy="197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EFF5A0D-750B-F345-862F-AAB47FC6815C}"/>
              </a:ext>
            </a:extLst>
          </p:cNvPr>
          <p:cNvSpPr>
            <a:spLocks noGrp="1" noChangeArrowheads="1"/>
          </p:cNvSpPr>
          <p:nvPr>
            <p:ph type="title"/>
          </p:nvPr>
        </p:nvSpPr>
        <p:spPr/>
        <p:txBody>
          <a:bodyPr/>
          <a:lstStyle/>
          <a:p>
            <a:r>
              <a:rPr lang="en-US" altLang="en-US" dirty="0"/>
              <a:t>Example of Hard Disk Drives</a:t>
            </a:r>
          </a:p>
        </p:txBody>
      </p:sp>
      <p:sp>
        <p:nvSpPr>
          <p:cNvPr id="15362" name="Content Placeholder 2">
            <a:extLst>
              <a:ext uri="{FF2B5EF4-FFF2-40B4-BE49-F238E27FC236}">
                <a16:creationId xmlns:a16="http://schemas.microsoft.com/office/drawing/2014/main" id="{F0F4E3A2-857B-0E4D-AF0C-8B0E9C91B995}"/>
              </a:ext>
            </a:extLst>
          </p:cNvPr>
          <p:cNvSpPr>
            <a:spLocks noGrp="1" noChangeArrowheads="1"/>
          </p:cNvSpPr>
          <p:nvPr>
            <p:ph idx="1"/>
          </p:nvPr>
        </p:nvSpPr>
        <p:spPr/>
        <p:txBody>
          <a:bodyPr/>
          <a:lstStyle/>
          <a:p>
            <a:r>
              <a:rPr lang="en-US" altLang="en-US" i="1" dirty="0">
                <a:solidFill>
                  <a:srgbClr val="0070C0"/>
                </a:solidFill>
              </a:rPr>
              <a:t>Platters</a:t>
            </a:r>
            <a:r>
              <a:rPr lang="en-US" altLang="en-US" dirty="0"/>
              <a:t> range from </a:t>
            </a:r>
            <a:r>
              <a:rPr lang="en-US" altLang="en-US" i="1" dirty="0"/>
              <a:t>.85</a:t>
            </a:r>
            <a:r>
              <a:rPr lang="ja-JP" altLang="en-US" i="1"/>
              <a:t>”</a:t>
            </a:r>
            <a:r>
              <a:rPr lang="en-US" altLang="ja-JP" i="1" dirty="0"/>
              <a:t> </a:t>
            </a:r>
            <a:r>
              <a:rPr lang="en-US" altLang="ja-JP" dirty="0"/>
              <a:t>to </a:t>
            </a:r>
            <a:r>
              <a:rPr lang="en-US" altLang="ja-JP" i="1" dirty="0"/>
              <a:t>14</a:t>
            </a:r>
            <a:r>
              <a:rPr lang="ja-JP" altLang="en-US" i="1"/>
              <a:t>”</a:t>
            </a:r>
            <a:r>
              <a:rPr lang="en-US" altLang="ja-JP" dirty="0"/>
              <a:t> (historically)</a:t>
            </a:r>
          </a:p>
          <a:p>
            <a:pPr lvl="1"/>
            <a:r>
              <a:rPr lang="en-US" altLang="en-US" dirty="0"/>
              <a:t>Commonly </a:t>
            </a:r>
            <a:r>
              <a:rPr lang="en-US" altLang="en-US" i="1" dirty="0"/>
              <a:t>3.5</a:t>
            </a:r>
            <a:r>
              <a:rPr lang="ja-JP" altLang="en-US" i="1"/>
              <a:t>”</a:t>
            </a:r>
            <a:r>
              <a:rPr lang="en-US" altLang="ja-JP" dirty="0"/>
              <a:t>, </a:t>
            </a:r>
            <a:r>
              <a:rPr lang="en-US" altLang="ja-JP" i="1" dirty="0">
                <a:solidFill>
                  <a:srgbClr val="0070C0"/>
                </a:solidFill>
              </a:rPr>
              <a:t>2.5</a:t>
            </a:r>
            <a:r>
              <a:rPr lang="ja-JP" altLang="en-US" i="1">
                <a:solidFill>
                  <a:srgbClr val="0070C0"/>
                </a:solidFill>
              </a:rPr>
              <a:t>”</a:t>
            </a:r>
            <a:r>
              <a:rPr lang="en-US" altLang="ja-JP" dirty="0"/>
              <a:t>, and </a:t>
            </a:r>
            <a:r>
              <a:rPr lang="en-US" altLang="ja-JP" i="1" dirty="0">
                <a:solidFill>
                  <a:srgbClr val="0070C0"/>
                </a:solidFill>
              </a:rPr>
              <a:t>1.8</a:t>
            </a:r>
            <a:r>
              <a:rPr lang="ja-JP" altLang="en-US" i="1">
                <a:solidFill>
                  <a:srgbClr val="0070C0"/>
                </a:solidFill>
              </a:rPr>
              <a:t>”</a:t>
            </a:r>
            <a:endParaRPr lang="en-US" altLang="ja-JP" i="1" dirty="0">
              <a:solidFill>
                <a:srgbClr val="0070C0"/>
              </a:solidFill>
            </a:endParaRPr>
          </a:p>
          <a:p>
            <a:r>
              <a:rPr lang="en-US" altLang="en-US" dirty="0"/>
              <a:t>Range from </a:t>
            </a:r>
            <a:r>
              <a:rPr lang="en-US" altLang="en-US" i="1" dirty="0">
                <a:solidFill>
                  <a:srgbClr val="0070C0"/>
                </a:solidFill>
              </a:rPr>
              <a:t>30GB</a:t>
            </a:r>
            <a:r>
              <a:rPr lang="en-US" altLang="en-US" dirty="0"/>
              <a:t> to </a:t>
            </a:r>
            <a:r>
              <a:rPr lang="en-US" altLang="en-US" i="1" dirty="0">
                <a:solidFill>
                  <a:srgbClr val="0070C0"/>
                </a:solidFill>
              </a:rPr>
              <a:t>3TB</a:t>
            </a:r>
            <a:r>
              <a:rPr lang="en-US" altLang="en-US" dirty="0"/>
              <a:t> per drive</a:t>
            </a:r>
          </a:p>
          <a:p>
            <a:r>
              <a:rPr lang="en-US" altLang="en-US" dirty="0"/>
              <a:t>Performance </a:t>
            </a:r>
          </a:p>
          <a:p>
            <a:pPr lvl="1"/>
            <a:r>
              <a:rPr lang="en-US" altLang="en-US" i="1" dirty="0">
                <a:solidFill>
                  <a:srgbClr val="0070C0"/>
                </a:solidFill>
              </a:rPr>
              <a:t>Transfer Rate </a:t>
            </a:r>
            <a:r>
              <a:rPr lang="en-US" altLang="en-US" dirty="0"/>
              <a:t>– theoretical – </a:t>
            </a:r>
            <a:r>
              <a:rPr lang="en-US" altLang="en-US" i="1" dirty="0">
                <a:solidFill>
                  <a:srgbClr val="0070C0"/>
                </a:solidFill>
              </a:rPr>
              <a:t>6 Gb/sec</a:t>
            </a:r>
          </a:p>
          <a:p>
            <a:pPr lvl="2"/>
            <a:r>
              <a:rPr lang="en-US" altLang="en-US" i="1" dirty="0">
                <a:solidFill>
                  <a:srgbClr val="0070C0"/>
                </a:solidFill>
              </a:rPr>
              <a:t>Effective Transfer Rate </a:t>
            </a:r>
            <a:r>
              <a:rPr lang="en-US" altLang="en-US" dirty="0"/>
              <a:t>– real – </a:t>
            </a:r>
            <a:r>
              <a:rPr lang="en-US" altLang="en-US" i="1" dirty="0">
                <a:solidFill>
                  <a:srgbClr val="0070C0"/>
                </a:solidFill>
              </a:rPr>
              <a:t>1Gb/sec</a:t>
            </a:r>
          </a:p>
          <a:p>
            <a:pPr lvl="1"/>
            <a:r>
              <a:rPr lang="en-US" altLang="en-US" i="1" dirty="0">
                <a:solidFill>
                  <a:srgbClr val="0070C0"/>
                </a:solidFill>
              </a:rPr>
              <a:t>Seek time </a:t>
            </a:r>
            <a:r>
              <a:rPr lang="en-US" altLang="en-US" dirty="0"/>
              <a:t>from </a:t>
            </a:r>
            <a:r>
              <a:rPr lang="en-US" altLang="en-US" i="1" dirty="0">
                <a:solidFill>
                  <a:srgbClr val="0070C0"/>
                </a:solidFill>
              </a:rPr>
              <a:t>3ms</a:t>
            </a:r>
            <a:r>
              <a:rPr lang="en-US" altLang="en-US" dirty="0"/>
              <a:t> to </a:t>
            </a:r>
            <a:r>
              <a:rPr lang="en-US" altLang="en-US" i="1" dirty="0">
                <a:solidFill>
                  <a:srgbClr val="0070C0"/>
                </a:solidFill>
              </a:rPr>
              <a:t>12ms</a:t>
            </a:r>
            <a:r>
              <a:rPr lang="en-US" altLang="en-US" dirty="0"/>
              <a:t> (e.g., </a:t>
            </a:r>
            <a:r>
              <a:rPr lang="en-US" altLang="en-US" i="1" dirty="0">
                <a:solidFill>
                  <a:srgbClr val="0070C0"/>
                </a:solidFill>
              </a:rPr>
              <a:t>9ms</a:t>
            </a:r>
            <a:r>
              <a:rPr lang="en-US" altLang="en-US" dirty="0"/>
              <a:t> is common for desktop drives)</a:t>
            </a:r>
          </a:p>
          <a:p>
            <a:pPr lvl="2"/>
            <a:r>
              <a:rPr lang="en-US" altLang="en-US" i="1" dirty="0">
                <a:solidFill>
                  <a:srgbClr val="0070C0"/>
                </a:solidFill>
              </a:rPr>
              <a:t>Average seek time </a:t>
            </a:r>
            <a:r>
              <a:rPr lang="en-US" altLang="en-US" dirty="0"/>
              <a:t>is measured or calculated based on 1/3 of tracks</a:t>
            </a:r>
          </a:p>
          <a:p>
            <a:pPr lvl="1"/>
            <a:r>
              <a:rPr lang="en-US" altLang="en-US" i="1" dirty="0">
                <a:solidFill>
                  <a:srgbClr val="0070C0"/>
                </a:solidFill>
              </a:rPr>
              <a:t>Latency</a:t>
            </a:r>
            <a:r>
              <a:rPr lang="en-US" altLang="en-US" dirty="0"/>
              <a:t> based on spindle speed</a:t>
            </a:r>
          </a:p>
          <a:p>
            <a:pPr lvl="2"/>
            <a:r>
              <a:rPr lang="en-US" altLang="en-US" b="1" i="1" dirty="0"/>
              <a:t>1 / (RPM / 60) = 60 / RPM</a:t>
            </a:r>
          </a:p>
          <a:p>
            <a:pPr lvl="2"/>
            <a:r>
              <a:rPr lang="en-US" altLang="en-US" i="1" dirty="0">
                <a:solidFill>
                  <a:srgbClr val="0070C0"/>
                </a:solidFill>
              </a:rPr>
              <a:t>Average latency </a:t>
            </a:r>
            <a:r>
              <a:rPr lang="en-US" altLang="en-US" dirty="0"/>
              <a:t>= ½ latency</a:t>
            </a:r>
          </a:p>
          <a:p>
            <a:pPr lvl="1"/>
            <a:endParaRPr lang="en-US" altLang="en-US" dirty="0"/>
          </a:p>
          <a:p>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3941532B-E28B-A749-B090-6B1202B8318C}"/>
              </a:ext>
            </a:extLst>
          </p:cNvPr>
          <p:cNvSpPr>
            <a:spLocks noGrp="1" noChangeArrowheads="1"/>
          </p:cNvSpPr>
          <p:nvPr>
            <p:ph type="title"/>
          </p:nvPr>
        </p:nvSpPr>
        <p:spPr/>
        <p:txBody>
          <a:bodyPr/>
          <a:lstStyle/>
          <a:p>
            <a:r>
              <a:rPr lang="en-US" altLang="en-US"/>
              <a:t>Hard Disk Performance</a:t>
            </a:r>
          </a:p>
        </p:txBody>
      </p:sp>
      <p:sp>
        <p:nvSpPr>
          <p:cNvPr id="16386" name="Content Placeholder 2">
            <a:extLst>
              <a:ext uri="{FF2B5EF4-FFF2-40B4-BE49-F238E27FC236}">
                <a16:creationId xmlns:a16="http://schemas.microsoft.com/office/drawing/2014/main" id="{75065660-1891-CE41-9E3B-D16CCDC80C3E}"/>
              </a:ext>
            </a:extLst>
          </p:cNvPr>
          <p:cNvSpPr>
            <a:spLocks noGrp="1" noChangeArrowheads="1"/>
          </p:cNvSpPr>
          <p:nvPr>
            <p:ph idx="1"/>
          </p:nvPr>
        </p:nvSpPr>
        <p:spPr/>
        <p:txBody>
          <a:bodyPr/>
          <a:lstStyle/>
          <a:p>
            <a:r>
              <a:rPr lang="en-US" altLang="en-US" i="1" dirty="0">
                <a:solidFill>
                  <a:srgbClr val="0070C0"/>
                </a:solidFill>
              </a:rPr>
              <a:t>Access Latency </a:t>
            </a:r>
            <a:r>
              <a:rPr lang="en-US" altLang="en-US" dirty="0"/>
              <a:t>= </a:t>
            </a:r>
            <a:r>
              <a:rPr lang="en-US" altLang="en-US" i="1" dirty="0">
                <a:solidFill>
                  <a:srgbClr val="0070C0"/>
                </a:solidFill>
              </a:rPr>
              <a:t>Average access time </a:t>
            </a:r>
            <a:r>
              <a:rPr lang="en-US" altLang="en-US" dirty="0"/>
              <a:t>= </a:t>
            </a:r>
            <a:r>
              <a:rPr lang="en-US" altLang="en-US" i="1" dirty="0">
                <a:solidFill>
                  <a:srgbClr val="0070C0"/>
                </a:solidFill>
              </a:rPr>
              <a:t>average seek time </a:t>
            </a:r>
            <a:r>
              <a:rPr lang="en-US" altLang="en-US" dirty="0"/>
              <a:t>+ </a:t>
            </a:r>
            <a:r>
              <a:rPr lang="en-US" altLang="en-US" i="1" dirty="0">
                <a:solidFill>
                  <a:srgbClr val="0070C0"/>
                </a:solidFill>
              </a:rPr>
              <a:t>average rotational latency</a:t>
            </a:r>
          </a:p>
          <a:p>
            <a:pPr lvl="1"/>
            <a:r>
              <a:rPr lang="en-US" altLang="en-US" dirty="0"/>
              <a:t>For fastest disk: </a:t>
            </a:r>
            <a:r>
              <a:rPr lang="en-US" altLang="en-US" i="1" dirty="0"/>
              <a:t>3ms + 2ms = 5ms</a:t>
            </a:r>
          </a:p>
          <a:p>
            <a:pPr lvl="1"/>
            <a:r>
              <a:rPr lang="en-US" altLang="en-US" dirty="0"/>
              <a:t>For slow disk: </a:t>
            </a:r>
            <a:r>
              <a:rPr lang="en-US" altLang="en-US" i="1" dirty="0"/>
              <a:t>9ms + 5.56ms = 14.56ms</a:t>
            </a:r>
          </a:p>
          <a:p>
            <a:r>
              <a:rPr lang="en-US" altLang="en-US" i="1" dirty="0">
                <a:solidFill>
                  <a:srgbClr val="0070C0"/>
                </a:solidFill>
              </a:rPr>
              <a:t>Average I/O time </a:t>
            </a:r>
            <a:r>
              <a:rPr lang="en-US" altLang="en-US" dirty="0"/>
              <a:t>= </a:t>
            </a:r>
            <a:r>
              <a:rPr lang="en-US" altLang="en-US" i="1" dirty="0">
                <a:solidFill>
                  <a:srgbClr val="0070C0"/>
                </a:solidFill>
              </a:rPr>
              <a:t>average access time </a:t>
            </a:r>
            <a:r>
              <a:rPr lang="en-US" altLang="en-US" dirty="0"/>
              <a:t>+ (</a:t>
            </a:r>
            <a:r>
              <a:rPr lang="en-US" altLang="en-US" i="1" dirty="0">
                <a:solidFill>
                  <a:srgbClr val="0070C0"/>
                </a:solidFill>
              </a:rPr>
              <a:t>amount to transfer </a:t>
            </a:r>
            <a:r>
              <a:rPr lang="en-US" altLang="en-US" dirty="0"/>
              <a:t>/ </a:t>
            </a:r>
            <a:r>
              <a:rPr lang="en-US" altLang="en-US" i="1" dirty="0">
                <a:solidFill>
                  <a:srgbClr val="0070C0"/>
                </a:solidFill>
              </a:rPr>
              <a:t>transfer rate</a:t>
            </a:r>
            <a:r>
              <a:rPr lang="en-US" altLang="en-US" dirty="0"/>
              <a:t>) + </a:t>
            </a:r>
            <a:r>
              <a:rPr lang="en-US" altLang="en-US" i="1" dirty="0">
                <a:solidFill>
                  <a:srgbClr val="0070C0"/>
                </a:solidFill>
              </a:rPr>
              <a:t>controller overhead</a:t>
            </a:r>
          </a:p>
          <a:p>
            <a:r>
              <a:rPr lang="en-US" altLang="en-US" dirty="0"/>
              <a:t>For example, to transfer a </a:t>
            </a:r>
            <a:r>
              <a:rPr lang="en-US" altLang="en-US" i="1" dirty="0">
                <a:solidFill>
                  <a:srgbClr val="0070C0"/>
                </a:solidFill>
              </a:rPr>
              <a:t>4KB</a:t>
            </a:r>
            <a:r>
              <a:rPr lang="en-US" altLang="en-US" dirty="0"/>
              <a:t> block on a </a:t>
            </a:r>
            <a:r>
              <a:rPr lang="en-US" altLang="en-US" i="1" dirty="0">
                <a:solidFill>
                  <a:srgbClr val="0070C0"/>
                </a:solidFill>
              </a:rPr>
              <a:t>7200 RPM </a:t>
            </a:r>
            <a:r>
              <a:rPr lang="en-US" altLang="en-US" dirty="0"/>
              <a:t>disk with a </a:t>
            </a:r>
            <a:r>
              <a:rPr lang="en-US" altLang="en-US" i="1" dirty="0">
                <a:solidFill>
                  <a:srgbClr val="0070C0"/>
                </a:solidFill>
              </a:rPr>
              <a:t>5ms</a:t>
            </a:r>
            <a:r>
              <a:rPr lang="en-US" altLang="en-US" dirty="0"/>
              <a:t> average seek time, </a:t>
            </a:r>
            <a:r>
              <a:rPr lang="en-US" altLang="en-US" i="1" dirty="0">
                <a:solidFill>
                  <a:srgbClr val="0070C0"/>
                </a:solidFill>
              </a:rPr>
              <a:t>1Gb/sec </a:t>
            </a:r>
            <a:r>
              <a:rPr lang="en-US" altLang="en-US" dirty="0"/>
              <a:t>transfer rate with a </a:t>
            </a:r>
            <a:r>
              <a:rPr lang="en-US" altLang="en-US" i="1" dirty="0">
                <a:solidFill>
                  <a:srgbClr val="0070C0"/>
                </a:solidFill>
              </a:rPr>
              <a:t>0.1ms</a:t>
            </a:r>
            <a:r>
              <a:rPr lang="en-US" altLang="en-US" dirty="0"/>
              <a:t> controller overhead, the </a:t>
            </a:r>
            <a:r>
              <a:rPr lang="en-US" altLang="en-US" i="1" dirty="0">
                <a:solidFill>
                  <a:srgbClr val="0070C0"/>
                </a:solidFill>
              </a:rPr>
              <a:t>average I/O time for 4KB block </a:t>
            </a:r>
            <a:r>
              <a:rPr lang="en-US" altLang="en-US" dirty="0"/>
              <a:t>is</a:t>
            </a:r>
          </a:p>
          <a:p>
            <a:pPr lvl="1">
              <a:spcBef>
                <a:spcPts val="400"/>
              </a:spcBef>
              <a:spcAft>
                <a:spcPts val="400"/>
              </a:spcAft>
            </a:pPr>
            <a:r>
              <a:rPr lang="en-US" altLang="en-US" dirty="0"/>
              <a:t>= </a:t>
            </a:r>
            <a:r>
              <a:rPr lang="en-US" altLang="en-US" i="1" dirty="0"/>
              <a:t>5ms + 4.17ms + 0.1ms </a:t>
            </a:r>
            <a:r>
              <a:rPr lang="en-US" altLang="en-US" dirty="0"/>
              <a:t>+ transfer time</a:t>
            </a:r>
          </a:p>
          <a:p>
            <a:pPr lvl="2">
              <a:spcBef>
                <a:spcPts val="400"/>
              </a:spcBef>
              <a:spcAft>
                <a:spcPts val="400"/>
              </a:spcAft>
            </a:pPr>
            <a:r>
              <a:rPr lang="en-US" altLang="en-US" dirty="0"/>
              <a:t>Transfer time = </a:t>
            </a:r>
            <a:r>
              <a:rPr lang="en-US" altLang="en-US" i="1" dirty="0"/>
              <a:t>4KB / 1Gb/s = [4*8 (KB) *1000 (</a:t>
            </a:r>
            <a:r>
              <a:rPr lang="en-US" altLang="en-US" i="1" dirty="0" err="1"/>
              <a:t>ms</a:t>
            </a:r>
            <a:r>
              <a:rPr lang="en-US" altLang="en-US" i="1" dirty="0"/>
              <a:t>)]/ 1024</a:t>
            </a:r>
            <a:r>
              <a:rPr lang="en-US" altLang="en-US" i="1" baseline="30000" dirty="0"/>
              <a:t>2</a:t>
            </a:r>
            <a:r>
              <a:rPr lang="en-US" altLang="en-US" i="1" dirty="0"/>
              <a:t> (KB) = 0.031 </a:t>
            </a:r>
            <a:r>
              <a:rPr lang="en-US" altLang="en-US" i="1" dirty="0" err="1"/>
              <a:t>ms</a:t>
            </a:r>
            <a:r>
              <a:rPr lang="en-US" altLang="en-US" i="1" dirty="0"/>
              <a:t> </a:t>
            </a:r>
          </a:p>
          <a:p>
            <a:pPr lvl="1">
              <a:spcBef>
                <a:spcPts val="400"/>
              </a:spcBef>
              <a:spcAft>
                <a:spcPts val="400"/>
              </a:spcAft>
            </a:pPr>
            <a:r>
              <a:rPr lang="en-US" altLang="en-US" dirty="0"/>
              <a:t>= </a:t>
            </a:r>
            <a:r>
              <a:rPr lang="en-US" altLang="en-US" i="1" dirty="0"/>
              <a:t>9.27ms + .031ms = 9.301ms</a:t>
            </a:r>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D939BBE4-8488-964A-B936-99B3E9F791E0}"/>
              </a:ext>
            </a:extLst>
          </p:cNvPr>
          <p:cNvSpPr>
            <a:spLocks noGrp="1" noChangeArrowheads="1"/>
          </p:cNvSpPr>
          <p:nvPr>
            <p:ph type="title"/>
          </p:nvPr>
        </p:nvSpPr>
        <p:spPr/>
        <p:txBody>
          <a:bodyPr/>
          <a:lstStyle/>
          <a:p>
            <a:r>
              <a:rPr lang="en-US" altLang="en-US"/>
              <a:t>The First Commercial Disk Drive</a:t>
            </a:r>
          </a:p>
        </p:txBody>
      </p:sp>
      <p:sp>
        <p:nvSpPr>
          <p:cNvPr id="4" name="Content Placeholder 3">
            <a:extLst>
              <a:ext uri="{FF2B5EF4-FFF2-40B4-BE49-F238E27FC236}">
                <a16:creationId xmlns:a16="http://schemas.microsoft.com/office/drawing/2014/main" id="{531223A9-901E-FF46-88E9-8167E084B415}"/>
              </a:ext>
            </a:extLst>
          </p:cNvPr>
          <p:cNvSpPr>
            <a:spLocks noGrp="1"/>
          </p:cNvSpPr>
          <p:nvPr>
            <p:ph sz="half" idx="10"/>
          </p:nvPr>
        </p:nvSpPr>
        <p:spPr/>
        <p:txBody>
          <a:bodyPr/>
          <a:lstStyle/>
          <a:p>
            <a:r>
              <a:rPr lang="en-US" altLang="en-US" dirty="0"/>
              <a:t>1956</a:t>
            </a:r>
          </a:p>
          <a:p>
            <a:r>
              <a:rPr lang="en-US" altLang="en-US" dirty="0"/>
              <a:t>IBM RAMDAC computer included the IBM Model 350 disk storage system</a:t>
            </a:r>
          </a:p>
          <a:p>
            <a:r>
              <a:rPr lang="en-US" altLang="en-US" dirty="0"/>
              <a:t>5M (7 bit) characters</a:t>
            </a:r>
          </a:p>
          <a:p>
            <a:r>
              <a:rPr lang="en-US" altLang="en-US" dirty="0"/>
              <a:t>50 x 24</a:t>
            </a:r>
            <a:r>
              <a:rPr lang="ja-JP" altLang="en-US"/>
              <a:t>”</a:t>
            </a:r>
            <a:r>
              <a:rPr lang="en-US" altLang="ja-JP" dirty="0"/>
              <a:t> platters</a:t>
            </a:r>
          </a:p>
          <a:p>
            <a:r>
              <a:rPr lang="en-US" altLang="en-US" dirty="0"/>
              <a:t>Access time &lt; 1 second</a:t>
            </a:r>
          </a:p>
          <a:p>
            <a:endParaRPr lang="en-US" dirty="0"/>
          </a:p>
        </p:txBody>
      </p:sp>
      <p:pic>
        <p:nvPicPr>
          <p:cNvPr id="7" name="Picture 2">
            <a:extLst>
              <a:ext uri="{FF2B5EF4-FFF2-40B4-BE49-F238E27FC236}">
                <a16:creationId xmlns:a16="http://schemas.microsoft.com/office/drawing/2014/main" id="{F46D3949-2206-CA43-BFE0-9413B052D480}"/>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6660" r="-16660"/>
          <a:stretch/>
        </p:blipFill>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6362979E-41C7-8F4E-81AD-B6BE13C06164}"/>
              </a:ext>
            </a:extLst>
          </p:cNvPr>
          <p:cNvSpPr>
            <a:spLocks noGrp="1" noChangeArrowheads="1"/>
          </p:cNvSpPr>
          <p:nvPr>
            <p:ph type="title"/>
          </p:nvPr>
        </p:nvSpPr>
        <p:spPr/>
        <p:txBody>
          <a:bodyPr/>
          <a:lstStyle/>
          <a:p>
            <a:r>
              <a:rPr lang="en-US" altLang="en-US"/>
              <a:t>Nonvolatile Memory Devices</a:t>
            </a:r>
          </a:p>
        </p:txBody>
      </p:sp>
      <p:sp>
        <p:nvSpPr>
          <p:cNvPr id="18434" name="Content Placeholder 2">
            <a:extLst>
              <a:ext uri="{FF2B5EF4-FFF2-40B4-BE49-F238E27FC236}">
                <a16:creationId xmlns:a16="http://schemas.microsoft.com/office/drawing/2014/main" id="{4C41E2B3-BA36-9543-8E24-EEEBEBFF46EC}"/>
              </a:ext>
            </a:extLst>
          </p:cNvPr>
          <p:cNvSpPr>
            <a:spLocks noGrp="1" noChangeArrowheads="1"/>
          </p:cNvSpPr>
          <p:nvPr>
            <p:ph idx="1"/>
          </p:nvPr>
        </p:nvSpPr>
        <p:spPr/>
        <p:txBody>
          <a:bodyPr/>
          <a:lstStyle/>
          <a:p>
            <a:r>
              <a:rPr lang="en-US" altLang="en-US" dirty="0"/>
              <a:t>If disk-drive like, then called </a:t>
            </a:r>
            <a:r>
              <a:rPr lang="en-US" altLang="en-US" i="1" dirty="0">
                <a:solidFill>
                  <a:srgbClr val="0070C0"/>
                </a:solidFill>
              </a:rPr>
              <a:t>solid-state disks </a:t>
            </a:r>
            <a:r>
              <a:rPr lang="en-US" altLang="en-US" dirty="0"/>
              <a:t>(</a:t>
            </a:r>
            <a:r>
              <a:rPr lang="en-US" altLang="en-US" b="1" dirty="0">
                <a:solidFill>
                  <a:srgbClr val="0070C0"/>
                </a:solidFill>
              </a:rPr>
              <a:t>SSD</a:t>
            </a:r>
            <a:r>
              <a:rPr lang="en-US" altLang="en-US" dirty="0"/>
              <a:t>s)</a:t>
            </a:r>
          </a:p>
          <a:p>
            <a:r>
              <a:rPr lang="en-US" altLang="en-US" dirty="0"/>
              <a:t>Other forms include </a:t>
            </a:r>
            <a:r>
              <a:rPr lang="en-US" altLang="en-US" i="1" dirty="0">
                <a:solidFill>
                  <a:srgbClr val="0070C0"/>
                </a:solidFill>
              </a:rPr>
              <a:t>USB drives </a:t>
            </a:r>
            <a:r>
              <a:rPr lang="en-US" altLang="en-US" dirty="0"/>
              <a:t>(thumb drive, flash drive), </a:t>
            </a:r>
            <a:r>
              <a:rPr lang="en-US" altLang="en-US" i="1" dirty="0">
                <a:solidFill>
                  <a:srgbClr val="0070C0"/>
                </a:solidFill>
              </a:rPr>
              <a:t>DRAM disk </a:t>
            </a:r>
            <a:r>
              <a:rPr lang="en-US" altLang="en-US" dirty="0"/>
              <a:t>replacements, surface-mounted on motherboards, and main storage in devices like smartphones</a:t>
            </a:r>
          </a:p>
          <a:p>
            <a:pPr lvl="1"/>
            <a:r>
              <a:rPr lang="en-US" altLang="en-US" dirty="0"/>
              <a:t>Busses can be too slow –&gt; connect directly to PCIe for example</a:t>
            </a:r>
          </a:p>
          <a:p>
            <a:pPr lvl="1"/>
            <a:r>
              <a:rPr lang="en-US" altLang="en-US" dirty="0"/>
              <a:t>No moving parts, so no seek time or </a:t>
            </a:r>
            <a:r>
              <a:rPr lang="en-US" altLang="en-US"/>
              <a:t>rotational latency</a:t>
            </a:r>
            <a:endParaRPr lang="en-US" altLang="en-US" dirty="0"/>
          </a:p>
          <a:p>
            <a:pPr lvl="1"/>
            <a:r>
              <a:rPr lang="en-US" altLang="en-US" dirty="0"/>
              <a:t>Can be more reliable than HDDs</a:t>
            </a:r>
          </a:p>
          <a:p>
            <a:pPr lvl="1"/>
            <a:r>
              <a:rPr lang="en-US" altLang="en-US" dirty="0"/>
              <a:t>More expensive per MB</a:t>
            </a:r>
          </a:p>
          <a:p>
            <a:pPr lvl="1"/>
            <a:r>
              <a:rPr lang="en-US" altLang="en-US" dirty="0"/>
              <a:t>Maybe have shorter life span – need careful management</a:t>
            </a:r>
          </a:p>
          <a:p>
            <a:pPr lvl="1"/>
            <a:r>
              <a:rPr lang="en-US" altLang="en-US" dirty="0"/>
              <a:t>Less capacity</a:t>
            </a:r>
          </a:p>
          <a:p>
            <a:pPr lvl="1"/>
            <a:r>
              <a:rPr lang="en-US" altLang="en-US" dirty="0"/>
              <a:t>But much faster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40F67E2-F89A-624B-B2FE-A7E82E463796}"/>
              </a:ext>
            </a:extLst>
          </p:cNvPr>
          <p:cNvSpPr>
            <a:spLocks noGrp="1" noChangeArrowheads="1"/>
          </p:cNvSpPr>
          <p:nvPr>
            <p:ph type="title"/>
          </p:nvPr>
        </p:nvSpPr>
        <p:spPr/>
        <p:txBody>
          <a:bodyPr/>
          <a:lstStyle/>
          <a:p>
            <a:r>
              <a:rPr lang="en-US" altLang="en-US" dirty="0"/>
              <a:t>Nonvolatile Memory Devices (Cont.)</a:t>
            </a:r>
          </a:p>
        </p:txBody>
      </p:sp>
      <p:sp>
        <p:nvSpPr>
          <p:cNvPr id="19458" name="Content Placeholder 2">
            <a:extLst>
              <a:ext uri="{FF2B5EF4-FFF2-40B4-BE49-F238E27FC236}">
                <a16:creationId xmlns:a16="http://schemas.microsoft.com/office/drawing/2014/main" id="{1D9CEF6C-9F3E-2643-B921-1EF9B6A5BC1B}"/>
              </a:ext>
            </a:extLst>
          </p:cNvPr>
          <p:cNvSpPr>
            <a:spLocks noGrp="1" noChangeArrowheads="1"/>
          </p:cNvSpPr>
          <p:nvPr>
            <p:ph sz="half" idx="2"/>
          </p:nvPr>
        </p:nvSpPr>
        <p:spPr>
          <a:xfrm>
            <a:off x="481782" y="1387735"/>
            <a:ext cx="8344166" cy="2661751"/>
          </a:xfrm>
        </p:spPr>
        <p:txBody>
          <a:bodyPr/>
          <a:lstStyle/>
          <a:p>
            <a:r>
              <a:rPr lang="en-US" altLang="en-US" dirty="0"/>
              <a:t>Have characteristics that present challenges</a:t>
            </a:r>
          </a:p>
          <a:p>
            <a:r>
              <a:rPr lang="en-US" altLang="en-US" dirty="0"/>
              <a:t>Read and written in “page” increments (think sector) but can’t overwrite in place</a:t>
            </a:r>
          </a:p>
          <a:p>
            <a:pPr lvl="1"/>
            <a:r>
              <a:rPr lang="en-US" altLang="en-US" dirty="0"/>
              <a:t>Must first be erased, and erases happen in larger ”block” increments</a:t>
            </a:r>
          </a:p>
          <a:p>
            <a:pPr lvl="1"/>
            <a:r>
              <a:rPr lang="en-US" altLang="en-US" dirty="0"/>
              <a:t>Can only be erased a limited number of times before worn out ~ 100,000</a:t>
            </a:r>
          </a:p>
          <a:p>
            <a:pPr lvl="1"/>
            <a:r>
              <a:rPr lang="en-US" altLang="en-US" dirty="0"/>
              <a:t>Life span measured in </a:t>
            </a:r>
            <a:r>
              <a:rPr lang="en-US" altLang="en-US" i="1" dirty="0">
                <a:solidFill>
                  <a:srgbClr val="0070C0"/>
                </a:solidFill>
              </a:rPr>
              <a:t>drive writes per day </a:t>
            </a:r>
            <a:r>
              <a:rPr lang="en-US" altLang="en-US" dirty="0"/>
              <a:t>(</a:t>
            </a:r>
            <a:r>
              <a:rPr lang="en-US" altLang="en-US" b="1" dirty="0">
                <a:solidFill>
                  <a:srgbClr val="0070C0"/>
                </a:solidFill>
              </a:rPr>
              <a:t>DWPD</a:t>
            </a:r>
            <a:r>
              <a:rPr lang="en-US" altLang="en-US" dirty="0"/>
              <a:t>)</a:t>
            </a:r>
          </a:p>
        </p:txBody>
      </p:sp>
      <p:sp>
        <p:nvSpPr>
          <p:cNvPr id="3" name="Content Placeholder 2">
            <a:extLst>
              <a:ext uri="{FF2B5EF4-FFF2-40B4-BE49-F238E27FC236}">
                <a16:creationId xmlns:a16="http://schemas.microsoft.com/office/drawing/2014/main" id="{1D395B90-B465-2E4B-82C2-D22F904335D9}"/>
              </a:ext>
            </a:extLst>
          </p:cNvPr>
          <p:cNvSpPr>
            <a:spLocks noGrp="1"/>
          </p:cNvSpPr>
          <p:nvPr>
            <p:ph sz="quarter" idx="10"/>
          </p:nvPr>
        </p:nvSpPr>
        <p:spPr>
          <a:xfrm>
            <a:off x="481782" y="4215740"/>
            <a:ext cx="4174439" cy="2291127"/>
          </a:xfrm>
        </p:spPr>
        <p:txBody>
          <a:bodyPr/>
          <a:lstStyle/>
          <a:p>
            <a:r>
              <a:rPr lang="en-US" altLang="en-US" dirty="0"/>
              <a:t>E.g., A 1TB NAND drive with rating of 5DWPD is expected to have 5TB per day written within warrantee period without failing</a:t>
            </a:r>
          </a:p>
        </p:txBody>
      </p:sp>
      <p:pic>
        <p:nvPicPr>
          <p:cNvPr id="7" name="Picture Placeholder 6">
            <a:extLst>
              <a:ext uri="{FF2B5EF4-FFF2-40B4-BE49-F238E27FC236}">
                <a16:creationId xmlns:a16="http://schemas.microsoft.com/office/drawing/2014/main" id="{F040C02A-756C-0E43-BA77-8D016F1AAE7D}"/>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14257" b="-14257"/>
          <a:stretch/>
        </p:blipFill>
        <p:spPr bwMode="auto">
          <a:xfrm>
            <a:off x="4788568" y="4215740"/>
            <a:ext cx="4037379" cy="212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6CFDF98C-DFA2-6640-810D-D643C1328A02}"/>
              </a:ext>
            </a:extLst>
          </p:cNvPr>
          <p:cNvSpPr>
            <a:spLocks noGrp="1" noChangeArrowheads="1"/>
          </p:cNvSpPr>
          <p:nvPr>
            <p:ph type="title"/>
          </p:nvPr>
        </p:nvSpPr>
        <p:spPr/>
        <p:txBody>
          <a:bodyPr/>
          <a:lstStyle/>
          <a:p>
            <a:r>
              <a:rPr lang="en-US" altLang="en-US"/>
              <a:t>NAND Flash Controller Algorithms</a:t>
            </a:r>
          </a:p>
        </p:txBody>
      </p:sp>
      <p:sp>
        <p:nvSpPr>
          <p:cNvPr id="87042" name="Content Placeholder 2">
            <a:extLst>
              <a:ext uri="{FF2B5EF4-FFF2-40B4-BE49-F238E27FC236}">
                <a16:creationId xmlns:a16="http://schemas.microsoft.com/office/drawing/2014/main" id="{5590B50F-A215-324D-8866-610265ADE9D7}"/>
              </a:ext>
            </a:extLst>
          </p:cNvPr>
          <p:cNvSpPr>
            <a:spLocks noGrp="1" noChangeArrowheads="1"/>
          </p:cNvSpPr>
          <p:nvPr>
            <p:ph idx="1"/>
          </p:nvPr>
        </p:nvSpPr>
        <p:spPr/>
        <p:txBody>
          <a:bodyPr/>
          <a:lstStyle/>
          <a:p>
            <a:r>
              <a:rPr lang="en-US" altLang="en-US" dirty="0"/>
              <a:t>With </a:t>
            </a:r>
            <a:r>
              <a:rPr lang="en-US" altLang="en-US" i="1" dirty="0">
                <a:solidFill>
                  <a:srgbClr val="0070C0"/>
                </a:solidFill>
              </a:rPr>
              <a:t>no overwrite</a:t>
            </a:r>
            <a:r>
              <a:rPr lang="en-US" altLang="en-US" dirty="0"/>
              <a:t>, pages end up with </a:t>
            </a:r>
            <a:r>
              <a:rPr lang="en-US" altLang="en-US" i="1" dirty="0">
                <a:solidFill>
                  <a:srgbClr val="0070C0"/>
                </a:solidFill>
              </a:rPr>
              <a:t>mix of valid and invalid data</a:t>
            </a:r>
          </a:p>
          <a:p>
            <a:r>
              <a:rPr lang="en-US" altLang="en-US" dirty="0"/>
              <a:t>To track which logical blocks are valid, controller maintains </a:t>
            </a:r>
            <a:r>
              <a:rPr lang="en-US" altLang="en-US" i="1" dirty="0">
                <a:solidFill>
                  <a:srgbClr val="0070C0"/>
                </a:solidFill>
              </a:rPr>
              <a:t>flash translation layer </a:t>
            </a:r>
            <a:r>
              <a:rPr lang="en-US" altLang="en-US" dirty="0"/>
              <a:t>(</a:t>
            </a:r>
            <a:r>
              <a:rPr lang="en-US" altLang="en-US" b="1" dirty="0">
                <a:solidFill>
                  <a:srgbClr val="0070C0"/>
                </a:solidFill>
              </a:rPr>
              <a:t>FTL</a:t>
            </a:r>
            <a:r>
              <a:rPr lang="en-US" altLang="en-US" dirty="0"/>
              <a:t>) table</a:t>
            </a:r>
          </a:p>
          <a:p>
            <a:r>
              <a:rPr lang="en-US" altLang="en-US" dirty="0"/>
              <a:t>Also implements </a:t>
            </a:r>
            <a:r>
              <a:rPr lang="en-US" altLang="en-US" i="1" dirty="0">
                <a:solidFill>
                  <a:srgbClr val="0070C0"/>
                </a:solidFill>
              </a:rPr>
              <a:t>garbage collection </a:t>
            </a:r>
            <a:r>
              <a:rPr lang="en-US" altLang="en-US" dirty="0"/>
              <a:t>(</a:t>
            </a:r>
            <a:r>
              <a:rPr lang="en-US" altLang="en-US" b="1" dirty="0">
                <a:solidFill>
                  <a:srgbClr val="0070C0"/>
                </a:solidFill>
              </a:rPr>
              <a:t>GC</a:t>
            </a:r>
            <a:r>
              <a:rPr lang="en-US" altLang="en-US" dirty="0"/>
              <a:t>) to free invalid page space</a:t>
            </a:r>
          </a:p>
          <a:p>
            <a:r>
              <a:rPr lang="en-US" altLang="en-US" dirty="0"/>
              <a:t>Allocates </a:t>
            </a:r>
            <a:r>
              <a:rPr lang="en-US" altLang="en-US" i="1" dirty="0">
                <a:solidFill>
                  <a:srgbClr val="0070C0"/>
                </a:solidFill>
              </a:rPr>
              <a:t>overprovisioning</a:t>
            </a:r>
            <a:r>
              <a:rPr lang="en-US" altLang="en-US" dirty="0"/>
              <a:t> to provide working space for GC</a:t>
            </a:r>
          </a:p>
          <a:p>
            <a:r>
              <a:rPr lang="en-US" altLang="en-US" dirty="0"/>
              <a:t>Each cell has lifespan, so </a:t>
            </a:r>
            <a:r>
              <a:rPr lang="en-US" altLang="en-US" i="1" dirty="0">
                <a:solidFill>
                  <a:srgbClr val="0070C0"/>
                </a:solidFill>
              </a:rPr>
              <a:t>wear leveling </a:t>
            </a:r>
            <a:r>
              <a:rPr lang="en-US" altLang="en-US" dirty="0"/>
              <a:t>needed to write equally to all cells</a:t>
            </a:r>
          </a:p>
        </p:txBody>
      </p:sp>
      <p:pic>
        <p:nvPicPr>
          <p:cNvPr id="87043" name="Picture 4">
            <a:extLst>
              <a:ext uri="{FF2B5EF4-FFF2-40B4-BE49-F238E27FC236}">
                <a16:creationId xmlns:a16="http://schemas.microsoft.com/office/drawing/2014/main" id="{ADA82183-9823-6642-A4AB-9901BC784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8992" y="4224901"/>
            <a:ext cx="3446462"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a:extLst>
              <a:ext uri="{FF2B5EF4-FFF2-40B4-BE49-F238E27FC236}">
                <a16:creationId xmlns:a16="http://schemas.microsoft.com/office/drawing/2014/main" id="{634E9654-4587-6847-A025-B568E49B248E}"/>
              </a:ext>
            </a:extLst>
          </p:cNvPr>
          <p:cNvSpPr txBox="1">
            <a:spLocks noChangeArrowheads="1"/>
          </p:cNvSpPr>
          <p:nvPr/>
        </p:nvSpPr>
        <p:spPr bwMode="auto">
          <a:xfrm>
            <a:off x="1630363" y="6048376"/>
            <a:ext cx="494372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a:t>NAND block with valid and invalid pages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3961BD00-FF59-8042-A137-FBF18D555820}"/>
              </a:ext>
            </a:extLst>
          </p:cNvPr>
          <p:cNvSpPr>
            <a:spLocks noGrp="1" noChangeArrowheads="1"/>
          </p:cNvSpPr>
          <p:nvPr>
            <p:ph type="title"/>
          </p:nvPr>
        </p:nvSpPr>
        <p:spPr/>
        <p:txBody>
          <a:bodyPr/>
          <a:lstStyle/>
          <a:p>
            <a:r>
              <a:rPr lang="en-US" altLang="en-US"/>
              <a:t>Volatile Memory</a:t>
            </a:r>
          </a:p>
        </p:txBody>
      </p:sp>
      <p:sp>
        <p:nvSpPr>
          <p:cNvPr id="20482" name="Rectangle 3">
            <a:extLst>
              <a:ext uri="{FF2B5EF4-FFF2-40B4-BE49-F238E27FC236}">
                <a16:creationId xmlns:a16="http://schemas.microsoft.com/office/drawing/2014/main" id="{7973C169-ACAF-2049-A053-0803C7EA73D9}"/>
              </a:ext>
            </a:extLst>
          </p:cNvPr>
          <p:cNvSpPr>
            <a:spLocks noGrp="1" noChangeArrowheads="1"/>
          </p:cNvSpPr>
          <p:nvPr>
            <p:ph idx="1"/>
          </p:nvPr>
        </p:nvSpPr>
        <p:spPr/>
        <p:txBody>
          <a:bodyPr/>
          <a:lstStyle/>
          <a:p>
            <a:pPr>
              <a:spcBef>
                <a:spcPts val="400"/>
              </a:spcBef>
              <a:spcAft>
                <a:spcPts val="400"/>
              </a:spcAft>
            </a:pPr>
            <a:r>
              <a:rPr lang="en-US" altLang="en-US" b="1" dirty="0">
                <a:solidFill>
                  <a:srgbClr val="0070C0"/>
                </a:solidFill>
              </a:rPr>
              <a:t>DRAM</a:t>
            </a:r>
            <a:r>
              <a:rPr lang="en-US" altLang="en-US" dirty="0"/>
              <a:t> frequently used as mass-storage device</a:t>
            </a:r>
          </a:p>
          <a:p>
            <a:pPr lvl="1">
              <a:spcBef>
                <a:spcPts val="400"/>
              </a:spcBef>
              <a:spcAft>
                <a:spcPts val="400"/>
              </a:spcAft>
            </a:pPr>
            <a:r>
              <a:rPr lang="en-US" altLang="en-US" dirty="0"/>
              <a:t>Not technically secondary storage because volatile, but can have file systems, be used like very fast secondary storage</a:t>
            </a:r>
          </a:p>
          <a:p>
            <a:pPr>
              <a:spcBef>
                <a:spcPts val="400"/>
              </a:spcBef>
              <a:spcAft>
                <a:spcPts val="400"/>
              </a:spcAft>
            </a:pPr>
            <a:r>
              <a:rPr lang="en-US" altLang="en-US" b="1" dirty="0">
                <a:solidFill>
                  <a:srgbClr val="0070C0"/>
                </a:solidFill>
              </a:rPr>
              <a:t>RAM</a:t>
            </a:r>
            <a:r>
              <a:rPr lang="en-US" altLang="en-US" i="1" dirty="0">
                <a:solidFill>
                  <a:srgbClr val="0070C0"/>
                </a:solidFill>
              </a:rPr>
              <a:t> drives </a:t>
            </a:r>
            <a:r>
              <a:rPr lang="en-US" altLang="en-US" dirty="0"/>
              <a:t>(with many names, including </a:t>
            </a:r>
            <a:r>
              <a:rPr lang="en-US" altLang="en-US" b="1" dirty="0">
                <a:solidFill>
                  <a:srgbClr val="0070C0"/>
                </a:solidFill>
              </a:rPr>
              <a:t>RAM</a:t>
            </a:r>
            <a:r>
              <a:rPr lang="en-US" altLang="en-US" dirty="0"/>
              <a:t> </a:t>
            </a:r>
            <a:r>
              <a:rPr lang="en-US" altLang="en-US" i="1" dirty="0">
                <a:solidFill>
                  <a:srgbClr val="0070C0"/>
                </a:solidFill>
              </a:rPr>
              <a:t>disks</a:t>
            </a:r>
            <a:r>
              <a:rPr lang="en-US" altLang="en-US" dirty="0"/>
              <a:t>) present as raw block devices, commonly file system formatted</a:t>
            </a:r>
          </a:p>
          <a:p>
            <a:pPr lvl="1">
              <a:spcBef>
                <a:spcPts val="400"/>
              </a:spcBef>
              <a:spcAft>
                <a:spcPts val="400"/>
              </a:spcAft>
            </a:pPr>
            <a:r>
              <a:rPr lang="en-US" altLang="en-US" dirty="0"/>
              <a:t>Found in all major operating systems</a:t>
            </a:r>
          </a:p>
          <a:p>
            <a:pPr lvl="2">
              <a:spcBef>
                <a:spcPts val="400"/>
              </a:spcBef>
              <a:spcAft>
                <a:spcPts val="400"/>
              </a:spcAft>
            </a:pPr>
            <a:r>
              <a:rPr lang="en-US" altLang="en-US" dirty="0"/>
              <a:t>Linux </a:t>
            </a:r>
            <a:r>
              <a:rPr lang="en-US" altLang="en-US" i="1" dirty="0">
                <a:solidFill>
                  <a:srgbClr val="0070C0"/>
                </a:solidFill>
              </a:rPr>
              <a:t>/dev/ram</a:t>
            </a:r>
            <a:r>
              <a:rPr lang="en-US" altLang="en-US" dirty="0"/>
              <a:t>, macOS </a:t>
            </a:r>
            <a:r>
              <a:rPr lang="en-US" altLang="en-US" i="1" dirty="0" err="1">
                <a:solidFill>
                  <a:srgbClr val="0070C0"/>
                </a:solidFill>
              </a:rPr>
              <a:t>diskutil</a:t>
            </a:r>
            <a:r>
              <a:rPr lang="en-US" altLang="en-US" dirty="0"/>
              <a:t> to create them, Solaris </a:t>
            </a:r>
            <a:r>
              <a:rPr lang="en-US" altLang="en-US" i="1" dirty="0">
                <a:solidFill>
                  <a:srgbClr val="0070C0"/>
                </a:solidFill>
              </a:rPr>
              <a:t>/</a:t>
            </a:r>
            <a:r>
              <a:rPr lang="en-US" altLang="en-US" i="1" dirty="0" err="1">
                <a:solidFill>
                  <a:srgbClr val="0070C0"/>
                </a:solidFill>
              </a:rPr>
              <a:t>tmp</a:t>
            </a:r>
            <a:r>
              <a:rPr lang="en-US" altLang="en-US" i="1" dirty="0">
                <a:solidFill>
                  <a:srgbClr val="0070C0"/>
                </a:solidFill>
              </a:rPr>
              <a:t> </a:t>
            </a:r>
            <a:r>
              <a:rPr lang="en-US" altLang="en-US" dirty="0"/>
              <a:t>of file system type </a:t>
            </a:r>
            <a:r>
              <a:rPr lang="en-US" altLang="en-US" i="1" dirty="0" err="1">
                <a:solidFill>
                  <a:srgbClr val="0070C0"/>
                </a:solidFill>
              </a:rPr>
              <a:t>tmpfs</a:t>
            </a:r>
            <a:endParaRPr lang="en-US" altLang="en-US" i="1" dirty="0">
              <a:solidFill>
                <a:srgbClr val="0070C0"/>
              </a:solidFill>
            </a:endParaRPr>
          </a:p>
          <a:p>
            <a:pPr lvl="1">
              <a:spcBef>
                <a:spcPts val="400"/>
              </a:spcBef>
              <a:spcAft>
                <a:spcPts val="400"/>
              </a:spcAft>
            </a:pPr>
            <a:r>
              <a:rPr lang="en-US" altLang="en-US" dirty="0"/>
              <a:t>Computers have buffering, caching via RAM, so why RAM drives?</a:t>
            </a:r>
          </a:p>
          <a:p>
            <a:pPr lvl="2">
              <a:spcBef>
                <a:spcPts val="400"/>
              </a:spcBef>
              <a:spcAft>
                <a:spcPts val="400"/>
              </a:spcAft>
            </a:pPr>
            <a:r>
              <a:rPr lang="en-US" altLang="en-US" dirty="0"/>
              <a:t>Caches / buffers allocated / managed by programmer, operating system, hardware</a:t>
            </a:r>
          </a:p>
          <a:p>
            <a:pPr lvl="2">
              <a:spcBef>
                <a:spcPts val="400"/>
              </a:spcBef>
              <a:spcAft>
                <a:spcPts val="400"/>
              </a:spcAft>
            </a:pPr>
            <a:r>
              <a:rPr lang="en-US" altLang="en-US" i="1" dirty="0">
                <a:solidFill>
                  <a:srgbClr val="0070C0"/>
                </a:solidFill>
              </a:rPr>
              <a:t>RAM drives under user control</a:t>
            </a:r>
          </a:p>
          <a:p>
            <a:pPr>
              <a:spcBef>
                <a:spcPts val="400"/>
              </a:spcBef>
              <a:spcAft>
                <a:spcPts val="400"/>
              </a:spcAft>
            </a:pPr>
            <a:r>
              <a:rPr lang="en-US" altLang="en-US" dirty="0"/>
              <a:t>Used as high speed temporary storage</a:t>
            </a:r>
          </a:p>
          <a:p>
            <a:pPr lvl="1">
              <a:spcBef>
                <a:spcPts val="400"/>
              </a:spcBef>
              <a:spcAft>
                <a:spcPts val="400"/>
              </a:spcAft>
            </a:pPr>
            <a:r>
              <a:rPr lang="en-US" altLang="en-US" dirty="0"/>
              <a:t>Programs could share bulk date, quickly, by reading/writing to RAM drive</a:t>
            </a:r>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879B0331-1CB1-4745-9E07-C424747B54A3}"/>
              </a:ext>
            </a:extLst>
          </p:cNvPr>
          <p:cNvSpPr>
            <a:spLocks noGrp="1" noChangeArrowheads="1"/>
          </p:cNvSpPr>
          <p:nvPr>
            <p:ph type="title"/>
          </p:nvPr>
        </p:nvSpPr>
        <p:spPr/>
        <p:txBody>
          <a:bodyPr/>
          <a:lstStyle/>
          <a:p>
            <a:r>
              <a:rPr lang="en-US" altLang="en-US"/>
              <a:t>Magnetic Tape</a:t>
            </a:r>
          </a:p>
        </p:txBody>
      </p:sp>
      <p:pic>
        <p:nvPicPr>
          <p:cNvPr id="22530" name="Picture 2">
            <a:extLst>
              <a:ext uri="{FF2B5EF4-FFF2-40B4-BE49-F238E27FC236}">
                <a16:creationId xmlns:a16="http://schemas.microsoft.com/office/drawing/2014/main" id="{03AEAEF1-FFEC-A04C-8351-63A2D62F8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1127127"/>
            <a:ext cx="5322070" cy="513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AB3A5824-09B9-3A46-9B86-8609ED07D201}"/>
              </a:ext>
            </a:extLst>
          </p:cNvPr>
          <p:cNvSpPr>
            <a:spLocks noGrp="1" noChangeArrowheads="1"/>
          </p:cNvSpPr>
          <p:nvPr>
            <p:ph type="title"/>
          </p:nvPr>
        </p:nvSpPr>
        <p:spPr/>
        <p:txBody>
          <a:bodyPr/>
          <a:lstStyle/>
          <a:p>
            <a:r>
              <a:rPr lang="en-US" altLang="en-US"/>
              <a:t>Disk Attachment</a:t>
            </a:r>
          </a:p>
        </p:txBody>
      </p:sp>
      <p:sp>
        <p:nvSpPr>
          <p:cNvPr id="26626" name="Rectangle 3">
            <a:extLst>
              <a:ext uri="{FF2B5EF4-FFF2-40B4-BE49-F238E27FC236}">
                <a16:creationId xmlns:a16="http://schemas.microsoft.com/office/drawing/2014/main" id="{5F9D55FD-66EB-F648-9712-2EDCF32E56D6}"/>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Host-attached storage </a:t>
            </a:r>
            <a:r>
              <a:rPr lang="en-US" altLang="en-US" dirty="0"/>
              <a:t>accessed through I/O ports talking to I/O busses. Several busses available, including </a:t>
            </a:r>
            <a:r>
              <a:rPr lang="en-US" altLang="en-US" i="1" dirty="0">
                <a:solidFill>
                  <a:srgbClr val="0070C0"/>
                </a:solidFill>
              </a:rPr>
              <a:t>advanced technology attachment </a:t>
            </a:r>
            <a:r>
              <a:rPr lang="en-US" altLang="en-US" dirty="0"/>
              <a:t>(</a:t>
            </a:r>
            <a:r>
              <a:rPr lang="en-US" altLang="en-US" b="1" dirty="0">
                <a:solidFill>
                  <a:srgbClr val="0070C0"/>
                </a:solidFill>
              </a:rPr>
              <a:t>ATA</a:t>
            </a:r>
            <a:r>
              <a:rPr lang="en-US" altLang="en-US" dirty="0"/>
              <a:t>), </a:t>
            </a:r>
            <a:r>
              <a:rPr lang="en-US" altLang="en-US" i="1" dirty="0">
                <a:solidFill>
                  <a:srgbClr val="0070C0"/>
                </a:solidFill>
              </a:rPr>
              <a:t>serial ATA </a:t>
            </a:r>
            <a:r>
              <a:rPr lang="en-US" altLang="en-US" dirty="0"/>
              <a:t>(</a:t>
            </a:r>
            <a:r>
              <a:rPr lang="en-US" altLang="en-US" b="1" dirty="0">
                <a:solidFill>
                  <a:srgbClr val="0070C0"/>
                </a:solidFill>
              </a:rPr>
              <a:t>SATA</a:t>
            </a:r>
            <a:r>
              <a:rPr lang="en-US" altLang="en-US" dirty="0"/>
              <a:t>), </a:t>
            </a:r>
            <a:r>
              <a:rPr lang="en-US" altLang="en-US" b="1" dirty="0" err="1">
                <a:solidFill>
                  <a:srgbClr val="0070C0"/>
                </a:solidFill>
              </a:rPr>
              <a:t>eSATA</a:t>
            </a:r>
            <a:r>
              <a:rPr lang="en-US" altLang="en-US" dirty="0"/>
              <a:t>, </a:t>
            </a:r>
            <a:r>
              <a:rPr lang="en-US" altLang="en-US" i="1" dirty="0">
                <a:solidFill>
                  <a:srgbClr val="0070C0"/>
                </a:solidFill>
              </a:rPr>
              <a:t>serial attached SCSI </a:t>
            </a:r>
            <a:r>
              <a:rPr lang="en-US" altLang="en-US" dirty="0"/>
              <a:t>(</a:t>
            </a:r>
            <a:r>
              <a:rPr lang="en-US" altLang="en-US" b="1" dirty="0">
                <a:solidFill>
                  <a:srgbClr val="0070C0"/>
                </a:solidFill>
              </a:rPr>
              <a:t>SAS</a:t>
            </a:r>
            <a:r>
              <a:rPr lang="en-US" altLang="en-US" dirty="0"/>
              <a:t>), </a:t>
            </a:r>
            <a:r>
              <a:rPr lang="en-US" altLang="en-US" i="1" dirty="0">
                <a:solidFill>
                  <a:srgbClr val="0070C0"/>
                </a:solidFill>
              </a:rPr>
              <a:t>universal serial bus </a:t>
            </a:r>
            <a:r>
              <a:rPr lang="en-US" altLang="en-US" dirty="0"/>
              <a:t>(</a:t>
            </a:r>
            <a:r>
              <a:rPr lang="en-US" altLang="en-US" b="1" dirty="0">
                <a:solidFill>
                  <a:srgbClr val="0070C0"/>
                </a:solidFill>
              </a:rPr>
              <a:t>USB</a:t>
            </a:r>
            <a:r>
              <a:rPr lang="en-US" altLang="en-US" dirty="0"/>
              <a:t>), and </a:t>
            </a:r>
            <a:r>
              <a:rPr lang="en-US" altLang="en-US" i="1" dirty="0" err="1">
                <a:solidFill>
                  <a:srgbClr val="0070C0"/>
                </a:solidFill>
              </a:rPr>
              <a:t>fibre</a:t>
            </a:r>
            <a:r>
              <a:rPr lang="en-US" altLang="en-US" i="1" dirty="0">
                <a:solidFill>
                  <a:srgbClr val="0070C0"/>
                </a:solidFill>
              </a:rPr>
              <a:t> channel </a:t>
            </a:r>
            <a:r>
              <a:rPr lang="en-US" altLang="en-US" dirty="0"/>
              <a:t>(</a:t>
            </a:r>
            <a:r>
              <a:rPr lang="en-US" altLang="en-US" b="1" dirty="0">
                <a:solidFill>
                  <a:srgbClr val="0070C0"/>
                </a:solidFill>
              </a:rPr>
              <a:t>FC</a:t>
            </a:r>
            <a:r>
              <a:rPr lang="en-US" altLang="en-US" dirty="0"/>
              <a:t>)</a:t>
            </a:r>
          </a:p>
          <a:p>
            <a:pPr lvl="1">
              <a:spcBef>
                <a:spcPts val="400"/>
              </a:spcBef>
              <a:spcAft>
                <a:spcPts val="400"/>
              </a:spcAft>
            </a:pPr>
            <a:r>
              <a:rPr lang="en-US" altLang="en-US" dirty="0"/>
              <a:t>Because NVM much faster than HDD, new fast interface for NVM called </a:t>
            </a:r>
            <a:r>
              <a:rPr lang="en-US" altLang="en-US" i="1" dirty="0">
                <a:solidFill>
                  <a:srgbClr val="0070C0"/>
                </a:solidFill>
              </a:rPr>
              <a:t>NVM express </a:t>
            </a:r>
            <a:r>
              <a:rPr lang="en-US" altLang="en-US" dirty="0"/>
              <a:t>(</a:t>
            </a:r>
            <a:r>
              <a:rPr lang="en-US" altLang="en-US" b="1" dirty="0" err="1">
                <a:solidFill>
                  <a:srgbClr val="0070C0"/>
                </a:solidFill>
              </a:rPr>
              <a:t>NVMe</a:t>
            </a:r>
            <a:r>
              <a:rPr lang="en-US" altLang="en-US" dirty="0"/>
              <a:t>), connecting directly to </a:t>
            </a:r>
            <a:r>
              <a:rPr lang="en-US" altLang="en-US" b="1" dirty="0">
                <a:solidFill>
                  <a:srgbClr val="0070C0"/>
                </a:solidFill>
              </a:rPr>
              <a:t>PCI</a:t>
            </a:r>
            <a:r>
              <a:rPr lang="en-US" altLang="en-US" i="1" dirty="0">
                <a:solidFill>
                  <a:srgbClr val="0070C0"/>
                </a:solidFill>
              </a:rPr>
              <a:t> bus</a:t>
            </a:r>
          </a:p>
          <a:p>
            <a:pPr>
              <a:spcBef>
                <a:spcPts val="400"/>
              </a:spcBef>
              <a:spcAft>
                <a:spcPts val="400"/>
              </a:spcAft>
            </a:pPr>
            <a:r>
              <a:rPr lang="en-US" altLang="en-US" dirty="0"/>
              <a:t>Data transfers on a bus carried out by special electronic processors called </a:t>
            </a:r>
            <a:r>
              <a:rPr lang="en-US" altLang="en-US" i="1" dirty="0">
                <a:solidFill>
                  <a:srgbClr val="0070C0"/>
                </a:solidFill>
              </a:rPr>
              <a:t>controllers</a:t>
            </a:r>
            <a:r>
              <a:rPr lang="en-US" altLang="en-US" dirty="0"/>
              <a:t> (or </a:t>
            </a:r>
            <a:r>
              <a:rPr lang="en-US" altLang="en-US" i="1" dirty="0">
                <a:solidFill>
                  <a:srgbClr val="0070C0"/>
                </a:solidFill>
              </a:rPr>
              <a:t>host-bus adapters</a:t>
            </a:r>
            <a:r>
              <a:rPr lang="en-US" altLang="en-US" dirty="0"/>
              <a:t>, </a:t>
            </a:r>
            <a:r>
              <a:rPr lang="en-US" altLang="en-US" b="1" dirty="0">
                <a:solidFill>
                  <a:srgbClr val="0070C0"/>
                </a:solidFill>
              </a:rPr>
              <a:t>HBA</a:t>
            </a:r>
            <a:r>
              <a:rPr lang="en-US" altLang="en-US" dirty="0"/>
              <a:t>s)</a:t>
            </a:r>
          </a:p>
          <a:p>
            <a:pPr lvl="1">
              <a:spcBef>
                <a:spcPts val="400"/>
              </a:spcBef>
              <a:spcAft>
                <a:spcPts val="400"/>
              </a:spcAft>
            </a:pPr>
            <a:r>
              <a:rPr lang="en-US" altLang="en-US" dirty="0"/>
              <a:t>Host controller on the computer end of the bus, device controller on device end</a:t>
            </a:r>
          </a:p>
          <a:p>
            <a:pPr lvl="1">
              <a:spcBef>
                <a:spcPts val="400"/>
              </a:spcBef>
              <a:spcAft>
                <a:spcPts val="400"/>
              </a:spcAft>
            </a:pPr>
            <a:r>
              <a:rPr lang="en-US" altLang="en-US" dirty="0"/>
              <a:t>Computer places command on host controller, using memory-mapped I/O ports</a:t>
            </a:r>
          </a:p>
          <a:p>
            <a:pPr lvl="1">
              <a:spcBef>
                <a:spcPts val="400"/>
              </a:spcBef>
              <a:spcAft>
                <a:spcPts val="400"/>
              </a:spcAft>
            </a:pPr>
            <a:r>
              <a:rPr lang="en-US" altLang="en-US" dirty="0"/>
              <a:t>Host controller sends messages to device controller</a:t>
            </a:r>
          </a:p>
          <a:p>
            <a:pPr lvl="1">
              <a:spcBef>
                <a:spcPts val="400"/>
              </a:spcBef>
              <a:spcAft>
                <a:spcPts val="400"/>
              </a:spcAft>
            </a:pPr>
            <a:r>
              <a:rPr lang="en-US" altLang="en-US" dirty="0"/>
              <a:t>Data transferred via DMA between device and computer DRAM</a:t>
            </a:r>
          </a:p>
          <a:p>
            <a:pPr lvl="2"/>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5EF3DA0-14F6-9342-907D-63200B5C0302}"/>
              </a:ext>
            </a:extLst>
          </p:cNvPr>
          <p:cNvSpPr>
            <a:spLocks noGrp="1" noChangeArrowheads="1"/>
          </p:cNvSpPr>
          <p:nvPr>
            <p:ph type="title"/>
          </p:nvPr>
        </p:nvSpPr>
        <p:spPr/>
        <p:txBody>
          <a:bodyPr/>
          <a:lstStyle/>
          <a:p>
            <a:r>
              <a:rPr lang="en-US" altLang="en-US"/>
              <a:t>Address Mapping</a:t>
            </a:r>
          </a:p>
        </p:txBody>
      </p:sp>
      <p:sp>
        <p:nvSpPr>
          <p:cNvPr id="28674" name="Rectangle 3">
            <a:extLst>
              <a:ext uri="{FF2B5EF4-FFF2-40B4-BE49-F238E27FC236}">
                <a16:creationId xmlns:a16="http://schemas.microsoft.com/office/drawing/2014/main" id="{F60A5575-5838-CB4E-8123-2B938DE3D3F0}"/>
              </a:ext>
            </a:extLst>
          </p:cNvPr>
          <p:cNvSpPr>
            <a:spLocks noGrp="1" noChangeArrowheads="1"/>
          </p:cNvSpPr>
          <p:nvPr>
            <p:ph idx="1"/>
          </p:nvPr>
        </p:nvSpPr>
        <p:spPr/>
        <p:txBody>
          <a:bodyPr/>
          <a:lstStyle/>
          <a:p>
            <a:r>
              <a:rPr lang="en-US" altLang="en-US" i="1" dirty="0">
                <a:solidFill>
                  <a:srgbClr val="0070C0"/>
                </a:solidFill>
              </a:rPr>
              <a:t>Disk drives </a:t>
            </a:r>
            <a:r>
              <a:rPr lang="en-US" altLang="en-US" dirty="0"/>
              <a:t>are addressed as </a:t>
            </a:r>
            <a:r>
              <a:rPr lang="en-US" altLang="en-US" i="1" dirty="0">
                <a:solidFill>
                  <a:srgbClr val="0070C0"/>
                </a:solidFill>
              </a:rPr>
              <a:t>large 1-dimensional arrays of logical blocks</a:t>
            </a:r>
            <a:r>
              <a:rPr lang="en-US" altLang="en-US" dirty="0"/>
              <a:t>, where the logical block is the smallest unit of transfer</a:t>
            </a:r>
          </a:p>
          <a:p>
            <a:pPr lvl="1"/>
            <a:r>
              <a:rPr lang="en-US" altLang="en-US" i="1" dirty="0">
                <a:solidFill>
                  <a:srgbClr val="0070C0"/>
                </a:solidFill>
              </a:rPr>
              <a:t>Low-level formatting </a:t>
            </a:r>
            <a:r>
              <a:rPr lang="en-US" altLang="en-US" dirty="0"/>
              <a:t>creates logical blocks on physical media</a:t>
            </a:r>
          </a:p>
          <a:p>
            <a:r>
              <a:rPr lang="en-US" altLang="en-US" dirty="0"/>
              <a:t>The 1-dimensional array of logical blocks is </a:t>
            </a:r>
            <a:r>
              <a:rPr lang="en-US" altLang="en-US" i="1" dirty="0">
                <a:solidFill>
                  <a:srgbClr val="0070C0"/>
                </a:solidFill>
              </a:rPr>
              <a:t>mapped</a:t>
            </a:r>
            <a:r>
              <a:rPr lang="en-US" altLang="en-US" dirty="0"/>
              <a:t> into the sectors of the disk sequentially</a:t>
            </a:r>
          </a:p>
          <a:p>
            <a:pPr lvl="1"/>
            <a:r>
              <a:rPr lang="en-US" altLang="en-US" dirty="0"/>
              <a:t>Sector 0 is the first sector of the first track on the outermost cylinder</a:t>
            </a:r>
          </a:p>
          <a:p>
            <a:pPr lvl="1"/>
            <a:r>
              <a:rPr lang="en-US" altLang="en-US" dirty="0"/>
              <a:t>Mapping proceeds in order through that track, then the rest of the tracks in that cylinder, and then through the rest of the cylinders from outermost to innermost</a:t>
            </a:r>
          </a:p>
          <a:p>
            <a:pPr lvl="1"/>
            <a:r>
              <a:rPr lang="en-US" altLang="en-US" dirty="0"/>
              <a:t>Logical to physical address should be easy</a:t>
            </a:r>
          </a:p>
          <a:p>
            <a:pPr lvl="2">
              <a:spcBef>
                <a:spcPts val="400"/>
              </a:spcBef>
              <a:spcAft>
                <a:spcPts val="400"/>
              </a:spcAft>
            </a:pPr>
            <a:r>
              <a:rPr lang="en-US" altLang="en-US" dirty="0"/>
              <a:t>Except for bad sectors</a:t>
            </a:r>
          </a:p>
          <a:p>
            <a:pPr lvl="2">
              <a:spcBef>
                <a:spcPts val="400"/>
              </a:spcBef>
              <a:spcAft>
                <a:spcPts val="400"/>
              </a:spcAft>
            </a:pPr>
            <a:r>
              <a:rPr lang="en-US" altLang="en-US" dirty="0"/>
              <a:t>Non-constant # of sectors per track via constant angular velocity</a:t>
            </a:r>
          </a:p>
          <a:p>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4563B2C7-76AD-4449-8D2A-3789D7AAFB8D}"/>
              </a:ext>
            </a:extLst>
          </p:cNvPr>
          <p:cNvSpPr>
            <a:spLocks noGrp="1" noChangeArrowheads="1"/>
          </p:cNvSpPr>
          <p:nvPr>
            <p:ph type="title"/>
          </p:nvPr>
        </p:nvSpPr>
        <p:spPr/>
        <p:txBody>
          <a:bodyPr/>
          <a:lstStyle/>
          <a:p>
            <a:r>
              <a:rPr lang="en-US" altLang="en-US"/>
              <a:t>HDD Scheduling</a:t>
            </a:r>
          </a:p>
        </p:txBody>
      </p:sp>
      <p:sp>
        <p:nvSpPr>
          <p:cNvPr id="30722" name="Rectangle 3">
            <a:extLst>
              <a:ext uri="{FF2B5EF4-FFF2-40B4-BE49-F238E27FC236}">
                <a16:creationId xmlns:a16="http://schemas.microsoft.com/office/drawing/2014/main" id="{DAF31EC1-7E82-1D41-A2ED-97378469EBF3}"/>
              </a:ext>
            </a:extLst>
          </p:cNvPr>
          <p:cNvSpPr>
            <a:spLocks noGrp="1" noChangeArrowheads="1"/>
          </p:cNvSpPr>
          <p:nvPr>
            <p:ph idx="1"/>
          </p:nvPr>
        </p:nvSpPr>
        <p:spPr/>
        <p:txBody>
          <a:bodyPr/>
          <a:lstStyle/>
          <a:p>
            <a:r>
              <a:rPr lang="en-US" altLang="en-US" dirty="0"/>
              <a:t>The operating system is responsible for using hardware efficiently — for the disk drives, this means having a </a:t>
            </a:r>
            <a:r>
              <a:rPr lang="en-US" altLang="en-US" i="1" dirty="0">
                <a:solidFill>
                  <a:srgbClr val="0070C0"/>
                </a:solidFill>
              </a:rPr>
              <a:t>fast access time </a:t>
            </a:r>
            <a:r>
              <a:rPr lang="en-US" altLang="en-US" dirty="0"/>
              <a:t>and </a:t>
            </a:r>
            <a:r>
              <a:rPr lang="en-US" altLang="en-US" i="1" dirty="0">
                <a:solidFill>
                  <a:srgbClr val="0070C0"/>
                </a:solidFill>
              </a:rPr>
              <a:t>disk bandwidth</a:t>
            </a:r>
          </a:p>
          <a:p>
            <a:pPr lvl="1"/>
            <a:r>
              <a:rPr lang="en-US" altLang="en-US" dirty="0"/>
              <a:t>Seek time </a:t>
            </a:r>
            <a:r>
              <a:rPr lang="en-US" altLang="en-US" dirty="0">
                <a:sym typeface="Symbol" pitchFamily="2" charset="2"/>
              </a:rPr>
              <a:t> seek distance</a:t>
            </a:r>
          </a:p>
          <a:p>
            <a:pPr lvl="1"/>
            <a:r>
              <a:rPr lang="en-US" altLang="en-US" dirty="0">
                <a:sym typeface="Symbol" pitchFamily="2" charset="2"/>
              </a:rPr>
              <a:t>Disk bandwidth is the total number of bytes transferred, divided by the total time between the first request for service and the completion of the last transfer</a:t>
            </a:r>
          </a:p>
          <a:p>
            <a:r>
              <a:rPr lang="en-US" altLang="en-US" i="1" dirty="0">
                <a:solidFill>
                  <a:srgbClr val="0070C0"/>
                </a:solidFill>
              </a:rPr>
              <a:t>Minimize seek time</a:t>
            </a:r>
          </a:p>
          <a:p>
            <a:endParaRPr lang="en-US" altLang="en-US" dirty="0">
              <a:sym typeface="Symbol" pitchFamily="2" charset="2"/>
            </a:endParaRPr>
          </a:p>
          <a:p>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30E13EDB-E5E2-824F-BC54-EFD8852EA9F8}"/>
              </a:ext>
            </a:extLst>
          </p:cNvPr>
          <p:cNvSpPr>
            <a:spLocks noGrp="1" noChangeArrowheads="1"/>
          </p:cNvSpPr>
          <p:nvPr>
            <p:ph type="title"/>
          </p:nvPr>
        </p:nvSpPr>
        <p:spPr/>
        <p:txBody>
          <a:bodyPr/>
          <a:lstStyle/>
          <a:p>
            <a:r>
              <a:rPr lang="en-US" altLang="en-US"/>
              <a:t>Disk Scheduling (Cont.)</a:t>
            </a:r>
          </a:p>
        </p:txBody>
      </p:sp>
      <p:sp>
        <p:nvSpPr>
          <p:cNvPr id="32770" name="Rectangle 3">
            <a:extLst>
              <a:ext uri="{FF2B5EF4-FFF2-40B4-BE49-F238E27FC236}">
                <a16:creationId xmlns:a16="http://schemas.microsoft.com/office/drawing/2014/main" id="{56C79B31-66E1-DF4C-9545-32B6BFA9ACF1}"/>
              </a:ext>
            </a:extLst>
          </p:cNvPr>
          <p:cNvSpPr>
            <a:spLocks noGrp="1" noChangeArrowheads="1"/>
          </p:cNvSpPr>
          <p:nvPr>
            <p:ph idx="1"/>
          </p:nvPr>
        </p:nvSpPr>
        <p:spPr/>
        <p:txBody>
          <a:bodyPr/>
          <a:lstStyle/>
          <a:p>
            <a:pPr>
              <a:spcBef>
                <a:spcPts val="400"/>
              </a:spcBef>
              <a:spcAft>
                <a:spcPts val="400"/>
              </a:spcAft>
            </a:pPr>
            <a:r>
              <a:rPr lang="en-US" altLang="en-US" dirty="0"/>
              <a:t>There are many sources of </a:t>
            </a:r>
            <a:r>
              <a:rPr lang="en-US" altLang="en-US" i="1" dirty="0">
                <a:solidFill>
                  <a:srgbClr val="0070C0"/>
                </a:solidFill>
              </a:rPr>
              <a:t>disk I/O request</a:t>
            </a:r>
          </a:p>
          <a:p>
            <a:pPr lvl="1">
              <a:spcBef>
                <a:spcPts val="400"/>
              </a:spcBef>
              <a:spcAft>
                <a:spcPts val="400"/>
              </a:spcAft>
            </a:pPr>
            <a:r>
              <a:rPr lang="en-US" altLang="en-US" dirty="0"/>
              <a:t>OS</a:t>
            </a:r>
          </a:p>
          <a:p>
            <a:pPr lvl="1">
              <a:spcBef>
                <a:spcPts val="400"/>
              </a:spcBef>
              <a:spcAft>
                <a:spcPts val="400"/>
              </a:spcAft>
            </a:pPr>
            <a:r>
              <a:rPr lang="en-US" altLang="en-US" dirty="0"/>
              <a:t>System processes</a:t>
            </a:r>
          </a:p>
          <a:p>
            <a:pPr lvl="1">
              <a:spcBef>
                <a:spcPts val="400"/>
              </a:spcBef>
              <a:spcAft>
                <a:spcPts val="400"/>
              </a:spcAft>
            </a:pPr>
            <a:r>
              <a:rPr lang="en-US" altLang="en-US" dirty="0"/>
              <a:t>Users processes</a:t>
            </a:r>
          </a:p>
          <a:p>
            <a:pPr>
              <a:spcBef>
                <a:spcPts val="400"/>
              </a:spcBef>
              <a:spcAft>
                <a:spcPts val="400"/>
              </a:spcAft>
            </a:pPr>
            <a:r>
              <a:rPr lang="en-US" altLang="en-US" dirty="0"/>
              <a:t>I/O request includes input or output mode, disk address, memory address, number of sectors to transfer</a:t>
            </a:r>
          </a:p>
          <a:p>
            <a:pPr>
              <a:spcBef>
                <a:spcPts val="400"/>
              </a:spcBef>
              <a:spcAft>
                <a:spcPts val="400"/>
              </a:spcAft>
            </a:pPr>
            <a:r>
              <a:rPr lang="en-US" altLang="en-US" dirty="0"/>
              <a:t>OS maintains queue of requests, per disk or device</a:t>
            </a:r>
          </a:p>
          <a:p>
            <a:pPr>
              <a:spcBef>
                <a:spcPts val="400"/>
              </a:spcBef>
              <a:spcAft>
                <a:spcPts val="400"/>
              </a:spcAft>
            </a:pPr>
            <a:r>
              <a:rPr lang="en-US" altLang="en-US" dirty="0"/>
              <a:t>Idle disk can immediately work on I/O request, busy disk means work must queue</a:t>
            </a:r>
          </a:p>
          <a:p>
            <a:pPr lvl="1">
              <a:spcBef>
                <a:spcPts val="400"/>
              </a:spcBef>
              <a:spcAft>
                <a:spcPts val="400"/>
              </a:spcAft>
            </a:pPr>
            <a:r>
              <a:rPr lang="en-US" altLang="en-US" i="1" dirty="0">
                <a:solidFill>
                  <a:srgbClr val="0070C0"/>
                </a:solidFill>
              </a:rPr>
              <a:t>Optimization algorithms </a:t>
            </a:r>
            <a:r>
              <a:rPr lang="en-US" altLang="en-US" dirty="0"/>
              <a:t>only make sense when a queue exists</a:t>
            </a:r>
          </a:p>
          <a:p>
            <a:pPr lvl="1">
              <a:spcBef>
                <a:spcPts val="400"/>
              </a:spcBef>
              <a:spcAft>
                <a:spcPts val="400"/>
              </a:spcAft>
            </a:pPr>
            <a:r>
              <a:rPr lang="en-US" altLang="en-US" dirty="0"/>
              <a:t>In the past, operating system responsible for queue management, disk drive head scheduling</a:t>
            </a:r>
          </a:p>
          <a:p>
            <a:pPr lvl="2">
              <a:spcBef>
                <a:spcPts val="400"/>
              </a:spcBef>
              <a:spcAft>
                <a:spcPts val="400"/>
              </a:spcAft>
            </a:pPr>
            <a:r>
              <a:rPr lang="en-US" altLang="en-US" dirty="0"/>
              <a:t>Now, built into the storage devices, controllers</a:t>
            </a:r>
          </a:p>
          <a:p>
            <a:pPr lvl="1">
              <a:spcBef>
                <a:spcPts val="400"/>
              </a:spcBef>
              <a:spcAft>
                <a:spcPts val="400"/>
              </a:spcAft>
            </a:pPr>
            <a:r>
              <a:rPr lang="en-US" altLang="en-US" dirty="0"/>
              <a:t>Just provide </a:t>
            </a:r>
            <a:r>
              <a:rPr lang="en-US" altLang="en-US" b="1" dirty="0">
                <a:solidFill>
                  <a:srgbClr val="0070C0"/>
                </a:solidFill>
              </a:rPr>
              <a:t>LBA</a:t>
            </a:r>
            <a:r>
              <a:rPr lang="en-US" altLang="en-US" dirty="0"/>
              <a:t>s, handle sorting of requests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FE053DCC-7658-974A-89A3-A2BE7A66C2E7}"/>
              </a:ext>
            </a:extLst>
          </p:cNvPr>
          <p:cNvSpPr>
            <a:spLocks noGrp="1" noChangeArrowheads="1"/>
          </p:cNvSpPr>
          <p:nvPr>
            <p:ph type="title"/>
          </p:nvPr>
        </p:nvSpPr>
        <p:spPr/>
        <p:txBody>
          <a:bodyPr/>
          <a:lstStyle/>
          <a:p>
            <a:r>
              <a:rPr lang="en-US" altLang="en-US"/>
              <a:t>Disk Scheduling (Cont.)</a:t>
            </a:r>
          </a:p>
        </p:txBody>
      </p:sp>
      <p:sp>
        <p:nvSpPr>
          <p:cNvPr id="34818" name="Rectangle 3">
            <a:extLst>
              <a:ext uri="{FF2B5EF4-FFF2-40B4-BE49-F238E27FC236}">
                <a16:creationId xmlns:a16="http://schemas.microsoft.com/office/drawing/2014/main" id="{B5FE64F1-BBCF-9B46-994E-7C0FB55C3BA3}"/>
              </a:ext>
            </a:extLst>
          </p:cNvPr>
          <p:cNvSpPr>
            <a:spLocks noGrp="1" noChangeArrowheads="1"/>
          </p:cNvSpPr>
          <p:nvPr>
            <p:ph idx="1"/>
          </p:nvPr>
        </p:nvSpPr>
        <p:spPr/>
        <p:txBody>
          <a:bodyPr/>
          <a:lstStyle/>
          <a:p>
            <a:r>
              <a:rPr lang="en-US" altLang="en-US" dirty="0"/>
              <a:t>Note that drive controllers have small buffers and can manage a queue of I/O requests (of varying </a:t>
            </a:r>
            <a:r>
              <a:rPr lang="ja-JP" altLang="en-US"/>
              <a:t>“</a:t>
            </a:r>
            <a:r>
              <a:rPr lang="en-US" altLang="ja-JP" dirty="0"/>
              <a:t>depth</a:t>
            </a:r>
            <a:r>
              <a:rPr lang="ja-JP" altLang="en-US"/>
              <a:t>”</a:t>
            </a:r>
            <a:r>
              <a:rPr lang="en-US" altLang="ja-JP" dirty="0"/>
              <a:t>)</a:t>
            </a:r>
            <a:endParaRPr lang="en-US" altLang="en-US" dirty="0"/>
          </a:p>
          <a:p>
            <a:r>
              <a:rPr lang="en-US" altLang="en-US" i="1" dirty="0">
                <a:solidFill>
                  <a:srgbClr val="0070C0"/>
                </a:solidFill>
              </a:rPr>
              <a:t>Several algorithms exist to schedule the servicing of disk I/O requests</a:t>
            </a:r>
          </a:p>
          <a:p>
            <a:r>
              <a:rPr lang="en-US" altLang="en-US" dirty="0"/>
              <a:t>The analysis is true for one or many platters</a:t>
            </a:r>
          </a:p>
          <a:p>
            <a:r>
              <a:rPr lang="en-US" altLang="en-US" dirty="0"/>
              <a:t>E.g., We illustrate scheduling algorithms with a request queue (0-199)</a:t>
            </a:r>
          </a:p>
          <a:p>
            <a:pPr lvl="1"/>
            <a:r>
              <a:rPr lang="en-US" altLang="en-US" b="1" dirty="0"/>
              <a:t>	98, 183, 37, 122, 14, 124, 65, 67</a:t>
            </a:r>
          </a:p>
          <a:p>
            <a:pPr lvl="1"/>
            <a:r>
              <a:rPr lang="en-US" altLang="en-US" dirty="0"/>
              <a:t>	Head pointer –&gt; 53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EBC025AE-2957-674E-8934-71E08D3531FA}"/>
              </a:ext>
            </a:extLst>
          </p:cNvPr>
          <p:cNvSpPr>
            <a:spLocks noGrp="1" noChangeArrowheads="1"/>
          </p:cNvSpPr>
          <p:nvPr>
            <p:ph type="title"/>
          </p:nvPr>
        </p:nvSpPr>
        <p:spPr/>
        <p:txBody>
          <a:bodyPr/>
          <a:lstStyle/>
          <a:p>
            <a:r>
              <a:rPr lang="en-US" altLang="en-US" dirty="0"/>
              <a:t>First Come First Served (FCFS)</a:t>
            </a:r>
          </a:p>
        </p:txBody>
      </p:sp>
      <p:sp>
        <p:nvSpPr>
          <p:cNvPr id="4" name="Content Placeholder 3">
            <a:extLst>
              <a:ext uri="{FF2B5EF4-FFF2-40B4-BE49-F238E27FC236}">
                <a16:creationId xmlns:a16="http://schemas.microsoft.com/office/drawing/2014/main" id="{645B8813-2005-EB45-B35C-FCAFCC9391D6}"/>
              </a:ext>
            </a:extLst>
          </p:cNvPr>
          <p:cNvSpPr>
            <a:spLocks noGrp="1"/>
          </p:cNvSpPr>
          <p:nvPr>
            <p:ph idx="1"/>
          </p:nvPr>
        </p:nvSpPr>
        <p:spPr/>
        <p:txBody>
          <a:bodyPr/>
          <a:lstStyle/>
          <a:p>
            <a:r>
              <a:rPr lang="en-US" altLang="en-US" dirty="0">
                <a:latin typeface="Helvetica" pitchFamily="2" charset="0"/>
              </a:rPr>
              <a:t>Illustration shows total head movement of </a:t>
            </a:r>
            <a:r>
              <a:rPr lang="en-US" altLang="en-US" i="1" dirty="0">
                <a:solidFill>
                  <a:srgbClr val="0070C0"/>
                </a:solidFill>
                <a:latin typeface="Helvetica" pitchFamily="2" charset="0"/>
              </a:rPr>
              <a:t>640</a:t>
            </a:r>
            <a:r>
              <a:rPr lang="en-US" altLang="en-US" dirty="0">
                <a:latin typeface="Helvetica" pitchFamily="2" charset="0"/>
              </a:rPr>
              <a:t> cylinders</a:t>
            </a:r>
          </a:p>
          <a:p>
            <a:endParaRPr lang="en-US" dirty="0"/>
          </a:p>
        </p:txBody>
      </p:sp>
      <p:pic>
        <p:nvPicPr>
          <p:cNvPr id="36867" name="Picture 6">
            <a:extLst>
              <a:ext uri="{FF2B5EF4-FFF2-40B4-BE49-F238E27FC236}">
                <a16:creationId xmlns:a16="http://schemas.microsoft.com/office/drawing/2014/main" id="{18F124E1-E79E-0940-9DA3-41C56EC89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245" y="2092573"/>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5A0CB76-4D51-8343-B578-6498BEDB1E2F}"/>
              </a:ext>
            </a:extLst>
          </p:cNvPr>
          <p:cNvSpPr>
            <a:spLocks noGrp="1" noChangeArrowheads="1"/>
          </p:cNvSpPr>
          <p:nvPr>
            <p:ph type="title"/>
          </p:nvPr>
        </p:nvSpPr>
        <p:spPr/>
        <p:txBody>
          <a:bodyPr/>
          <a:lstStyle/>
          <a:p>
            <a:r>
              <a:rPr lang="en-US" altLang="en-US"/>
              <a:t>SCAN</a:t>
            </a:r>
          </a:p>
        </p:txBody>
      </p:sp>
      <p:sp>
        <p:nvSpPr>
          <p:cNvPr id="38914" name="Rectangle 3">
            <a:extLst>
              <a:ext uri="{FF2B5EF4-FFF2-40B4-BE49-F238E27FC236}">
                <a16:creationId xmlns:a16="http://schemas.microsoft.com/office/drawing/2014/main" id="{E87068DA-E401-FE49-B230-CCE44C2CC664}"/>
              </a:ext>
            </a:extLst>
          </p:cNvPr>
          <p:cNvSpPr>
            <a:spLocks noGrp="1" noChangeArrowheads="1"/>
          </p:cNvSpPr>
          <p:nvPr>
            <p:ph idx="1"/>
          </p:nvPr>
        </p:nvSpPr>
        <p:spPr/>
        <p:txBody>
          <a:bodyPr/>
          <a:lstStyle/>
          <a:p>
            <a:r>
              <a:rPr lang="en-US" altLang="en-US" dirty="0"/>
              <a:t>The disk arm starts at one end of the disk, and moves toward the other end, servicing requests until it gets to the other end of the disk, where the head movement is reversed and servicing continues.</a:t>
            </a:r>
          </a:p>
          <a:p>
            <a:r>
              <a:rPr lang="en-US" altLang="en-US" dirty="0"/>
              <a:t>SCAN algorithm sometimes called the </a:t>
            </a:r>
            <a:r>
              <a:rPr lang="en-US" altLang="en-US" i="1" dirty="0">
                <a:solidFill>
                  <a:srgbClr val="0070C0"/>
                </a:solidFill>
              </a:rPr>
              <a:t>elevator algorithm</a:t>
            </a:r>
          </a:p>
          <a:p>
            <a:r>
              <a:rPr lang="en-US" altLang="en-US" dirty="0"/>
              <a:t>But note that if requests are uniformly dense, largest density at other end of disk and those wait the longest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6CEB9DDB-DFCB-F04A-8143-AD7966A0E224}"/>
              </a:ext>
            </a:extLst>
          </p:cNvPr>
          <p:cNvSpPr>
            <a:spLocks noGrp="1" noChangeArrowheads="1"/>
          </p:cNvSpPr>
          <p:nvPr>
            <p:ph type="title"/>
          </p:nvPr>
        </p:nvSpPr>
        <p:spPr/>
        <p:txBody>
          <a:bodyPr/>
          <a:lstStyle/>
          <a:p>
            <a:r>
              <a:rPr lang="en-US" altLang="en-US"/>
              <a:t>SCAN (Cont.)</a:t>
            </a:r>
          </a:p>
        </p:txBody>
      </p:sp>
      <p:sp>
        <p:nvSpPr>
          <p:cNvPr id="3" name="Content Placeholder 2">
            <a:extLst>
              <a:ext uri="{FF2B5EF4-FFF2-40B4-BE49-F238E27FC236}">
                <a16:creationId xmlns:a16="http://schemas.microsoft.com/office/drawing/2014/main" id="{9901E0A0-0517-F14C-BADE-674C4326BEB5}"/>
              </a:ext>
            </a:extLst>
          </p:cNvPr>
          <p:cNvSpPr>
            <a:spLocks noGrp="1"/>
          </p:cNvSpPr>
          <p:nvPr>
            <p:ph idx="1"/>
          </p:nvPr>
        </p:nvSpPr>
        <p:spPr/>
        <p:txBody>
          <a:bodyPr/>
          <a:lstStyle/>
          <a:p>
            <a:r>
              <a:rPr lang="en-US" altLang="en-US" dirty="0"/>
              <a:t>Illustration shows total head movement of </a:t>
            </a:r>
            <a:r>
              <a:rPr lang="en-US" altLang="en-US" i="1" dirty="0">
                <a:solidFill>
                  <a:srgbClr val="0070C0"/>
                </a:solidFill>
              </a:rPr>
              <a:t>208</a:t>
            </a:r>
            <a:r>
              <a:rPr lang="en-US" altLang="en-US" dirty="0"/>
              <a:t> cylinders</a:t>
            </a:r>
          </a:p>
          <a:p>
            <a:endParaRPr lang="en-US" dirty="0"/>
          </a:p>
        </p:txBody>
      </p:sp>
      <p:pic>
        <p:nvPicPr>
          <p:cNvPr id="40962" name="Picture 6">
            <a:extLst>
              <a:ext uri="{FF2B5EF4-FFF2-40B4-BE49-F238E27FC236}">
                <a16:creationId xmlns:a16="http://schemas.microsoft.com/office/drawing/2014/main" id="{1D855073-8B74-0341-AB85-D1B040858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668" y="1906588"/>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9BBDDD0E-805E-514A-940C-0A9A8EB4A77F}"/>
              </a:ext>
            </a:extLst>
          </p:cNvPr>
          <p:cNvSpPr>
            <a:spLocks noGrp="1" noChangeArrowheads="1"/>
          </p:cNvSpPr>
          <p:nvPr>
            <p:ph type="title"/>
          </p:nvPr>
        </p:nvSpPr>
        <p:spPr/>
        <p:txBody>
          <a:bodyPr/>
          <a:lstStyle/>
          <a:p>
            <a:r>
              <a:rPr lang="en-US" altLang="en-US"/>
              <a:t>C-SCAN</a:t>
            </a:r>
          </a:p>
        </p:txBody>
      </p:sp>
      <p:sp>
        <p:nvSpPr>
          <p:cNvPr id="43010" name="Rectangle 3">
            <a:extLst>
              <a:ext uri="{FF2B5EF4-FFF2-40B4-BE49-F238E27FC236}">
                <a16:creationId xmlns:a16="http://schemas.microsoft.com/office/drawing/2014/main" id="{36D644DB-300D-CF48-8F64-7A13DEB02EA1}"/>
              </a:ext>
            </a:extLst>
          </p:cNvPr>
          <p:cNvSpPr>
            <a:spLocks noGrp="1" noChangeArrowheads="1"/>
          </p:cNvSpPr>
          <p:nvPr>
            <p:ph idx="1"/>
          </p:nvPr>
        </p:nvSpPr>
        <p:spPr/>
        <p:txBody>
          <a:bodyPr/>
          <a:lstStyle/>
          <a:p>
            <a:r>
              <a:rPr lang="en-US" altLang="en-US" dirty="0"/>
              <a:t>Provides a </a:t>
            </a:r>
            <a:r>
              <a:rPr lang="en-US" altLang="en-US" i="1" dirty="0">
                <a:solidFill>
                  <a:srgbClr val="0070C0"/>
                </a:solidFill>
              </a:rPr>
              <a:t>more uniform wait time </a:t>
            </a:r>
            <a:r>
              <a:rPr lang="en-US" altLang="en-US" dirty="0"/>
              <a:t>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a:t>
            </a:r>
            <a:r>
              <a:rPr lang="en-US" altLang="en-US" i="1" dirty="0">
                <a:solidFill>
                  <a:srgbClr val="0070C0"/>
                </a:solidFill>
              </a:rPr>
              <a:t>without servicing any requests on the return trip</a:t>
            </a:r>
          </a:p>
          <a:p>
            <a:r>
              <a:rPr lang="en-US" altLang="en-US" dirty="0"/>
              <a:t>Treats the cylinders as a circular list that wraps around from the last cylinder to the first 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DFD842D-8D75-9745-9524-950BE9D499F9}"/>
              </a:ext>
            </a:extLst>
          </p:cNvPr>
          <p:cNvSpPr>
            <a:spLocks noGrp="1" noChangeArrowheads="1"/>
          </p:cNvSpPr>
          <p:nvPr>
            <p:ph type="title"/>
          </p:nvPr>
        </p:nvSpPr>
        <p:spPr/>
        <p:txBody>
          <a:bodyPr/>
          <a:lstStyle/>
          <a:p>
            <a:r>
              <a:rPr lang="en-US" altLang="en-US"/>
              <a:t>C-SCAN (Cont.)</a:t>
            </a:r>
          </a:p>
        </p:txBody>
      </p:sp>
      <p:sp>
        <p:nvSpPr>
          <p:cNvPr id="3" name="Content Placeholder 2">
            <a:extLst>
              <a:ext uri="{FF2B5EF4-FFF2-40B4-BE49-F238E27FC236}">
                <a16:creationId xmlns:a16="http://schemas.microsoft.com/office/drawing/2014/main" id="{59A463F8-C142-9048-AB0C-8B51418899DF}"/>
              </a:ext>
            </a:extLst>
          </p:cNvPr>
          <p:cNvSpPr>
            <a:spLocks noGrp="1"/>
          </p:cNvSpPr>
          <p:nvPr>
            <p:ph idx="1"/>
          </p:nvPr>
        </p:nvSpPr>
        <p:spPr/>
        <p:txBody>
          <a:bodyPr/>
          <a:lstStyle/>
          <a:p>
            <a:r>
              <a:rPr lang="en-US" altLang="en-US" dirty="0"/>
              <a:t>Total number of cylinders?</a:t>
            </a:r>
          </a:p>
          <a:p>
            <a:endParaRPr lang="en-US" dirty="0"/>
          </a:p>
        </p:txBody>
      </p:sp>
      <p:pic>
        <p:nvPicPr>
          <p:cNvPr id="45058" name="Picture 4">
            <a:extLst>
              <a:ext uri="{FF2B5EF4-FFF2-40B4-BE49-F238E27FC236}">
                <a16:creationId xmlns:a16="http://schemas.microsoft.com/office/drawing/2014/main" id="{7EE90CE5-4667-7A4A-AF6E-7B4715619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298331" y="2088053"/>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73A8254D-F6F0-8840-B841-6D7D5101D8DB}"/>
              </a:ext>
            </a:extLst>
          </p:cNvPr>
          <p:cNvSpPr>
            <a:spLocks noGrp="1" noChangeArrowheads="1"/>
          </p:cNvSpPr>
          <p:nvPr>
            <p:ph type="title"/>
          </p:nvPr>
        </p:nvSpPr>
        <p:spPr/>
        <p:txBody>
          <a:bodyPr/>
          <a:lstStyle/>
          <a:p>
            <a:r>
              <a:rPr lang="en-US" altLang="en-US" dirty="0"/>
              <a:t>Selecting a Disk-Scheduling Algorithm</a:t>
            </a:r>
          </a:p>
        </p:txBody>
      </p:sp>
      <p:sp>
        <p:nvSpPr>
          <p:cNvPr id="47106" name="Rectangle 3">
            <a:extLst>
              <a:ext uri="{FF2B5EF4-FFF2-40B4-BE49-F238E27FC236}">
                <a16:creationId xmlns:a16="http://schemas.microsoft.com/office/drawing/2014/main" id="{07B9055F-8D0E-6B4B-963A-C160A7670F10}"/>
              </a:ext>
            </a:extLst>
          </p:cNvPr>
          <p:cNvSpPr>
            <a:spLocks noGrp="1" noChangeArrowheads="1"/>
          </p:cNvSpPr>
          <p:nvPr>
            <p:ph idx="1"/>
          </p:nvPr>
        </p:nvSpPr>
        <p:spPr/>
        <p:txBody>
          <a:bodyPr/>
          <a:lstStyle/>
          <a:p>
            <a:pPr>
              <a:spcBef>
                <a:spcPts val="400"/>
              </a:spcBef>
              <a:spcAft>
                <a:spcPts val="400"/>
              </a:spcAft>
            </a:pPr>
            <a:r>
              <a:rPr lang="en-US" altLang="en-US" b="1" dirty="0">
                <a:solidFill>
                  <a:srgbClr val="0070C0"/>
                </a:solidFill>
              </a:rPr>
              <a:t>FCFS</a:t>
            </a:r>
            <a:r>
              <a:rPr lang="en-US" altLang="en-US" dirty="0"/>
              <a:t> is common and has a natural appeal</a:t>
            </a:r>
          </a:p>
          <a:p>
            <a:pPr>
              <a:spcBef>
                <a:spcPts val="400"/>
              </a:spcBef>
              <a:spcAft>
                <a:spcPts val="400"/>
              </a:spcAft>
            </a:pPr>
            <a:r>
              <a:rPr lang="en-US" altLang="en-US" b="1" dirty="0">
                <a:solidFill>
                  <a:srgbClr val="0070C0"/>
                </a:solidFill>
              </a:rPr>
              <a:t>SCAN</a:t>
            </a:r>
            <a:r>
              <a:rPr lang="en-US" altLang="en-US" dirty="0"/>
              <a:t> and </a:t>
            </a:r>
            <a:r>
              <a:rPr lang="en-US" altLang="en-US" b="1" dirty="0">
                <a:solidFill>
                  <a:srgbClr val="0070C0"/>
                </a:solidFill>
              </a:rPr>
              <a:t>C-SCAN</a:t>
            </a:r>
            <a:r>
              <a:rPr lang="en-US" altLang="en-US" dirty="0"/>
              <a:t> perform better for systems that place a heavy load on the disk (less starvation, but still possible)</a:t>
            </a:r>
          </a:p>
          <a:p>
            <a:pPr>
              <a:spcBef>
                <a:spcPts val="400"/>
              </a:spcBef>
              <a:spcAft>
                <a:spcPts val="400"/>
              </a:spcAft>
            </a:pPr>
            <a:r>
              <a:rPr lang="en-US" altLang="en-US" dirty="0"/>
              <a:t>To avoid starvation Linux implements </a:t>
            </a:r>
            <a:r>
              <a:rPr lang="en-US" altLang="en-US" i="1" dirty="0">
                <a:solidFill>
                  <a:srgbClr val="0070C0"/>
                </a:solidFill>
              </a:rPr>
              <a:t>deadline scheduler</a:t>
            </a:r>
          </a:p>
          <a:p>
            <a:pPr lvl="1">
              <a:spcBef>
                <a:spcPts val="400"/>
              </a:spcBef>
              <a:spcAft>
                <a:spcPts val="400"/>
              </a:spcAft>
            </a:pPr>
            <a:r>
              <a:rPr lang="en-US" altLang="en-US" dirty="0"/>
              <a:t>Maintains separate read and write queues, gives read priority</a:t>
            </a:r>
          </a:p>
          <a:p>
            <a:pPr lvl="2">
              <a:spcBef>
                <a:spcPts val="400"/>
              </a:spcBef>
              <a:spcAft>
                <a:spcPts val="400"/>
              </a:spcAft>
            </a:pPr>
            <a:r>
              <a:rPr lang="en-US" altLang="en-US" dirty="0"/>
              <a:t>Because processes more likely to block on read than write</a:t>
            </a:r>
          </a:p>
          <a:p>
            <a:pPr lvl="1">
              <a:spcBef>
                <a:spcPts val="400"/>
              </a:spcBef>
              <a:spcAft>
                <a:spcPts val="400"/>
              </a:spcAft>
            </a:pPr>
            <a:r>
              <a:rPr lang="en-US" altLang="en-US" dirty="0"/>
              <a:t>Implements four queues: 2 x read and 2 x write</a:t>
            </a:r>
          </a:p>
          <a:p>
            <a:pPr lvl="2">
              <a:spcBef>
                <a:spcPts val="400"/>
              </a:spcBef>
              <a:spcAft>
                <a:spcPts val="400"/>
              </a:spcAft>
            </a:pPr>
            <a:r>
              <a:rPr lang="en-US" altLang="en-US" dirty="0"/>
              <a:t>1 read and 1 write queue sorted in LBA order, (implementing C-SCAN)</a:t>
            </a:r>
          </a:p>
          <a:p>
            <a:pPr lvl="2">
              <a:spcBef>
                <a:spcPts val="400"/>
              </a:spcBef>
              <a:spcAft>
                <a:spcPts val="400"/>
              </a:spcAft>
            </a:pPr>
            <a:r>
              <a:rPr lang="en-US" altLang="en-US" dirty="0"/>
              <a:t>1 read and 1 write queue sorted in FCFS order</a:t>
            </a:r>
          </a:p>
          <a:p>
            <a:pPr lvl="2">
              <a:spcBef>
                <a:spcPts val="400"/>
              </a:spcBef>
              <a:spcAft>
                <a:spcPts val="400"/>
              </a:spcAft>
            </a:pPr>
            <a:r>
              <a:rPr lang="en-US" altLang="en-US" dirty="0"/>
              <a:t>All I/O requests sent in batch sorted in that queue’s order</a:t>
            </a:r>
          </a:p>
          <a:p>
            <a:pPr lvl="2">
              <a:spcBef>
                <a:spcPts val="400"/>
              </a:spcBef>
              <a:spcAft>
                <a:spcPts val="400"/>
              </a:spcAft>
            </a:pPr>
            <a:r>
              <a:rPr lang="en-US" altLang="en-US" dirty="0"/>
              <a:t>After each batch, checks if any requests in FCFS older than configured age (default 500ms)</a:t>
            </a:r>
          </a:p>
          <a:p>
            <a:pPr lvl="3">
              <a:spcBef>
                <a:spcPts val="400"/>
              </a:spcBef>
              <a:spcAft>
                <a:spcPts val="400"/>
              </a:spcAft>
            </a:pPr>
            <a:r>
              <a:rPr lang="en-US" altLang="en-US" dirty="0"/>
              <a:t>If so, LBA queue containing that request is selected for next batch of I/O</a:t>
            </a:r>
          </a:p>
          <a:p>
            <a:pPr lvl="1">
              <a:spcBef>
                <a:spcPts val="400"/>
              </a:spcBef>
              <a:spcAft>
                <a:spcPts val="400"/>
              </a:spcAft>
            </a:pPr>
            <a:r>
              <a:rPr lang="en-US" altLang="en-US" dirty="0"/>
              <a:t>In RHEL 7, </a:t>
            </a:r>
            <a:r>
              <a:rPr lang="en-US" altLang="en-US" b="1" dirty="0">
                <a:solidFill>
                  <a:srgbClr val="0070C0"/>
                </a:solidFill>
              </a:rPr>
              <a:t>NOOP</a:t>
            </a:r>
            <a:r>
              <a:rPr lang="en-US" altLang="en-US" dirty="0"/>
              <a:t> and </a:t>
            </a:r>
            <a:r>
              <a:rPr lang="en-US" altLang="en-US" i="1" dirty="0">
                <a:solidFill>
                  <a:srgbClr val="0070C0"/>
                </a:solidFill>
              </a:rPr>
              <a:t>completely fair queueing scheduler </a:t>
            </a:r>
            <a:r>
              <a:rPr lang="en-US" altLang="en-US" dirty="0"/>
              <a:t>(</a:t>
            </a:r>
            <a:r>
              <a:rPr lang="en-US" altLang="en-US" b="1" dirty="0">
                <a:solidFill>
                  <a:srgbClr val="0070C0"/>
                </a:solidFill>
              </a:rPr>
              <a:t>CFQ</a:t>
            </a:r>
            <a:r>
              <a:rPr lang="en-US" altLang="en-US" dirty="0"/>
              <a:t>) are also available, defaults vary by storage device</a:t>
            </a:r>
          </a:p>
          <a:p>
            <a:pPr lvl="2"/>
            <a:endParaRPr lang="en-US" altLang="en-US" dirty="0"/>
          </a:p>
          <a:p>
            <a:endParaRPr lang="en-US" altLang="en-US" dirty="0"/>
          </a:p>
          <a:p>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C45759B3-3C49-334E-9D6B-8B10BA130B27}"/>
              </a:ext>
            </a:extLst>
          </p:cNvPr>
          <p:cNvSpPr>
            <a:spLocks noGrp="1" noChangeArrowheads="1"/>
          </p:cNvSpPr>
          <p:nvPr>
            <p:ph type="title"/>
          </p:nvPr>
        </p:nvSpPr>
        <p:spPr/>
        <p:txBody>
          <a:bodyPr/>
          <a:lstStyle/>
          <a:p>
            <a:r>
              <a:rPr lang="en-US" altLang="en-US"/>
              <a:t>NVM Scheduling</a:t>
            </a:r>
          </a:p>
        </p:txBody>
      </p:sp>
      <p:sp>
        <p:nvSpPr>
          <p:cNvPr id="49154" name="Rectangle 3">
            <a:extLst>
              <a:ext uri="{FF2B5EF4-FFF2-40B4-BE49-F238E27FC236}">
                <a16:creationId xmlns:a16="http://schemas.microsoft.com/office/drawing/2014/main" id="{C3DAFB7A-6570-F240-9D35-97D2C9F3985E}"/>
              </a:ext>
            </a:extLst>
          </p:cNvPr>
          <p:cNvSpPr>
            <a:spLocks noGrp="1" noChangeArrowheads="1"/>
          </p:cNvSpPr>
          <p:nvPr>
            <p:ph idx="1"/>
          </p:nvPr>
        </p:nvSpPr>
        <p:spPr/>
        <p:txBody>
          <a:bodyPr/>
          <a:lstStyle/>
          <a:p>
            <a:r>
              <a:rPr lang="en-US" altLang="en-US" i="1" dirty="0">
                <a:solidFill>
                  <a:srgbClr val="0070C0"/>
                </a:solidFill>
              </a:rPr>
              <a:t>No disk heads </a:t>
            </a:r>
            <a:r>
              <a:rPr lang="en-US" altLang="en-US" dirty="0"/>
              <a:t>or </a:t>
            </a:r>
            <a:r>
              <a:rPr lang="en-US" altLang="en-US" i="1" dirty="0">
                <a:solidFill>
                  <a:srgbClr val="0070C0"/>
                </a:solidFill>
              </a:rPr>
              <a:t>rotational latency </a:t>
            </a:r>
            <a:r>
              <a:rPr lang="en-US" altLang="en-US" dirty="0"/>
              <a:t>but still room for optimization</a:t>
            </a:r>
          </a:p>
          <a:p>
            <a:r>
              <a:rPr lang="en-US" altLang="en-US" dirty="0"/>
              <a:t>In RHEL 7, </a:t>
            </a:r>
            <a:r>
              <a:rPr lang="en-US" altLang="en-US" b="1" dirty="0">
                <a:solidFill>
                  <a:srgbClr val="0070C0"/>
                </a:solidFill>
              </a:rPr>
              <a:t>NOOP</a:t>
            </a:r>
            <a:r>
              <a:rPr lang="en-US" altLang="en-US" dirty="0"/>
              <a:t> (no scheduling) is used but </a:t>
            </a:r>
            <a:r>
              <a:rPr lang="en-US" altLang="en-US" i="1" dirty="0">
                <a:solidFill>
                  <a:srgbClr val="0070C0"/>
                </a:solidFill>
              </a:rPr>
              <a:t>adjacent LBA requests are combined</a:t>
            </a:r>
          </a:p>
          <a:p>
            <a:pPr lvl="1"/>
            <a:r>
              <a:rPr lang="en-US" altLang="en-US" dirty="0"/>
              <a:t>NVM best at random I/O, HDD at sequential</a:t>
            </a:r>
          </a:p>
          <a:p>
            <a:pPr lvl="1"/>
            <a:r>
              <a:rPr lang="en-US" altLang="en-US" dirty="0"/>
              <a:t>Throughput can be similar</a:t>
            </a:r>
          </a:p>
          <a:p>
            <a:pPr lvl="1"/>
            <a:r>
              <a:rPr lang="en-US" altLang="en-US" dirty="0" err="1"/>
              <a:t>Input/Output</a:t>
            </a:r>
            <a:r>
              <a:rPr lang="en-US" altLang="en-US" dirty="0"/>
              <a:t> operations per second (IOPS) much higher with NVM (hundreds of thousands vs hundreds)</a:t>
            </a:r>
          </a:p>
          <a:p>
            <a:pPr lvl="1"/>
            <a:r>
              <a:rPr lang="en-US" altLang="en-US" dirty="0"/>
              <a:t>But write amplification (one write, causing garbage collection and many read/writes) can decrease the performance advantage</a:t>
            </a:r>
          </a:p>
          <a:p>
            <a:pPr lvl="2"/>
            <a:endParaRPr lang="en-US" altLang="en-US" dirty="0"/>
          </a:p>
          <a:p>
            <a:endParaRPr lang="en-US" altLang="en-US" dirty="0"/>
          </a:p>
          <a:p>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D9DF31F-4C97-BC4B-8CC7-9DFDD2FA647B}"/>
              </a:ext>
            </a:extLst>
          </p:cNvPr>
          <p:cNvSpPr>
            <a:spLocks noGrp="1" noChangeArrowheads="1"/>
          </p:cNvSpPr>
          <p:nvPr>
            <p:ph type="title"/>
          </p:nvPr>
        </p:nvSpPr>
        <p:spPr/>
        <p:txBody>
          <a:bodyPr/>
          <a:lstStyle/>
          <a:p>
            <a:r>
              <a:rPr lang="en-US" altLang="en-US"/>
              <a:t>Error Detection and Correction</a:t>
            </a:r>
          </a:p>
        </p:txBody>
      </p:sp>
      <p:sp>
        <p:nvSpPr>
          <p:cNvPr id="51202" name="Rectangle 3">
            <a:extLst>
              <a:ext uri="{FF2B5EF4-FFF2-40B4-BE49-F238E27FC236}">
                <a16:creationId xmlns:a16="http://schemas.microsoft.com/office/drawing/2014/main" id="{25B28C7E-DD65-5F44-AA7B-439FA261DF77}"/>
              </a:ext>
            </a:extLst>
          </p:cNvPr>
          <p:cNvSpPr>
            <a:spLocks noGrp="1" noChangeArrowheads="1"/>
          </p:cNvSpPr>
          <p:nvPr>
            <p:ph idx="1"/>
          </p:nvPr>
        </p:nvSpPr>
        <p:spPr/>
        <p:txBody>
          <a:bodyPr/>
          <a:lstStyle/>
          <a:p>
            <a:pPr>
              <a:spcBef>
                <a:spcPts val="400"/>
              </a:spcBef>
              <a:spcAft>
                <a:spcPts val="400"/>
              </a:spcAft>
            </a:pPr>
            <a:r>
              <a:rPr lang="en-US" altLang="en-US" dirty="0"/>
              <a:t>Fundamental aspect of many parts of computing (memory, networking, storage)</a:t>
            </a:r>
          </a:p>
          <a:p>
            <a:pPr>
              <a:spcBef>
                <a:spcPts val="400"/>
              </a:spcBef>
              <a:spcAft>
                <a:spcPts val="400"/>
              </a:spcAft>
            </a:pPr>
            <a:r>
              <a:rPr lang="en-US" altLang="en-US" i="1" dirty="0">
                <a:solidFill>
                  <a:srgbClr val="0070C0"/>
                </a:solidFill>
              </a:rPr>
              <a:t>Error detection </a:t>
            </a:r>
            <a:r>
              <a:rPr lang="en-US" altLang="en-US" dirty="0"/>
              <a:t>determines if there a problem has occurred (for example a bit flipping)</a:t>
            </a:r>
          </a:p>
          <a:p>
            <a:pPr lvl="1">
              <a:spcBef>
                <a:spcPts val="400"/>
              </a:spcBef>
              <a:spcAft>
                <a:spcPts val="400"/>
              </a:spcAft>
            </a:pPr>
            <a:r>
              <a:rPr lang="en-US" altLang="en-US" dirty="0"/>
              <a:t>If detected, can halt the operation</a:t>
            </a:r>
          </a:p>
          <a:p>
            <a:pPr lvl="1">
              <a:spcBef>
                <a:spcPts val="400"/>
              </a:spcBef>
              <a:spcAft>
                <a:spcPts val="400"/>
              </a:spcAft>
            </a:pPr>
            <a:r>
              <a:rPr lang="en-US" altLang="en-US" dirty="0"/>
              <a:t>Detection frequently done via parity bit</a:t>
            </a:r>
          </a:p>
          <a:p>
            <a:pPr lvl="1">
              <a:spcBef>
                <a:spcPts val="400"/>
              </a:spcBef>
              <a:spcAft>
                <a:spcPts val="400"/>
              </a:spcAft>
            </a:pPr>
            <a:r>
              <a:rPr lang="en-US" altLang="en-US" i="1" dirty="0">
                <a:solidFill>
                  <a:srgbClr val="0070C0"/>
                </a:solidFill>
              </a:rPr>
              <a:t>Parity</a:t>
            </a:r>
            <a:r>
              <a:rPr lang="en-US" altLang="en-US" dirty="0"/>
              <a:t> – one form of checksum – uses modular arithmetic to compute, store, compare values of fixed-length words</a:t>
            </a:r>
          </a:p>
          <a:p>
            <a:pPr lvl="1">
              <a:spcBef>
                <a:spcPts val="400"/>
              </a:spcBef>
              <a:spcAft>
                <a:spcPts val="400"/>
              </a:spcAft>
            </a:pPr>
            <a:r>
              <a:rPr lang="en-US" altLang="en-US" dirty="0"/>
              <a:t>Another error-detection method common in networking is </a:t>
            </a:r>
            <a:r>
              <a:rPr lang="en-US" altLang="en-US" i="1" dirty="0">
                <a:solidFill>
                  <a:srgbClr val="0070C0"/>
                </a:solidFill>
              </a:rPr>
              <a:t>Cyclic Redundancy Check</a:t>
            </a:r>
            <a:r>
              <a:rPr lang="en-US" altLang="en-US" dirty="0"/>
              <a:t> (CRC) which uses hash function to detect multiple-bit errors</a:t>
            </a:r>
          </a:p>
          <a:p>
            <a:pPr>
              <a:spcBef>
                <a:spcPts val="400"/>
              </a:spcBef>
              <a:spcAft>
                <a:spcPts val="400"/>
              </a:spcAft>
            </a:pPr>
            <a:r>
              <a:rPr lang="en-US" altLang="en-US" i="1" dirty="0">
                <a:solidFill>
                  <a:srgbClr val="0070C0"/>
                </a:solidFill>
              </a:rPr>
              <a:t>Error-correction code</a:t>
            </a:r>
            <a:r>
              <a:rPr lang="en-US" altLang="en-US" dirty="0"/>
              <a:t> (</a:t>
            </a:r>
            <a:r>
              <a:rPr lang="en-US" altLang="en-US" b="1" dirty="0">
                <a:solidFill>
                  <a:srgbClr val="0070C0"/>
                </a:solidFill>
              </a:rPr>
              <a:t>ECC</a:t>
            </a:r>
            <a:r>
              <a:rPr lang="en-US" altLang="en-US" dirty="0"/>
              <a:t>) not only detects, but can correct some errors</a:t>
            </a:r>
          </a:p>
          <a:p>
            <a:pPr lvl="1">
              <a:spcBef>
                <a:spcPts val="400"/>
              </a:spcBef>
              <a:spcAft>
                <a:spcPts val="400"/>
              </a:spcAft>
            </a:pPr>
            <a:r>
              <a:rPr lang="en-US" altLang="en-US" i="1" dirty="0">
                <a:solidFill>
                  <a:srgbClr val="0070C0"/>
                </a:solidFill>
              </a:rPr>
              <a:t>Soft errors </a:t>
            </a:r>
            <a:r>
              <a:rPr lang="en-US" altLang="en-US" dirty="0"/>
              <a:t>correctable, </a:t>
            </a:r>
            <a:r>
              <a:rPr lang="en-US" altLang="en-US" i="1" dirty="0">
                <a:solidFill>
                  <a:srgbClr val="0070C0"/>
                </a:solidFill>
              </a:rPr>
              <a:t>hard errors </a:t>
            </a:r>
            <a:r>
              <a:rPr lang="en-US" altLang="en-US" dirty="0"/>
              <a:t>detected but not corrected</a:t>
            </a:r>
          </a:p>
          <a:p>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4BB246C2-F1AD-4148-B7F2-BD3918DA6EBF}"/>
              </a:ext>
            </a:extLst>
          </p:cNvPr>
          <p:cNvSpPr>
            <a:spLocks noGrp="1" noChangeArrowheads="1"/>
          </p:cNvSpPr>
          <p:nvPr>
            <p:ph type="title"/>
          </p:nvPr>
        </p:nvSpPr>
        <p:spPr/>
        <p:txBody>
          <a:bodyPr/>
          <a:lstStyle/>
          <a:p>
            <a:r>
              <a:rPr lang="en-US" altLang="en-US"/>
              <a:t>Storage Device Management</a:t>
            </a:r>
          </a:p>
        </p:txBody>
      </p:sp>
      <p:sp>
        <p:nvSpPr>
          <p:cNvPr id="53250" name="Rectangle 3">
            <a:extLst>
              <a:ext uri="{FF2B5EF4-FFF2-40B4-BE49-F238E27FC236}">
                <a16:creationId xmlns:a16="http://schemas.microsoft.com/office/drawing/2014/main" id="{BDC121F7-A1AD-8C4B-A7AD-8C8682F7AF50}"/>
              </a:ext>
            </a:extLst>
          </p:cNvPr>
          <p:cNvSpPr>
            <a:spLocks noGrp="1" noChangeArrowheads="1"/>
          </p:cNvSpPr>
          <p:nvPr>
            <p:ph idx="1"/>
          </p:nvPr>
        </p:nvSpPr>
        <p:spPr/>
        <p:txBody>
          <a:bodyPr/>
          <a:lstStyle/>
          <a:p>
            <a:r>
              <a:rPr lang="en-US" altLang="en-US" i="1" dirty="0">
                <a:solidFill>
                  <a:srgbClr val="0070C0"/>
                </a:solidFill>
              </a:rPr>
              <a:t>Low-level formatting</a:t>
            </a:r>
            <a:r>
              <a:rPr lang="en-US" altLang="en-US" dirty="0"/>
              <a:t>, or </a:t>
            </a:r>
            <a:r>
              <a:rPr lang="en-US" altLang="en-US" i="1" dirty="0">
                <a:solidFill>
                  <a:srgbClr val="0070C0"/>
                </a:solidFill>
              </a:rPr>
              <a:t>physical formatting </a:t>
            </a:r>
            <a:r>
              <a:rPr lang="en-US" altLang="en-US" dirty="0"/>
              <a:t>— Dividing a disk into sectors that the disk controller can read and write</a:t>
            </a:r>
          </a:p>
          <a:p>
            <a:pPr lvl="1"/>
            <a:r>
              <a:rPr lang="en-US" altLang="en-US" dirty="0"/>
              <a:t>Each sector can hold header information, plus data, plus error correction code (ECC)</a:t>
            </a:r>
          </a:p>
          <a:p>
            <a:pPr lvl="1"/>
            <a:r>
              <a:rPr lang="en-US" altLang="en-US" dirty="0"/>
              <a:t>Usually 512 bytes of data but can be selectable</a:t>
            </a:r>
          </a:p>
          <a:p>
            <a:r>
              <a:rPr lang="en-US" altLang="en-US" dirty="0"/>
              <a:t>To use a disk to hold files, the operating system still needs to record its own data structures on the disk</a:t>
            </a:r>
          </a:p>
          <a:p>
            <a:pPr lvl="1"/>
            <a:r>
              <a:rPr lang="en-US" altLang="en-US" dirty="0"/>
              <a:t>Partition the disk into one or more groups of cylinders, each treated as a logical disk</a:t>
            </a:r>
          </a:p>
          <a:p>
            <a:pPr lvl="1"/>
            <a:r>
              <a:rPr lang="en-US" altLang="en-US" i="1" dirty="0">
                <a:solidFill>
                  <a:srgbClr val="0070C0"/>
                </a:solidFill>
              </a:rPr>
              <a:t>Logical formatting </a:t>
            </a:r>
            <a:r>
              <a:rPr lang="en-US" altLang="en-US" dirty="0"/>
              <a:t>or </a:t>
            </a:r>
            <a:r>
              <a:rPr lang="ja-JP" altLang="en-US"/>
              <a:t>“</a:t>
            </a:r>
            <a:r>
              <a:rPr lang="en-US" altLang="ja-JP" dirty="0"/>
              <a:t>making a file system</a:t>
            </a:r>
            <a:r>
              <a:rPr lang="ja-JP" altLang="en-US"/>
              <a:t>”</a:t>
            </a:r>
            <a:endParaRPr lang="en-US" altLang="ja-JP" dirty="0"/>
          </a:p>
          <a:p>
            <a:pPr lvl="1"/>
            <a:r>
              <a:rPr lang="en-US" altLang="en-US" dirty="0"/>
              <a:t>To increase efficiency most file systems group blocks into clusters</a:t>
            </a:r>
          </a:p>
          <a:p>
            <a:pPr lvl="2">
              <a:spcBef>
                <a:spcPts val="400"/>
              </a:spcBef>
              <a:spcAft>
                <a:spcPts val="400"/>
              </a:spcAft>
            </a:pPr>
            <a:r>
              <a:rPr lang="en-US" altLang="en-US" dirty="0"/>
              <a:t>Disk I/O done in blocks</a:t>
            </a:r>
          </a:p>
          <a:p>
            <a:pPr lvl="2">
              <a:spcBef>
                <a:spcPts val="400"/>
              </a:spcBef>
              <a:spcAft>
                <a:spcPts val="400"/>
              </a:spcAft>
            </a:pPr>
            <a:r>
              <a:rPr lang="en-US" altLang="en-US" dirty="0"/>
              <a:t>File I/O done in clusters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48AC7E05-EE15-F84B-9E7A-FBC05DDDBBF0}"/>
              </a:ext>
            </a:extLst>
          </p:cNvPr>
          <p:cNvSpPr>
            <a:spLocks noGrp="1" noChangeArrowheads="1"/>
          </p:cNvSpPr>
          <p:nvPr>
            <p:ph type="title"/>
          </p:nvPr>
        </p:nvSpPr>
        <p:spPr/>
        <p:txBody>
          <a:bodyPr/>
          <a:lstStyle/>
          <a:p>
            <a:r>
              <a:rPr lang="en-US" altLang="en-US"/>
              <a:t>Storage Device Management (cont.)</a:t>
            </a:r>
          </a:p>
        </p:txBody>
      </p:sp>
      <p:sp>
        <p:nvSpPr>
          <p:cNvPr id="12291" name="Content Placeholder 2">
            <a:extLst>
              <a:ext uri="{FF2B5EF4-FFF2-40B4-BE49-F238E27FC236}">
                <a16:creationId xmlns:a16="http://schemas.microsoft.com/office/drawing/2014/main" id="{EC594FDB-8832-9F4D-A366-1CD2F4D744D5}"/>
              </a:ext>
            </a:extLst>
          </p:cNvPr>
          <p:cNvSpPr>
            <a:spLocks noGrp="1"/>
          </p:cNvSpPr>
          <p:nvPr>
            <p:ph idx="1"/>
          </p:nvPr>
        </p:nvSpPr>
        <p:spPr/>
        <p:txBody>
          <a:bodyPr/>
          <a:lstStyle/>
          <a:p>
            <a:r>
              <a:rPr lang="en-US" altLang="en-US" i="1" dirty="0">
                <a:solidFill>
                  <a:srgbClr val="0070C0"/>
                </a:solidFill>
              </a:rPr>
              <a:t>Root partition </a:t>
            </a:r>
            <a:r>
              <a:rPr lang="en-US" altLang="en-US" dirty="0"/>
              <a:t>contains the OS, other partitions can hold other </a:t>
            </a:r>
            <a:r>
              <a:rPr lang="en-US" altLang="en-US" dirty="0" err="1"/>
              <a:t>Oses</a:t>
            </a:r>
            <a:r>
              <a:rPr lang="en-US" altLang="en-US" dirty="0"/>
              <a:t>, other file systems, or be raw</a:t>
            </a:r>
          </a:p>
          <a:p>
            <a:pPr lvl="1"/>
            <a:r>
              <a:rPr lang="en-US" altLang="en-US" dirty="0"/>
              <a:t>Mounted at boot time</a:t>
            </a:r>
          </a:p>
          <a:p>
            <a:pPr lvl="1"/>
            <a:r>
              <a:rPr lang="en-US" altLang="en-US" dirty="0"/>
              <a:t>Other partitions can mount automatically or manually</a:t>
            </a:r>
          </a:p>
          <a:p>
            <a:r>
              <a:rPr lang="en-US" altLang="en-US" dirty="0"/>
              <a:t>At mount time, file system consistency checked</a:t>
            </a:r>
          </a:p>
          <a:p>
            <a:pPr lvl="1"/>
            <a:r>
              <a:rPr lang="en-US" altLang="en-US" dirty="0"/>
              <a:t>Is all metadata correct?</a:t>
            </a:r>
          </a:p>
          <a:p>
            <a:pPr lvl="2"/>
            <a:r>
              <a:rPr lang="en-US" altLang="en-US" dirty="0"/>
              <a:t>If not, fix it, try again</a:t>
            </a:r>
          </a:p>
          <a:p>
            <a:pPr lvl="2"/>
            <a:r>
              <a:rPr lang="en-US" altLang="en-US" dirty="0"/>
              <a:t>If yes, add to mount table, allow access</a:t>
            </a:r>
          </a:p>
          <a:p>
            <a:r>
              <a:rPr lang="en-US" altLang="en-US" i="1" dirty="0">
                <a:solidFill>
                  <a:srgbClr val="0070C0"/>
                </a:solidFill>
              </a:rPr>
              <a:t>Boot block </a:t>
            </a:r>
            <a:r>
              <a:rPr lang="en-US" altLang="en-US" dirty="0"/>
              <a:t>can point to </a:t>
            </a:r>
            <a:r>
              <a:rPr lang="en-US" altLang="en-US" i="1" dirty="0">
                <a:solidFill>
                  <a:srgbClr val="0070C0"/>
                </a:solidFill>
              </a:rPr>
              <a:t>boot volume </a:t>
            </a:r>
            <a:r>
              <a:rPr lang="en-US" altLang="en-US" dirty="0"/>
              <a:t>or </a:t>
            </a:r>
            <a:r>
              <a:rPr lang="en-US" altLang="en-US" i="1" dirty="0">
                <a:solidFill>
                  <a:srgbClr val="0070C0"/>
                </a:solidFill>
              </a:rPr>
              <a:t>boot loader set of blocks </a:t>
            </a:r>
            <a:r>
              <a:rPr lang="en-US" altLang="en-US" dirty="0"/>
              <a:t>that contain enough code to know how to load the kernel from the file system</a:t>
            </a:r>
          </a:p>
          <a:p>
            <a:pPr lvl="1"/>
            <a:r>
              <a:rPr lang="en-US" altLang="en-US" dirty="0"/>
              <a:t>Or a </a:t>
            </a:r>
            <a:r>
              <a:rPr lang="en-US" altLang="en-US" i="1" dirty="0">
                <a:solidFill>
                  <a:srgbClr val="0070C0"/>
                </a:solidFill>
              </a:rPr>
              <a:t>boot management program </a:t>
            </a:r>
            <a:r>
              <a:rPr lang="en-US" altLang="en-US" dirty="0"/>
              <a:t>for multi-</a:t>
            </a:r>
            <a:r>
              <a:rPr lang="en-US" altLang="en-US" dirty="0" err="1"/>
              <a:t>os</a:t>
            </a:r>
            <a:r>
              <a:rPr lang="en-US" altLang="en-US" dirty="0"/>
              <a:t> booting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7F29716B-FE6C-F34E-B1A0-4729BD02B407}"/>
              </a:ext>
            </a:extLst>
          </p:cNvPr>
          <p:cNvSpPr>
            <a:spLocks noGrp="1" noChangeArrowheads="1"/>
          </p:cNvSpPr>
          <p:nvPr>
            <p:ph type="title"/>
          </p:nvPr>
        </p:nvSpPr>
        <p:spPr/>
        <p:txBody>
          <a:bodyPr/>
          <a:lstStyle/>
          <a:p>
            <a:r>
              <a:rPr lang="en-US" altLang="en-US"/>
              <a:t>Device Storage Management (Cont.)</a:t>
            </a:r>
          </a:p>
        </p:txBody>
      </p:sp>
      <p:sp>
        <p:nvSpPr>
          <p:cNvPr id="2" name="Picture Placeholder 1">
            <a:extLst>
              <a:ext uri="{FF2B5EF4-FFF2-40B4-BE49-F238E27FC236}">
                <a16:creationId xmlns:a16="http://schemas.microsoft.com/office/drawing/2014/main" id="{BBC423C7-414F-6843-84AD-34D322DDC7AC}"/>
              </a:ext>
            </a:extLst>
          </p:cNvPr>
          <p:cNvSpPr>
            <a:spLocks noGrp="1"/>
          </p:cNvSpPr>
          <p:nvPr>
            <p:ph type="pic" idx="1"/>
          </p:nvPr>
        </p:nvSpPr>
        <p:spPr>
          <a:xfrm>
            <a:off x="4319799" y="1376979"/>
            <a:ext cx="4506148" cy="5037072"/>
          </a:xfrm>
        </p:spPr>
        <p:txBody>
          <a:bodyPr/>
          <a:lstStyle/>
          <a:p>
            <a:endParaRPr lang="en-VN"/>
          </a:p>
        </p:txBody>
      </p:sp>
      <p:sp>
        <p:nvSpPr>
          <p:cNvPr id="56322" name="Rectangle 3">
            <a:extLst>
              <a:ext uri="{FF2B5EF4-FFF2-40B4-BE49-F238E27FC236}">
                <a16:creationId xmlns:a16="http://schemas.microsoft.com/office/drawing/2014/main" id="{33F54109-6B26-3346-AF30-68A637BD7B73}"/>
              </a:ext>
            </a:extLst>
          </p:cNvPr>
          <p:cNvSpPr>
            <a:spLocks noGrp="1" noChangeArrowheads="1"/>
          </p:cNvSpPr>
          <p:nvPr>
            <p:ph sz="half" idx="10"/>
          </p:nvPr>
        </p:nvSpPr>
        <p:spPr>
          <a:xfrm>
            <a:off x="490331" y="1376980"/>
            <a:ext cx="3829468" cy="5037071"/>
          </a:xfrm>
        </p:spPr>
        <p:txBody>
          <a:bodyPr/>
          <a:lstStyle/>
          <a:p>
            <a:r>
              <a:rPr lang="en-US" altLang="en-US" i="1" dirty="0">
                <a:solidFill>
                  <a:srgbClr val="0070C0"/>
                </a:solidFill>
              </a:rPr>
              <a:t>Raw disk </a:t>
            </a:r>
            <a:r>
              <a:rPr lang="en-US" altLang="en-US" dirty="0"/>
              <a:t>access for apps that want to do their own block management, keep OS out of the way (databases for example)</a:t>
            </a:r>
          </a:p>
          <a:p>
            <a:r>
              <a:rPr lang="en-US" altLang="en-US" i="1" dirty="0">
                <a:solidFill>
                  <a:srgbClr val="0070C0"/>
                </a:solidFill>
              </a:rPr>
              <a:t>Boot block </a:t>
            </a:r>
            <a:r>
              <a:rPr lang="en-US" altLang="en-US" dirty="0"/>
              <a:t>initializes system</a:t>
            </a:r>
          </a:p>
          <a:p>
            <a:pPr lvl="1"/>
            <a:r>
              <a:rPr lang="en-US" altLang="en-US" dirty="0"/>
              <a:t>The </a:t>
            </a:r>
            <a:r>
              <a:rPr lang="en-US" altLang="en-US" i="1" dirty="0">
                <a:solidFill>
                  <a:srgbClr val="0070C0"/>
                </a:solidFill>
              </a:rPr>
              <a:t>bootstrap</a:t>
            </a:r>
            <a:r>
              <a:rPr lang="en-US" altLang="en-US" dirty="0"/>
              <a:t> is stored in ROM, firmware</a:t>
            </a:r>
          </a:p>
          <a:p>
            <a:pPr lvl="1"/>
            <a:r>
              <a:rPr lang="en-US" altLang="en-US" i="1" dirty="0">
                <a:solidFill>
                  <a:srgbClr val="0070C0"/>
                </a:solidFill>
              </a:rPr>
              <a:t>Bootstrap loader program </a:t>
            </a:r>
            <a:r>
              <a:rPr lang="en-US" altLang="en-US" dirty="0"/>
              <a:t>stored in boot blocks of boot partition</a:t>
            </a:r>
          </a:p>
          <a:p>
            <a:r>
              <a:rPr lang="en-US" altLang="en-US" dirty="0"/>
              <a:t>Methods such as </a:t>
            </a:r>
            <a:r>
              <a:rPr lang="en-US" altLang="en-US" i="1" dirty="0">
                <a:solidFill>
                  <a:srgbClr val="0070C0"/>
                </a:solidFill>
              </a:rPr>
              <a:t>sector sparing </a:t>
            </a:r>
            <a:r>
              <a:rPr lang="en-US" altLang="en-US" dirty="0"/>
              <a:t>used to handle bad blocks</a:t>
            </a:r>
          </a:p>
        </p:txBody>
      </p:sp>
      <p:pic>
        <p:nvPicPr>
          <p:cNvPr id="56323" name="Picture 5">
            <a:extLst>
              <a:ext uri="{FF2B5EF4-FFF2-40B4-BE49-F238E27FC236}">
                <a16:creationId xmlns:a16="http://schemas.microsoft.com/office/drawing/2014/main" id="{8A0DDD70-725F-7046-8CA8-8074B4C17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153" y="1376979"/>
            <a:ext cx="3966543" cy="296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1">
            <a:extLst>
              <a:ext uri="{FF2B5EF4-FFF2-40B4-BE49-F238E27FC236}">
                <a16:creationId xmlns:a16="http://schemas.microsoft.com/office/drawing/2014/main" id="{D4E428F3-5403-EC4F-AE7E-E2CA657B3C7B}"/>
              </a:ext>
            </a:extLst>
          </p:cNvPr>
          <p:cNvSpPr txBox="1">
            <a:spLocks noChangeArrowheads="1"/>
          </p:cNvSpPr>
          <p:nvPr/>
        </p:nvSpPr>
        <p:spPr bwMode="auto">
          <a:xfrm>
            <a:off x="4859403" y="5157854"/>
            <a:ext cx="39665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a:t>Booting from secondary storage in Windows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2635238F-B99C-5940-809D-392F7FC08621}"/>
              </a:ext>
            </a:extLst>
          </p:cNvPr>
          <p:cNvSpPr>
            <a:spLocks noGrp="1" noChangeArrowheads="1"/>
          </p:cNvSpPr>
          <p:nvPr>
            <p:ph type="title"/>
          </p:nvPr>
        </p:nvSpPr>
        <p:spPr/>
        <p:txBody>
          <a:bodyPr/>
          <a:lstStyle/>
          <a:p>
            <a:r>
              <a:rPr lang="en-US" altLang="en-US"/>
              <a:t>Swap-Space Management</a:t>
            </a:r>
          </a:p>
        </p:txBody>
      </p:sp>
      <p:sp>
        <p:nvSpPr>
          <p:cNvPr id="6" name="Content Placeholder 5">
            <a:extLst>
              <a:ext uri="{FF2B5EF4-FFF2-40B4-BE49-F238E27FC236}">
                <a16:creationId xmlns:a16="http://schemas.microsoft.com/office/drawing/2014/main" id="{295C0085-53AE-8941-B92C-82EDC5794B95}"/>
              </a:ext>
            </a:extLst>
          </p:cNvPr>
          <p:cNvSpPr>
            <a:spLocks noGrp="1"/>
          </p:cNvSpPr>
          <p:nvPr>
            <p:ph sz="half" idx="1"/>
          </p:nvPr>
        </p:nvSpPr>
        <p:spPr/>
        <p:txBody>
          <a:bodyPr/>
          <a:lstStyle/>
          <a:p>
            <a:r>
              <a:rPr lang="en-US" altLang="en-US" dirty="0"/>
              <a:t>Used for moving entire processes (swapping), or pages (paging), from DRAM to secondary storage when DRAM not large enough for all processes</a:t>
            </a:r>
          </a:p>
          <a:p>
            <a:r>
              <a:rPr lang="en-US" altLang="en-US" dirty="0"/>
              <a:t>Operating system provides swap space management</a:t>
            </a:r>
          </a:p>
          <a:p>
            <a:endParaRPr lang="en-US" dirty="0"/>
          </a:p>
        </p:txBody>
      </p:sp>
      <p:sp>
        <p:nvSpPr>
          <p:cNvPr id="7" name="Content Placeholder 6">
            <a:extLst>
              <a:ext uri="{FF2B5EF4-FFF2-40B4-BE49-F238E27FC236}">
                <a16:creationId xmlns:a16="http://schemas.microsoft.com/office/drawing/2014/main" id="{75D09FDC-938C-CA48-838C-8FCEF20672EB}"/>
              </a:ext>
            </a:extLst>
          </p:cNvPr>
          <p:cNvSpPr>
            <a:spLocks noGrp="1"/>
          </p:cNvSpPr>
          <p:nvPr>
            <p:ph sz="half" idx="2"/>
          </p:nvPr>
        </p:nvSpPr>
        <p:spPr/>
        <p:txBody>
          <a:bodyPr/>
          <a:lstStyle/>
          <a:p>
            <a:pPr lvl="1"/>
            <a:r>
              <a:rPr lang="en-US" altLang="en-US" dirty="0"/>
              <a:t>Secondary storage slower than DRAM, so important to optimize performance</a:t>
            </a:r>
          </a:p>
          <a:p>
            <a:pPr lvl="1"/>
            <a:r>
              <a:rPr lang="en-US" altLang="en-US" dirty="0"/>
              <a:t>Usually multiple swap spaces possible – decreasing I/O load on any given device</a:t>
            </a:r>
          </a:p>
          <a:p>
            <a:pPr lvl="1"/>
            <a:r>
              <a:rPr lang="en-US" altLang="en-US" dirty="0"/>
              <a:t>Best to have dedicated devices</a:t>
            </a:r>
          </a:p>
          <a:p>
            <a:pPr lvl="1"/>
            <a:r>
              <a:rPr lang="en-US" altLang="en-US" dirty="0"/>
              <a:t>Can be in raw partition or a file within a file system (for convenience of adding)</a:t>
            </a:r>
          </a:p>
          <a:p>
            <a:pPr lvl="1"/>
            <a:r>
              <a:rPr lang="en-US" altLang="en-US" dirty="0"/>
              <a:t>Data structures for swapping on Linux systems:</a:t>
            </a:r>
          </a:p>
          <a:p>
            <a:endParaRPr lang="en-US" dirty="0"/>
          </a:p>
        </p:txBody>
      </p:sp>
      <p:pic>
        <p:nvPicPr>
          <p:cNvPr id="58371" name="Picture 2">
            <a:extLst>
              <a:ext uri="{FF2B5EF4-FFF2-40B4-BE49-F238E27FC236}">
                <a16:creationId xmlns:a16="http://schemas.microsoft.com/office/drawing/2014/main" id="{A116DB6D-E519-834A-85A9-1BD2420AF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341" y="4482988"/>
            <a:ext cx="4487862"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3DAF2142-C142-3C41-A1A0-54A8A8BAF4A8}"/>
              </a:ext>
            </a:extLst>
          </p:cNvPr>
          <p:cNvSpPr>
            <a:spLocks noGrp="1" noChangeArrowheads="1"/>
          </p:cNvSpPr>
          <p:nvPr>
            <p:ph type="title"/>
          </p:nvPr>
        </p:nvSpPr>
        <p:spPr/>
        <p:txBody>
          <a:bodyPr/>
          <a:lstStyle/>
          <a:p>
            <a:r>
              <a:rPr lang="en-US" altLang="en-US"/>
              <a:t>Storage Attachment</a:t>
            </a:r>
          </a:p>
        </p:txBody>
      </p:sp>
      <p:sp>
        <p:nvSpPr>
          <p:cNvPr id="59394" name="Content Placeholder 2">
            <a:extLst>
              <a:ext uri="{FF2B5EF4-FFF2-40B4-BE49-F238E27FC236}">
                <a16:creationId xmlns:a16="http://schemas.microsoft.com/office/drawing/2014/main" id="{24CBD53E-1692-6F4F-81E8-D4C07B2A9473}"/>
              </a:ext>
            </a:extLst>
          </p:cNvPr>
          <p:cNvSpPr>
            <a:spLocks noGrp="1" noChangeArrowheads="1"/>
          </p:cNvSpPr>
          <p:nvPr>
            <p:ph idx="1"/>
          </p:nvPr>
        </p:nvSpPr>
        <p:spPr/>
        <p:txBody>
          <a:bodyPr/>
          <a:lstStyle/>
          <a:p>
            <a:r>
              <a:rPr lang="en-US" altLang="en-US" dirty="0"/>
              <a:t>Computers access storage in three ways</a:t>
            </a:r>
          </a:p>
          <a:p>
            <a:pPr lvl="1"/>
            <a:r>
              <a:rPr lang="en-US" altLang="en-US" dirty="0"/>
              <a:t>host-attached</a:t>
            </a:r>
          </a:p>
          <a:p>
            <a:pPr lvl="1"/>
            <a:r>
              <a:rPr lang="en-US" altLang="en-US" dirty="0"/>
              <a:t>network-attached</a:t>
            </a:r>
          </a:p>
          <a:p>
            <a:pPr lvl="1"/>
            <a:r>
              <a:rPr lang="en-US" altLang="en-US" dirty="0"/>
              <a:t>cloud</a:t>
            </a:r>
          </a:p>
          <a:p>
            <a:r>
              <a:rPr lang="en-US" altLang="en-US" dirty="0"/>
              <a:t>Host attached access through local I/O ports, using one of several technologies</a:t>
            </a:r>
          </a:p>
          <a:p>
            <a:pPr lvl="1"/>
            <a:r>
              <a:rPr lang="en-US" altLang="en-US" dirty="0"/>
              <a:t>To attach many devices, use storage busses such as USB, firewire, thunderbolt</a:t>
            </a:r>
          </a:p>
          <a:p>
            <a:pPr lvl="1"/>
            <a:r>
              <a:rPr lang="en-US" altLang="en-US" dirty="0"/>
              <a:t>High-end systems use </a:t>
            </a:r>
            <a:r>
              <a:rPr lang="en-US" altLang="en-US" i="1" dirty="0" err="1">
                <a:solidFill>
                  <a:srgbClr val="0070C0"/>
                </a:solidFill>
              </a:rPr>
              <a:t>fibre</a:t>
            </a:r>
            <a:r>
              <a:rPr lang="en-US" altLang="en-US" i="1" dirty="0">
                <a:solidFill>
                  <a:srgbClr val="0070C0"/>
                </a:solidFill>
              </a:rPr>
              <a:t> channel </a:t>
            </a:r>
            <a:r>
              <a:rPr lang="en-US" altLang="en-US" dirty="0"/>
              <a:t>(</a:t>
            </a:r>
            <a:r>
              <a:rPr lang="en-US" altLang="en-US" b="1" dirty="0">
                <a:solidFill>
                  <a:srgbClr val="0070C0"/>
                </a:solidFill>
              </a:rPr>
              <a:t>FC</a:t>
            </a:r>
            <a:r>
              <a:rPr lang="en-US" altLang="en-US" dirty="0"/>
              <a:t>)</a:t>
            </a:r>
          </a:p>
          <a:p>
            <a:pPr lvl="2"/>
            <a:r>
              <a:rPr lang="en-US" altLang="en-US" dirty="0"/>
              <a:t>High-speed serial architecture using </a:t>
            </a:r>
            <a:r>
              <a:rPr lang="en-US" altLang="en-US" dirty="0" err="1"/>
              <a:t>fibre</a:t>
            </a:r>
            <a:r>
              <a:rPr lang="en-US" altLang="en-US" dirty="0"/>
              <a:t> or copper cables</a:t>
            </a:r>
          </a:p>
          <a:p>
            <a:pPr lvl="2"/>
            <a:r>
              <a:rPr lang="en-US" altLang="en-US" dirty="0"/>
              <a:t>Multiple hosts and storage devices can connect to the FC fabric</a:t>
            </a:r>
          </a:p>
          <a:p>
            <a:pPr lvl="1"/>
            <a:endParaRPr lang="en-US" altLang="en-US" dirty="0"/>
          </a:p>
          <a:p>
            <a:endParaRPr lang="en-US" altLang="en-US" dirty="0"/>
          </a:p>
          <a:p>
            <a:pPr lvl="2"/>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4FB6CAC5-CF3E-E74A-A38D-993C489A662A}"/>
              </a:ext>
            </a:extLst>
          </p:cNvPr>
          <p:cNvSpPr>
            <a:spLocks noGrp="1" noChangeArrowheads="1"/>
          </p:cNvSpPr>
          <p:nvPr>
            <p:ph type="title"/>
          </p:nvPr>
        </p:nvSpPr>
        <p:spPr/>
        <p:txBody>
          <a:bodyPr/>
          <a:lstStyle/>
          <a:p>
            <a:r>
              <a:rPr lang="en-US" altLang="en-US"/>
              <a:t>Network-Attached Storage</a:t>
            </a:r>
          </a:p>
        </p:txBody>
      </p:sp>
      <p:sp>
        <p:nvSpPr>
          <p:cNvPr id="60418" name="Rectangle 3">
            <a:extLst>
              <a:ext uri="{FF2B5EF4-FFF2-40B4-BE49-F238E27FC236}">
                <a16:creationId xmlns:a16="http://schemas.microsoft.com/office/drawing/2014/main" id="{7D143AC9-276B-1D4F-A9D1-D92F534D61FB}"/>
              </a:ext>
            </a:extLst>
          </p:cNvPr>
          <p:cNvSpPr>
            <a:spLocks noGrp="1" noChangeArrowheads="1"/>
          </p:cNvSpPr>
          <p:nvPr>
            <p:ph sz="half" idx="2"/>
          </p:nvPr>
        </p:nvSpPr>
        <p:spPr>
          <a:xfrm>
            <a:off x="481782" y="1387735"/>
            <a:ext cx="8344166" cy="2923008"/>
          </a:xfrm>
        </p:spPr>
        <p:txBody>
          <a:bodyPr/>
          <a:lstStyle/>
          <a:p>
            <a:pPr>
              <a:spcBef>
                <a:spcPts val="400"/>
              </a:spcBef>
              <a:spcAft>
                <a:spcPts val="400"/>
              </a:spcAft>
            </a:pPr>
            <a:r>
              <a:rPr lang="en-US" altLang="en-US" i="1" dirty="0">
                <a:solidFill>
                  <a:srgbClr val="0070C0"/>
                </a:solidFill>
              </a:rPr>
              <a:t>Network-attached storage </a:t>
            </a:r>
            <a:r>
              <a:rPr lang="en-US" altLang="en-US" dirty="0"/>
              <a:t>(</a:t>
            </a:r>
            <a:r>
              <a:rPr lang="en-US" altLang="en-US" b="1" dirty="0">
                <a:solidFill>
                  <a:srgbClr val="0070C0"/>
                </a:solidFill>
              </a:rPr>
              <a:t>NAS</a:t>
            </a:r>
            <a:r>
              <a:rPr lang="en-US" altLang="en-US" dirty="0"/>
              <a:t>) is storage made available over a network rather than over a local connection (such as a bus)</a:t>
            </a:r>
          </a:p>
          <a:p>
            <a:pPr lvl="1">
              <a:spcBef>
                <a:spcPts val="400"/>
              </a:spcBef>
              <a:spcAft>
                <a:spcPts val="400"/>
              </a:spcAft>
            </a:pPr>
            <a:r>
              <a:rPr lang="en-US" altLang="en-US" dirty="0"/>
              <a:t>Remotely attaching to file systems</a:t>
            </a:r>
          </a:p>
          <a:p>
            <a:pPr>
              <a:spcBef>
                <a:spcPts val="400"/>
              </a:spcBef>
              <a:spcAft>
                <a:spcPts val="400"/>
              </a:spcAft>
            </a:pPr>
            <a:r>
              <a:rPr lang="en-US" altLang="en-US" b="1" dirty="0">
                <a:solidFill>
                  <a:srgbClr val="0070C0"/>
                </a:solidFill>
              </a:rPr>
              <a:t>NFS</a:t>
            </a:r>
            <a:r>
              <a:rPr lang="en-US" altLang="en-US" dirty="0"/>
              <a:t> and </a:t>
            </a:r>
            <a:r>
              <a:rPr lang="en-US" altLang="en-US" b="1" dirty="0">
                <a:solidFill>
                  <a:srgbClr val="0070C0"/>
                </a:solidFill>
              </a:rPr>
              <a:t>CIFS</a:t>
            </a:r>
            <a:r>
              <a:rPr lang="en-US" altLang="en-US" dirty="0"/>
              <a:t> are common protocols</a:t>
            </a:r>
          </a:p>
          <a:p>
            <a:pPr>
              <a:spcBef>
                <a:spcPts val="400"/>
              </a:spcBef>
              <a:spcAft>
                <a:spcPts val="400"/>
              </a:spcAft>
            </a:pPr>
            <a:r>
              <a:rPr lang="en-US" altLang="en-US" dirty="0"/>
              <a:t>Implemented via </a:t>
            </a:r>
            <a:r>
              <a:rPr lang="en-US" altLang="en-US" i="1" dirty="0">
                <a:solidFill>
                  <a:srgbClr val="0070C0"/>
                </a:solidFill>
              </a:rPr>
              <a:t>remote procedure calls </a:t>
            </a:r>
            <a:r>
              <a:rPr lang="en-US" altLang="en-US" dirty="0"/>
              <a:t>(</a:t>
            </a:r>
            <a:r>
              <a:rPr lang="en-US" altLang="en-US" b="1" dirty="0">
                <a:solidFill>
                  <a:srgbClr val="0070C0"/>
                </a:solidFill>
              </a:rPr>
              <a:t>RPC</a:t>
            </a:r>
            <a:r>
              <a:rPr lang="en-US" altLang="en-US" dirty="0"/>
              <a:t>s) between host and storage over typically TCP or UDP on IP network</a:t>
            </a:r>
          </a:p>
          <a:p>
            <a:pPr>
              <a:spcBef>
                <a:spcPts val="400"/>
              </a:spcBef>
              <a:spcAft>
                <a:spcPts val="400"/>
              </a:spcAft>
            </a:pPr>
            <a:r>
              <a:rPr lang="en-US" altLang="en-US" b="1" dirty="0">
                <a:solidFill>
                  <a:srgbClr val="0070C0"/>
                </a:solidFill>
              </a:rPr>
              <a:t>iSCSI</a:t>
            </a:r>
            <a:r>
              <a:rPr lang="en-US" altLang="en-US" dirty="0"/>
              <a:t> protocol uses IP network to carry the SCSI protocol</a:t>
            </a:r>
          </a:p>
          <a:p>
            <a:pPr lvl="1">
              <a:spcBef>
                <a:spcPts val="400"/>
              </a:spcBef>
              <a:spcAft>
                <a:spcPts val="400"/>
              </a:spcAft>
            </a:pPr>
            <a:r>
              <a:rPr lang="en-US" altLang="en-US" dirty="0"/>
              <a:t>Remotely attaching to devices (blocks)</a:t>
            </a:r>
          </a:p>
        </p:txBody>
      </p:sp>
      <p:pic>
        <p:nvPicPr>
          <p:cNvPr id="6" name="Picture 6">
            <a:extLst>
              <a:ext uri="{FF2B5EF4-FFF2-40B4-BE49-F238E27FC236}">
                <a16:creationId xmlns:a16="http://schemas.microsoft.com/office/drawing/2014/main" id="{357F5CD0-52B3-124B-BF7D-5B40C5A71262}"/>
              </a:ext>
            </a:extLst>
          </p:cNvPr>
          <p:cNvPicPr>
            <a:picLocks noGrp="1" noChangeAspect="1" noChangeArrowheads="1"/>
          </p:cNvPicPr>
          <p:nvPr>
            <p:ph type="pic" idx="1"/>
          </p:nvPr>
        </p:nvPicPr>
        <p:blipFill rotWithShape="1">
          <a:blip r:embed="rId3">
            <a:extLst>
              <a:ext uri="{28A0092B-C50C-407E-A947-70E740481C1C}">
                <a14:useLocalDpi xmlns:a14="http://schemas.microsoft.com/office/drawing/2010/main" val="0"/>
              </a:ext>
            </a:extLst>
          </a:blip>
          <a:srcRect l="-36848" r="-36848"/>
          <a:stretch/>
        </p:blipFill>
        <p:spPr bwMode="auto">
          <a:xfrm>
            <a:off x="481013" y="4476750"/>
            <a:ext cx="8199849" cy="20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461B19C5-EDAF-1C4B-92F7-BFFB9A3D4C05}"/>
              </a:ext>
            </a:extLst>
          </p:cNvPr>
          <p:cNvSpPr>
            <a:spLocks noGrp="1" noChangeArrowheads="1"/>
          </p:cNvSpPr>
          <p:nvPr>
            <p:ph type="title"/>
          </p:nvPr>
        </p:nvSpPr>
        <p:spPr/>
        <p:txBody>
          <a:bodyPr/>
          <a:lstStyle/>
          <a:p>
            <a:r>
              <a:rPr lang="en-US" altLang="en-US"/>
              <a:t>Cloud Storage</a:t>
            </a:r>
          </a:p>
        </p:txBody>
      </p:sp>
      <p:sp>
        <p:nvSpPr>
          <p:cNvPr id="62466" name="Content Placeholder 2">
            <a:extLst>
              <a:ext uri="{FF2B5EF4-FFF2-40B4-BE49-F238E27FC236}">
                <a16:creationId xmlns:a16="http://schemas.microsoft.com/office/drawing/2014/main" id="{42E77BEA-1D11-6645-9655-D6DC0ADBF920}"/>
              </a:ext>
            </a:extLst>
          </p:cNvPr>
          <p:cNvSpPr>
            <a:spLocks noGrp="1" noChangeArrowheads="1"/>
          </p:cNvSpPr>
          <p:nvPr>
            <p:ph idx="1"/>
          </p:nvPr>
        </p:nvSpPr>
        <p:spPr/>
        <p:txBody>
          <a:bodyPr/>
          <a:lstStyle/>
          <a:p>
            <a:r>
              <a:rPr lang="en-US" altLang="en-US" dirty="0"/>
              <a:t>Similar to NAS, provides access to storage across a network</a:t>
            </a:r>
          </a:p>
          <a:p>
            <a:pPr lvl="1"/>
            <a:r>
              <a:rPr lang="en-US" altLang="en-US" dirty="0"/>
              <a:t>Unlike NAS, </a:t>
            </a:r>
            <a:r>
              <a:rPr lang="en-US" altLang="en-US" i="1" dirty="0">
                <a:solidFill>
                  <a:srgbClr val="0070C0"/>
                </a:solidFill>
              </a:rPr>
              <a:t>accessed over the Internet or a WAN to remote data center</a:t>
            </a:r>
          </a:p>
          <a:p>
            <a:r>
              <a:rPr lang="en-US" altLang="en-US" dirty="0"/>
              <a:t>NAS presented as just another file system, while cloud storage is API based, with programs using the APIs to provide access</a:t>
            </a:r>
          </a:p>
          <a:p>
            <a:pPr lvl="1"/>
            <a:r>
              <a:rPr lang="en-US" altLang="en-US" dirty="0"/>
              <a:t>Examples include Dropbox, Amazon S3, Microsoft OneDrive, Apple iCloud</a:t>
            </a:r>
          </a:p>
          <a:p>
            <a:pPr lvl="1"/>
            <a:r>
              <a:rPr lang="en-US" altLang="en-US" dirty="0"/>
              <a:t>Use APIs because of latency and failure scenarios (NAS protocols wouldn’t work well)</a:t>
            </a:r>
          </a:p>
          <a:p>
            <a:pPr lvl="1"/>
            <a:endParaRPr lang="en-US" altLang="en-US" dirty="0"/>
          </a:p>
          <a:p>
            <a:pPr lvl="2"/>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C77EA4BE-B09E-EB42-8B0D-C409090201B3}"/>
              </a:ext>
            </a:extLst>
          </p:cNvPr>
          <p:cNvSpPr>
            <a:spLocks noGrp="1" noChangeArrowheads="1"/>
          </p:cNvSpPr>
          <p:nvPr>
            <p:ph type="title"/>
          </p:nvPr>
        </p:nvSpPr>
        <p:spPr/>
        <p:txBody>
          <a:bodyPr/>
          <a:lstStyle/>
          <a:p>
            <a:r>
              <a:rPr lang="en-US" altLang="en-US"/>
              <a:t>Storage Array</a:t>
            </a:r>
          </a:p>
        </p:txBody>
      </p:sp>
      <p:sp>
        <p:nvSpPr>
          <p:cNvPr id="63490" name="Content Placeholder 2">
            <a:extLst>
              <a:ext uri="{FF2B5EF4-FFF2-40B4-BE49-F238E27FC236}">
                <a16:creationId xmlns:a16="http://schemas.microsoft.com/office/drawing/2014/main" id="{6A404F42-05D6-814D-940A-BCAF02BF2093}"/>
              </a:ext>
            </a:extLst>
          </p:cNvPr>
          <p:cNvSpPr>
            <a:spLocks noGrp="1" noChangeArrowheads="1"/>
          </p:cNvSpPr>
          <p:nvPr>
            <p:ph idx="1"/>
          </p:nvPr>
        </p:nvSpPr>
        <p:spPr/>
        <p:txBody>
          <a:bodyPr/>
          <a:lstStyle/>
          <a:p>
            <a:r>
              <a:rPr lang="en-US" altLang="en-US"/>
              <a:t>Can just attach disks, or arrays of disks</a:t>
            </a:r>
          </a:p>
          <a:p>
            <a:r>
              <a:rPr lang="en-US" altLang="en-US"/>
              <a:t>Avoids the NAS drawback of using network bandwidth</a:t>
            </a:r>
          </a:p>
          <a:p>
            <a:r>
              <a:rPr lang="en-US" altLang="en-US"/>
              <a:t>Storage Array has controller(s), provides features to attached host(s)</a:t>
            </a:r>
          </a:p>
          <a:p>
            <a:pPr lvl="1"/>
            <a:r>
              <a:rPr lang="en-US" altLang="en-US"/>
              <a:t>Ports to connect hosts to array</a:t>
            </a:r>
          </a:p>
          <a:p>
            <a:pPr lvl="1"/>
            <a:r>
              <a:rPr lang="en-US" altLang="en-US"/>
              <a:t>Memory, controlling software (sometimes NVRAM, etc)</a:t>
            </a:r>
          </a:p>
          <a:p>
            <a:pPr lvl="1"/>
            <a:r>
              <a:rPr lang="en-US" altLang="en-US"/>
              <a:t>A few to thousands of disks</a:t>
            </a:r>
          </a:p>
          <a:p>
            <a:pPr lvl="1"/>
            <a:r>
              <a:rPr lang="en-US" altLang="en-US"/>
              <a:t>RAID, hot spares, hot swap (discussed later)</a:t>
            </a:r>
          </a:p>
          <a:p>
            <a:pPr lvl="1"/>
            <a:r>
              <a:rPr lang="en-US" altLang="en-US"/>
              <a:t>Shared storage -&gt; more efficiency</a:t>
            </a:r>
          </a:p>
          <a:p>
            <a:pPr lvl="1"/>
            <a:r>
              <a:rPr lang="en-US" altLang="en-US"/>
              <a:t>Features found in some file systems</a:t>
            </a:r>
          </a:p>
          <a:p>
            <a:pPr lvl="2"/>
            <a:r>
              <a:rPr lang="en-US" altLang="en-US"/>
              <a:t>Snaphots, clones, thin provisioning, replication, deduplication, etc</a:t>
            </a:r>
          </a:p>
          <a:p>
            <a:pPr lvl="2"/>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5CCDEF1-0CCD-B849-B660-7DA17DF23A14}"/>
              </a:ext>
            </a:extLst>
          </p:cNvPr>
          <p:cNvSpPr>
            <a:spLocks noGrp="1" noChangeArrowheads="1"/>
          </p:cNvSpPr>
          <p:nvPr>
            <p:ph type="title"/>
          </p:nvPr>
        </p:nvSpPr>
        <p:spPr/>
        <p:txBody>
          <a:bodyPr/>
          <a:lstStyle/>
          <a:p>
            <a:r>
              <a:rPr lang="en-US" altLang="en-US"/>
              <a:t>Storage Area Network</a:t>
            </a:r>
          </a:p>
        </p:txBody>
      </p:sp>
      <p:sp>
        <p:nvSpPr>
          <p:cNvPr id="64514" name="Rectangle 3">
            <a:extLst>
              <a:ext uri="{FF2B5EF4-FFF2-40B4-BE49-F238E27FC236}">
                <a16:creationId xmlns:a16="http://schemas.microsoft.com/office/drawing/2014/main" id="{DB0ADF45-2503-1443-84C5-AE840FE45791}"/>
              </a:ext>
            </a:extLst>
          </p:cNvPr>
          <p:cNvSpPr>
            <a:spLocks noGrp="1" noChangeArrowheads="1"/>
          </p:cNvSpPr>
          <p:nvPr>
            <p:ph idx="1"/>
          </p:nvPr>
        </p:nvSpPr>
        <p:spPr/>
        <p:txBody>
          <a:bodyPr/>
          <a:lstStyle/>
          <a:p>
            <a:r>
              <a:rPr lang="en-US" altLang="en-US"/>
              <a:t>Common in large storage environments</a:t>
            </a:r>
          </a:p>
          <a:p>
            <a:r>
              <a:rPr lang="en-US" altLang="en-US"/>
              <a:t>Multiple hosts attached to multiple storage arrays – flexible</a:t>
            </a:r>
          </a:p>
          <a:p>
            <a:endParaRPr lang="en-US" altLang="en-US"/>
          </a:p>
        </p:txBody>
      </p:sp>
      <p:pic>
        <p:nvPicPr>
          <p:cNvPr id="64515" name="Picture 1" descr="10_03.pdf">
            <a:extLst>
              <a:ext uri="{FF2B5EF4-FFF2-40B4-BE49-F238E27FC236}">
                <a16:creationId xmlns:a16="http://schemas.microsoft.com/office/drawing/2014/main" id="{C72C1348-7088-CB4E-8319-CB0A342257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23939" y="2533250"/>
            <a:ext cx="6896121" cy="3567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45B1B263-6375-3B4F-A516-1AD0AD921DA1}"/>
              </a:ext>
            </a:extLst>
          </p:cNvPr>
          <p:cNvSpPr>
            <a:spLocks noGrp="1" noChangeArrowheads="1"/>
          </p:cNvSpPr>
          <p:nvPr>
            <p:ph type="title"/>
          </p:nvPr>
        </p:nvSpPr>
        <p:spPr/>
        <p:txBody>
          <a:bodyPr/>
          <a:lstStyle/>
          <a:p>
            <a:r>
              <a:rPr lang="en-US" altLang="en-US"/>
              <a:t>Storage Area Network (Cont.)</a:t>
            </a:r>
          </a:p>
        </p:txBody>
      </p:sp>
      <p:sp>
        <p:nvSpPr>
          <p:cNvPr id="66562" name="Content Placeholder 2">
            <a:extLst>
              <a:ext uri="{FF2B5EF4-FFF2-40B4-BE49-F238E27FC236}">
                <a16:creationId xmlns:a16="http://schemas.microsoft.com/office/drawing/2014/main" id="{780C4ACC-2002-9043-A263-A562099AB399}"/>
              </a:ext>
            </a:extLst>
          </p:cNvPr>
          <p:cNvSpPr>
            <a:spLocks noGrp="1" noChangeArrowheads="1"/>
          </p:cNvSpPr>
          <p:nvPr>
            <p:ph sz="half" idx="10"/>
          </p:nvPr>
        </p:nvSpPr>
        <p:spPr>
          <a:xfrm>
            <a:off x="490331" y="1376980"/>
            <a:ext cx="5055446" cy="5037071"/>
          </a:xfrm>
        </p:spPr>
        <p:txBody>
          <a:bodyPr/>
          <a:lstStyle/>
          <a:p>
            <a:r>
              <a:rPr lang="en-US" altLang="en-US" dirty="0"/>
              <a:t>SAN is one or more storage arrays</a:t>
            </a:r>
          </a:p>
          <a:p>
            <a:pPr lvl="1"/>
            <a:r>
              <a:rPr lang="en-US" altLang="en-US" dirty="0"/>
              <a:t>Connected to one or more </a:t>
            </a:r>
            <a:r>
              <a:rPr lang="en-US" altLang="en-US" dirty="0" err="1"/>
              <a:t>Fibre</a:t>
            </a:r>
            <a:r>
              <a:rPr lang="en-US" altLang="en-US" dirty="0"/>
              <a:t> Channel switches or InfiniBand (IB) network</a:t>
            </a:r>
          </a:p>
          <a:p>
            <a:r>
              <a:rPr lang="en-US" altLang="en-US" dirty="0"/>
              <a:t>Hosts also attach to the switches</a:t>
            </a:r>
          </a:p>
          <a:p>
            <a:r>
              <a:rPr lang="en-US" altLang="en-US" dirty="0"/>
              <a:t>Storage made available via LUN Masking from specific arrays </a:t>
            </a:r>
            <a:br>
              <a:rPr lang="en-US" altLang="en-US" dirty="0"/>
            </a:br>
            <a:r>
              <a:rPr lang="en-US" altLang="en-US" dirty="0"/>
              <a:t>to specific servers</a:t>
            </a:r>
          </a:p>
          <a:p>
            <a:r>
              <a:rPr lang="en-US" altLang="en-US" dirty="0"/>
              <a:t>Easy to add or remove storage, add new host and allocate it storage</a:t>
            </a:r>
          </a:p>
          <a:p>
            <a:r>
              <a:rPr lang="en-US" altLang="en-US" dirty="0"/>
              <a:t>Why have separate storage networks and communications networks?</a:t>
            </a:r>
          </a:p>
          <a:p>
            <a:pPr lvl="1"/>
            <a:r>
              <a:rPr lang="en-US" altLang="en-US" dirty="0"/>
              <a:t>Consider iSCSI, FCOE</a:t>
            </a:r>
          </a:p>
          <a:p>
            <a:endParaRPr lang="en-US" altLang="en-US" dirty="0"/>
          </a:p>
          <a:p>
            <a:pPr lvl="1"/>
            <a:endParaRPr lang="en-US" altLang="en-US" dirty="0"/>
          </a:p>
        </p:txBody>
      </p:sp>
      <p:sp>
        <p:nvSpPr>
          <p:cNvPr id="66564" name="TextBox 3">
            <a:extLst>
              <a:ext uri="{FF2B5EF4-FFF2-40B4-BE49-F238E27FC236}">
                <a16:creationId xmlns:a16="http://schemas.microsoft.com/office/drawing/2014/main" id="{9E8AD668-3E04-1041-9C19-749A8624FA11}"/>
              </a:ext>
            </a:extLst>
          </p:cNvPr>
          <p:cNvSpPr txBox="1">
            <a:spLocks noChangeArrowheads="1"/>
          </p:cNvSpPr>
          <p:nvPr/>
        </p:nvSpPr>
        <p:spPr bwMode="auto">
          <a:xfrm>
            <a:off x="5705475" y="4818063"/>
            <a:ext cx="2579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A Storage Array</a:t>
            </a:r>
          </a:p>
        </p:txBody>
      </p:sp>
      <p:pic>
        <p:nvPicPr>
          <p:cNvPr id="7" name="Picture 2">
            <a:extLst>
              <a:ext uri="{FF2B5EF4-FFF2-40B4-BE49-F238E27FC236}">
                <a16:creationId xmlns:a16="http://schemas.microsoft.com/office/drawing/2014/main" id="{732E86EA-6A03-3549-9312-ECE9220031EE}"/>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60310" b="-60310"/>
          <a:stretch/>
        </p:blipFill>
        <p:spPr bwMode="auto">
          <a:xfrm>
            <a:off x="5388102" y="1020102"/>
            <a:ext cx="3424595" cy="50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9E113B10-E358-C74E-8B1A-282473DB79A7}"/>
              </a:ext>
            </a:extLst>
          </p:cNvPr>
          <p:cNvSpPr>
            <a:spLocks noGrp="1" noChangeArrowheads="1"/>
          </p:cNvSpPr>
          <p:nvPr>
            <p:ph type="title"/>
          </p:nvPr>
        </p:nvSpPr>
        <p:spPr/>
        <p:txBody>
          <a:bodyPr/>
          <a:lstStyle/>
          <a:p>
            <a:r>
              <a:rPr lang="en-US" altLang="en-US"/>
              <a:t>RAID Structure</a:t>
            </a:r>
          </a:p>
        </p:txBody>
      </p:sp>
      <p:sp>
        <p:nvSpPr>
          <p:cNvPr id="67586" name="Rectangle 3">
            <a:extLst>
              <a:ext uri="{FF2B5EF4-FFF2-40B4-BE49-F238E27FC236}">
                <a16:creationId xmlns:a16="http://schemas.microsoft.com/office/drawing/2014/main" id="{1F0A3105-A454-EA4D-9C6E-8D45C8FD5163}"/>
              </a:ext>
            </a:extLst>
          </p:cNvPr>
          <p:cNvSpPr>
            <a:spLocks noGrp="1" noChangeArrowheads="1"/>
          </p:cNvSpPr>
          <p:nvPr>
            <p:ph idx="1"/>
          </p:nvPr>
        </p:nvSpPr>
        <p:spPr/>
        <p:txBody>
          <a:bodyPr/>
          <a:lstStyle/>
          <a:p>
            <a:pPr>
              <a:spcBef>
                <a:spcPts val="400"/>
              </a:spcBef>
              <a:spcAft>
                <a:spcPts val="400"/>
              </a:spcAft>
            </a:pPr>
            <a:r>
              <a:rPr lang="en-US" altLang="en-US" b="1" dirty="0">
                <a:solidFill>
                  <a:srgbClr val="0070C0"/>
                </a:solidFill>
              </a:rPr>
              <a:t>RAID</a:t>
            </a:r>
            <a:r>
              <a:rPr lang="en-US" altLang="en-US" dirty="0"/>
              <a:t> – redundant array of inexpensive disks</a:t>
            </a:r>
          </a:p>
          <a:p>
            <a:pPr lvl="1">
              <a:spcBef>
                <a:spcPts val="400"/>
              </a:spcBef>
              <a:spcAft>
                <a:spcPts val="400"/>
              </a:spcAft>
            </a:pPr>
            <a:r>
              <a:rPr lang="en-US" altLang="en-US" dirty="0"/>
              <a:t>multiple disk drives provides reliability via redundancy</a:t>
            </a:r>
          </a:p>
          <a:p>
            <a:pPr>
              <a:spcBef>
                <a:spcPts val="400"/>
              </a:spcBef>
              <a:spcAft>
                <a:spcPts val="400"/>
              </a:spcAft>
            </a:pPr>
            <a:r>
              <a:rPr lang="en-US" altLang="en-US" dirty="0"/>
              <a:t>Increases the mean time to failure</a:t>
            </a:r>
          </a:p>
          <a:p>
            <a:pPr>
              <a:spcBef>
                <a:spcPts val="400"/>
              </a:spcBef>
              <a:spcAft>
                <a:spcPts val="400"/>
              </a:spcAft>
            </a:pPr>
            <a:r>
              <a:rPr lang="en-US" altLang="en-US" dirty="0"/>
              <a:t>Mean time to repair – exposure time when another failure could cause data loss</a:t>
            </a:r>
          </a:p>
          <a:p>
            <a:pPr>
              <a:spcBef>
                <a:spcPts val="400"/>
              </a:spcBef>
              <a:spcAft>
                <a:spcPts val="400"/>
              </a:spcAft>
            </a:pPr>
            <a:r>
              <a:rPr lang="en-US" altLang="en-US" dirty="0"/>
              <a:t>Mean time to data loss based on above factors</a:t>
            </a:r>
          </a:p>
          <a:p>
            <a:pPr>
              <a:spcBef>
                <a:spcPts val="400"/>
              </a:spcBef>
              <a:spcAft>
                <a:spcPts val="400"/>
              </a:spcAft>
            </a:pPr>
            <a:r>
              <a:rPr lang="en-US" altLang="en-US" dirty="0"/>
              <a:t>If mirrored disks fail independently, consider disk with 1300,000 mean time to failure and 10 hour mean time to repair</a:t>
            </a:r>
          </a:p>
          <a:p>
            <a:pPr lvl="1">
              <a:spcBef>
                <a:spcPts val="400"/>
              </a:spcBef>
              <a:spcAft>
                <a:spcPts val="400"/>
              </a:spcAft>
            </a:pPr>
            <a:r>
              <a:rPr lang="en-US" altLang="en-US" dirty="0"/>
              <a:t>Mean time to data loss is </a:t>
            </a:r>
            <a:r>
              <a:rPr lang="en-US" altLang="en-US" i="1" dirty="0"/>
              <a:t>100, 0002 / (2 ∗ 10) = 500 ∗ 106 hours</a:t>
            </a:r>
            <a:r>
              <a:rPr lang="en-US" altLang="en-US" dirty="0"/>
              <a:t>, or </a:t>
            </a:r>
            <a:r>
              <a:rPr lang="en-US" altLang="en-US" i="1" dirty="0">
                <a:solidFill>
                  <a:srgbClr val="0070C0"/>
                </a:solidFill>
              </a:rPr>
              <a:t>57,000 years</a:t>
            </a:r>
            <a:r>
              <a:rPr lang="en-US" altLang="en-US" dirty="0"/>
              <a:t>! </a:t>
            </a:r>
          </a:p>
          <a:p>
            <a:pPr>
              <a:spcBef>
                <a:spcPts val="400"/>
              </a:spcBef>
              <a:spcAft>
                <a:spcPts val="400"/>
              </a:spcAft>
            </a:pPr>
            <a:r>
              <a:rPr lang="en-US" altLang="en-US" dirty="0"/>
              <a:t>Frequently combined with NVRAM to improve write performance</a:t>
            </a:r>
          </a:p>
          <a:p>
            <a:pPr>
              <a:spcBef>
                <a:spcPts val="400"/>
              </a:spcBef>
              <a:spcAft>
                <a:spcPts val="400"/>
              </a:spcAft>
            </a:pPr>
            <a:r>
              <a:rPr lang="en-US" altLang="en-US" dirty="0"/>
              <a:t>Several improvements in disk-use techniques involve the use of multiple disks working cooperatively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5D0FA844-AFC8-2D4E-B4C7-4856A48A57BD}"/>
              </a:ext>
            </a:extLst>
          </p:cNvPr>
          <p:cNvSpPr>
            <a:spLocks noGrp="1" noChangeArrowheads="1"/>
          </p:cNvSpPr>
          <p:nvPr>
            <p:ph type="title"/>
          </p:nvPr>
        </p:nvSpPr>
        <p:spPr/>
        <p:txBody>
          <a:bodyPr/>
          <a:lstStyle/>
          <a:p>
            <a:r>
              <a:rPr lang="en-US" altLang="en-US"/>
              <a:t>RAID (Cont.)</a:t>
            </a:r>
          </a:p>
        </p:txBody>
      </p:sp>
      <p:sp>
        <p:nvSpPr>
          <p:cNvPr id="69634" name="Rectangle 3">
            <a:extLst>
              <a:ext uri="{FF2B5EF4-FFF2-40B4-BE49-F238E27FC236}">
                <a16:creationId xmlns:a16="http://schemas.microsoft.com/office/drawing/2014/main" id="{CF22819D-7D58-EC46-BAA2-D496F4EE406B}"/>
              </a:ext>
            </a:extLst>
          </p:cNvPr>
          <p:cNvSpPr>
            <a:spLocks noGrp="1" noChangeArrowheads="1"/>
          </p:cNvSpPr>
          <p:nvPr>
            <p:ph idx="1"/>
          </p:nvPr>
        </p:nvSpPr>
        <p:spPr/>
        <p:txBody>
          <a:bodyPr/>
          <a:lstStyle/>
          <a:p>
            <a:r>
              <a:rPr lang="en-US" altLang="en-US" dirty="0"/>
              <a:t>Disk striping uses a group of disks as one storage unit</a:t>
            </a:r>
          </a:p>
          <a:p>
            <a:r>
              <a:rPr lang="en-US" altLang="en-US" dirty="0"/>
              <a:t>RAID is arranged into six different levels</a:t>
            </a:r>
          </a:p>
          <a:p>
            <a:r>
              <a:rPr lang="en-US" altLang="en-US" dirty="0"/>
              <a:t>RAID schemes improve performance and improve the reliability of the storage system by storing redundant data</a:t>
            </a:r>
          </a:p>
          <a:p>
            <a:pPr lvl="1">
              <a:spcBef>
                <a:spcPts val="400"/>
              </a:spcBef>
              <a:spcAft>
                <a:spcPts val="400"/>
              </a:spcAft>
            </a:pPr>
            <a:r>
              <a:rPr lang="en-US" altLang="en-US" dirty="0"/>
              <a:t>Mirroring or shadowing (RAID 1) keeps duplicate of each disk</a:t>
            </a:r>
          </a:p>
          <a:p>
            <a:pPr lvl="1">
              <a:spcBef>
                <a:spcPts val="400"/>
              </a:spcBef>
              <a:spcAft>
                <a:spcPts val="400"/>
              </a:spcAft>
            </a:pPr>
            <a:r>
              <a:rPr lang="en-US" altLang="en-US" dirty="0"/>
              <a:t>Striped mirrors (RAID 1+0) or mirrored stripes (RAID 0+1) provides high performance and high reliability</a:t>
            </a:r>
          </a:p>
          <a:p>
            <a:pPr lvl="1">
              <a:spcBef>
                <a:spcPts val="400"/>
              </a:spcBef>
              <a:spcAft>
                <a:spcPts val="400"/>
              </a:spcAft>
            </a:pPr>
            <a:r>
              <a:rPr lang="en-US" altLang="en-US" dirty="0"/>
              <a:t>Block interleaved parity (RAID 4, 5, 6) uses much less redundancy</a:t>
            </a:r>
          </a:p>
          <a:p>
            <a:r>
              <a:rPr lang="en-US" altLang="en-US" dirty="0"/>
              <a:t>RAID within a storage array can still fail if the array fails, so automatic   replication of the data between arrays is common</a:t>
            </a:r>
          </a:p>
          <a:p>
            <a:r>
              <a:rPr lang="en-US" altLang="en-US" dirty="0"/>
              <a:t>Frequently, a small number of hot-spare disks are left unallocated, automatically replacing a failed disk and having data rebuilt onto them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1491FD56-6259-374D-95C4-B8236C63D396}"/>
              </a:ext>
            </a:extLst>
          </p:cNvPr>
          <p:cNvSpPr>
            <a:spLocks noGrp="1" noChangeArrowheads="1"/>
          </p:cNvSpPr>
          <p:nvPr>
            <p:ph type="title"/>
          </p:nvPr>
        </p:nvSpPr>
        <p:spPr/>
        <p:txBody>
          <a:bodyPr/>
          <a:lstStyle/>
          <a:p>
            <a:r>
              <a:rPr lang="en-US" altLang="en-US"/>
              <a:t>RAID Levels</a:t>
            </a:r>
          </a:p>
        </p:txBody>
      </p:sp>
      <p:pic>
        <p:nvPicPr>
          <p:cNvPr id="71682" name="Picture 2">
            <a:extLst>
              <a:ext uri="{FF2B5EF4-FFF2-40B4-BE49-F238E27FC236}">
                <a16:creationId xmlns:a16="http://schemas.microsoft.com/office/drawing/2014/main" id="{CCEF548D-2BD3-D94B-A89B-366526C8A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098" y="1174017"/>
            <a:ext cx="3482975"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ED325B3-26B9-8449-BB1C-3E5F3453BC67}"/>
              </a:ext>
            </a:extLst>
          </p:cNvPr>
          <p:cNvSpPr>
            <a:spLocks noGrp="1" noChangeArrowheads="1"/>
          </p:cNvSpPr>
          <p:nvPr>
            <p:ph type="title"/>
          </p:nvPr>
        </p:nvSpPr>
        <p:spPr/>
        <p:txBody>
          <a:bodyPr/>
          <a:lstStyle/>
          <a:p>
            <a:r>
              <a:rPr lang="en-US" altLang="en-US"/>
              <a:t>RAID (0 + 1) and (1 + 0)</a:t>
            </a:r>
          </a:p>
        </p:txBody>
      </p:sp>
      <p:pic>
        <p:nvPicPr>
          <p:cNvPr id="73730" name="Picture 2">
            <a:extLst>
              <a:ext uri="{FF2B5EF4-FFF2-40B4-BE49-F238E27FC236}">
                <a16:creationId xmlns:a16="http://schemas.microsoft.com/office/drawing/2014/main" id="{683A71B5-D41C-6C49-B0DC-F4C3BFE25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3892" y="1585424"/>
            <a:ext cx="3975934" cy="452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F319F5F3-752E-6B46-A8CC-AD676287B58F}"/>
              </a:ext>
            </a:extLst>
          </p:cNvPr>
          <p:cNvSpPr>
            <a:spLocks noGrp="1" noChangeArrowheads="1"/>
          </p:cNvSpPr>
          <p:nvPr>
            <p:ph type="title"/>
          </p:nvPr>
        </p:nvSpPr>
        <p:spPr/>
        <p:txBody>
          <a:bodyPr/>
          <a:lstStyle/>
          <a:p>
            <a:r>
              <a:rPr lang="en-US" altLang="en-US"/>
              <a:t>Other Features</a:t>
            </a:r>
          </a:p>
        </p:txBody>
      </p:sp>
      <p:sp>
        <p:nvSpPr>
          <p:cNvPr id="75778" name="Content Placeholder 2">
            <a:extLst>
              <a:ext uri="{FF2B5EF4-FFF2-40B4-BE49-F238E27FC236}">
                <a16:creationId xmlns:a16="http://schemas.microsoft.com/office/drawing/2014/main" id="{6DCB97A2-EACA-194D-87A9-8EAB8D69630E}"/>
              </a:ext>
            </a:extLst>
          </p:cNvPr>
          <p:cNvSpPr>
            <a:spLocks noGrp="1" noChangeArrowheads="1"/>
          </p:cNvSpPr>
          <p:nvPr>
            <p:ph idx="1"/>
          </p:nvPr>
        </p:nvSpPr>
        <p:spPr/>
        <p:txBody>
          <a:bodyPr/>
          <a:lstStyle/>
          <a:p>
            <a:r>
              <a:rPr lang="en-US" altLang="en-US"/>
              <a:t>Regardless of where RAID implemented, other useful features can be added</a:t>
            </a:r>
          </a:p>
          <a:p>
            <a:r>
              <a:rPr lang="en-US" altLang="en-US"/>
              <a:t>Snapshot is a view of file system before a set of changes take place (i.e. at a point in time)</a:t>
            </a:r>
          </a:p>
          <a:p>
            <a:pPr lvl="1"/>
            <a:r>
              <a:rPr lang="en-US" altLang="en-US"/>
              <a:t>More in Ch 12</a:t>
            </a:r>
          </a:p>
          <a:p>
            <a:r>
              <a:rPr lang="en-US" altLang="en-US"/>
              <a:t>Replication is automatic duplication of writes between separate sites</a:t>
            </a:r>
          </a:p>
          <a:p>
            <a:pPr lvl="1"/>
            <a:r>
              <a:rPr lang="en-US" altLang="en-US"/>
              <a:t>For redundancy and disaster recovery</a:t>
            </a:r>
          </a:p>
          <a:p>
            <a:pPr lvl="1"/>
            <a:r>
              <a:rPr lang="en-US" altLang="en-US"/>
              <a:t>Can be synchronous or asynchronous</a:t>
            </a:r>
          </a:p>
          <a:p>
            <a:r>
              <a:rPr lang="en-US" altLang="en-US"/>
              <a:t>Hot spare disk is unused, automatically used by RAID production if a disk fails to replace the failed disk and rebuild the RAID set if possible</a:t>
            </a:r>
          </a:p>
          <a:p>
            <a:pPr lvl="1"/>
            <a:r>
              <a:rPr lang="en-US" altLang="en-US"/>
              <a:t>Decreases mean time to repair</a:t>
            </a:r>
          </a:p>
          <a:p>
            <a:endParaRPr lang="en-US" altLang="en-US"/>
          </a:p>
          <a:p>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22FA884E-02DE-3741-9CA4-A3A92A47C177}"/>
              </a:ext>
            </a:extLst>
          </p:cNvPr>
          <p:cNvSpPr>
            <a:spLocks noGrp="1" noChangeArrowheads="1"/>
          </p:cNvSpPr>
          <p:nvPr>
            <p:ph type="title"/>
          </p:nvPr>
        </p:nvSpPr>
        <p:spPr/>
        <p:txBody>
          <a:bodyPr/>
          <a:lstStyle/>
          <a:p>
            <a:r>
              <a:rPr lang="en-US" altLang="en-US"/>
              <a:t>Extensions</a:t>
            </a:r>
          </a:p>
        </p:txBody>
      </p:sp>
      <p:sp>
        <p:nvSpPr>
          <p:cNvPr id="2" name="Picture Placeholder 1">
            <a:extLst>
              <a:ext uri="{FF2B5EF4-FFF2-40B4-BE49-F238E27FC236}">
                <a16:creationId xmlns:a16="http://schemas.microsoft.com/office/drawing/2014/main" id="{6B6A1781-B001-B54E-97A9-AC6B8CF729B0}"/>
              </a:ext>
            </a:extLst>
          </p:cNvPr>
          <p:cNvSpPr>
            <a:spLocks noGrp="1"/>
          </p:cNvSpPr>
          <p:nvPr>
            <p:ph type="pic" idx="1"/>
          </p:nvPr>
        </p:nvSpPr>
        <p:spPr>
          <a:xfrm>
            <a:off x="5996472" y="1376979"/>
            <a:ext cx="2829475" cy="5037072"/>
          </a:xfrm>
        </p:spPr>
        <p:txBody>
          <a:bodyPr/>
          <a:lstStyle/>
          <a:p>
            <a:endParaRPr lang="en-VN"/>
          </a:p>
        </p:txBody>
      </p:sp>
      <p:sp>
        <p:nvSpPr>
          <p:cNvPr id="77826" name="Content Placeholder 2">
            <a:extLst>
              <a:ext uri="{FF2B5EF4-FFF2-40B4-BE49-F238E27FC236}">
                <a16:creationId xmlns:a16="http://schemas.microsoft.com/office/drawing/2014/main" id="{0B261A87-26B4-9D4F-B3C8-7348D89726E0}"/>
              </a:ext>
            </a:extLst>
          </p:cNvPr>
          <p:cNvSpPr>
            <a:spLocks noGrp="1" noChangeArrowheads="1"/>
          </p:cNvSpPr>
          <p:nvPr>
            <p:ph sz="half" idx="10"/>
          </p:nvPr>
        </p:nvSpPr>
        <p:spPr>
          <a:xfrm>
            <a:off x="490331" y="1376980"/>
            <a:ext cx="6421108" cy="5037071"/>
          </a:xfrm>
        </p:spPr>
        <p:txBody>
          <a:bodyPr/>
          <a:lstStyle/>
          <a:p>
            <a:r>
              <a:rPr lang="en-US" altLang="en-US" dirty="0"/>
              <a:t>RAID alone does not prevent or detect data corruption or other errors, just disk failures</a:t>
            </a:r>
          </a:p>
          <a:p>
            <a:r>
              <a:rPr lang="en-US" altLang="en-US" dirty="0"/>
              <a:t>Solaris ZFS adds checksums of all data and metadata</a:t>
            </a:r>
          </a:p>
          <a:p>
            <a:r>
              <a:rPr lang="en-US" altLang="en-US" dirty="0"/>
              <a:t>Checksums kept with pointer to object, to detect if object is the right one and whether it changed</a:t>
            </a:r>
          </a:p>
          <a:p>
            <a:r>
              <a:rPr lang="en-US" altLang="en-US" dirty="0"/>
              <a:t>Can detect and correct data and metadata corruption</a:t>
            </a:r>
          </a:p>
          <a:p>
            <a:r>
              <a:rPr lang="en-US" altLang="en-US" dirty="0"/>
              <a:t>ZFS also removes volumes, partitions</a:t>
            </a:r>
          </a:p>
          <a:p>
            <a:pPr lvl="1"/>
            <a:r>
              <a:rPr lang="en-US" altLang="en-US" dirty="0"/>
              <a:t>Disks allocated in pools</a:t>
            </a:r>
          </a:p>
          <a:p>
            <a:pPr lvl="1"/>
            <a:r>
              <a:rPr lang="en-US" altLang="en-US" dirty="0"/>
              <a:t>Filesystems with a pool share that pool, use and release space like </a:t>
            </a:r>
            <a:r>
              <a:rPr lang="en-US" altLang="ja-JP" dirty="0"/>
              <a:t>malloc() and free() memory allocate / release calls</a:t>
            </a:r>
          </a:p>
          <a:p>
            <a:pPr lvl="1"/>
            <a:endParaRPr lang="en-US" altLang="en-US" dirty="0"/>
          </a:p>
          <a:p>
            <a:endParaRPr lang="en-US" altLang="en-US" dirty="0"/>
          </a:p>
        </p:txBody>
      </p:sp>
      <p:pic>
        <p:nvPicPr>
          <p:cNvPr id="77827" name="Picture 1" descr="10_13.pdf">
            <a:extLst>
              <a:ext uri="{FF2B5EF4-FFF2-40B4-BE49-F238E27FC236}">
                <a16:creationId xmlns:a16="http://schemas.microsoft.com/office/drawing/2014/main" id="{E8AA61FF-7586-CB41-A101-808E6A6C69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96472" y="2751406"/>
            <a:ext cx="281622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Box 1">
            <a:extLst>
              <a:ext uri="{FF2B5EF4-FFF2-40B4-BE49-F238E27FC236}">
                <a16:creationId xmlns:a16="http://schemas.microsoft.com/office/drawing/2014/main" id="{8B9BA5C1-2A83-4547-8569-F05D37664653}"/>
              </a:ext>
            </a:extLst>
          </p:cNvPr>
          <p:cNvSpPr txBox="1">
            <a:spLocks noChangeArrowheads="1"/>
          </p:cNvSpPr>
          <p:nvPr/>
        </p:nvSpPr>
        <p:spPr bwMode="auto">
          <a:xfrm>
            <a:off x="6338888" y="5487515"/>
            <a:ext cx="2487059"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a:t>ZFS checksums all metadata and data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2E42F62D-30C6-3F43-A3D8-5E71B8A1AB5D}"/>
              </a:ext>
            </a:extLst>
          </p:cNvPr>
          <p:cNvSpPr>
            <a:spLocks noGrp="1" noChangeArrowheads="1"/>
          </p:cNvSpPr>
          <p:nvPr>
            <p:ph type="title"/>
          </p:nvPr>
        </p:nvSpPr>
        <p:spPr/>
        <p:txBody>
          <a:bodyPr/>
          <a:lstStyle/>
          <a:p>
            <a:r>
              <a:rPr lang="en-US" altLang="en-US"/>
              <a:t>Traditional and Pooled Storage</a:t>
            </a:r>
          </a:p>
        </p:txBody>
      </p:sp>
      <p:pic>
        <p:nvPicPr>
          <p:cNvPr id="79874" name="Picture 1" descr="10_14.pdf">
            <a:extLst>
              <a:ext uri="{FF2B5EF4-FFF2-40B4-BE49-F238E27FC236}">
                <a16:creationId xmlns:a16="http://schemas.microsoft.com/office/drawing/2014/main" id="{739BC733-A748-8747-BA26-3968EC9D33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1982" y="1398493"/>
            <a:ext cx="3220035"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97196EB9-40FB-0F46-8B2F-F1CD97E54C4E}"/>
              </a:ext>
            </a:extLst>
          </p:cNvPr>
          <p:cNvSpPr>
            <a:spLocks noGrp="1" noChangeArrowheads="1"/>
          </p:cNvSpPr>
          <p:nvPr>
            <p:ph type="title"/>
          </p:nvPr>
        </p:nvSpPr>
        <p:spPr/>
        <p:txBody>
          <a:bodyPr/>
          <a:lstStyle/>
          <a:p>
            <a:r>
              <a:rPr lang="en-US" altLang="en-US"/>
              <a:t>Object Storage</a:t>
            </a:r>
          </a:p>
        </p:txBody>
      </p:sp>
      <p:sp>
        <p:nvSpPr>
          <p:cNvPr id="81922" name="Rectangle 3">
            <a:extLst>
              <a:ext uri="{FF2B5EF4-FFF2-40B4-BE49-F238E27FC236}">
                <a16:creationId xmlns:a16="http://schemas.microsoft.com/office/drawing/2014/main" id="{1948B389-D16C-5443-8AD1-8ED06BC9D732}"/>
              </a:ext>
            </a:extLst>
          </p:cNvPr>
          <p:cNvSpPr>
            <a:spLocks noGrp="1" noChangeArrowheads="1"/>
          </p:cNvSpPr>
          <p:nvPr>
            <p:ph sz="half" idx="1"/>
          </p:nvPr>
        </p:nvSpPr>
        <p:spPr>
          <a:xfrm>
            <a:off x="490329" y="1420008"/>
            <a:ext cx="5162325" cy="5007295"/>
          </a:xfrm>
        </p:spPr>
        <p:txBody>
          <a:bodyPr/>
          <a:lstStyle/>
          <a:p>
            <a:r>
              <a:rPr lang="en-US" altLang="en-US" dirty="0"/>
              <a:t>General-purpose computing, file systems not sufficient for very large scale</a:t>
            </a:r>
          </a:p>
          <a:p>
            <a:r>
              <a:rPr lang="en-US" altLang="en-US" dirty="0"/>
              <a:t>Another approach – start with a storage pool and place objects in it</a:t>
            </a:r>
          </a:p>
          <a:p>
            <a:pPr lvl="1">
              <a:spcBef>
                <a:spcPts val="400"/>
              </a:spcBef>
              <a:spcAft>
                <a:spcPts val="400"/>
              </a:spcAft>
            </a:pPr>
            <a:r>
              <a:rPr lang="en-US" altLang="en-US" dirty="0"/>
              <a:t>Object just a container of data</a:t>
            </a:r>
          </a:p>
          <a:p>
            <a:pPr lvl="1">
              <a:spcBef>
                <a:spcPts val="400"/>
              </a:spcBef>
              <a:spcAft>
                <a:spcPts val="400"/>
              </a:spcAft>
            </a:pPr>
            <a:r>
              <a:rPr lang="en-US" altLang="en-US" dirty="0"/>
              <a:t>No way to navigate the pool to find objects (no directory structures, few services)</a:t>
            </a:r>
          </a:p>
          <a:p>
            <a:pPr lvl="1">
              <a:spcBef>
                <a:spcPts val="400"/>
              </a:spcBef>
              <a:spcAft>
                <a:spcPts val="400"/>
              </a:spcAft>
            </a:pPr>
            <a:r>
              <a:rPr lang="en-US" altLang="en-US" dirty="0"/>
              <a:t>Computer-oriented, not user-oriented</a:t>
            </a:r>
          </a:p>
          <a:p>
            <a:r>
              <a:rPr lang="en-US" altLang="en-US" dirty="0"/>
              <a:t>Typical sequence</a:t>
            </a:r>
          </a:p>
          <a:p>
            <a:pPr lvl="1">
              <a:spcBef>
                <a:spcPts val="400"/>
              </a:spcBef>
              <a:spcAft>
                <a:spcPts val="400"/>
              </a:spcAft>
            </a:pPr>
            <a:r>
              <a:rPr lang="en-US" altLang="en-US" dirty="0"/>
              <a:t>Create an object within the pool, receive an object ID</a:t>
            </a:r>
          </a:p>
          <a:p>
            <a:pPr lvl="1">
              <a:spcBef>
                <a:spcPts val="400"/>
              </a:spcBef>
              <a:spcAft>
                <a:spcPts val="400"/>
              </a:spcAft>
            </a:pPr>
            <a:r>
              <a:rPr lang="en-US" altLang="en-US" dirty="0"/>
              <a:t>Access object via that ID</a:t>
            </a:r>
          </a:p>
          <a:p>
            <a:pPr lvl="1">
              <a:spcBef>
                <a:spcPts val="400"/>
              </a:spcBef>
              <a:spcAft>
                <a:spcPts val="400"/>
              </a:spcAft>
            </a:pPr>
            <a:r>
              <a:rPr lang="en-US" altLang="en-US" dirty="0"/>
              <a:t>Delete object via that ID</a:t>
            </a:r>
          </a:p>
          <a:p>
            <a:pPr lvl="1"/>
            <a:endParaRPr lang="en-US" altLang="en-US" dirty="0"/>
          </a:p>
        </p:txBody>
      </p:sp>
      <p:sp>
        <p:nvSpPr>
          <p:cNvPr id="4" name="Content Placeholder 3">
            <a:extLst>
              <a:ext uri="{FF2B5EF4-FFF2-40B4-BE49-F238E27FC236}">
                <a16:creationId xmlns:a16="http://schemas.microsoft.com/office/drawing/2014/main" id="{0C1572E1-D8E4-B343-8142-06D6F5465A18}"/>
              </a:ext>
            </a:extLst>
          </p:cNvPr>
          <p:cNvSpPr>
            <a:spLocks noGrp="1"/>
          </p:cNvSpPr>
          <p:nvPr>
            <p:ph sz="half" idx="2"/>
          </p:nvPr>
        </p:nvSpPr>
        <p:spPr>
          <a:xfrm>
            <a:off x="5652654" y="1420008"/>
            <a:ext cx="3199798" cy="5007296"/>
          </a:xfrm>
        </p:spPr>
        <p:txBody>
          <a:bodyPr/>
          <a:lstStyle/>
          <a:p>
            <a:r>
              <a:rPr lang="en-US" altLang="en-US" dirty="0"/>
              <a:t>Object storage management software like </a:t>
            </a:r>
            <a:r>
              <a:rPr lang="en-US" altLang="en-US" i="1" dirty="0">
                <a:solidFill>
                  <a:srgbClr val="0070C0"/>
                </a:solidFill>
              </a:rPr>
              <a:t>Hadoop file system </a:t>
            </a:r>
            <a:r>
              <a:rPr lang="en-US" altLang="en-US" dirty="0"/>
              <a:t>(</a:t>
            </a:r>
            <a:r>
              <a:rPr lang="en-US" altLang="en-US" b="1" dirty="0">
                <a:solidFill>
                  <a:srgbClr val="0070C0"/>
                </a:solidFill>
              </a:rPr>
              <a:t>HDFS</a:t>
            </a:r>
            <a:r>
              <a:rPr lang="en-US" altLang="en-US" dirty="0"/>
              <a:t>) and </a:t>
            </a:r>
            <a:r>
              <a:rPr lang="en-US" altLang="en-US" b="1" dirty="0" err="1">
                <a:solidFill>
                  <a:srgbClr val="0070C0"/>
                </a:solidFill>
              </a:rPr>
              <a:t>Ceph</a:t>
            </a:r>
            <a:r>
              <a:rPr lang="en-US" altLang="en-US" dirty="0"/>
              <a:t> determine where to store objects, manages protection</a:t>
            </a:r>
          </a:p>
          <a:p>
            <a:pPr lvl="1">
              <a:spcBef>
                <a:spcPts val="400"/>
              </a:spcBef>
              <a:spcAft>
                <a:spcPts val="400"/>
              </a:spcAft>
            </a:pPr>
            <a:r>
              <a:rPr lang="en-US" altLang="en-US" dirty="0"/>
              <a:t>Typically by storing N copies, across N systems, in the object storage cluster</a:t>
            </a:r>
          </a:p>
          <a:p>
            <a:pPr lvl="1">
              <a:spcBef>
                <a:spcPts val="400"/>
              </a:spcBef>
              <a:spcAft>
                <a:spcPts val="400"/>
              </a:spcAft>
            </a:pPr>
            <a:r>
              <a:rPr lang="en-US" altLang="en-US" dirty="0"/>
              <a:t>Horizontally scalable</a:t>
            </a:r>
          </a:p>
          <a:p>
            <a:pPr lvl="1">
              <a:spcBef>
                <a:spcPts val="400"/>
              </a:spcBef>
              <a:spcAft>
                <a:spcPts val="400"/>
              </a:spcAft>
            </a:pPr>
            <a:r>
              <a:rPr lang="en-US" altLang="en-US" dirty="0"/>
              <a:t>Content addressable, unstructured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0025-1428-EE49-9158-F909B4E2036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065253A-3430-3642-A274-2FB3C426D0DA}"/>
              </a:ext>
            </a:extLst>
          </p:cNvPr>
          <p:cNvSpPr>
            <a:spLocks noGrp="1"/>
          </p:cNvSpPr>
          <p:nvPr>
            <p:ph idx="1"/>
          </p:nvPr>
        </p:nvSpPr>
        <p:spPr/>
        <p:txBody>
          <a:bodyPr/>
          <a:lstStyle/>
          <a:p>
            <a:r>
              <a:rPr lang="en-US" dirty="0"/>
              <a:t>Hard disk drives and nonvolatile memory devices are </a:t>
            </a:r>
            <a:r>
              <a:rPr lang="en-US" dirty="0" err="1"/>
              <a:t>themajor</a:t>
            </a:r>
            <a:r>
              <a:rPr lang="en-US" dirty="0"/>
              <a:t> secondary storage I/O units on most computers. Modern secondary storage is structured as large one-dimensional arrays of logical blocks.</a:t>
            </a:r>
          </a:p>
          <a:p>
            <a:r>
              <a:rPr lang="en-US" dirty="0"/>
              <a:t>Drives of either type may be attached to a computer system in one of three ways: (1) through the local I/O ports on the host computer, (2) directly connected to motherboards, or (3) through a communications network or storage network connection.</a:t>
            </a:r>
          </a:p>
          <a:p>
            <a:r>
              <a:rPr lang="en-US" dirty="0"/>
              <a:t>Requests for secondary storage I/O are generated by the file system and by the virtual memory system. Each request specifies the address on the device to be referenced in the form of a logical block number.</a:t>
            </a:r>
          </a:p>
        </p:txBody>
      </p:sp>
    </p:spTree>
    <p:extLst>
      <p:ext uri="{BB962C8B-B14F-4D97-AF65-F5344CB8AC3E}">
        <p14:creationId xmlns:p14="http://schemas.microsoft.com/office/powerpoint/2010/main" val="4158418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4ED22-73F1-7B4B-98FA-225F59FD739F}"/>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AED34066-5DAA-2341-A643-8259F435D068}"/>
              </a:ext>
            </a:extLst>
          </p:cNvPr>
          <p:cNvSpPr>
            <a:spLocks noGrp="1"/>
          </p:cNvSpPr>
          <p:nvPr>
            <p:ph idx="1"/>
          </p:nvPr>
        </p:nvSpPr>
        <p:spPr/>
        <p:txBody>
          <a:bodyPr/>
          <a:lstStyle/>
          <a:p>
            <a:r>
              <a:rPr lang="en-US" dirty="0"/>
              <a:t>Disk-scheduling algorithms can improve the effective bandwidth of HDDs, the average response time, and the variance in response time. Algorithms such as SCAN and C-SCAN are designed to make such improvements through strategies for disk-queue ordering. Performance of disks </a:t>
            </a:r>
            <a:r>
              <a:rPr lang="en-US" dirty="0" err="1"/>
              <a:t>cheduling</a:t>
            </a:r>
            <a:r>
              <a:rPr lang="en-US" dirty="0"/>
              <a:t> algorithms can vary greatly on hard disks. In contrast, because solid-state disks have no moving parts, performance varies little among scheduling algorithms, and quite often a simple FCFS strategy is used.</a:t>
            </a:r>
          </a:p>
          <a:p>
            <a:r>
              <a:rPr lang="en-US" dirty="0"/>
              <a:t>Data storage and transmission are complex and frequently result in errors. Error detection attempts to spot such problems to alert the system for corrective action and to avoid error propagation. Error correction can detect and repair problems, depending on the amount of correction data available and the amount of data that was corrupted.</a:t>
            </a:r>
          </a:p>
        </p:txBody>
      </p:sp>
    </p:spTree>
    <p:extLst>
      <p:ext uri="{BB962C8B-B14F-4D97-AF65-F5344CB8AC3E}">
        <p14:creationId xmlns:p14="http://schemas.microsoft.com/office/powerpoint/2010/main" val="3507873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C8A53-9F9D-1344-9ECB-E53104D50CF4}"/>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FCEB4381-4B5D-2248-8EAB-5B34A0D7FF58}"/>
              </a:ext>
            </a:extLst>
          </p:cNvPr>
          <p:cNvSpPr>
            <a:spLocks noGrp="1"/>
          </p:cNvSpPr>
          <p:nvPr>
            <p:ph idx="1"/>
          </p:nvPr>
        </p:nvSpPr>
        <p:spPr/>
        <p:txBody>
          <a:bodyPr/>
          <a:lstStyle/>
          <a:p>
            <a:r>
              <a:rPr lang="en-US" dirty="0"/>
              <a:t>Storage devices are partitioned into one or more chunks of space. Each partition can hold a volume or be part of a multidevice volume. File systems are created in volumes.</a:t>
            </a:r>
          </a:p>
          <a:p>
            <a:r>
              <a:rPr lang="en-US" dirty="0"/>
              <a:t>The operating system manages the storage device’s blocks. New devices typically come pre-formatted. The device is partitioned, file systems are created, and boot blocks are allocated to store the system’s bootstrap program if the device will contain an operating system. Finally, when a block or page is corrupted, the system must have a way to lock out that block or to replace it logically with a spare.</a:t>
            </a:r>
          </a:p>
          <a:p>
            <a:r>
              <a:rPr lang="en-US" dirty="0"/>
              <a:t>An efficient swap space is a key to good performance in some systems. Some systems dedicate a raw partition to swap space, and others use a file within the file system instead. Still other systems allow the user or system administrator to make the decision by providing both options.</a:t>
            </a:r>
          </a:p>
        </p:txBody>
      </p:sp>
    </p:spTree>
    <p:extLst>
      <p:ext uri="{BB962C8B-B14F-4D97-AF65-F5344CB8AC3E}">
        <p14:creationId xmlns:p14="http://schemas.microsoft.com/office/powerpoint/2010/main" val="17912314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C8A53-9F9D-1344-9ECB-E53104D50CF4}"/>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FCEB4381-4B5D-2248-8EAB-5B34A0D7FF58}"/>
              </a:ext>
            </a:extLst>
          </p:cNvPr>
          <p:cNvSpPr>
            <a:spLocks noGrp="1"/>
          </p:cNvSpPr>
          <p:nvPr>
            <p:ph idx="1"/>
          </p:nvPr>
        </p:nvSpPr>
        <p:spPr/>
        <p:txBody>
          <a:bodyPr/>
          <a:lstStyle/>
          <a:p>
            <a:r>
              <a:rPr lang="en-US" dirty="0"/>
              <a:t>Because of the amount of storage required on large systems, and because storage devices fail in various ways, secondary storage devices are frequently made redundant via RAID algorithms. These algorithms allow more than one drive to be used for a given operation and allow continued operation and even automatic recovery in the face of a drive failure. RAID algorithms are organized into different levels; each level provides some combination of reliability and high transfer rates.</a:t>
            </a:r>
          </a:p>
          <a:p>
            <a:r>
              <a:rPr lang="en-US" dirty="0"/>
              <a:t>Object storage is used for big data problems such as indexing the Internet and cloud photo storage. Objects are self-defining collections of data, addressed by object ID rather than file name. Typically it uses replication for data protection, computes based on the data on systems where a copy of the data exists, and is horizontally scalable for vast capacity and easy expansion.</a:t>
            </a:r>
          </a:p>
          <a:p>
            <a:endParaRPr lang="en-US" dirty="0"/>
          </a:p>
        </p:txBody>
      </p:sp>
    </p:spTree>
    <p:extLst>
      <p:ext uri="{BB962C8B-B14F-4D97-AF65-F5344CB8AC3E}">
        <p14:creationId xmlns:p14="http://schemas.microsoft.com/office/powerpoint/2010/main" val="42123405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1CCD3670-4387-AB4B-9C26-E9571E1752FF}"/>
              </a:ext>
            </a:extLst>
          </p:cNvPr>
          <p:cNvSpPr>
            <a:spLocks noGrp="1" noChangeArrowheads="1"/>
          </p:cNvSpPr>
          <p:nvPr>
            <p:ph type="ctrTitle"/>
          </p:nvPr>
        </p:nvSpPr>
        <p:spPr/>
        <p:txBody>
          <a:bodyPr/>
          <a:lstStyle/>
          <a:p>
            <a:r>
              <a:rPr lang="en-US" altLang="en-US" dirty="0"/>
              <a:t>End of </a:t>
            </a:r>
            <a:r>
              <a:rPr lang="en-US" altLang="en-US"/>
              <a:t>Chapter 11</a:t>
            </a:r>
            <a:endParaRPr lang="en-US" altLang="en-US" dirty="0"/>
          </a:p>
        </p:txBody>
      </p:sp>
    </p:spTree>
  </p:cSld>
  <p:clrMapOvr>
    <a:masterClrMapping/>
  </p:clrMapOvr>
</p:sld>
</file>

<file path=ppt/theme/theme1.xml><?xml version="1.0" encoding="utf-8"?>
<a:theme xmlns:a="http://schemas.openxmlformats.org/drawingml/2006/main" name="OperatingSystemConcepts">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eratingSystemConcepts" id="{356C8156-0AD9-BE44-8076-45B4BD2798F4}" vid="{AF707293-8776-C941-83B7-79AD41A5190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OperatingSystemConcepts</Template>
  <TotalTime>12072</TotalTime>
  <Words>3874</Words>
  <Application>Microsoft Macintosh PowerPoint</Application>
  <PresentationFormat>On-screen Show (4:3)</PresentationFormat>
  <Paragraphs>359</Paragraphs>
  <Slides>49</Slides>
  <Notes>33</Notes>
  <HiddenSlides>17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Helvetica</vt:lpstr>
      <vt:lpstr>Monotype Sorts</vt:lpstr>
      <vt:lpstr>Times New Roman</vt:lpstr>
      <vt:lpstr>Verdana</vt:lpstr>
      <vt:lpstr>Webdings</vt:lpstr>
      <vt:lpstr>OperatingSystemConcepts</vt:lpstr>
      <vt:lpstr>Chapter 11:  Mass-Storage Systems</vt:lpstr>
      <vt:lpstr>Outline</vt:lpstr>
      <vt:lpstr>Objectives</vt:lpstr>
      <vt:lpstr>Overview of Mass Storage Structure</vt:lpstr>
      <vt:lpstr>Moving-head Disk Mechanism</vt:lpstr>
      <vt:lpstr>Example of Hard Disk Drives</vt:lpstr>
      <vt:lpstr>Hard Disk Performance</vt:lpstr>
      <vt:lpstr>The First Commercial Disk Drive</vt:lpstr>
      <vt:lpstr>Nonvolatile Memory Devices</vt:lpstr>
      <vt:lpstr>Nonvolatile Memory Devices (Cont.)</vt:lpstr>
      <vt:lpstr>NAND Flash Controller Algorithms</vt:lpstr>
      <vt:lpstr>Volatile Memory</vt:lpstr>
      <vt:lpstr>Magnetic Tape</vt:lpstr>
      <vt:lpstr>Disk Attachment</vt:lpstr>
      <vt:lpstr>Address Mapping</vt:lpstr>
      <vt:lpstr>HDD Scheduling</vt:lpstr>
      <vt:lpstr>Disk Scheduling (Cont.)</vt:lpstr>
      <vt:lpstr>Disk Scheduling (Cont.)</vt:lpstr>
      <vt:lpstr>First Come First Served (FCFS)</vt:lpstr>
      <vt:lpstr>SCAN</vt:lpstr>
      <vt:lpstr>SCAN (Cont.)</vt:lpstr>
      <vt:lpstr>C-SCAN</vt:lpstr>
      <vt:lpstr>C-SCAN (Cont.)</vt:lpstr>
      <vt:lpstr>Selecting a Disk-Scheduling Algorithm</vt:lpstr>
      <vt:lpstr>NVM Scheduling</vt:lpstr>
      <vt:lpstr>Error Detection and Correction</vt:lpstr>
      <vt:lpstr>Storage Device Management</vt:lpstr>
      <vt:lpstr>Storage Device Management (cont.)</vt:lpstr>
      <vt:lpstr>Device Storage Management (Cont.)</vt:lpstr>
      <vt:lpstr>Swap-Space Management</vt:lpstr>
      <vt:lpstr>Storage Attachment</vt:lpstr>
      <vt:lpstr>Network-Attached Storage</vt:lpstr>
      <vt:lpstr>Cloud Storage</vt:lpstr>
      <vt:lpstr>Storage Array</vt:lpstr>
      <vt:lpstr>Storage Area Network</vt:lpstr>
      <vt:lpstr>Storage Area Network (Cont.)</vt:lpstr>
      <vt:lpstr>RAID Structure</vt:lpstr>
      <vt:lpstr>RAID (Cont.)</vt:lpstr>
      <vt:lpstr>RAID Levels</vt:lpstr>
      <vt:lpstr>RAID (0 + 1) and (1 + 0)</vt:lpstr>
      <vt:lpstr>Other Features</vt:lpstr>
      <vt:lpstr>Extensions</vt:lpstr>
      <vt:lpstr>Traditional and Pooled Storage</vt:lpstr>
      <vt:lpstr>Object Storage</vt:lpstr>
      <vt:lpstr>Summary</vt:lpstr>
      <vt:lpstr>Summary (Cont.)</vt:lpstr>
      <vt:lpstr>Summary (Cont.)</vt:lpstr>
      <vt:lpstr>Summary (Cont.)</vt:lpstr>
      <vt:lpstr>End of Chapter 11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Microsoft Office User</cp:lastModifiedBy>
  <cp:revision>236</cp:revision>
  <cp:lastPrinted>2013-09-10T17:57:57Z</cp:lastPrinted>
  <dcterms:created xsi:type="dcterms:W3CDTF">2011-01-13T23:43:38Z</dcterms:created>
  <dcterms:modified xsi:type="dcterms:W3CDTF">2024-05-02T09:09:18Z</dcterms:modified>
</cp:coreProperties>
</file>