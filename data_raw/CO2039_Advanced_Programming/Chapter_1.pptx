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73" r:id="rId1"/>
  </p:sldMasterIdLst>
  <p:notesMasterIdLst>
    <p:notesMasterId r:id="rId31"/>
  </p:notesMasterIdLst>
  <p:sldIdLst>
    <p:sldId id="256" r:id="rId2"/>
    <p:sldId id="257" r:id="rId3"/>
    <p:sldId id="258" r:id="rId4"/>
    <p:sldId id="278" r:id="rId5"/>
    <p:sldId id="283" r:id="rId6"/>
    <p:sldId id="282" r:id="rId7"/>
    <p:sldId id="281" r:id="rId8"/>
    <p:sldId id="284" r:id="rId9"/>
    <p:sldId id="279" r:id="rId10"/>
    <p:sldId id="261" r:id="rId11"/>
    <p:sldId id="259" r:id="rId12"/>
    <p:sldId id="260" r:id="rId13"/>
    <p:sldId id="262" r:id="rId14"/>
    <p:sldId id="263" r:id="rId15"/>
    <p:sldId id="264" r:id="rId16"/>
    <p:sldId id="265" r:id="rId17"/>
    <p:sldId id="287" r:id="rId18"/>
    <p:sldId id="285" r:id="rId19"/>
    <p:sldId id="286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</p:sldIdLst>
  <p:sldSz cx="9144000" cy="5143500" type="screen16x9"/>
  <p:notesSz cx="6781800" cy="9918700"/>
  <p:embeddedFontLst>
    <p:embeddedFont>
      <p:font typeface="Anaheim" panose="020B0604020202020204" charset="0"/>
      <p:regular r:id="rId32"/>
      <p:bold r:id="rId33"/>
    </p:embeddedFont>
    <p:embeddedFont>
      <p:font typeface="Consolas" panose="020B0609020204030204" pitchFamily="49" charset="0"/>
      <p:regular r:id="rId34"/>
      <p:bold r:id="rId35"/>
      <p:italic r:id="rId36"/>
      <p:boldItalic r:id="rId37"/>
    </p:embeddedFont>
    <p:embeddedFont>
      <p:font typeface="Corbel" panose="020B0503020204020204" pitchFamily="34" charset="0"/>
      <p:regular r:id="rId38"/>
      <p:bold r:id="rId39"/>
      <p:italic r:id="rId40"/>
      <p:boldItalic r:id="rId41"/>
    </p:embeddedFont>
    <p:embeddedFont>
      <p:font typeface="Hanken Grotesk" pitchFamily="2" charset="0"/>
      <p:regular r:id="rId42"/>
      <p:bold r:id="rId43"/>
      <p:italic r:id="rId44"/>
      <p:boldItalic r:id="rId45"/>
    </p:embeddedFont>
    <p:embeddedFont>
      <p:font typeface="Nunito Light" pitchFamily="2" charset="0"/>
      <p:regular r:id="rId46"/>
      <p:italic r:id="rId47"/>
    </p:embeddedFont>
    <p:embeddedFont>
      <p:font typeface="Raleway Black" pitchFamily="2" charset="0"/>
      <p:bold r:id="rId48"/>
      <p:boldItalic r:id="rId49"/>
    </p:embeddedFont>
    <p:embeddedFont>
      <p:font typeface="Raleway ExtraBold" pitchFamily="2" charset="0"/>
      <p:bold r:id="rId50"/>
      <p:boldItalic r:id="rId51"/>
    </p:embeddedFont>
    <p:embeddedFont>
      <p:font typeface="Roboto" panose="02000000000000000000" pitchFamily="2" charset="0"/>
      <p:regular r:id="rId52"/>
      <p:bold r:id="rId53"/>
      <p:italic r:id="rId54"/>
      <p:boldItalic r:id="rId55"/>
    </p:embeddedFont>
    <p:embeddedFont>
      <p:font typeface="Tahoma" panose="020B0604030504040204" pitchFamily="34" charset="0"/>
      <p:regular r:id="rId56"/>
      <p:bold r:id="rId5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8.fntdata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42" Type="http://schemas.openxmlformats.org/officeDocument/2006/relationships/font" Target="fonts/font11.fntdata"/><Relationship Id="rId47" Type="http://schemas.openxmlformats.org/officeDocument/2006/relationships/font" Target="fonts/font16.fntdata"/><Relationship Id="rId50" Type="http://schemas.openxmlformats.org/officeDocument/2006/relationships/font" Target="fonts/font19.fntdata"/><Relationship Id="rId55" Type="http://schemas.openxmlformats.org/officeDocument/2006/relationships/font" Target="fonts/font24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font" Target="fonts/font9.fntdata"/><Relationship Id="rId45" Type="http://schemas.openxmlformats.org/officeDocument/2006/relationships/font" Target="fonts/font14.fntdata"/><Relationship Id="rId53" Type="http://schemas.openxmlformats.org/officeDocument/2006/relationships/font" Target="fonts/font22.fntdata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43" Type="http://schemas.openxmlformats.org/officeDocument/2006/relationships/font" Target="fonts/font12.fntdata"/><Relationship Id="rId48" Type="http://schemas.openxmlformats.org/officeDocument/2006/relationships/font" Target="fonts/font17.fntdata"/><Relationship Id="rId56" Type="http://schemas.openxmlformats.org/officeDocument/2006/relationships/font" Target="fonts/font25.fntdata"/><Relationship Id="rId8" Type="http://schemas.openxmlformats.org/officeDocument/2006/relationships/slide" Target="slides/slide7.xml"/><Relationship Id="rId51" Type="http://schemas.openxmlformats.org/officeDocument/2006/relationships/font" Target="fonts/font20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font" Target="fonts/font7.fntdata"/><Relationship Id="rId46" Type="http://schemas.openxmlformats.org/officeDocument/2006/relationships/font" Target="fonts/font15.fntdata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font" Target="fonts/font10.fntdata"/><Relationship Id="rId54" Type="http://schemas.openxmlformats.org/officeDocument/2006/relationships/font" Target="fonts/font2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49" Type="http://schemas.openxmlformats.org/officeDocument/2006/relationships/font" Target="fonts/font18.fntdata"/><Relationship Id="rId57" Type="http://schemas.openxmlformats.org/officeDocument/2006/relationships/font" Target="fonts/font26.fntdata"/><Relationship Id="rId10" Type="http://schemas.openxmlformats.org/officeDocument/2006/relationships/slide" Target="slides/slide9.xml"/><Relationship Id="rId31" Type="http://schemas.openxmlformats.org/officeDocument/2006/relationships/notesMaster" Target="notesMasters/notesMaster1.xml"/><Relationship Id="rId44" Type="http://schemas.openxmlformats.org/officeDocument/2006/relationships/font" Target="fonts/font13.fntdata"/><Relationship Id="rId52" Type="http://schemas.openxmlformats.org/officeDocument/2006/relationships/font" Target="fonts/font21.fntdata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38463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41750" y="0"/>
            <a:ext cx="2938463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85725" y="744538"/>
            <a:ext cx="6610350" cy="37195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77863" y="4711700"/>
            <a:ext cx="5426075" cy="4462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421813"/>
            <a:ext cx="2938463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41750" y="9421813"/>
            <a:ext cx="2938463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84" name="Google Shape;1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91" name="Google Shape;19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15" name="Google Shape;21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7:notes"/>
          <p:cNvSpPr txBox="1">
            <a:spLocks noGrp="1"/>
          </p:cNvSpPr>
          <p:nvPr>
            <p:ph type="body" idx="1"/>
          </p:nvPr>
        </p:nvSpPr>
        <p:spPr>
          <a:xfrm>
            <a:off x="677863" y="4711700"/>
            <a:ext cx="5426075" cy="446246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" y="744538"/>
            <a:ext cx="6610350" cy="37195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159960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7:notes"/>
          <p:cNvSpPr txBox="1">
            <a:spLocks noGrp="1"/>
          </p:cNvSpPr>
          <p:nvPr>
            <p:ph type="body" idx="1"/>
          </p:nvPr>
        </p:nvSpPr>
        <p:spPr>
          <a:xfrm>
            <a:off x="677863" y="4711700"/>
            <a:ext cx="5426075" cy="446246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" y="744538"/>
            <a:ext cx="6610350" cy="37195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31678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7:notes"/>
          <p:cNvSpPr txBox="1">
            <a:spLocks noGrp="1"/>
          </p:cNvSpPr>
          <p:nvPr>
            <p:ph type="body" idx="1"/>
          </p:nvPr>
        </p:nvSpPr>
        <p:spPr>
          <a:xfrm>
            <a:off x="677863" y="4711700"/>
            <a:ext cx="5426075" cy="446246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" y="744538"/>
            <a:ext cx="6610350" cy="37195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591467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7:notes"/>
          <p:cNvSpPr txBox="1">
            <a:spLocks noGrp="1"/>
          </p:cNvSpPr>
          <p:nvPr>
            <p:ph type="body" idx="1"/>
          </p:nvPr>
        </p:nvSpPr>
        <p:spPr>
          <a:xfrm>
            <a:off x="677863" y="4711700"/>
            <a:ext cx="5426075" cy="446246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" y="744538"/>
            <a:ext cx="6610350" cy="37195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17422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7:notes"/>
          <p:cNvSpPr txBox="1">
            <a:spLocks noGrp="1"/>
          </p:cNvSpPr>
          <p:nvPr>
            <p:ph type="body" idx="1"/>
          </p:nvPr>
        </p:nvSpPr>
        <p:spPr>
          <a:xfrm>
            <a:off x="677863" y="4711700"/>
            <a:ext cx="5426075" cy="446246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" y="744538"/>
            <a:ext cx="6610350" cy="37195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934676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7:notes"/>
          <p:cNvSpPr txBox="1">
            <a:spLocks noGrp="1"/>
          </p:cNvSpPr>
          <p:nvPr>
            <p:ph type="body" idx="1"/>
          </p:nvPr>
        </p:nvSpPr>
        <p:spPr>
          <a:xfrm>
            <a:off x="677863" y="4711700"/>
            <a:ext cx="5426075" cy="446246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" y="744538"/>
            <a:ext cx="6610350" cy="37195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661191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2885e2a979_1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38" name="Google Shape;238;g32885e2a979_1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7:notes"/>
          <p:cNvSpPr txBox="1">
            <a:spLocks noGrp="1"/>
          </p:cNvSpPr>
          <p:nvPr>
            <p:ph type="body" idx="1"/>
          </p:nvPr>
        </p:nvSpPr>
        <p:spPr>
          <a:xfrm>
            <a:off x="677863" y="4711700"/>
            <a:ext cx="5426075" cy="446246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" y="744538"/>
            <a:ext cx="6610350" cy="37195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2885e2a979_1_0:notes"/>
          <p:cNvSpPr txBox="1">
            <a:spLocks noGrp="1"/>
          </p:cNvSpPr>
          <p:nvPr>
            <p:ph type="body" idx="1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g32885e2a979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" y="744538"/>
            <a:ext cx="6610350" cy="37195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2885e2a979_1_14:notes"/>
          <p:cNvSpPr txBox="1">
            <a:spLocks noGrp="1"/>
          </p:cNvSpPr>
          <p:nvPr>
            <p:ph type="body" idx="1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g32885e2a979_1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" y="744538"/>
            <a:ext cx="6610350" cy="37195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2885e2a979_1_22:notes"/>
          <p:cNvSpPr txBox="1">
            <a:spLocks noGrp="1"/>
          </p:cNvSpPr>
          <p:nvPr>
            <p:ph type="body" idx="1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g32885e2a979_1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" y="744538"/>
            <a:ext cx="6610350" cy="37195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2885e2a979_1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59" name="Google Shape;259;g32885e2a979_1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2885e2a979_1_32:notes"/>
          <p:cNvSpPr txBox="1">
            <a:spLocks noGrp="1"/>
          </p:cNvSpPr>
          <p:nvPr>
            <p:ph type="body" idx="1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g32885e2a979_1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" y="744538"/>
            <a:ext cx="6610350" cy="37195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2885e2a979_1_42:notes"/>
          <p:cNvSpPr txBox="1">
            <a:spLocks noGrp="1"/>
          </p:cNvSpPr>
          <p:nvPr>
            <p:ph type="body" idx="1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g32885e2a979_1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" y="744538"/>
            <a:ext cx="6610350" cy="37195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1860036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2885e2a979_1_32:notes"/>
          <p:cNvSpPr txBox="1">
            <a:spLocks noGrp="1"/>
          </p:cNvSpPr>
          <p:nvPr>
            <p:ph type="body" idx="1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g32885e2a979_1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" y="744538"/>
            <a:ext cx="6610350" cy="37195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057178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2885e2a979_1_32:notes"/>
          <p:cNvSpPr txBox="1">
            <a:spLocks noGrp="1"/>
          </p:cNvSpPr>
          <p:nvPr>
            <p:ph type="body" idx="1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g32885e2a979_1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" y="744538"/>
            <a:ext cx="6610350" cy="37195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054859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2885e2a979_1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91" name="Google Shape;291;g32885e2a979_1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2885e2a979_1_57:notes"/>
          <p:cNvSpPr txBox="1">
            <a:spLocks noGrp="1"/>
          </p:cNvSpPr>
          <p:nvPr>
            <p:ph type="body" idx="1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g32885e2a979_1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" y="744538"/>
            <a:ext cx="6610350" cy="37195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2885e2a979_1_62:notes"/>
          <p:cNvSpPr txBox="1">
            <a:spLocks noGrp="1"/>
          </p:cNvSpPr>
          <p:nvPr>
            <p:ph type="body" idx="1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g32885e2a979_1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" y="744538"/>
            <a:ext cx="6610350" cy="37195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2885e2a979_1_67:notes"/>
          <p:cNvSpPr txBox="1">
            <a:spLocks noGrp="1"/>
          </p:cNvSpPr>
          <p:nvPr>
            <p:ph type="body" idx="1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g32885e2a979_1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" y="744538"/>
            <a:ext cx="6610350" cy="37195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2885e2a979_1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19" name="Google Shape;319;g32885e2a979_1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2885e2a979_1_77:notes"/>
          <p:cNvSpPr txBox="1">
            <a:spLocks noGrp="1"/>
          </p:cNvSpPr>
          <p:nvPr>
            <p:ph type="body" idx="1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g32885e2a979_1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" y="744538"/>
            <a:ext cx="6610350" cy="37195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28921f37a3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33" name="Google Shape;333;g328921f37a3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28921f37a3_0_8:notes"/>
          <p:cNvSpPr txBox="1">
            <a:spLocks noGrp="1"/>
          </p:cNvSpPr>
          <p:nvPr>
            <p:ph type="body" idx="1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A class called Circle is designed as shown in the following class diagram. It contains:</a:t>
            </a:r>
            <a:endParaRPr/>
          </a:p>
          <a:p>
            <a:pPr marL="457200" lvl="0" indent="-317500" algn="l" rtl="0">
              <a:spcBef>
                <a:spcPts val="36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Two private instance variables: radius (of the type double) and color (of the type String), with default value of 1.0 and "red", respectively.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Two overloaded constructors - a default constructor with no argument, and a constructor which takes a double argument for radius.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Two public methods: getRadius() and getArea(), which return the radius and area of this instance, respectively.</a:t>
            </a:r>
            <a:endParaRPr/>
          </a:p>
        </p:txBody>
      </p:sp>
      <p:sp>
        <p:nvSpPr>
          <p:cNvPr id="340" name="Google Shape;340;g328921f37a3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" y="744538"/>
            <a:ext cx="6610350" cy="37195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28921f37a3_0_17:notes"/>
          <p:cNvSpPr txBox="1">
            <a:spLocks noGrp="1"/>
          </p:cNvSpPr>
          <p:nvPr>
            <p:ph type="body" idx="1"/>
          </p:nvPr>
        </p:nvSpPr>
        <p:spPr>
          <a:xfrm>
            <a:off x="677863" y="4711700"/>
            <a:ext cx="5426100" cy="4462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A class called Circle is designed as shown in the following class diagram. It contains:</a:t>
            </a:r>
            <a:endParaRPr/>
          </a:p>
          <a:p>
            <a:pPr marL="457200" lvl="0" indent="-317500" algn="l" rtl="0">
              <a:spcBef>
                <a:spcPts val="36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Two private instance variables: radius (of the type double) and color (of the type String), with default value of 1.0 and "red", respectively.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Two overloaded constructors - a default constructor with no argument, and a constructor which takes a double argument for radius.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Two public methods: getRadius() and getArea(), which return the radius and area of this instance, respectively.</a:t>
            </a:r>
            <a:endParaRPr/>
          </a:p>
        </p:txBody>
      </p:sp>
      <p:sp>
        <p:nvSpPr>
          <p:cNvPr id="348" name="Google Shape;348;g328921f37a3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" y="744538"/>
            <a:ext cx="6610350" cy="37195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9:notes"/>
          <p:cNvSpPr txBox="1">
            <a:spLocks noGrp="1"/>
          </p:cNvSpPr>
          <p:nvPr>
            <p:ph type="sldNum" idx="12"/>
          </p:nvPr>
        </p:nvSpPr>
        <p:spPr>
          <a:xfrm>
            <a:off x="3841750" y="9421813"/>
            <a:ext cx="2938463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29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25" y="744538"/>
            <a:ext cx="6610350" cy="37195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7" name="Google Shape;357;p39:notes"/>
          <p:cNvSpPr txBox="1">
            <a:spLocks noGrp="1"/>
          </p:cNvSpPr>
          <p:nvPr>
            <p:ph type="body" idx="1"/>
          </p:nvPr>
        </p:nvSpPr>
        <p:spPr>
          <a:xfrm>
            <a:off x="677863" y="4711700"/>
            <a:ext cx="5426075" cy="4462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>
            <a:spLocks noGrp="1"/>
          </p:cNvSpPr>
          <p:nvPr>
            <p:ph type="ctrTitle"/>
          </p:nvPr>
        </p:nvSpPr>
        <p:spPr>
          <a:xfrm>
            <a:off x="1143000" y="1538243"/>
            <a:ext cx="6858000" cy="1094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375"/>
              <a:buFont typeface="Calibri"/>
              <a:buNone/>
              <a:defRPr sz="337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025"/>
              <a:buNone/>
              <a:defRPr sz="1350"/>
            </a:lvl1pPr>
            <a:lvl2pPr lvl="1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688"/>
              <a:buNone/>
              <a:defRPr sz="1125"/>
            </a:lvl2pPr>
            <a:lvl3pPr lvl="2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None/>
              <a:defRPr sz="1013"/>
            </a:lvl3pPr>
            <a:lvl4pPr lvl="3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/>
            </a:lvl4pPr>
            <a:lvl5pPr lvl="4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/>
            </a:lvl5pPr>
            <a:lvl6pPr lvl="5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lvl="6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lvl="7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lvl="8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7" name="Google Shape;17;p2"/>
          <p:cNvSpPr txBox="1"/>
          <p:nvPr/>
        </p:nvSpPr>
        <p:spPr>
          <a:xfrm>
            <a:off x="2903435" y="4492952"/>
            <a:ext cx="319826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ĐẠI HỌC QUỐC GIA THÀNH PHỐ HỒ CHÍ MINH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 i="0" u="none" strike="noStrike" cap="non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TRƯỜNG ĐẠI HỌC BÁCH KHOA</a:t>
            </a:r>
            <a:endParaRPr sz="900" b="1" i="0" u="none" strike="noStrike" cap="none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" name="Google Shape;1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83448" y="166398"/>
            <a:ext cx="760916" cy="6918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84564" y="275911"/>
            <a:ext cx="1430753" cy="50786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2"/>
          <p:cNvSpPr/>
          <p:nvPr/>
        </p:nvSpPr>
        <p:spPr>
          <a:xfrm>
            <a:off x="0" y="1815704"/>
            <a:ext cx="1042988" cy="7739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" name="Google Shape;21;p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1_One column tex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1782650" y="711700"/>
            <a:ext cx="2893200" cy="90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ubTitle" idx="1"/>
          </p:nvPr>
        </p:nvSpPr>
        <p:spPr>
          <a:xfrm>
            <a:off x="1782650" y="1616297"/>
            <a:ext cx="2893200" cy="28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>
            <a:spLocks noGrp="1"/>
          </p:cNvSpPr>
          <p:nvPr>
            <p:ph type="pic" idx="2"/>
          </p:nvPr>
        </p:nvSpPr>
        <p:spPr>
          <a:xfrm>
            <a:off x="4752038" y="824113"/>
            <a:ext cx="2787000" cy="3558300"/>
          </a:xfrm>
          <a:prstGeom prst="rect">
            <a:avLst/>
          </a:prstGeom>
          <a:noFill/>
          <a:ln>
            <a:noFill/>
          </a:ln>
        </p:spPr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title" idx="2"/>
          </p:nvPr>
        </p:nvSpPr>
        <p:spPr>
          <a:xfrm>
            <a:off x="3177356" y="1199529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title" idx="3"/>
          </p:nvPr>
        </p:nvSpPr>
        <p:spPr>
          <a:xfrm>
            <a:off x="3177356" y="2902621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title" idx="4"/>
          </p:nvPr>
        </p:nvSpPr>
        <p:spPr>
          <a:xfrm>
            <a:off x="3177356" y="1767226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title" idx="5"/>
          </p:nvPr>
        </p:nvSpPr>
        <p:spPr>
          <a:xfrm>
            <a:off x="3177356" y="3470319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title" idx="6"/>
          </p:nvPr>
        </p:nvSpPr>
        <p:spPr>
          <a:xfrm>
            <a:off x="3177356" y="2334924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title" idx="7"/>
          </p:nvPr>
        </p:nvSpPr>
        <p:spPr>
          <a:xfrm>
            <a:off x="3177356" y="4038016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subTitle" idx="1"/>
          </p:nvPr>
        </p:nvSpPr>
        <p:spPr>
          <a:xfrm>
            <a:off x="4010944" y="1201329"/>
            <a:ext cx="2717700" cy="4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subTitle" idx="8"/>
          </p:nvPr>
        </p:nvSpPr>
        <p:spPr>
          <a:xfrm>
            <a:off x="4010944" y="1769028"/>
            <a:ext cx="2717700" cy="4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7" name="Google Shape;37;p4"/>
          <p:cNvSpPr txBox="1">
            <a:spLocks noGrp="1"/>
          </p:cNvSpPr>
          <p:nvPr>
            <p:ph type="subTitle" idx="9"/>
          </p:nvPr>
        </p:nvSpPr>
        <p:spPr>
          <a:xfrm>
            <a:off x="4010944" y="2336727"/>
            <a:ext cx="2717700" cy="4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8" name="Google Shape;38;p4"/>
          <p:cNvSpPr txBox="1">
            <a:spLocks noGrp="1"/>
          </p:cNvSpPr>
          <p:nvPr>
            <p:ph type="subTitle" idx="13"/>
          </p:nvPr>
        </p:nvSpPr>
        <p:spPr>
          <a:xfrm>
            <a:off x="4010941" y="2904427"/>
            <a:ext cx="2717700" cy="4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9" name="Google Shape;39;p4"/>
          <p:cNvSpPr txBox="1">
            <a:spLocks noGrp="1"/>
          </p:cNvSpPr>
          <p:nvPr>
            <p:ph type="subTitle" idx="14"/>
          </p:nvPr>
        </p:nvSpPr>
        <p:spPr>
          <a:xfrm>
            <a:off x="4010941" y="3472126"/>
            <a:ext cx="2717700" cy="4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0" name="Google Shape;40;p4"/>
          <p:cNvSpPr txBox="1">
            <a:spLocks noGrp="1"/>
          </p:cNvSpPr>
          <p:nvPr>
            <p:ph type="subTitle" idx="15"/>
          </p:nvPr>
        </p:nvSpPr>
        <p:spPr>
          <a:xfrm>
            <a:off x="4010941" y="4039825"/>
            <a:ext cx="2717700" cy="4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1" name="Google Shape;41;p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"/>
          <p:cNvSpPr txBox="1">
            <a:spLocks noGrp="1"/>
          </p:cNvSpPr>
          <p:nvPr>
            <p:ph type="title"/>
          </p:nvPr>
        </p:nvSpPr>
        <p:spPr>
          <a:xfrm>
            <a:off x="1136800" y="2325725"/>
            <a:ext cx="3653400" cy="98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  <a:defRPr sz="34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title" idx="2"/>
          </p:nvPr>
        </p:nvSpPr>
        <p:spPr>
          <a:xfrm>
            <a:off x="4790350" y="2279800"/>
            <a:ext cx="1343100" cy="9894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Raleway ExtraBold"/>
              <a:buNone/>
              <a:defRPr sz="49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ubTitle" idx="1"/>
          </p:nvPr>
        </p:nvSpPr>
        <p:spPr>
          <a:xfrm>
            <a:off x="4861824" y="2438075"/>
            <a:ext cx="2610900" cy="14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subTitle" idx="2"/>
          </p:nvPr>
        </p:nvSpPr>
        <p:spPr>
          <a:xfrm>
            <a:off x="1671269" y="2438075"/>
            <a:ext cx="2610900" cy="14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subTitle" idx="3"/>
          </p:nvPr>
        </p:nvSpPr>
        <p:spPr>
          <a:xfrm>
            <a:off x="1671269" y="2041650"/>
            <a:ext cx="2610900" cy="4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subTitle" idx="4"/>
          </p:nvPr>
        </p:nvSpPr>
        <p:spPr>
          <a:xfrm>
            <a:off x="4861831" y="2041650"/>
            <a:ext cx="2610900" cy="4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52" name="Google Shape;52;p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Slide">
  <p:cSld name="2_Title Slid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"/>
          <p:cNvSpPr txBox="1">
            <a:spLocks noGrp="1"/>
          </p:cNvSpPr>
          <p:nvPr>
            <p:ph type="ctrTitle"/>
          </p:nvPr>
        </p:nvSpPr>
        <p:spPr>
          <a:xfrm>
            <a:off x="1143000" y="1538243"/>
            <a:ext cx="6858000" cy="1094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375"/>
              <a:buFont typeface="Calibri"/>
              <a:buNone/>
              <a:defRPr sz="337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025"/>
              <a:buNone/>
              <a:defRPr sz="1350"/>
            </a:lvl1pPr>
            <a:lvl2pPr lvl="1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688"/>
              <a:buNone/>
              <a:defRPr sz="1125"/>
            </a:lvl2pPr>
            <a:lvl3pPr lvl="2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None/>
              <a:defRPr sz="1013"/>
            </a:lvl3pPr>
            <a:lvl4pPr lvl="3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/>
            </a:lvl4pPr>
            <a:lvl5pPr lvl="4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/>
            </a:lvl5pPr>
            <a:lvl6pPr lvl="5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lvl="6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lvl="7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lvl="8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6" name="Google Shape;56;p7"/>
          <p:cNvSpPr txBox="1"/>
          <p:nvPr/>
        </p:nvSpPr>
        <p:spPr>
          <a:xfrm>
            <a:off x="2903435" y="4492952"/>
            <a:ext cx="319826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NATIONAL UNIVERSITY OF HO CHI MINH CITY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UNIVERSITY OF TECHNOLOGY</a:t>
            </a:r>
            <a:endParaRPr sz="900" b="1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7" name="Google Shape;57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09435" y="100723"/>
            <a:ext cx="760916" cy="691806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73406" y="1"/>
            <a:ext cx="1736028" cy="851299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29"/>
            <a:ext cx="9144230" cy="5143372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8"/>
          <p:cNvSpPr txBox="1">
            <a:spLocks noGrp="1"/>
          </p:cNvSpPr>
          <p:nvPr>
            <p:ph type="ctrTitle"/>
          </p:nvPr>
        </p:nvSpPr>
        <p:spPr>
          <a:xfrm>
            <a:off x="1143000" y="1538243"/>
            <a:ext cx="6858000" cy="1094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75"/>
              <a:buFont typeface="Calibri"/>
              <a:buNone/>
              <a:defRPr sz="3375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025"/>
              <a:buNone/>
              <a:defRPr sz="1350">
                <a:solidFill>
                  <a:schemeClr val="accent4"/>
                </a:solidFill>
              </a:defRPr>
            </a:lvl1pPr>
            <a:lvl2pPr lvl="1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688"/>
              <a:buNone/>
              <a:defRPr sz="1125"/>
            </a:lvl2pPr>
            <a:lvl3pPr lvl="2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None/>
              <a:defRPr sz="1013"/>
            </a:lvl3pPr>
            <a:lvl4pPr lvl="3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/>
            </a:lvl4pPr>
            <a:lvl5pPr lvl="4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/>
            </a:lvl5pPr>
            <a:lvl6pPr lvl="5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lvl="6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lvl="7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lvl="8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4" name="Google Shape;64;p8"/>
          <p:cNvSpPr txBox="1"/>
          <p:nvPr/>
        </p:nvSpPr>
        <p:spPr>
          <a:xfrm>
            <a:off x="2903435" y="4492952"/>
            <a:ext cx="319826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ĐẠI HỌC QUỐC GIA THÀNH PHỐ HỒ CHÍ MINH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TRƯỜNG ĐẠI HỌC BÁCH KHOA</a:t>
            </a:r>
            <a:endParaRPr sz="9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Slide">
  <p:cSld name="3_Title Slid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29"/>
            <a:ext cx="9144230" cy="5143372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9"/>
          <p:cNvSpPr txBox="1">
            <a:spLocks noGrp="1"/>
          </p:cNvSpPr>
          <p:nvPr>
            <p:ph type="ctrTitle"/>
          </p:nvPr>
        </p:nvSpPr>
        <p:spPr>
          <a:xfrm>
            <a:off x="1143000" y="1538243"/>
            <a:ext cx="6858000" cy="1094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75"/>
              <a:buFont typeface="Calibri"/>
              <a:buNone/>
              <a:defRPr sz="3375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025"/>
              <a:buNone/>
              <a:defRPr sz="1350">
                <a:solidFill>
                  <a:schemeClr val="accent4"/>
                </a:solidFill>
              </a:defRPr>
            </a:lvl1pPr>
            <a:lvl2pPr lvl="1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688"/>
              <a:buNone/>
              <a:defRPr sz="1125"/>
            </a:lvl2pPr>
            <a:lvl3pPr lvl="2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None/>
              <a:defRPr sz="1013"/>
            </a:lvl3pPr>
            <a:lvl4pPr lvl="3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/>
            </a:lvl4pPr>
            <a:lvl5pPr lvl="4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/>
            </a:lvl5pPr>
            <a:lvl6pPr lvl="5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lvl="6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lvl="7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lvl="8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0" name="Google Shape;70;p9"/>
          <p:cNvSpPr txBox="1"/>
          <p:nvPr/>
        </p:nvSpPr>
        <p:spPr>
          <a:xfrm>
            <a:off x="2903435" y="4492952"/>
            <a:ext cx="319826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rPr>
              <a:t>NATIONAL UNIVERSITY OF HO CHI MINH CITY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UNIVERSITY OF TECHNOLOGY</a:t>
            </a:r>
            <a:endParaRPr/>
          </a:p>
        </p:txBody>
      </p:sp>
      <p:sp>
        <p:nvSpPr>
          <p:cNvPr id="71" name="Google Shape;71;p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0"/>
          <p:cNvSpPr txBox="1">
            <a:spLocks noGrp="1"/>
          </p:cNvSpPr>
          <p:nvPr>
            <p:ph type="title"/>
          </p:nvPr>
        </p:nvSpPr>
        <p:spPr>
          <a:xfrm>
            <a:off x="628650" y="181115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0"/>
          <p:cNvSpPr txBox="1">
            <a:spLocks noGrp="1"/>
          </p:cNvSpPr>
          <p:nvPr>
            <p:ph type="body" idx="1"/>
          </p:nvPr>
        </p:nvSpPr>
        <p:spPr>
          <a:xfrm>
            <a:off x="628650" y="1339522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005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700"/>
              <a:buChar char="•"/>
              <a:defRPr/>
            </a:lvl1pPr>
            <a:lvl2pPr marL="914400" lvl="1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2pPr>
            <a:lvl3pPr marL="1371600" lvl="2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3pPr>
            <a:lvl4pPr marL="1828800" lvl="3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4pPr>
            <a:lvl5pPr marL="2286000" lvl="4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0"/>
          <p:cNvSpPr txBox="1">
            <a:spLocks noGrp="1"/>
          </p:cNvSpPr>
          <p:nvPr>
            <p:ph type="dt" idx="10"/>
          </p:nvPr>
        </p:nvSpPr>
        <p:spPr>
          <a:xfrm>
            <a:off x="628650" y="477238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10"/>
          <p:cNvSpPr txBox="1">
            <a:spLocks noGrp="1"/>
          </p:cNvSpPr>
          <p:nvPr>
            <p:ph type="sldNum" idx="12"/>
          </p:nvPr>
        </p:nvSpPr>
        <p:spPr>
          <a:xfrm>
            <a:off x="6457950" y="4777498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1"/>
          <p:cNvSpPr txBox="1">
            <a:spLocks noGrp="1"/>
          </p:cNvSpPr>
          <p:nvPr>
            <p:ph type="title"/>
          </p:nvPr>
        </p:nvSpPr>
        <p:spPr>
          <a:xfrm>
            <a:off x="628650" y="1675312"/>
            <a:ext cx="7886700" cy="1207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375"/>
              <a:buFont typeface="Calibri"/>
              <a:buNone/>
              <a:defRPr sz="337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body" idx="1"/>
          </p:nvPr>
        </p:nvSpPr>
        <p:spPr>
          <a:xfrm>
            <a:off x="628650" y="3025719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025"/>
              <a:buNone/>
              <a:defRPr sz="135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688"/>
              <a:buNone/>
              <a:defRPr sz="1125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None/>
              <a:defRPr sz="1013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80" name="Google Shape;80;p11"/>
          <p:cNvSpPr txBox="1">
            <a:spLocks noGrp="1"/>
          </p:cNvSpPr>
          <p:nvPr>
            <p:ph type="dt" idx="10"/>
          </p:nvPr>
        </p:nvSpPr>
        <p:spPr>
          <a:xfrm>
            <a:off x="628650" y="477238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p11"/>
          <p:cNvSpPr txBox="1">
            <a:spLocks noGrp="1"/>
          </p:cNvSpPr>
          <p:nvPr>
            <p:ph type="ftr" idx="11"/>
          </p:nvPr>
        </p:nvSpPr>
        <p:spPr>
          <a:xfrm>
            <a:off x="3028950" y="4777498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11"/>
          <p:cNvSpPr txBox="1">
            <a:spLocks noGrp="1"/>
          </p:cNvSpPr>
          <p:nvPr>
            <p:ph type="sldNum" idx="12"/>
          </p:nvPr>
        </p:nvSpPr>
        <p:spPr>
          <a:xfrm>
            <a:off x="6457950" y="4777498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Section Header">
  <p:cSld name="1_Section Head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2"/>
          <p:cNvSpPr txBox="1">
            <a:spLocks noGrp="1"/>
          </p:cNvSpPr>
          <p:nvPr>
            <p:ph type="title"/>
          </p:nvPr>
        </p:nvSpPr>
        <p:spPr>
          <a:xfrm>
            <a:off x="628650" y="1675312"/>
            <a:ext cx="7886700" cy="12077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75"/>
              <a:buFont typeface="Calibri"/>
              <a:buNone/>
              <a:defRPr sz="3375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2"/>
          <p:cNvSpPr txBox="1">
            <a:spLocks noGrp="1"/>
          </p:cNvSpPr>
          <p:nvPr>
            <p:ph type="body" idx="1"/>
          </p:nvPr>
        </p:nvSpPr>
        <p:spPr>
          <a:xfrm>
            <a:off x="628650" y="3025719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025"/>
              <a:buNone/>
              <a:defRPr sz="1350">
                <a:solidFill>
                  <a:srgbClr val="FFC000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688"/>
              <a:buNone/>
              <a:defRPr sz="1125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None/>
              <a:defRPr sz="1013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86" name="Google Shape;86;p12"/>
          <p:cNvSpPr txBox="1">
            <a:spLocks noGrp="1"/>
          </p:cNvSpPr>
          <p:nvPr>
            <p:ph type="dt" idx="10"/>
          </p:nvPr>
        </p:nvSpPr>
        <p:spPr>
          <a:xfrm>
            <a:off x="628650" y="477238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7" name="Google Shape;87;p12"/>
          <p:cNvSpPr txBox="1">
            <a:spLocks noGrp="1"/>
          </p:cNvSpPr>
          <p:nvPr>
            <p:ph type="ftr" idx="11"/>
          </p:nvPr>
        </p:nvSpPr>
        <p:spPr>
          <a:xfrm>
            <a:off x="3028950" y="4777498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8" name="Google Shape;88;p12"/>
          <p:cNvSpPr txBox="1">
            <a:spLocks noGrp="1"/>
          </p:cNvSpPr>
          <p:nvPr>
            <p:ph type="sldNum" idx="12"/>
          </p:nvPr>
        </p:nvSpPr>
        <p:spPr>
          <a:xfrm>
            <a:off x="6457950" y="4777498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>
            <a:spLocks noGrp="1"/>
          </p:cNvSpPr>
          <p:nvPr>
            <p:ph type="title"/>
          </p:nvPr>
        </p:nvSpPr>
        <p:spPr>
          <a:xfrm>
            <a:off x="628650" y="181115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body" idx="1"/>
          </p:nvPr>
        </p:nvSpPr>
        <p:spPr>
          <a:xfrm>
            <a:off x="628650" y="1369218"/>
            <a:ext cx="3608615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005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700"/>
              <a:buChar char="•"/>
              <a:defRPr/>
            </a:lvl1pPr>
            <a:lvl2pPr marL="914400" lvl="1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2pPr>
            <a:lvl3pPr marL="1371600" lvl="2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3pPr>
            <a:lvl4pPr marL="1828800" lvl="3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4pPr>
            <a:lvl5pPr marL="2286000" lvl="4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2" name="Google Shape;92;p13"/>
          <p:cNvSpPr txBox="1">
            <a:spLocks noGrp="1"/>
          </p:cNvSpPr>
          <p:nvPr>
            <p:ph type="body" idx="2"/>
          </p:nvPr>
        </p:nvSpPr>
        <p:spPr>
          <a:xfrm>
            <a:off x="4913268" y="1369218"/>
            <a:ext cx="3602083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005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700"/>
              <a:buChar char="•"/>
              <a:defRPr/>
            </a:lvl1pPr>
            <a:lvl2pPr marL="914400" lvl="1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2pPr>
            <a:lvl3pPr marL="1371600" lvl="2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3pPr>
            <a:lvl4pPr marL="1828800" lvl="3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4pPr>
            <a:lvl5pPr marL="2286000" lvl="4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13"/>
          <p:cNvSpPr txBox="1">
            <a:spLocks noGrp="1"/>
          </p:cNvSpPr>
          <p:nvPr>
            <p:ph type="dt" idx="10"/>
          </p:nvPr>
        </p:nvSpPr>
        <p:spPr>
          <a:xfrm>
            <a:off x="628650" y="477238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4" name="Google Shape;94;p13"/>
          <p:cNvSpPr txBox="1">
            <a:spLocks noGrp="1"/>
          </p:cNvSpPr>
          <p:nvPr>
            <p:ph type="ftr" idx="11"/>
          </p:nvPr>
        </p:nvSpPr>
        <p:spPr>
          <a:xfrm>
            <a:off x="3028950" y="4777498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5" name="Google Shape;95;p13"/>
          <p:cNvSpPr txBox="1">
            <a:spLocks noGrp="1"/>
          </p:cNvSpPr>
          <p:nvPr>
            <p:ph type="sldNum" idx="12"/>
          </p:nvPr>
        </p:nvSpPr>
        <p:spPr>
          <a:xfrm>
            <a:off x="6457950" y="4777498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96" name="Google Shape;96;p13"/>
          <p:cNvCxnSpPr/>
          <p:nvPr/>
        </p:nvCxnSpPr>
        <p:spPr>
          <a:xfrm>
            <a:off x="4585059" y="1369218"/>
            <a:ext cx="0" cy="3166859"/>
          </a:xfrm>
          <a:prstGeom prst="straightConnector1">
            <a:avLst/>
          </a:prstGeom>
          <a:noFill/>
          <a:ln w="19050" cap="flat" cmpd="sng">
            <a:solidFill>
              <a:srgbClr val="F6F9FC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>
            <a:spLocks noGrp="1"/>
          </p:cNvSpPr>
          <p:nvPr>
            <p:ph type="body" idx="1"/>
          </p:nvPr>
        </p:nvSpPr>
        <p:spPr>
          <a:xfrm>
            <a:off x="629842" y="408216"/>
            <a:ext cx="3607424" cy="587828"/>
          </a:xfrm>
          <a:prstGeom prst="rect">
            <a:avLst/>
          </a:prstGeom>
          <a:solidFill>
            <a:srgbClr val="1E4E79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025"/>
              <a:buNone/>
              <a:defRPr sz="1350"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688"/>
              <a:buNone/>
              <a:defRPr sz="1125" b="1"/>
            </a:lvl2pPr>
            <a:lvl3pPr marL="1371600" lvl="2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None/>
              <a:defRPr sz="1013" b="1"/>
            </a:lvl3pPr>
            <a:lvl4pPr marL="1828800" lvl="3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 b="1"/>
            </a:lvl4pPr>
            <a:lvl5pPr marL="2286000" lvl="4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 b="1"/>
            </a:lvl5pPr>
            <a:lvl6pPr marL="2743200" lvl="5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b="1"/>
            </a:lvl6pPr>
            <a:lvl7pPr marL="3200400" lvl="6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b="1"/>
            </a:lvl7pPr>
            <a:lvl8pPr marL="3657600" lvl="7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b="1"/>
            </a:lvl8pPr>
            <a:lvl9pPr marL="4114800" lvl="8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b="1"/>
            </a:lvl9pPr>
          </a:lstStyle>
          <a:p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body" idx="2"/>
          </p:nvPr>
        </p:nvSpPr>
        <p:spPr>
          <a:xfrm>
            <a:off x="629842" y="1216478"/>
            <a:ext cx="3607424" cy="3425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005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700"/>
              <a:buChar char="•"/>
              <a:defRPr/>
            </a:lvl1pPr>
            <a:lvl2pPr marL="914400" lvl="1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2pPr>
            <a:lvl3pPr marL="1371600" lvl="2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3pPr>
            <a:lvl4pPr marL="1828800" lvl="3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4pPr>
            <a:lvl5pPr marL="2286000" lvl="4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0" name="Google Shape;100;p14"/>
          <p:cNvSpPr txBox="1">
            <a:spLocks noGrp="1"/>
          </p:cNvSpPr>
          <p:nvPr>
            <p:ph type="body" idx="3"/>
          </p:nvPr>
        </p:nvSpPr>
        <p:spPr>
          <a:xfrm>
            <a:off x="4950823" y="408214"/>
            <a:ext cx="3598376" cy="587829"/>
          </a:xfrm>
          <a:prstGeom prst="rect">
            <a:avLst/>
          </a:prstGeom>
          <a:solidFill>
            <a:srgbClr val="1E4E79"/>
          </a:solidFill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025"/>
              <a:buNone/>
              <a:defRPr sz="1350"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688"/>
              <a:buNone/>
              <a:defRPr sz="1125" b="1"/>
            </a:lvl2pPr>
            <a:lvl3pPr marL="1371600" lvl="2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None/>
              <a:defRPr sz="1013" b="1"/>
            </a:lvl3pPr>
            <a:lvl4pPr marL="1828800" lvl="3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 b="1"/>
            </a:lvl4pPr>
            <a:lvl5pPr marL="2286000" lvl="4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350"/>
              <a:buNone/>
              <a:defRPr sz="900" b="1"/>
            </a:lvl5pPr>
            <a:lvl6pPr marL="2743200" lvl="5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b="1"/>
            </a:lvl6pPr>
            <a:lvl7pPr marL="3200400" lvl="6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b="1"/>
            </a:lvl7pPr>
            <a:lvl8pPr marL="3657600" lvl="7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b="1"/>
            </a:lvl8pPr>
            <a:lvl9pPr marL="4114800" lvl="8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b="1"/>
            </a:lvl9pPr>
          </a:lstStyle>
          <a:p>
            <a:endParaRPr/>
          </a:p>
        </p:txBody>
      </p:sp>
      <p:sp>
        <p:nvSpPr>
          <p:cNvPr id="101" name="Google Shape;101;p14"/>
          <p:cNvSpPr txBox="1">
            <a:spLocks noGrp="1"/>
          </p:cNvSpPr>
          <p:nvPr>
            <p:ph type="body" idx="4"/>
          </p:nvPr>
        </p:nvSpPr>
        <p:spPr>
          <a:xfrm>
            <a:off x="4918165" y="1216478"/>
            <a:ext cx="3598376" cy="3425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005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700"/>
              <a:buChar char="•"/>
              <a:defRPr/>
            </a:lvl1pPr>
            <a:lvl2pPr marL="914400" lvl="1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2pPr>
            <a:lvl3pPr marL="1371600" lvl="2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3pPr>
            <a:lvl4pPr marL="1828800" lvl="3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4pPr>
            <a:lvl5pPr marL="2286000" lvl="4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2" name="Google Shape;102;p14"/>
          <p:cNvSpPr txBox="1">
            <a:spLocks noGrp="1"/>
          </p:cNvSpPr>
          <p:nvPr>
            <p:ph type="dt" idx="10"/>
          </p:nvPr>
        </p:nvSpPr>
        <p:spPr>
          <a:xfrm>
            <a:off x="628650" y="477238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3" name="Google Shape;103;p14"/>
          <p:cNvSpPr txBox="1">
            <a:spLocks noGrp="1"/>
          </p:cNvSpPr>
          <p:nvPr>
            <p:ph type="ftr" idx="11"/>
          </p:nvPr>
        </p:nvSpPr>
        <p:spPr>
          <a:xfrm>
            <a:off x="3028950" y="4777498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" name="Google Shape;104;p14"/>
          <p:cNvSpPr txBox="1">
            <a:spLocks noGrp="1"/>
          </p:cNvSpPr>
          <p:nvPr>
            <p:ph type="sldNum" idx="12"/>
          </p:nvPr>
        </p:nvSpPr>
        <p:spPr>
          <a:xfrm>
            <a:off x="6457950" y="4777498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05" name="Google Shape;105;p14"/>
          <p:cNvCxnSpPr/>
          <p:nvPr/>
        </p:nvCxnSpPr>
        <p:spPr>
          <a:xfrm>
            <a:off x="4585059" y="408216"/>
            <a:ext cx="0" cy="4127863"/>
          </a:xfrm>
          <a:prstGeom prst="straightConnector1">
            <a:avLst/>
          </a:prstGeom>
          <a:noFill/>
          <a:ln w="19050" cap="flat" cmpd="sng">
            <a:solidFill>
              <a:srgbClr val="F6F9FC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>
            <a:spLocks noGrp="1"/>
          </p:cNvSpPr>
          <p:nvPr>
            <p:ph type="title"/>
          </p:nvPr>
        </p:nvSpPr>
        <p:spPr>
          <a:xfrm>
            <a:off x="628650" y="181115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5"/>
          <p:cNvSpPr txBox="1">
            <a:spLocks noGrp="1"/>
          </p:cNvSpPr>
          <p:nvPr>
            <p:ph type="dt" idx="10"/>
          </p:nvPr>
        </p:nvSpPr>
        <p:spPr>
          <a:xfrm>
            <a:off x="628650" y="477238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9" name="Google Shape;109;p15"/>
          <p:cNvSpPr txBox="1">
            <a:spLocks noGrp="1"/>
          </p:cNvSpPr>
          <p:nvPr>
            <p:ph type="ftr" idx="11"/>
          </p:nvPr>
        </p:nvSpPr>
        <p:spPr>
          <a:xfrm>
            <a:off x="3028950" y="4777498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0" name="Google Shape;110;p15"/>
          <p:cNvSpPr txBox="1">
            <a:spLocks noGrp="1"/>
          </p:cNvSpPr>
          <p:nvPr>
            <p:ph type="sldNum" idx="12"/>
          </p:nvPr>
        </p:nvSpPr>
        <p:spPr>
          <a:xfrm>
            <a:off x="6457950" y="4777498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/>
          <p:cNvSpPr txBox="1">
            <a:spLocks noGrp="1"/>
          </p:cNvSpPr>
          <p:nvPr>
            <p:ph type="dt" idx="10"/>
          </p:nvPr>
        </p:nvSpPr>
        <p:spPr>
          <a:xfrm>
            <a:off x="628650" y="477238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3" name="Google Shape;113;p16"/>
          <p:cNvSpPr txBox="1">
            <a:spLocks noGrp="1"/>
          </p:cNvSpPr>
          <p:nvPr>
            <p:ph type="ftr" idx="11"/>
          </p:nvPr>
        </p:nvSpPr>
        <p:spPr>
          <a:xfrm>
            <a:off x="3028950" y="4777498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4" name="Google Shape;114;p16"/>
          <p:cNvSpPr txBox="1">
            <a:spLocks noGrp="1"/>
          </p:cNvSpPr>
          <p:nvPr>
            <p:ph type="sldNum" idx="12"/>
          </p:nvPr>
        </p:nvSpPr>
        <p:spPr>
          <a:xfrm>
            <a:off x="6457950" y="4777498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bg>
      <p:bgPr>
        <a:solidFill>
          <a:schemeClr val="lt1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 txBox="1">
            <a:spLocks noGrp="1"/>
          </p:cNvSpPr>
          <p:nvPr>
            <p:ph type="dt" idx="10"/>
          </p:nvPr>
        </p:nvSpPr>
        <p:spPr>
          <a:xfrm>
            <a:off x="628650" y="477238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7" name="Google Shape;117;p17"/>
          <p:cNvSpPr txBox="1">
            <a:spLocks noGrp="1"/>
          </p:cNvSpPr>
          <p:nvPr>
            <p:ph type="ftr" idx="11"/>
          </p:nvPr>
        </p:nvSpPr>
        <p:spPr>
          <a:xfrm>
            <a:off x="3028950" y="4777498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8" name="Google Shape;118;p17"/>
          <p:cNvSpPr txBox="1">
            <a:spLocks noGrp="1"/>
          </p:cNvSpPr>
          <p:nvPr>
            <p:ph type="sldNum" idx="12"/>
          </p:nvPr>
        </p:nvSpPr>
        <p:spPr>
          <a:xfrm>
            <a:off x="6457950" y="4777498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>
  <p:cSld name="Content with Caption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8"/>
          <p:cNvSpPr txBox="1">
            <a:spLocks noGrp="1"/>
          </p:cNvSpPr>
          <p:nvPr>
            <p:ph type="body" idx="1"/>
          </p:nvPr>
        </p:nvSpPr>
        <p:spPr>
          <a:xfrm>
            <a:off x="3887391" y="0"/>
            <a:ext cx="5256609" cy="51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005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700"/>
              <a:buChar char="•"/>
              <a:defRPr sz="1800"/>
            </a:lvl1pPr>
            <a:lvl2pPr marL="914400" lvl="1" indent="-37861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363"/>
              <a:buChar char="•"/>
              <a:defRPr sz="1575"/>
            </a:lvl2pPr>
            <a:lvl3pPr marL="1371600" lvl="2" indent="-357187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025"/>
              <a:buChar char="•"/>
              <a:defRPr sz="1350"/>
            </a:lvl3pPr>
            <a:lvl4pPr marL="1828800" lvl="3" indent="-335756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688"/>
              <a:buChar char="•"/>
              <a:defRPr sz="1125"/>
            </a:lvl4pPr>
            <a:lvl5pPr marL="2286000" lvl="4" indent="-335756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688"/>
              <a:buChar char="•"/>
              <a:defRPr sz="1125"/>
            </a:lvl5pPr>
            <a:lvl6pPr marL="2743200" lvl="5" indent="-300037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6pPr>
            <a:lvl7pPr marL="3200400" lvl="6" indent="-300037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7pPr>
            <a:lvl8pPr marL="3657600" lvl="7" indent="-300037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8pPr>
            <a:lvl9pPr marL="4114800" lvl="8" indent="-300037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9pPr>
          </a:lstStyle>
          <a:p>
            <a:endParaRPr/>
          </a:p>
        </p:txBody>
      </p:sp>
      <p:sp>
        <p:nvSpPr>
          <p:cNvPr id="121" name="Google Shape;121;p18"/>
          <p:cNvSpPr txBox="1">
            <a:spLocks noGrp="1"/>
          </p:cNvSpPr>
          <p:nvPr>
            <p:ph type="dt" idx="10"/>
          </p:nvPr>
        </p:nvSpPr>
        <p:spPr>
          <a:xfrm>
            <a:off x="628650" y="477238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2" name="Google Shape;122;p18"/>
          <p:cNvSpPr txBox="1">
            <a:spLocks noGrp="1"/>
          </p:cNvSpPr>
          <p:nvPr>
            <p:ph type="title"/>
          </p:nvPr>
        </p:nvSpPr>
        <p:spPr>
          <a:xfrm>
            <a:off x="629841" y="342901"/>
            <a:ext cx="2949178" cy="916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1800"/>
              <a:buFont typeface="Calibri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18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350"/>
              <a:buNone/>
              <a:defRPr sz="900"/>
            </a:lvl1pPr>
            <a:lvl2pPr marL="914400" lvl="1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182"/>
              <a:buNone/>
              <a:defRPr sz="788"/>
            </a:lvl2pPr>
            <a:lvl3pPr marL="1371600" lvl="2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013"/>
              <a:buNone/>
              <a:defRPr sz="675"/>
            </a:lvl3pPr>
            <a:lvl4pPr marL="1828800" lvl="3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845"/>
              <a:buNone/>
              <a:defRPr sz="563"/>
            </a:lvl4pPr>
            <a:lvl5pPr marL="2286000" lvl="4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845"/>
              <a:buNone/>
              <a:defRPr sz="563"/>
            </a:lvl5pPr>
            <a:lvl6pPr marL="2743200" lvl="5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6pPr>
            <a:lvl7pPr marL="3200400" lvl="6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7pPr>
            <a:lvl8pPr marL="3657600" lvl="7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8pPr>
            <a:lvl9pPr marL="4114800" lvl="8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9pPr>
          </a:lstStyle>
          <a:p>
            <a:endParaRPr/>
          </a:p>
        </p:txBody>
      </p:sp>
      <p:cxnSp>
        <p:nvCxnSpPr>
          <p:cNvPr id="124" name="Google Shape;124;p18"/>
          <p:cNvCxnSpPr/>
          <p:nvPr/>
        </p:nvCxnSpPr>
        <p:spPr>
          <a:xfrm>
            <a:off x="628651" y="1410867"/>
            <a:ext cx="2950369" cy="0"/>
          </a:xfrm>
          <a:prstGeom prst="straightConnector1">
            <a:avLst/>
          </a:prstGeom>
          <a:noFill/>
          <a:ln w="9525" cap="flat" cmpd="sng">
            <a:solidFill>
              <a:srgbClr val="637D9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25" name="Google Shape;125;p1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9"/>
          <p:cNvSpPr txBox="1">
            <a:spLocks noGrp="1"/>
          </p:cNvSpPr>
          <p:nvPr>
            <p:ph type="title"/>
          </p:nvPr>
        </p:nvSpPr>
        <p:spPr>
          <a:xfrm>
            <a:off x="629841" y="342901"/>
            <a:ext cx="2949178" cy="916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1800"/>
              <a:buFont typeface="Calibri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19"/>
          <p:cNvSpPr>
            <a:spLocks noGrp="1"/>
          </p:cNvSpPr>
          <p:nvPr>
            <p:ph type="pic" idx="2"/>
          </p:nvPr>
        </p:nvSpPr>
        <p:spPr>
          <a:xfrm>
            <a:off x="3921920" y="0"/>
            <a:ext cx="5222081" cy="5143500"/>
          </a:xfrm>
          <a:prstGeom prst="rect">
            <a:avLst/>
          </a:prstGeom>
          <a:solidFill>
            <a:srgbClr val="1F3864"/>
          </a:solidFill>
          <a:ln w="9525" cap="flat" cmpd="sng">
            <a:solidFill>
              <a:srgbClr val="3F3F3F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9" name="Google Shape;129;p19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350"/>
              <a:buNone/>
              <a:defRPr sz="900"/>
            </a:lvl1pPr>
            <a:lvl2pPr marL="914400" lvl="1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182"/>
              <a:buNone/>
              <a:defRPr sz="788"/>
            </a:lvl2pPr>
            <a:lvl3pPr marL="1371600" lvl="2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013"/>
              <a:buNone/>
              <a:defRPr sz="675"/>
            </a:lvl3pPr>
            <a:lvl4pPr marL="1828800" lvl="3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845"/>
              <a:buNone/>
              <a:defRPr sz="563"/>
            </a:lvl4pPr>
            <a:lvl5pPr marL="2286000" lvl="4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845"/>
              <a:buNone/>
              <a:defRPr sz="563"/>
            </a:lvl5pPr>
            <a:lvl6pPr marL="2743200" lvl="5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6pPr>
            <a:lvl7pPr marL="3200400" lvl="6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7pPr>
            <a:lvl8pPr marL="3657600" lvl="7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8pPr>
            <a:lvl9pPr marL="4114800" lvl="8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9pPr>
          </a:lstStyle>
          <a:p>
            <a:endParaRPr/>
          </a:p>
        </p:txBody>
      </p:sp>
      <p:sp>
        <p:nvSpPr>
          <p:cNvPr id="130" name="Google Shape;130;p19"/>
          <p:cNvSpPr txBox="1">
            <a:spLocks noGrp="1"/>
          </p:cNvSpPr>
          <p:nvPr>
            <p:ph type="dt" idx="10"/>
          </p:nvPr>
        </p:nvSpPr>
        <p:spPr>
          <a:xfrm>
            <a:off x="628650" y="477238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1" name="Google Shape;131;p19"/>
          <p:cNvSpPr txBox="1">
            <a:spLocks noGrp="1"/>
          </p:cNvSpPr>
          <p:nvPr>
            <p:ph type="ftr" idx="11"/>
          </p:nvPr>
        </p:nvSpPr>
        <p:spPr>
          <a:xfrm>
            <a:off x="3028950" y="4777498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2" name="Google Shape;132;p19"/>
          <p:cNvSpPr txBox="1">
            <a:spLocks noGrp="1"/>
          </p:cNvSpPr>
          <p:nvPr>
            <p:ph type="sldNum" idx="12"/>
          </p:nvPr>
        </p:nvSpPr>
        <p:spPr>
          <a:xfrm>
            <a:off x="6457950" y="4777498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33" name="Google Shape;133;p19"/>
          <p:cNvCxnSpPr/>
          <p:nvPr/>
        </p:nvCxnSpPr>
        <p:spPr>
          <a:xfrm>
            <a:off x="628651" y="1410867"/>
            <a:ext cx="2950369" cy="0"/>
          </a:xfrm>
          <a:prstGeom prst="straightConnector1">
            <a:avLst/>
          </a:prstGeom>
          <a:noFill/>
          <a:ln w="9525" cap="flat" cmpd="sng">
            <a:solidFill>
              <a:srgbClr val="637D9C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0"/>
          <p:cNvSpPr txBox="1">
            <a:spLocks noGrp="1"/>
          </p:cNvSpPr>
          <p:nvPr>
            <p:ph type="title"/>
          </p:nvPr>
        </p:nvSpPr>
        <p:spPr>
          <a:xfrm>
            <a:off x="628650" y="181115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2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72076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005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700"/>
              <a:buChar char="•"/>
              <a:defRPr/>
            </a:lvl1pPr>
            <a:lvl2pPr marL="914400" lvl="1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2pPr>
            <a:lvl3pPr marL="1371600" lvl="2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3pPr>
            <a:lvl4pPr marL="1828800" lvl="3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4pPr>
            <a:lvl5pPr marL="2286000" lvl="4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7" name="Google Shape;137;p20"/>
          <p:cNvSpPr txBox="1">
            <a:spLocks noGrp="1"/>
          </p:cNvSpPr>
          <p:nvPr>
            <p:ph type="dt" idx="10"/>
          </p:nvPr>
        </p:nvSpPr>
        <p:spPr>
          <a:xfrm>
            <a:off x="628650" y="477238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8" name="Google Shape;138;p20"/>
          <p:cNvSpPr txBox="1">
            <a:spLocks noGrp="1"/>
          </p:cNvSpPr>
          <p:nvPr>
            <p:ph type="ftr" idx="11"/>
          </p:nvPr>
        </p:nvSpPr>
        <p:spPr>
          <a:xfrm>
            <a:off x="3028950" y="4777498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9" name="Google Shape;139;p20"/>
          <p:cNvSpPr txBox="1">
            <a:spLocks noGrp="1"/>
          </p:cNvSpPr>
          <p:nvPr>
            <p:ph type="sldNum" idx="12"/>
          </p:nvPr>
        </p:nvSpPr>
        <p:spPr>
          <a:xfrm>
            <a:off x="6457950" y="4777498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1"/>
          <p:cNvSpPr txBox="1">
            <a:spLocks noGrp="1"/>
          </p:cNvSpPr>
          <p:nvPr>
            <p:ph type="title"/>
          </p:nvPr>
        </p:nvSpPr>
        <p:spPr>
          <a:xfrm rot="5400000">
            <a:off x="5350074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21"/>
          <p:cNvSpPr txBox="1">
            <a:spLocks noGrp="1"/>
          </p:cNvSpPr>
          <p:nvPr>
            <p:ph type="body" idx="1"/>
          </p:nvPr>
        </p:nvSpPr>
        <p:spPr>
          <a:xfrm rot="5400000">
            <a:off x="1349574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005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700"/>
              <a:buChar char="•"/>
              <a:defRPr/>
            </a:lvl1pPr>
            <a:lvl2pPr marL="914400" lvl="1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2pPr>
            <a:lvl3pPr marL="1371600" lvl="2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3pPr>
            <a:lvl4pPr marL="1828800" lvl="3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4pPr>
            <a:lvl5pPr marL="2286000" lvl="4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3" name="Google Shape;143;p21"/>
          <p:cNvSpPr txBox="1">
            <a:spLocks noGrp="1"/>
          </p:cNvSpPr>
          <p:nvPr>
            <p:ph type="dt" idx="10"/>
          </p:nvPr>
        </p:nvSpPr>
        <p:spPr>
          <a:xfrm>
            <a:off x="628650" y="4772381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4" name="Google Shape;144;p21"/>
          <p:cNvSpPr txBox="1">
            <a:spLocks noGrp="1"/>
          </p:cNvSpPr>
          <p:nvPr>
            <p:ph type="ftr" idx="11"/>
          </p:nvPr>
        </p:nvSpPr>
        <p:spPr>
          <a:xfrm>
            <a:off x="3028950" y="4777498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5" name="Google Shape;145;p21"/>
          <p:cNvSpPr txBox="1">
            <a:spLocks noGrp="1"/>
          </p:cNvSpPr>
          <p:nvPr>
            <p:ph type="sldNum" idx="12"/>
          </p:nvPr>
        </p:nvSpPr>
        <p:spPr>
          <a:xfrm>
            <a:off x="6457950" y="4777498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2"/>
          <p:cNvSpPr>
            <a:spLocks noGrp="1"/>
          </p:cNvSpPr>
          <p:nvPr>
            <p:ph type="pic" idx="2"/>
          </p:nvPr>
        </p:nvSpPr>
        <p:spPr>
          <a:xfrm>
            <a:off x="1204230" y="1143951"/>
            <a:ext cx="2058293" cy="2058293"/>
          </a:xfrm>
          <a:prstGeom prst="ellipse">
            <a:avLst/>
          </a:prstGeom>
          <a:solidFill>
            <a:srgbClr val="50637E"/>
          </a:solidFill>
          <a:ln w="762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p22"/>
          <p:cNvSpPr txBox="1">
            <a:spLocks noGrp="1"/>
          </p:cNvSpPr>
          <p:nvPr>
            <p:ph type="body" idx="1"/>
          </p:nvPr>
        </p:nvSpPr>
        <p:spPr>
          <a:xfrm>
            <a:off x="1381551" y="3650225"/>
            <a:ext cx="1786951" cy="835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520"/>
              <a:buNone/>
              <a:defRPr sz="1013"/>
            </a:lvl1pPr>
            <a:lvl2pPr marL="914400" lvl="1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2pPr>
            <a:lvl3pPr marL="1371600" lvl="2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3pPr>
            <a:lvl4pPr marL="1828800" lvl="3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4pPr>
            <a:lvl5pPr marL="2286000" lvl="4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5pPr>
            <a:lvl6pPr marL="2743200" lvl="5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9" name="Google Shape;149;p22"/>
          <p:cNvSpPr>
            <a:spLocks noGrp="1"/>
          </p:cNvSpPr>
          <p:nvPr>
            <p:ph type="pic" idx="3"/>
          </p:nvPr>
        </p:nvSpPr>
        <p:spPr>
          <a:xfrm>
            <a:off x="3650034" y="1143951"/>
            <a:ext cx="2058293" cy="2058293"/>
          </a:xfrm>
          <a:prstGeom prst="ellipse">
            <a:avLst/>
          </a:prstGeom>
          <a:solidFill>
            <a:srgbClr val="50637E"/>
          </a:solidFill>
          <a:ln w="76200" cap="flat" cmpd="sng">
            <a:solidFill>
              <a:srgbClr val="92D05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0" name="Google Shape;150;p22"/>
          <p:cNvSpPr txBox="1">
            <a:spLocks noGrp="1"/>
          </p:cNvSpPr>
          <p:nvPr>
            <p:ph type="body" idx="4"/>
          </p:nvPr>
        </p:nvSpPr>
        <p:spPr>
          <a:xfrm>
            <a:off x="3785705" y="3650225"/>
            <a:ext cx="1786951" cy="835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520"/>
              <a:buNone/>
              <a:defRPr sz="1013"/>
            </a:lvl1pPr>
            <a:lvl2pPr marL="914400" lvl="1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2pPr>
            <a:lvl3pPr marL="1371600" lvl="2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3pPr>
            <a:lvl4pPr marL="1828800" lvl="3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4pPr>
            <a:lvl5pPr marL="2286000" lvl="4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5pPr>
            <a:lvl6pPr marL="2743200" lvl="5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1" name="Google Shape;151;p22"/>
          <p:cNvSpPr>
            <a:spLocks noGrp="1"/>
          </p:cNvSpPr>
          <p:nvPr>
            <p:ph type="pic" idx="5"/>
          </p:nvPr>
        </p:nvSpPr>
        <p:spPr>
          <a:xfrm>
            <a:off x="6054191" y="1143951"/>
            <a:ext cx="2058293" cy="2058293"/>
          </a:xfrm>
          <a:prstGeom prst="ellipse">
            <a:avLst/>
          </a:prstGeom>
          <a:solidFill>
            <a:srgbClr val="50637E"/>
          </a:solidFill>
          <a:ln w="7620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p22"/>
          <p:cNvSpPr txBox="1">
            <a:spLocks noGrp="1"/>
          </p:cNvSpPr>
          <p:nvPr>
            <p:ph type="body" idx="6"/>
          </p:nvPr>
        </p:nvSpPr>
        <p:spPr>
          <a:xfrm>
            <a:off x="6189863" y="3650226"/>
            <a:ext cx="1786951" cy="835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520"/>
              <a:buNone/>
              <a:defRPr sz="1013"/>
            </a:lvl1pPr>
            <a:lvl2pPr marL="914400" lvl="1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2pPr>
            <a:lvl3pPr marL="1371600" lvl="2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3pPr>
            <a:lvl4pPr marL="1828800" lvl="3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4pPr>
            <a:lvl5pPr marL="2286000" lvl="4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5pPr>
            <a:lvl6pPr marL="2743200" lvl="5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3" name="Google Shape;153;p2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5" name="Google Shape;155;p23"/>
          <p:cNvCxnSpPr/>
          <p:nvPr/>
        </p:nvCxnSpPr>
        <p:spPr>
          <a:xfrm>
            <a:off x="1321594" y="681171"/>
            <a:ext cx="3128963" cy="0"/>
          </a:xfrm>
          <a:prstGeom prst="straightConnector1">
            <a:avLst/>
          </a:prstGeom>
          <a:noFill/>
          <a:ln w="9525" cap="flat" cmpd="sng">
            <a:solidFill>
              <a:srgbClr val="F6F9F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6" name="Google Shape;156;p23"/>
          <p:cNvSpPr txBox="1">
            <a:spLocks noGrp="1"/>
          </p:cNvSpPr>
          <p:nvPr>
            <p:ph type="body" idx="1"/>
          </p:nvPr>
        </p:nvSpPr>
        <p:spPr>
          <a:xfrm>
            <a:off x="378620" y="100012"/>
            <a:ext cx="5279231" cy="581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700"/>
              <a:buNone/>
              <a:defRPr sz="1800" b="1"/>
            </a:lvl1pPr>
            <a:lvl2pPr marL="914400" lvl="1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2pPr>
            <a:lvl3pPr marL="1371600" lvl="2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3pPr>
            <a:lvl4pPr marL="1828800" lvl="3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4pPr>
            <a:lvl5pPr marL="2286000" lvl="4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7" name="Google Shape;157;p23"/>
          <p:cNvSpPr txBox="1">
            <a:spLocks noGrp="1"/>
          </p:cNvSpPr>
          <p:nvPr>
            <p:ph type="body" idx="2"/>
          </p:nvPr>
        </p:nvSpPr>
        <p:spPr>
          <a:xfrm>
            <a:off x="1321593" y="778669"/>
            <a:ext cx="3186113" cy="581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520"/>
              <a:buNone/>
              <a:defRPr sz="1013" i="1"/>
            </a:lvl1pPr>
            <a:lvl2pPr marL="914400" lvl="1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2pPr>
            <a:lvl3pPr marL="1371600" lvl="2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3pPr>
            <a:lvl4pPr marL="1828800" lvl="3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4pPr>
            <a:lvl5pPr marL="2286000" lvl="4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8" name="Google Shape;158;p23"/>
          <p:cNvSpPr>
            <a:spLocks noGrp="1"/>
          </p:cNvSpPr>
          <p:nvPr>
            <p:ph type="chart" idx="3"/>
          </p:nvPr>
        </p:nvSpPr>
        <p:spPr>
          <a:xfrm>
            <a:off x="150019" y="1233754"/>
            <a:ext cx="5336381" cy="3216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rgbClr val="1E4E79"/>
              </a:buClr>
              <a:buSzPts val="2363"/>
              <a:buFont typeface="Calibri"/>
              <a:buChar char="•"/>
              <a:defRPr sz="15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2E75B5"/>
              </a:buClr>
              <a:buSzPts val="2025"/>
              <a:buFont typeface="Calibri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9CC2E5"/>
              </a:buClr>
              <a:buSzPts val="1688"/>
              <a:buFont typeface="Calibri"/>
              <a:buChar char="•"/>
              <a:defRPr sz="112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BBD6EE"/>
              </a:buClr>
              <a:buSzPts val="1520"/>
              <a:buFont typeface="Calibri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Calibri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9" name="Google Shape;159;p23"/>
          <p:cNvSpPr txBox="1">
            <a:spLocks noGrp="1"/>
          </p:cNvSpPr>
          <p:nvPr>
            <p:ph type="body" idx="4"/>
          </p:nvPr>
        </p:nvSpPr>
        <p:spPr>
          <a:xfrm>
            <a:off x="5751910" y="1233756"/>
            <a:ext cx="2949178" cy="3750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688"/>
              <a:buNone/>
              <a:defRPr sz="1125"/>
            </a:lvl1pPr>
            <a:lvl2pPr marL="914400" lvl="1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182"/>
              <a:buNone/>
              <a:defRPr sz="788"/>
            </a:lvl2pPr>
            <a:lvl3pPr marL="1371600" lvl="2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013"/>
              <a:buNone/>
              <a:defRPr sz="675"/>
            </a:lvl3pPr>
            <a:lvl4pPr marL="1828800" lvl="3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845"/>
              <a:buNone/>
              <a:defRPr sz="563"/>
            </a:lvl4pPr>
            <a:lvl5pPr marL="2286000" lvl="4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845"/>
              <a:buNone/>
              <a:defRPr sz="563"/>
            </a:lvl5pPr>
            <a:lvl6pPr marL="2743200" lvl="5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6pPr>
            <a:lvl7pPr marL="3200400" lvl="6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7pPr>
            <a:lvl8pPr marL="3657600" lvl="7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8pPr>
            <a:lvl9pPr marL="4114800" lvl="8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9pPr>
          </a:lstStyle>
          <a:p>
            <a:endParaRPr/>
          </a:p>
        </p:txBody>
      </p:sp>
      <p:sp>
        <p:nvSpPr>
          <p:cNvPr id="160" name="Google Shape;160;p2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Custom Layout">
  <p:cSld name="2_Custom Layout">
    <p:bg>
      <p:bgPr>
        <a:solidFill>
          <a:schemeClr val="lt1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2" name="Google Shape;162;p24"/>
          <p:cNvCxnSpPr/>
          <p:nvPr/>
        </p:nvCxnSpPr>
        <p:spPr>
          <a:xfrm>
            <a:off x="1321594" y="681171"/>
            <a:ext cx="3128963" cy="0"/>
          </a:xfrm>
          <a:prstGeom prst="straightConnector1">
            <a:avLst/>
          </a:prstGeom>
          <a:noFill/>
          <a:ln w="9525" cap="flat" cmpd="sng">
            <a:solidFill>
              <a:srgbClr val="F6F9FC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3" name="Google Shape;163;p24"/>
          <p:cNvSpPr txBox="1">
            <a:spLocks noGrp="1"/>
          </p:cNvSpPr>
          <p:nvPr>
            <p:ph type="body" idx="1"/>
          </p:nvPr>
        </p:nvSpPr>
        <p:spPr>
          <a:xfrm>
            <a:off x="378620" y="100012"/>
            <a:ext cx="5279231" cy="581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2700"/>
              <a:buNone/>
              <a:defRPr sz="1800" b="1"/>
            </a:lvl1pPr>
            <a:lvl2pPr marL="914400" lvl="1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2pPr>
            <a:lvl3pPr marL="1371600" lvl="2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3pPr>
            <a:lvl4pPr marL="1828800" lvl="3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4pPr>
            <a:lvl5pPr marL="2286000" lvl="4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4" name="Google Shape;164;p24"/>
          <p:cNvSpPr txBox="1">
            <a:spLocks noGrp="1"/>
          </p:cNvSpPr>
          <p:nvPr>
            <p:ph type="body" idx="2"/>
          </p:nvPr>
        </p:nvSpPr>
        <p:spPr>
          <a:xfrm>
            <a:off x="1321593" y="778669"/>
            <a:ext cx="3186113" cy="581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520"/>
              <a:buNone/>
              <a:defRPr sz="1013" i="1"/>
            </a:lvl1pPr>
            <a:lvl2pPr marL="914400" lvl="1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2pPr>
            <a:lvl3pPr marL="1371600" lvl="2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3pPr>
            <a:lvl4pPr marL="1828800" lvl="3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4pPr>
            <a:lvl5pPr marL="2286000" lvl="4" indent="-40005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27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5" name="Google Shape;165;p24"/>
          <p:cNvSpPr>
            <a:spLocks noGrp="1"/>
          </p:cNvSpPr>
          <p:nvPr>
            <p:ph type="chart" idx="3"/>
          </p:nvPr>
        </p:nvSpPr>
        <p:spPr>
          <a:xfrm>
            <a:off x="150019" y="1233754"/>
            <a:ext cx="5336381" cy="3216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rgbClr val="1E4E79"/>
              </a:buClr>
              <a:buSzPts val="2363"/>
              <a:buFont typeface="Calibri"/>
              <a:buChar char="•"/>
              <a:defRPr sz="15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2E75B5"/>
              </a:buClr>
              <a:buSzPts val="2025"/>
              <a:buFont typeface="Calibri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9CC2E5"/>
              </a:buClr>
              <a:buSzPts val="1688"/>
              <a:buFont typeface="Calibri"/>
              <a:buChar char="•"/>
              <a:defRPr sz="112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BBD6EE"/>
              </a:buClr>
              <a:buSzPts val="1520"/>
              <a:buFont typeface="Calibri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Calibri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6" name="Google Shape;166;p24"/>
          <p:cNvSpPr txBox="1">
            <a:spLocks noGrp="1"/>
          </p:cNvSpPr>
          <p:nvPr>
            <p:ph type="body" idx="4"/>
          </p:nvPr>
        </p:nvSpPr>
        <p:spPr>
          <a:xfrm>
            <a:off x="5751910" y="1233756"/>
            <a:ext cx="2949178" cy="3750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688"/>
              <a:buNone/>
              <a:defRPr sz="1125"/>
            </a:lvl1pPr>
            <a:lvl2pPr marL="914400" lvl="1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182"/>
              <a:buNone/>
              <a:defRPr sz="788"/>
            </a:lvl2pPr>
            <a:lvl3pPr marL="1371600" lvl="2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013"/>
              <a:buNone/>
              <a:defRPr sz="675"/>
            </a:lvl3pPr>
            <a:lvl4pPr marL="1828800" lvl="3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845"/>
              <a:buNone/>
              <a:defRPr sz="563"/>
            </a:lvl4pPr>
            <a:lvl5pPr marL="2286000" lvl="4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845"/>
              <a:buNone/>
              <a:defRPr sz="563"/>
            </a:lvl5pPr>
            <a:lvl6pPr marL="2743200" lvl="5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6pPr>
            <a:lvl7pPr marL="3200400" lvl="6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7pPr>
            <a:lvl8pPr marL="3657600" lvl="7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8pPr>
            <a:lvl9pPr marL="4114800" lvl="8" indent="-228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9pPr>
          </a:lstStyle>
          <a:p>
            <a:endParaRPr/>
          </a:p>
        </p:txBody>
      </p:sp>
      <p:sp>
        <p:nvSpPr>
          <p:cNvPr id="167" name="Google Shape;167;p2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Custom Layout">
  <p:cSld name="3_Custom Layout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5"/>
          <p:cNvSpPr>
            <a:spLocks noGrp="1"/>
          </p:cNvSpPr>
          <p:nvPr>
            <p:ph type="pic" idx="2"/>
          </p:nvPr>
        </p:nvSpPr>
        <p:spPr>
          <a:xfrm flipH="1">
            <a:off x="569046" y="872836"/>
            <a:ext cx="1817896" cy="2456411"/>
          </a:xfrm>
          <a:prstGeom prst="rect">
            <a:avLst/>
          </a:prstGeom>
          <a:solidFill>
            <a:srgbClr val="1F3864"/>
          </a:solidFill>
          <a:ln w="38100" cap="flat" cmpd="sng">
            <a:solidFill>
              <a:srgbClr val="00B0F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ctr" rotWithShape="0">
              <a:srgbClr val="000000">
                <a:alpha val="62745"/>
              </a:srgbClr>
            </a:outerShdw>
          </a:effectLst>
        </p:spPr>
      </p:sp>
      <p:sp>
        <p:nvSpPr>
          <p:cNvPr id="170" name="Google Shape;170;p25"/>
          <p:cNvSpPr>
            <a:spLocks noGrp="1"/>
          </p:cNvSpPr>
          <p:nvPr>
            <p:ph type="pic" idx="3"/>
          </p:nvPr>
        </p:nvSpPr>
        <p:spPr>
          <a:xfrm flipH="1">
            <a:off x="2673352" y="872836"/>
            <a:ext cx="1817896" cy="2456411"/>
          </a:xfrm>
          <a:prstGeom prst="rect">
            <a:avLst/>
          </a:prstGeom>
          <a:solidFill>
            <a:srgbClr val="1F3864"/>
          </a:solidFill>
          <a:ln w="38100" cap="flat" cmpd="sng">
            <a:solidFill>
              <a:srgbClr val="00B0F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ctr" rotWithShape="0">
              <a:srgbClr val="000000">
                <a:alpha val="62745"/>
              </a:srgbClr>
            </a:outerShdw>
          </a:effectLst>
        </p:spPr>
      </p:sp>
      <p:sp>
        <p:nvSpPr>
          <p:cNvPr id="171" name="Google Shape;171;p25"/>
          <p:cNvSpPr>
            <a:spLocks noGrp="1"/>
          </p:cNvSpPr>
          <p:nvPr>
            <p:ph type="pic" idx="4"/>
          </p:nvPr>
        </p:nvSpPr>
        <p:spPr>
          <a:xfrm flipH="1">
            <a:off x="4802151" y="872836"/>
            <a:ext cx="1817896" cy="2456411"/>
          </a:xfrm>
          <a:prstGeom prst="rect">
            <a:avLst/>
          </a:prstGeom>
          <a:solidFill>
            <a:srgbClr val="1F3864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ctr" rotWithShape="0">
              <a:srgbClr val="000000">
                <a:alpha val="62745"/>
              </a:srgbClr>
            </a:outerShdw>
          </a:effectLst>
        </p:spPr>
      </p:sp>
      <p:sp>
        <p:nvSpPr>
          <p:cNvPr id="172" name="Google Shape;172;p25"/>
          <p:cNvSpPr>
            <a:spLocks noGrp="1"/>
          </p:cNvSpPr>
          <p:nvPr>
            <p:ph type="pic" idx="5"/>
          </p:nvPr>
        </p:nvSpPr>
        <p:spPr>
          <a:xfrm flipH="1">
            <a:off x="6828076" y="872835"/>
            <a:ext cx="1817896" cy="2456411"/>
          </a:xfrm>
          <a:prstGeom prst="rect">
            <a:avLst/>
          </a:prstGeom>
          <a:solidFill>
            <a:srgbClr val="1F3864"/>
          </a:solidFill>
          <a:ln w="38100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ctr" rotWithShape="0">
              <a:srgbClr val="000000">
                <a:alpha val="62745"/>
              </a:srgbClr>
            </a:outerShdw>
          </a:effectLst>
        </p:spPr>
      </p:sp>
      <p:sp>
        <p:nvSpPr>
          <p:cNvPr id="173" name="Google Shape;173;p25"/>
          <p:cNvSpPr txBox="1">
            <a:spLocks noGrp="1"/>
          </p:cNvSpPr>
          <p:nvPr>
            <p:ph type="body" idx="1"/>
          </p:nvPr>
        </p:nvSpPr>
        <p:spPr>
          <a:xfrm>
            <a:off x="569046" y="3468978"/>
            <a:ext cx="1717036" cy="835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520"/>
              <a:buNone/>
              <a:defRPr sz="1013" b="1"/>
            </a:lvl1pPr>
            <a:lvl2pPr marL="914400" lvl="1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2pPr>
            <a:lvl3pPr marL="1371600" lvl="2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3pPr>
            <a:lvl4pPr marL="1828800" lvl="3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4pPr>
            <a:lvl5pPr marL="2286000" lvl="4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5pPr>
            <a:lvl6pPr marL="2743200" lvl="5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4" name="Google Shape;174;p25"/>
          <p:cNvSpPr txBox="1">
            <a:spLocks noGrp="1"/>
          </p:cNvSpPr>
          <p:nvPr>
            <p:ph type="body" idx="6"/>
          </p:nvPr>
        </p:nvSpPr>
        <p:spPr>
          <a:xfrm>
            <a:off x="2723781" y="3468978"/>
            <a:ext cx="1717036" cy="835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520"/>
              <a:buNone/>
              <a:defRPr sz="1013" b="1"/>
            </a:lvl1pPr>
            <a:lvl2pPr marL="914400" lvl="1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2pPr>
            <a:lvl3pPr marL="1371600" lvl="2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3pPr>
            <a:lvl4pPr marL="1828800" lvl="3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4pPr>
            <a:lvl5pPr marL="2286000" lvl="4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5pPr>
            <a:lvl6pPr marL="2743200" lvl="5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5" name="Google Shape;175;p25"/>
          <p:cNvSpPr txBox="1">
            <a:spLocks noGrp="1"/>
          </p:cNvSpPr>
          <p:nvPr>
            <p:ph type="body" idx="7"/>
          </p:nvPr>
        </p:nvSpPr>
        <p:spPr>
          <a:xfrm>
            <a:off x="4852580" y="3468978"/>
            <a:ext cx="1717036" cy="835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520"/>
              <a:buNone/>
              <a:defRPr sz="1013" b="1"/>
            </a:lvl1pPr>
            <a:lvl2pPr marL="914400" lvl="1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2pPr>
            <a:lvl3pPr marL="1371600" lvl="2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3pPr>
            <a:lvl4pPr marL="1828800" lvl="3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4pPr>
            <a:lvl5pPr marL="2286000" lvl="4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5pPr>
            <a:lvl6pPr marL="2743200" lvl="5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6" name="Google Shape;176;p25"/>
          <p:cNvSpPr txBox="1">
            <a:spLocks noGrp="1"/>
          </p:cNvSpPr>
          <p:nvPr>
            <p:ph type="body" idx="8"/>
          </p:nvPr>
        </p:nvSpPr>
        <p:spPr>
          <a:xfrm>
            <a:off x="6928936" y="3468978"/>
            <a:ext cx="1717036" cy="835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SzPts val="1520"/>
              <a:buNone/>
              <a:defRPr sz="1013" b="1"/>
            </a:lvl1pPr>
            <a:lvl2pPr marL="914400" lvl="1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2pPr>
            <a:lvl3pPr marL="1371600" lvl="2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3pPr>
            <a:lvl4pPr marL="1828800" lvl="3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4pPr>
            <a:lvl5pPr marL="2286000" lvl="4" indent="-325088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SzPts val="1520"/>
              <a:buChar char="•"/>
              <a:defRPr sz="1013"/>
            </a:lvl5pPr>
            <a:lvl6pPr marL="2743200" lvl="5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7" name="Google Shape;177;p2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Meet the team 3">
  <p:cSld name="1_Meet the team 3"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6"/>
          <p:cNvSpPr/>
          <p:nvPr/>
        </p:nvSpPr>
        <p:spPr>
          <a:xfrm>
            <a:off x="8631714" y="221557"/>
            <a:ext cx="316640" cy="316642"/>
          </a:xfrm>
          <a:prstGeom prst="ellipse">
            <a:avLst/>
          </a:prstGeom>
          <a:solidFill>
            <a:srgbClr val="231D5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6"/>
          <p:cNvSpPr txBox="1"/>
          <p:nvPr/>
        </p:nvSpPr>
        <p:spPr>
          <a:xfrm>
            <a:off x="8666038" y="258393"/>
            <a:ext cx="225709" cy="173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25700" rIns="51425" bIns="2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788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‹#›</a:t>
            </a:fld>
            <a:endParaRPr sz="788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1" name="Google Shape;181;p2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fade thruBlk="1"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7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628650" y="181115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475"/>
              <a:buFont typeface="Calibri"/>
              <a:buNone/>
              <a:defRPr sz="2475" b="1" i="0" u="none" strike="noStrike" cap="none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628650" y="1339522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78618" algn="l" rtl="0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rgbClr val="1E4E79"/>
              </a:buClr>
              <a:buSzPts val="2363"/>
              <a:buFont typeface="Calibri"/>
              <a:buChar char="•"/>
              <a:defRPr sz="157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7187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2E75B5"/>
              </a:buClr>
              <a:buSzPts val="2025"/>
              <a:buFont typeface="Calibri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35756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9CC2E5"/>
              </a:buClr>
              <a:buSzPts val="1688"/>
              <a:buFont typeface="Calibri"/>
              <a:buChar char="•"/>
              <a:defRPr sz="112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25088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BBD6EE"/>
              </a:buClr>
              <a:buSzPts val="1520"/>
              <a:buFont typeface="Calibri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25088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Calibri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92925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92925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92925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92925" algn="l" rtl="0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/>
          <p:nvPr/>
        </p:nvSpPr>
        <p:spPr>
          <a:xfrm>
            <a:off x="991" y="0"/>
            <a:ext cx="9142021" cy="5143500"/>
          </a:xfrm>
          <a:prstGeom prst="rect">
            <a:avLst/>
          </a:prstGeom>
          <a:gradFill>
            <a:gsLst>
              <a:gs pos="0">
                <a:srgbClr val="F6F9FC">
                  <a:alpha val="0"/>
                </a:srgbClr>
              </a:gs>
              <a:gs pos="38000">
                <a:srgbClr val="FFFFFF">
                  <a:alpha val="14901"/>
                </a:srgbClr>
              </a:gs>
              <a:gs pos="84000">
                <a:srgbClr val="E7E6E6">
                  <a:alpha val="29803"/>
                </a:srgbClr>
              </a:gs>
              <a:gs pos="100000">
                <a:schemeClr val="lt2"/>
              </a:gs>
            </a:gsLst>
            <a:path path="circle">
              <a:fillToRect l="50000" t="50000" r="50000" b="50000"/>
            </a:path>
            <a:tileRect/>
          </a:gra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www.programiz.com/online-compiler/5VrKcTuK0GRr6" TargetMode="Externa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7"/>
          <p:cNvSpPr txBox="1">
            <a:spLocks noGrp="1"/>
          </p:cNvSpPr>
          <p:nvPr>
            <p:ph type="ctrTitle"/>
          </p:nvPr>
        </p:nvSpPr>
        <p:spPr>
          <a:xfrm>
            <a:off x="1400700" y="2795125"/>
            <a:ext cx="6342600" cy="8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300"/>
              <a:buFont typeface="Calibri"/>
              <a:buNone/>
            </a:pPr>
            <a:r>
              <a:rPr lang="en-US" sz="2400" b="0" dirty="0"/>
              <a:t>Chapter 1: Object Oriented Programming Revision - </a:t>
            </a:r>
            <a:r>
              <a:rPr lang="en-US" sz="2400" dirty="0"/>
              <a:t>Encapsulation</a:t>
            </a:r>
            <a:endParaRPr sz="2400" dirty="0">
              <a:solidFill>
                <a:srgbClr val="2E75B5"/>
              </a:solidFill>
            </a:endParaRPr>
          </a:p>
        </p:txBody>
      </p:sp>
      <p:sp>
        <p:nvSpPr>
          <p:cNvPr id="187" name="Google Shape;187;p27"/>
          <p:cNvSpPr txBox="1"/>
          <p:nvPr/>
        </p:nvSpPr>
        <p:spPr>
          <a:xfrm>
            <a:off x="2252676" y="4804219"/>
            <a:ext cx="4384800" cy="3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None/>
            </a:pPr>
            <a:r>
              <a:rPr lang="en-US"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TP.HCM</a:t>
            </a:r>
            <a:r>
              <a:rPr lang="en-US" sz="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r>
              <a:rPr lang="en-US" sz="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/0</a:t>
            </a:r>
            <a:r>
              <a:rPr lang="en-US"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/202</a:t>
            </a:r>
            <a:r>
              <a:rPr lang="en-US" sz="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88" name="Google Shape;188;p27"/>
          <p:cNvSpPr txBox="1">
            <a:spLocks noGrp="1"/>
          </p:cNvSpPr>
          <p:nvPr>
            <p:ph type="ctrTitle"/>
          </p:nvPr>
        </p:nvSpPr>
        <p:spPr>
          <a:xfrm>
            <a:off x="3244200" y="1066425"/>
            <a:ext cx="4499100" cy="12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300"/>
              <a:buFont typeface="Calibri"/>
              <a:buNone/>
            </a:pPr>
            <a:r>
              <a:rPr lang="en-US" dirty="0"/>
              <a:t>Advanced Programming</a:t>
            </a:r>
            <a:endParaRPr dirty="0"/>
          </a:p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300"/>
              <a:buFont typeface="Calibri"/>
              <a:buNone/>
            </a:pPr>
            <a:r>
              <a:rPr lang="en-US" sz="2400" b="0" dirty="0"/>
              <a:t>CO2039</a:t>
            </a:r>
            <a:endParaRPr sz="2400" b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8"/>
          <p:cNvSpPr txBox="1">
            <a:spLocks noGrp="1"/>
          </p:cNvSpPr>
          <p:nvPr>
            <p:ph type="title"/>
          </p:nvPr>
        </p:nvSpPr>
        <p:spPr>
          <a:xfrm>
            <a:off x="1908549" y="520050"/>
            <a:ext cx="1671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/>
              <a:t>CONTENT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8"/>
          <p:cNvSpPr txBox="1">
            <a:spLocks noGrp="1"/>
          </p:cNvSpPr>
          <p:nvPr>
            <p:ph type="title" idx="2"/>
          </p:nvPr>
        </p:nvSpPr>
        <p:spPr>
          <a:xfrm>
            <a:off x="1711310" y="1166613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000"/>
              <a:buNone/>
            </a:pPr>
            <a:r>
              <a:rPr lang="en-US" b="1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1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8"/>
          <p:cNvSpPr txBox="1">
            <a:spLocks noGrp="1"/>
          </p:cNvSpPr>
          <p:nvPr>
            <p:ph type="title" idx="3"/>
          </p:nvPr>
        </p:nvSpPr>
        <p:spPr>
          <a:xfrm>
            <a:off x="1711310" y="2869705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000"/>
              <a:buNone/>
            </a:pPr>
            <a:r>
              <a:rPr lang="en-US" b="1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1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8"/>
          <p:cNvSpPr txBox="1">
            <a:spLocks noGrp="1"/>
          </p:cNvSpPr>
          <p:nvPr>
            <p:ph type="title" idx="4"/>
          </p:nvPr>
        </p:nvSpPr>
        <p:spPr>
          <a:xfrm>
            <a:off x="1711310" y="1734310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000"/>
              <a:buNone/>
            </a:pPr>
            <a:r>
              <a:rPr lang="en-US" b="1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1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8"/>
          <p:cNvSpPr txBox="1">
            <a:spLocks noGrp="1"/>
          </p:cNvSpPr>
          <p:nvPr>
            <p:ph type="title" idx="5"/>
          </p:nvPr>
        </p:nvSpPr>
        <p:spPr>
          <a:xfrm>
            <a:off x="1711310" y="3437403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000"/>
              <a:buNone/>
            </a:pPr>
            <a:r>
              <a:rPr lang="en-US" b="1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1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8"/>
          <p:cNvSpPr txBox="1">
            <a:spLocks noGrp="1"/>
          </p:cNvSpPr>
          <p:nvPr>
            <p:ph type="title" idx="6"/>
          </p:nvPr>
        </p:nvSpPr>
        <p:spPr>
          <a:xfrm>
            <a:off x="1711310" y="2302008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000"/>
              <a:buNone/>
            </a:pPr>
            <a:r>
              <a:rPr lang="en-US" b="1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1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8"/>
          <p:cNvSpPr txBox="1">
            <a:spLocks noGrp="1"/>
          </p:cNvSpPr>
          <p:nvPr>
            <p:ph type="subTitle" idx="1"/>
          </p:nvPr>
        </p:nvSpPr>
        <p:spPr>
          <a:xfrm>
            <a:off x="2544907" y="1168425"/>
            <a:ext cx="5424300" cy="4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000" b="1" dirty="0">
                <a:latin typeface="Calibri"/>
                <a:ea typeface="Calibri"/>
                <a:cs typeface="Calibri"/>
                <a:sym typeface="Calibri"/>
              </a:rPr>
              <a:t>INTRODUCTION TO OOP</a:t>
            </a:r>
            <a:endParaRPr sz="2000" b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8"/>
          <p:cNvSpPr txBox="1">
            <a:spLocks noGrp="1"/>
          </p:cNvSpPr>
          <p:nvPr>
            <p:ph type="subTitle" idx="8"/>
          </p:nvPr>
        </p:nvSpPr>
        <p:spPr>
          <a:xfrm>
            <a:off x="2544908" y="1736098"/>
            <a:ext cx="4071000" cy="4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000" b="1" dirty="0">
                <a:latin typeface="Calibri"/>
                <a:ea typeface="Calibri"/>
                <a:cs typeface="Calibri"/>
                <a:sym typeface="Calibri"/>
              </a:rPr>
              <a:t>ENCAPSULATION</a:t>
            </a:r>
            <a:endParaRPr sz="2000" dirty="0"/>
          </a:p>
        </p:txBody>
      </p:sp>
      <p:sp>
        <p:nvSpPr>
          <p:cNvPr id="201" name="Google Shape;201;p28"/>
          <p:cNvSpPr txBox="1">
            <a:spLocks noGrp="1"/>
          </p:cNvSpPr>
          <p:nvPr>
            <p:ph type="subTitle" idx="9"/>
          </p:nvPr>
        </p:nvSpPr>
        <p:spPr>
          <a:xfrm>
            <a:off x="2544908" y="2303795"/>
            <a:ext cx="4071000" cy="4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000" b="1">
                <a:latin typeface="Calibri"/>
                <a:ea typeface="Calibri"/>
                <a:cs typeface="Calibri"/>
                <a:sym typeface="Calibri"/>
              </a:rPr>
              <a:t>HOW ENCAPSULATION WORKS?</a:t>
            </a:r>
            <a:endParaRPr sz="2000"/>
          </a:p>
        </p:txBody>
      </p:sp>
      <p:sp>
        <p:nvSpPr>
          <p:cNvPr id="202" name="Google Shape;202;p28"/>
          <p:cNvSpPr txBox="1">
            <a:spLocks noGrp="1"/>
          </p:cNvSpPr>
          <p:nvPr>
            <p:ph type="subTitle" idx="13"/>
          </p:nvPr>
        </p:nvSpPr>
        <p:spPr>
          <a:xfrm>
            <a:off x="2544900" y="2871504"/>
            <a:ext cx="3639300" cy="4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000" b="1">
                <a:latin typeface="Calibri"/>
                <a:ea typeface="Calibri"/>
                <a:cs typeface="Calibri"/>
                <a:sym typeface="Calibri"/>
              </a:rPr>
              <a:t>BEST PRACTICES</a:t>
            </a:r>
            <a:endParaRPr sz="2000"/>
          </a:p>
        </p:txBody>
      </p:sp>
      <p:sp>
        <p:nvSpPr>
          <p:cNvPr id="203" name="Google Shape;203;p28"/>
          <p:cNvSpPr txBox="1">
            <a:spLocks noGrp="1"/>
          </p:cNvSpPr>
          <p:nvPr>
            <p:ph type="subTitle" idx="14"/>
          </p:nvPr>
        </p:nvSpPr>
        <p:spPr>
          <a:xfrm>
            <a:off x="2544900" y="3397950"/>
            <a:ext cx="6124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000" b="1"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 sz="2000"/>
          </a:p>
        </p:txBody>
      </p:sp>
      <p:grpSp>
        <p:nvGrpSpPr>
          <p:cNvPr id="204" name="Google Shape;204;p28"/>
          <p:cNvGrpSpPr/>
          <p:nvPr/>
        </p:nvGrpSpPr>
        <p:grpSpPr>
          <a:xfrm>
            <a:off x="8024595" y="1680150"/>
            <a:ext cx="1193310" cy="3463350"/>
            <a:chOff x="472500" y="1762000"/>
            <a:chExt cx="1193310" cy="3463350"/>
          </a:xfrm>
        </p:grpSpPr>
        <p:grpSp>
          <p:nvGrpSpPr>
            <p:cNvPr id="205" name="Google Shape;205;p28"/>
            <p:cNvGrpSpPr/>
            <p:nvPr/>
          </p:nvGrpSpPr>
          <p:grpSpPr>
            <a:xfrm rot="10800000">
              <a:off x="1172489" y="4265721"/>
              <a:ext cx="493321" cy="357312"/>
              <a:chOff x="1722354" y="229144"/>
              <a:chExt cx="1748743" cy="1266614"/>
            </a:xfrm>
          </p:grpSpPr>
          <p:sp>
            <p:nvSpPr>
              <p:cNvPr id="206" name="Google Shape;206;p28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lt2"/>
              </a:solidFill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" name="Google Shape;207;p28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08" name="Google Shape;208;p28"/>
            <p:cNvSpPr/>
            <p:nvPr/>
          </p:nvSpPr>
          <p:spPr>
            <a:xfrm>
              <a:off x="472500" y="1762000"/>
              <a:ext cx="700000" cy="3463350"/>
            </a:xfrm>
            <a:custGeom>
              <a:avLst/>
              <a:gdLst/>
              <a:ahLst/>
              <a:cxnLst/>
              <a:rect l="l" t="t" r="r" b="b"/>
              <a:pathLst>
                <a:path w="28000" h="138534" extrusionOk="0">
                  <a:moveTo>
                    <a:pt x="0" y="0"/>
                  </a:moveTo>
                  <a:lnTo>
                    <a:pt x="0" y="65749"/>
                  </a:lnTo>
                  <a:lnTo>
                    <a:pt x="28000" y="81915"/>
                  </a:lnTo>
                  <a:lnTo>
                    <a:pt x="28000" y="109663"/>
                  </a:lnTo>
                  <a:lnTo>
                    <a:pt x="17964" y="115457"/>
                  </a:lnTo>
                  <a:lnTo>
                    <a:pt x="17964" y="138534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9" name="Google Shape;209;p28"/>
          <p:cNvSpPr/>
          <p:nvPr/>
        </p:nvSpPr>
        <p:spPr>
          <a:xfrm rot="-5400000">
            <a:off x="1695899" y="703475"/>
            <a:ext cx="228075" cy="197250"/>
          </a:xfrm>
          <a:prstGeom prst="flowChartMerge">
            <a:avLst/>
          </a:prstGeom>
          <a:solidFill>
            <a:srgbClr val="2E75B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211" name="Google Shape;211;p28"/>
          <p:cNvSpPr txBox="1">
            <a:spLocks noGrp="1"/>
          </p:cNvSpPr>
          <p:nvPr>
            <p:ph type="title" idx="5"/>
          </p:nvPr>
        </p:nvSpPr>
        <p:spPr>
          <a:xfrm>
            <a:off x="1711310" y="3970653"/>
            <a:ext cx="734700" cy="4938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000"/>
              <a:buNone/>
            </a:pPr>
            <a:r>
              <a:rPr lang="en-US" b="1" dirty="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dirty="0">
                <a:solidFill>
                  <a:srgbClr val="1E4E79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1" dirty="0">
              <a:solidFill>
                <a:srgbClr val="1E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8"/>
          <p:cNvSpPr txBox="1">
            <a:spLocks noGrp="1"/>
          </p:cNvSpPr>
          <p:nvPr>
            <p:ph type="subTitle" idx="14"/>
          </p:nvPr>
        </p:nvSpPr>
        <p:spPr>
          <a:xfrm>
            <a:off x="2544900" y="3931200"/>
            <a:ext cx="6124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000" b="1">
                <a:latin typeface="Calibri"/>
                <a:ea typeface="Calibri"/>
                <a:cs typeface="Calibri"/>
                <a:sym typeface="Calibri"/>
              </a:rPr>
              <a:t>EXTENSION: CLASS DIAGRAM</a:t>
            </a:r>
            <a:endParaRPr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9"/>
          <p:cNvSpPr txBox="1">
            <a:spLocks noGrp="1"/>
          </p:cNvSpPr>
          <p:nvPr>
            <p:ph type="title"/>
          </p:nvPr>
        </p:nvSpPr>
        <p:spPr>
          <a:xfrm>
            <a:off x="3510436" y="2078107"/>
            <a:ext cx="3653400" cy="98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lang="en-US" dirty="0"/>
              <a:t>INTRODUCTION TO OBJECT ORIENTED PROGRAMMING</a:t>
            </a:r>
            <a:endParaRPr b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9"/>
          <p:cNvSpPr txBox="1">
            <a:spLocks noGrp="1"/>
          </p:cNvSpPr>
          <p:nvPr>
            <p:ph type="title" idx="2"/>
          </p:nvPr>
        </p:nvSpPr>
        <p:spPr>
          <a:xfrm>
            <a:off x="1980166" y="2076006"/>
            <a:ext cx="1343100" cy="9894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Font typeface="Calibri"/>
              <a:buNone/>
            </a:pPr>
            <a:r>
              <a:rPr lang="en-US" b="1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1">
              <a:solidFill>
                <a:srgbClr val="2E75B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 dirty="0"/>
              <a:t>What is OOP?</a:t>
            </a:r>
            <a:endParaRPr dirty="0"/>
          </a:p>
        </p:txBody>
      </p:sp>
      <p:sp>
        <p:nvSpPr>
          <p:cNvPr id="225" name="Google Shape;225;p30"/>
          <p:cNvSpPr txBox="1">
            <a:spLocks noGrp="1"/>
          </p:cNvSpPr>
          <p:nvPr>
            <p:ph type="title"/>
          </p:nvPr>
        </p:nvSpPr>
        <p:spPr>
          <a:xfrm>
            <a:off x="720000" y="1017725"/>
            <a:ext cx="4089893" cy="12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 dirty="0">
                <a:solidFill>
                  <a:schemeClr val="dk1"/>
                </a:solidFill>
              </a:rPr>
              <a:t>Object-oriented programming (OOP) </a:t>
            </a:r>
            <a:r>
              <a:rPr lang="en-US" sz="2000" b="0" dirty="0">
                <a:solidFill>
                  <a:schemeClr val="dk1"/>
                </a:solidFill>
              </a:rPr>
              <a:t>is a </a:t>
            </a:r>
            <a:r>
              <a:rPr lang="en-US" sz="2000" dirty="0">
                <a:solidFill>
                  <a:schemeClr val="dk1"/>
                </a:solidFill>
              </a:rPr>
              <a:t>programming paradigm </a:t>
            </a:r>
            <a:r>
              <a:rPr lang="en-US" sz="2000" b="0" dirty="0">
                <a:solidFill>
                  <a:schemeClr val="dk1"/>
                </a:solidFill>
              </a:rPr>
              <a:t>that organizes software design around </a:t>
            </a:r>
            <a:r>
              <a:rPr lang="en-US" sz="2000" dirty="0">
                <a:solidFill>
                  <a:schemeClr val="dk1"/>
                </a:solidFill>
              </a:rPr>
              <a:t>objects</a:t>
            </a:r>
            <a:r>
              <a:rPr lang="en-US" sz="2000" b="0" dirty="0">
                <a:solidFill>
                  <a:schemeClr val="dk1"/>
                </a:solidFill>
              </a:rPr>
              <a:t>, which can represent real-world entities or abstract concepts. Each object contains </a:t>
            </a:r>
            <a:r>
              <a:rPr lang="en-US" sz="2000" dirty="0">
                <a:solidFill>
                  <a:schemeClr val="dk1"/>
                </a:solidFill>
              </a:rPr>
              <a:t>data</a:t>
            </a:r>
            <a:r>
              <a:rPr lang="en-US" sz="2000" b="0" dirty="0">
                <a:solidFill>
                  <a:schemeClr val="dk1"/>
                </a:solidFill>
              </a:rPr>
              <a:t> (attributes or properties) and </a:t>
            </a:r>
            <a:r>
              <a:rPr lang="en-US" sz="2000" dirty="0">
                <a:solidFill>
                  <a:schemeClr val="dk1"/>
                </a:solidFill>
              </a:rPr>
              <a:t>behavior</a:t>
            </a:r>
            <a:r>
              <a:rPr lang="en-US" sz="2000" b="0" dirty="0">
                <a:solidFill>
                  <a:schemeClr val="dk1"/>
                </a:solidFill>
              </a:rPr>
              <a:t> (methods or functions).</a:t>
            </a:r>
            <a:endParaRPr lang="en-US" dirty="0"/>
          </a:p>
        </p:txBody>
      </p:sp>
      <p:sp>
        <p:nvSpPr>
          <p:cNvPr id="227" name="Google Shape;227;p3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1EADFD-6210-3D81-507C-D7971E83E6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6474" y="750849"/>
            <a:ext cx="3708661" cy="3708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6872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 dirty="0"/>
              <a:t>Key principles of OOP</a:t>
            </a:r>
            <a:endParaRPr dirty="0"/>
          </a:p>
        </p:txBody>
      </p:sp>
      <p:sp>
        <p:nvSpPr>
          <p:cNvPr id="225" name="Google Shape;225;p30"/>
          <p:cNvSpPr txBox="1">
            <a:spLocks noGrp="1"/>
          </p:cNvSpPr>
          <p:nvPr>
            <p:ph type="title"/>
          </p:nvPr>
        </p:nvSpPr>
        <p:spPr>
          <a:xfrm>
            <a:off x="720000" y="1017725"/>
            <a:ext cx="4089893" cy="12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</a:pPr>
            <a:r>
              <a:rPr lang="en-US" sz="2000" dirty="0">
                <a:solidFill>
                  <a:schemeClr val="dk1"/>
                </a:solidFill>
              </a:rPr>
              <a:t>Encapsulation: </a:t>
            </a:r>
            <a:r>
              <a:rPr lang="en-US" sz="2000" b="0" dirty="0">
                <a:solidFill>
                  <a:schemeClr val="dk1"/>
                </a:solidFill>
              </a:rPr>
              <a:t>Bundles data (attributes) and methods (behavior) into a single unit (class) and restricts access to protect data integrity.</a:t>
            </a:r>
            <a:br>
              <a:rPr lang="en-US" sz="2000" b="0" dirty="0">
                <a:solidFill>
                  <a:schemeClr val="dk1"/>
                </a:solidFill>
              </a:rPr>
            </a:br>
            <a:br>
              <a:rPr lang="en-US" sz="2000" b="0" dirty="0">
                <a:solidFill>
                  <a:schemeClr val="dk1"/>
                </a:solidFill>
              </a:rPr>
            </a:br>
            <a:r>
              <a:rPr lang="en-US" sz="2000" b="0" dirty="0">
                <a:solidFill>
                  <a:schemeClr val="dk1"/>
                </a:solidFill>
              </a:rPr>
              <a:t>Example: A Car object has private attribute </a:t>
            </a:r>
            <a:r>
              <a:rPr lang="en-US" sz="2000" b="0" i="1" dirty="0">
                <a:solidFill>
                  <a:schemeClr val="dk1"/>
                </a:solidFill>
              </a:rPr>
              <a:t>speed</a:t>
            </a:r>
            <a:r>
              <a:rPr lang="en-US" sz="2000" b="0" dirty="0">
                <a:solidFill>
                  <a:schemeClr val="dk1"/>
                </a:solidFill>
              </a:rPr>
              <a:t> and a public method </a:t>
            </a:r>
            <a:r>
              <a:rPr lang="en-US" sz="2000" b="0" i="1" dirty="0" err="1">
                <a:solidFill>
                  <a:schemeClr val="dk1"/>
                </a:solidFill>
              </a:rPr>
              <a:t>getSpeed</a:t>
            </a:r>
            <a:r>
              <a:rPr lang="en-US" sz="2000" b="0" i="1" dirty="0">
                <a:solidFill>
                  <a:schemeClr val="dk1"/>
                </a:solidFill>
              </a:rPr>
              <a:t>() </a:t>
            </a:r>
            <a:r>
              <a:rPr lang="en-US" sz="2000" b="0" dirty="0">
                <a:solidFill>
                  <a:schemeClr val="dk1"/>
                </a:solidFill>
              </a:rPr>
              <a:t>to access it.</a:t>
            </a:r>
            <a:br>
              <a:rPr lang="en-US" sz="2000" b="0" dirty="0">
                <a:solidFill>
                  <a:schemeClr val="dk1"/>
                </a:solidFill>
              </a:rPr>
            </a:br>
            <a:r>
              <a:rPr lang="en-US" sz="2000" b="0" dirty="0">
                <a:solidFill>
                  <a:schemeClr val="dk1"/>
                </a:solidFill>
              </a:rPr>
              <a:t>=&gt; Protects data integrity by restricting direct access.</a:t>
            </a:r>
            <a:br>
              <a:rPr lang="en-US" sz="2000" b="0" dirty="0">
                <a:solidFill>
                  <a:schemeClr val="dk1"/>
                </a:solidFill>
              </a:rPr>
            </a:br>
            <a:endParaRPr lang="en-US" dirty="0"/>
          </a:p>
        </p:txBody>
      </p:sp>
      <p:sp>
        <p:nvSpPr>
          <p:cNvPr id="227" name="Google Shape;227;p3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1EADFD-6210-3D81-507C-D7971E83E6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6474" y="750849"/>
            <a:ext cx="3708661" cy="3708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309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 dirty="0"/>
              <a:t>Key principles of OOP</a:t>
            </a:r>
            <a:endParaRPr dirty="0"/>
          </a:p>
        </p:txBody>
      </p:sp>
      <p:sp>
        <p:nvSpPr>
          <p:cNvPr id="225" name="Google Shape;225;p30"/>
          <p:cNvSpPr txBox="1">
            <a:spLocks noGrp="1"/>
          </p:cNvSpPr>
          <p:nvPr>
            <p:ph type="title"/>
          </p:nvPr>
        </p:nvSpPr>
        <p:spPr>
          <a:xfrm>
            <a:off x="720000" y="1017725"/>
            <a:ext cx="4089893" cy="12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</a:pPr>
            <a:r>
              <a:rPr lang="en-US" sz="2000" dirty="0">
                <a:solidFill>
                  <a:schemeClr val="dk1"/>
                </a:solidFill>
              </a:rPr>
              <a:t>Inheritance: </a:t>
            </a:r>
            <a:r>
              <a:rPr lang="en-US" sz="2000" b="0" dirty="0">
                <a:solidFill>
                  <a:schemeClr val="dk1"/>
                </a:solidFill>
              </a:rPr>
              <a:t>Allows one class to inherit attributes and methods from another, promoting code reuse and hierarchical relationships.</a:t>
            </a:r>
            <a:br>
              <a:rPr lang="en-US" sz="2000" b="0" dirty="0">
                <a:solidFill>
                  <a:schemeClr val="dk1"/>
                </a:solidFill>
              </a:rPr>
            </a:br>
            <a:br>
              <a:rPr lang="en-US" sz="2000" b="0" dirty="0">
                <a:solidFill>
                  <a:schemeClr val="dk1"/>
                </a:solidFill>
              </a:rPr>
            </a:br>
            <a:r>
              <a:rPr lang="en-US" sz="2000" b="0" dirty="0">
                <a:solidFill>
                  <a:schemeClr val="dk1"/>
                </a:solidFill>
              </a:rPr>
              <a:t>Example: A </a:t>
            </a:r>
            <a:r>
              <a:rPr lang="en-US" sz="2000" b="0" i="1" dirty="0">
                <a:solidFill>
                  <a:schemeClr val="dk1"/>
                </a:solidFill>
              </a:rPr>
              <a:t>Truck</a:t>
            </a:r>
            <a:r>
              <a:rPr lang="en-US" sz="2000" b="0" dirty="0">
                <a:solidFill>
                  <a:schemeClr val="dk1"/>
                </a:solidFill>
              </a:rPr>
              <a:t> class can inherit from a </a:t>
            </a:r>
            <a:r>
              <a:rPr lang="en-US" sz="2000" b="0" i="1" dirty="0">
                <a:solidFill>
                  <a:schemeClr val="dk1"/>
                </a:solidFill>
              </a:rPr>
              <a:t>Vehicle</a:t>
            </a:r>
            <a:r>
              <a:rPr lang="en-US" sz="2000" b="0" dirty="0">
                <a:solidFill>
                  <a:schemeClr val="dk1"/>
                </a:solidFill>
              </a:rPr>
              <a:t> class.</a:t>
            </a:r>
            <a:br>
              <a:rPr lang="en-US" sz="2000" b="0" dirty="0">
                <a:solidFill>
                  <a:schemeClr val="dk1"/>
                </a:solidFill>
              </a:rPr>
            </a:br>
            <a:r>
              <a:rPr lang="en-US" sz="2000" b="0" dirty="0">
                <a:solidFill>
                  <a:schemeClr val="dk1"/>
                </a:solidFill>
              </a:rPr>
              <a:t>=&gt; Promotes code reuse.</a:t>
            </a:r>
            <a:endParaRPr lang="en-US" dirty="0"/>
          </a:p>
        </p:txBody>
      </p:sp>
      <p:sp>
        <p:nvSpPr>
          <p:cNvPr id="227" name="Google Shape;227;p3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1EADFD-6210-3D81-507C-D7971E83E6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6474" y="750849"/>
            <a:ext cx="3708661" cy="3708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2300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 dirty="0"/>
              <a:t>Key principles of OOP</a:t>
            </a:r>
            <a:endParaRPr dirty="0"/>
          </a:p>
        </p:txBody>
      </p:sp>
      <p:sp>
        <p:nvSpPr>
          <p:cNvPr id="225" name="Google Shape;225;p30"/>
          <p:cNvSpPr txBox="1">
            <a:spLocks noGrp="1"/>
          </p:cNvSpPr>
          <p:nvPr>
            <p:ph type="title"/>
          </p:nvPr>
        </p:nvSpPr>
        <p:spPr>
          <a:xfrm>
            <a:off x="720000" y="1017725"/>
            <a:ext cx="4089893" cy="12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 dirty="0">
                <a:solidFill>
                  <a:schemeClr val="dk1"/>
                </a:solidFill>
              </a:rPr>
              <a:t>Polymorphism: </a:t>
            </a:r>
            <a:r>
              <a:rPr lang="en-US" sz="2000" b="0" dirty="0">
                <a:solidFill>
                  <a:schemeClr val="dk1"/>
                </a:solidFill>
              </a:rPr>
              <a:t>Allows objects to take on many forms, e.g., a single method or class to represent different underlying data types or behaviors.</a:t>
            </a:r>
            <a:br>
              <a:rPr lang="en-US" sz="2000" b="0" dirty="0">
                <a:solidFill>
                  <a:schemeClr val="dk1"/>
                </a:solidFill>
              </a:rPr>
            </a:br>
            <a:br>
              <a:rPr lang="en-US" sz="2000" dirty="0">
                <a:solidFill>
                  <a:schemeClr val="dk1"/>
                </a:solidFill>
              </a:rPr>
            </a:br>
            <a:r>
              <a:rPr lang="en-US" sz="2000" b="0" dirty="0">
                <a:solidFill>
                  <a:schemeClr val="dk1"/>
                </a:solidFill>
              </a:rPr>
              <a:t>Example: A </a:t>
            </a:r>
            <a:r>
              <a:rPr lang="en-US" sz="2000" b="0" i="1" dirty="0">
                <a:solidFill>
                  <a:schemeClr val="dk1"/>
                </a:solidFill>
              </a:rPr>
              <a:t>draw() </a:t>
            </a:r>
            <a:r>
              <a:rPr lang="en-US" sz="2000" b="0" dirty="0">
                <a:solidFill>
                  <a:schemeClr val="dk1"/>
                </a:solidFill>
              </a:rPr>
              <a:t>method behaves differently for </a:t>
            </a:r>
            <a:r>
              <a:rPr lang="en-US" sz="2000" b="0" i="1" dirty="0">
                <a:solidFill>
                  <a:schemeClr val="dk1"/>
                </a:solidFill>
              </a:rPr>
              <a:t>Circle</a:t>
            </a:r>
            <a:r>
              <a:rPr lang="en-US" sz="2000" b="0" dirty="0">
                <a:solidFill>
                  <a:schemeClr val="dk1"/>
                </a:solidFill>
              </a:rPr>
              <a:t> and </a:t>
            </a:r>
            <a:r>
              <a:rPr lang="en-US" sz="2000" b="0" i="1" dirty="0">
                <a:solidFill>
                  <a:schemeClr val="dk1"/>
                </a:solidFill>
              </a:rPr>
              <a:t>Rectangle</a:t>
            </a:r>
            <a:r>
              <a:rPr lang="en-US" sz="2000" b="0" dirty="0">
                <a:solidFill>
                  <a:schemeClr val="dk1"/>
                </a:solidFill>
              </a:rPr>
              <a:t> objects.</a:t>
            </a:r>
            <a:br>
              <a:rPr lang="en-US" sz="2000" b="0" dirty="0">
                <a:solidFill>
                  <a:schemeClr val="dk1"/>
                </a:solidFill>
              </a:rPr>
            </a:br>
            <a:r>
              <a:rPr lang="en-US" sz="2000" b="0" dirty="0">
                <a:solidFill>
                  <a:schemeClr val="dk1"/>
                </a:solidFill>
              </a:rPr>
              <a:t>=&gt;Simplifies code and makes it flexible.</a:t>
            </a:r>
            <a:endParaRPr lang="en-US" b="0" dirty="0"/>
          </a:p>
        </p:txBody>
      </p:sp>
      <p:sp>
        <p:nvSpPr>
          <p:cNvPr id="227" name="Google Shape;227;p3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1EADFD-6210-3D81-507C-D7971E83E6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6474" y="750849"/>
            <a:ext cx="3708661" cy="3708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937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 dirty="0"/>
              <a:t>Key principles of OOP</a:t>
            </a:r>
            <a:endParaRPr dirty="0"/>
          </a:p>
        </p:txBody>
      </p:sp>
      <p:sp>
        <p:nvSpPr>
          <p:cNvPr id="225" name="Google Shape;225;p30"/>
          <p:cNvSpPr txBox="1">
            <a:spLocks noGrp="1"/>
          </p:cNvSpPr>
          <p:nvPr>
            <p:ph type="title"/>
          </p:nvPr>
        </p:nvSpPr>
        <p:spPr>
          <a:xfrm>
            <a:off x="720000" y="1017725"/>
            <a:ext cx="4089893" cy="12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 dirty="0">
                <a:solidFill>
                  <a:schemeClr val="dk1"/>
                </a:solidFill>
              </a:rPr>
              <a:t>Abstraction: </a:t>
            </a:r>
            <a:r>
              <a:rPr lang="en-US" sz="2000" b="0" dirty="0">
                <a:solidFill>
                  <a:schemeClr val="dk1"/>
                </a:solidFill>
              </a:rPr>
              <a:t>Hides implementation details and exposes only essential features, simplifying complex systems for the user.</a:t>
            </a:r>
            <a:br>
              <a:rPr lang="en-US" sz="2000" b="0" dirty="0">
                <a:solidFill>
                  <a:schemeClr val="dk1"/>
                </a:solidFill>
              </a:rPr>
            </a:br>
            <a:br>
              <a:rPr lang="en-US" sz="2000" b="0" dirty="0">
                <a:solidFill>
                  <a:schemeClr val="dk1"/>
                </a:solidFill>
              </a:rPr>
            </a:br>
            <a:r>
              <a:rPr lang="en-US" sz="2000" b="0" dirty="0">
                <a:solidFill>
                  <a:schemeClr val="dk1"/>
                </a:solidFill>
              </a:rPr>
              <a:t>Example: A user presses a car's "start" button without needing to understand the engine mechanics.</a:t>
            </a:r>
            <a:br>
              <a:rPr lang="en-US" sz="2000" b="0" dirty="0">
                <a:solidFill>
                  <a:schemeClr val="dk1"/>
                </a:solidFill>
              </a:rPr>
            </a:br>
            <a:r>
              <a:rPr lang="en-US" sz="2000" b="0" dirty="0">
                <a:solidFill>
                  <a:schemeClr val="dk1"/>
                </a:solidFill>
              </a:rPr>
              <a:t>=&gt;Reduce complexity</a:t>
            </a:r>
            <a:endParaRPr lang="en-US" b="0" dirty="0"/>
          </a:p>
        </p:txBody>
      </p:sp>
      <p:sp>
        <p:nvSpPr>
          <p:cNvPr id="227" name="Google Shape;227;p3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1EADFD-6210-3D81-507C-D7971E83E6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6474" y="750849"/>
            <a:ext cx="3708661" cy="3708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9308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 dirty="0"/>
              <a:t>Why OOP?</a:t>
            </a:r>
            <a:endParaRPr dirty="0"/>
          </a:p>
        </p:txBody>
      </p:sp>
      <p:sp>
        <p:nvSpPr>
          <p:cNvPr id="225" name="Google Shape;225;p30"/>
          <p:cNvSpPr txBox="1">
            <a:spLocks noGrp="1"/>
          </p:cNvSpPr>
          <p:nvPr>
            <p:ph type="title"/>
          </p:nvPr>
        </p:nvSpPr>
        <p:spPr>
          <a:xfrm>
            <a:off x="720000" y="1017725"/>
            <a:ext cx="7472429" cy="12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</a:pPr>
            <a:r>
              <a:rPr lang="en-US" sz="2000" b="0" dirty="0">
                <a:solidFill>
                  <a:schemeClr val="dk1"/>
                </a:solidFill>
              </a:rPr>
              <a:t>Create systems that are </a:t>
            </a:r>
            <a:r>
              <a:rPr lang="en-US" sz="2000" dirty="0">
                <a:solidFill>
                  <a:schemeClr val="dk1"/>
                </a:solidFill>
              </a:rPr>
              <a:t>modular</a:t>
            </a:r>
            <a:r>
              <a:rPr lang="en-US" sz="2000" b="0" dirty="0">
                <a:solidFill>
                  <a:schemeClr val="dk1"/>
                </a:solidFill>
              </a:rPr>
              <a:t>, </a:t>
            </a:r>
            <a:r>
              <a:rPr lang="en-US" sz="2000" dirty="0">
                <a:solidFill>
                  <a:schemeClr val="dk1"/>
                </a:solidFill>
              </a:rPr>
              <a:t>scalable</a:t>
            </a:r>
            <a:r>
              <a:rPr lang="en-US" sz="2000" b="0" dirty="0">
                <a:solidFill>
                  <a:schemeClr val="dk1"/>
                </a:solidFill>
              </a:rPr>
              <a:t>, </a:t>
            </a:r>
            <a:r>
              <a:rPr lang="en-US" sz="2000" dirty="0">
                <a:solidFill>
                  <a:schemeClr val="dk1"/>
                </a:solidFill>
              </a:rPr>
              <a:t>reusable</a:t>
            </a:r>
            <a:r>
              <a:rPr lang="en-US" sz="2000" b="0" dirty="0">
                <a:solidFill>
                  <a:schemeClr val="dk1"/>
                </a:solidFill>
              </a:rPr>
              <a:t>, and </a:t>
            </a:r>
            <a:r>
              <a:rPr lang="en-US" sz="2000" dirty="0">
                <a:solidFill>
                  <a:schemeClr val="dk1"/>
                </a:solidFill>
              </a:rPr>
              <a:t>easier to understand</a:t>
            </a:r>
            <a:r>
              <a:rPr lang="en-US" sz="2000" b="0" dirty="0">
                <a:solidFill>
                  <a:schemeClr val="dk1"/>
                </a:solidFill>
              </a:rPr>
              <a:t>. </a:t>
            </a:r>
            <a:br>
              <a:rPr lang="en-US" sz="2000" b="0" dirty="0">
                <a:solidFill>
                  <a:schemeClr val="dk1"/>
                </a:solidFill>
              </a:rPr>
            </a:br>
            <a:r>
              <a:rPr lang="en-US" sz="2000" b="0" dirty="0">
                <a:solidFill>
                  <a:schemeClr val="dk1"/>
                </a:solidFill>
              </a:rPr>
              <a:t>Think of a car in the real world. It has:</a:t>
            </a:r>
            <a:br>
              <a:rPr lang="en-US" sz="2000" b="0" dirty="0">
                <a:solidFill>
                  <a:schemeClr val="dk1"/>
                </a:solidFill>
              </a:rPr>
            </a:br>
            <a:r>
              <a:rPr lang="en-US" sz="2000" b="0" dirty="0">
                <a:solidFill>
                  <a:schemeClr val="dk1"/>
                </a:solidFill>
              </a:rPr>
              <a:t>    Attributes: color, brand, speed, fuel capacity.</a:t>
            </a:r>
            <a:br>
              <a:rPr lang="en-US" sz="2000" b="0" dirty="0">
                <a:solidFill>
                  <a:schemeClr val="dk1"/>
                </a:solidFill>
              </a:rPr>
            </a:br>
            <a:r>
              <a:rPr lang="en-US" sz="2000" b="0" dirty="0">
                <a:solidFill>
                  <a:schemeClr val="dk1"/>
                </a:solidFill>
              </a:rPr>
              <a:t>    Behaviors: start, stop, accelerate.</a:t>
            </a:r>
            <a:br>
              <a:rPr lang="en-US" sz="2000" b="0" dirty="0">
                <a:solidFill>
                  <a:schemeClr val="dk1"/>
                </a:solidFill>
              </a:rPr>
            </a:br>
            <a:r>
              <a:rPr lang="en-US" sz="2000" dirty="0">
                <a:solidFill>
                  <a:schemeClr val="dk1"/>
                </a:solidFill>
              </a:rPr>
              <a:t>Modular -&gt; </a:t>
            </a:r>
            <a:r>
              <a:rPr lang="en-US" sz="2000" b="0" dirty="0">
                <a:solidFill>
                  <a:schemeClr val="dk1"/>
                </a:solidFill>
              </a:rPr>
              <a:t>divides programs into independent, self-contained classes</a:t>
            </a:r>
            <a:br>
              <a:rPr lang="en-US" sz="2000" b="0" dirty="0">
                <a:solidFill>
                  <a:schemeClr val="dk1"/>
                </a:solidFill>
              </a:rPr>
            </a:br>
            <a:r>
              <a:rPr lang="en-US" sz="2000" dirty="0">
                <a:solidFill>
                  <a:schemeClr val="dk1"/>
                </a:solidFill>
              </a:rPr>
              <a:t>Scalable -&gt; </a:t>
            </a:r>
            <a:r>
              <a:rPr lang="en-US" sz="2000" b="0" dirty="0">
                <a:solidFill>
                  <a:schemeClr val="dk1"/>
                </a:solidFill>
              </a:rPr>
              <a:t>allows new functionality to be added or extended</a:t>
            </a:r>
            <a:br>
              <a:rPr lang="en-US" sz="2000" b="0" dirty="0">
                <a:solidFill>
                  <a:schemeClr val="dk1"/>
                </a:solidFill>
              </a:rPr>
            </a:br>
            <a:r>
              <a:rPr lang="en-US" sz="2000" dirty="0">
                <a:solidFill>
                  <a:schemeClr val="dk1"/>
                </a:solidFill>
              </a:rPr>
              <a:t>Reusable -&gt; </a:t>
            </a:r>
            <a:r>
              <a:rPr lang="en-US" sz="2000" b="0" dirty="0">
                <a:solidFill>
                  <a:schemeClr val="dk1"/>
                </a:solidFill>
              </a:rPr>
              <a:t>creating generic classes or extending existing classes</a:t>
            </a:r>
            <a:br>
              <a:rPr lang="en-US" sz="2000" b="0" dirty="0">
                <a:solidFill>
                  <a:schemeClr val="dk1"/>
                </a:solidFill>
              </a:rPr>
            </a:br>
            <a:r>
              <a:rPr lang="en-US" sz="2000" dirty="0">
                <a:solidFill>
                  <a:schemeClr val="dk1"/>
                </a:solidFill>
              </a:rPr>
              <a:t>Easier to understand -&gt;  </a:t>
            </a:r>
            <a:r>
              <a:rPr lang="en-US" sz="2000" b="0" dirty="0">
                <a:solidFill>
                  <a:schemeClr val="dk1"/>
                </a:solidFill>
              </a:rPr>
              <a:t>models real-world entities with objects</a:t>
            </a:r>
            <a:endParaRPr lang="en-US" b="0" dirty="0"/>
          </a:p>
        </p:txBody>
      </p:sp>
      <p:sp>
        <p:nvSpPr>
          <p:cNvPr id="227" name="Google Shape;227;p3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054513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2"/>
          <p:cNvSpPr txBox="1">
            <a:spLocks noGrp="1"/>
          </p:cNvSpPr>
          <p:nvPr>
            <p:ph type="title"/>
          </p:nvPr>
        </p:nvSpPr>
        <p:spPr>
          <a:xfrm>
            <a:off x="3510436" y="2078107"/>
            <a:ext cx="3653400" cy="98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lang="en-US" dirty="0"/>
              <a:t>ENCAPSULATION</a:t>
            </a:r>
            <a:endParaRPr b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32"/>
          <p:cNvSpPr txBox="1">
            <a:spLocks noGrp="1"/>
          </p:cNvSpPr>
          <p:nvPr>
            <p:ph type="title" idx="2"/>
          </p:nvPr>
        </p:nvSpPr>
        <p:spPr>
          <a:xfrm>
            <a:off x="1980166" y="2076006"/>
            <a:ext cx="1343100" cy="9894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Font typeface="Calibri"/>
              <a:buNone/>
            </a:pPr>
            <a:r>
              <a:rPr lang="en-US" b="1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1">
              <a:solidFill>
                <a:srgbClr val="2E75B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3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/>
              <a:t>What is Encapsulation?</a:t>
            </a:r>
            <a:endParaRPr/>
          </a:p>
        </p:txBody>
      </p:sp>
      <p:sp>
        <p:nvSpPr>
          <p:cNvPr id="225" name="Google Shape;225;p30"/>
          <p:cNvSpPr txBox="1">
            <a:spLocks noGrp="1"/>
          </p:cNvSpPr>
          <p:nvPr>
            <p:ph type="title"/>
          </p:nvPr>
        </p:nvSpPr>
        <p:spPr>
          <a:xfrm>
            <a:off x="720000" y="1017725"/>
            <a:ext cx="7704000" cy="12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 b="0" dirty="0">
                <a:solidFill>
                  <a:schemeClr val="dk1"/>
                </a:solidFill>
              </a:rPr>
              <a:t>When </a:t>
            </a:r>
            <a:r>
              <a:rPr lang="en-US" sz="2000" i="1" dirty="0">
                <a:solidFill>
                  <a:schemeClr val="dk1"/>
                </a:solidFill>
              </a:rPr>
              <a:t>creating new data types (classes)</a:t>
            </a:r>
            <a:r>
              <a:rPr lang="en-US" sz="2000" b="0" dirty="0">
                <a:solidFill>
                  <a:schemeClr val="dk1"/>
                </a:solidFill>
              </a:rPr>
              <a:t> the </a:t>
            </a:r>
            <a:r>
              <a:rPr lang="en-US" sz="2000" i="1" dirty="0">
                <a:solidFill>
                  <a:schemeClr val="dk1"/>
                </a:solidFill>
              </a:rPr>
              <a:t>details of the actual data</a:t>
            </a:r>
            <a:r>
              <a:rPr lang="en-US" sz="2000" b="0" dirty="0">
                <a:solidFill>
                  <a:schemeClr val="dk1"/>
                </a:solidFill>
              </a:rPr>
              <a:t> and </a:t>
            </a:r>
            <a:r>
              <a:rPr lang="en-US" sz="2000" i="1" dirty="0">
                <a:solidFill>
                  <a:schemeClr val="dk1"/>
                </a:solidFill>
              </a:rPr>
              <a:t>the way operations work</a:t>
            </a:r>
            <a:r>
              <a:rPr lang="en-US" sz="2000" b="0" dirty="0">
                <a:solidFill>
                  <a:schemeClr val="dk1"/>
                </a:solidFill>
              </a:rPr>
              <a:t> </a:t>
            </a:r>
            <a:r>
              <a:rPr lang="en-US" sz="2000" i="1" dirty="0">
                <a:solidFill>
                  <a:schemeClr val="dk1"/>
                </a:solidFill>
              </a:rPr>
              <a:t>is hidden</a:t>
            </a:r>
            <a:r>
              <a:rPr lang="en-US" sz="2000" b="0" dirty="0">
                <a:solidFill>
                  <a:schemeClr val="dk1"/>
                </a:solidFill>
              </a:rPr>
              <a:t> from the other programmers who will use those new data types.</a:t>
            </a:r>
            <a:endParaRPr dirty="0"/>
          </a:p>
        </p:txBody>
      </p:sp>
      <p:pic>
        <p:nvPicPr>
          <p:cNvPr id="226" name="Google Shape;226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49636" y="2262725"/>
            <a:ext cx="3244727" cy="277585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3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/>
              <a:t>Why is Encapsulation important?</a:t>
            </a:r>
            <a:endParaRPr/>
          </a:p>
        </p:txBody>
      </p:sp>
      <p:pic>
        <p:nvPicPr>
          <p:cNvPr id="233" name="Google Shape;23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93621" y="1017775"/>
            <a:ext cx="3123275" cy="3480499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31"/>
          <p:cNvSpPr txBox="1">
            <a:spLocks noGrp="1"/>
          </p:cNvSpPr>
          <p:nvPr>
            <p:ph type="title"/>
          </p:nvPr>
        </p:nvSpPr>
        <p:spPr>
          <a:xfrm>
            <a:off x="720000" y="963275"/>
            <a:ext cx="5286900" cy="35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2000" b="0">
                <a:solidFill>
                  <a:schemeClr val="dk1"/>
                </a:solidFill>
              </a:rPr>
              <a:t>By controlling how data and methods are accessed or modified, encapsulation ensures:</a:t>
            </a:r>
            <a:endParaRPr sz="2000" b="0">
              <a:solidFill>
                <a:schemeClr val="dk1"/>
              </a:solidFill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Data Integrity</a:t>
            </a:r>
            <a:r>
              <a:rPr lang="en-US" sz="2000" b="0">
                <a:solidFill>
                  <a:schemeClr val="dk1"/>
                </a:solidFill>
              </a:rPr>
              <a:t>: Prevents unauthorized or accidental changes to data.</a:t>
            </a:r>
            <a:endParaRPr sz="2000" b="0">
              <a:solidFill>
                <a:schemeClr val="dk1"/>
              </a:solidFill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Security</a:t>
            </a:r>
            <a:r>
              <a:rPr lang="en-US" sz="2000" b="0">
                <a:solidFill>
                  <a:schemeClr val="dk1"/>
                </a:solidFill>
              </a:rPr>
              <a:t>: Sensitive data is hidden from unauthorized access.</a:t>
            </a:r>
            <a:endParaRPr sz="2000" b="0">
              <a:solidFill>
                <a:schemeClr val="dk1"/>
              </a:solidFill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Ease of Use</a:t>
            </a:r>
            <a:r>
              <a:rPr lang="en-US" sz="2000" b="0">
                <a:solidFill>
                  <a:schemeClr val="dk1"/>
                </a:solidFill>
              </a:rPr>
              <a:t>: Users of the class do not need to understand its internal complexities.</a:t>
            </a:r>
            <a:endParaRPr sz="2000" b="0">
              <a:solidFill>
                <a:schemeClr val="dk1"/>
              </a:solidFill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>
                <a:solidFill>
                  <a:schemeClr val="dk1"/>
                </a:solidFill>
              </a:rPr>
              <a:t>Code Maintenance</a:t>
            </a:r>
            <a:r>
              <a:rPr lang="en-US" sz="2000" b="0">
                <a:solidFill>
                  <a:schemeClr val="dk1"/>
                </a:solidFill>
              </a:rPr>
              <a:t>: Internal implementation can change without impacting external usage.</a:t>
            </a:r>
            <a:endParaRPr sz="2000" b="0">
              <a:solidFill>
                <a:schemeClr val="dk1"/>
              </a:solidFill>
            </a:endParaRPr>
          </a:p>
        </p:txBody>
      </p:sp>
      <p:sp>
        <p:nvSpPr>
          <p:cNvPr id="235" name="Google Shape;235;p3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/>
              <a:t>Core principles of Encapsulation</a:t>
            </a:r>
            <a:endParaRPr/>
          </a:p>
        </p:txBody>
      </p:sp>
      <p:sp>
        <p:nvSpPr>
          <p:cNvPr id="248" name="Google Shape;248;p33"/>
          <p:cNvSpPr txBox="1">
            <a:spLocks noGrp="1"/>
          </p:cNvSpPr>
          <p:nvPr>
            <p:ph type="title"/>
          </p:nvPr>
        </p:nvSpPr>
        <p:spPr>
          <a:xfrm>
            <a:off x="720000" y="1017725"/>
            <a:ext cx="7704000" cy="36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 sz="2000" dirty="0">
                <a:solidFill>
                  <a:schemeClr val="dk1"/>
                </a:solidFill>
              </a:rPr>
              <a:t>Data Hiding</a:t>
            </a:r>
            <a:r>
              <a:rPr lang="en-US" sz="2000" b="0" dirty="0">
                <a:solidFill>
                  <a:schemeClr val="dk1"/>
                </a:solidFill>
              </a:rPr>
              <a:t>: The internal state of an object is kept private and can only be accessed through public methods (getters and setters).</a:t>
            </a:r>
            <a:endParaRPr sz="2000" b="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 sz="2000" dirty="0">
                <a:solidFill>
                  <a:schemeClr val="dk1"/>
                </a:solidFill>
              </a:rPr>
              <a:t>Access Control</a:t>
            </a:r>
            <a:r>
              <a:rPr lang="en-US" sz="2000" b="0" dirty="0">
                <a:solidFill>
                  <a:schemeClr val="dk1"/>
                </a:solidFill>
              </a:rPr>
              <a:t>: Access specifiers are used to control the visibility of class members:</a:t>
            </a:r>
            <a:endParaRPr sz="2000" b="0" dirty="0">
              <a:solidFill>
                <a:schemeClr val="dk1"/>
              </a:solidFill>
            </a:endParaRPr>
          </a:p>
          <a:p>
            <a:pPr marL="10160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</a:pPr>
            <a:r>
              <a:rPr lang="en-US" sz="2000" dirty="0">
                <a:solidFill>
                  <a:srgbClr val="FF0000"/>
                </a:solidFill>
              </a:rPr>
              <a:t>private</a:t>
            </a:r>
            <a:r>
              <a:rPr lang="en-US" sz="2000" b="0" dirty="0">
                <a:solidFill>
                  <a:schemeClr val="dk1"/>
                </a:solidFill>
              </a:rPr>
              <a:t>: Accessible only within the defining class.</a:t>
            </a:r>
            <a:br>
              <a:rPr lang="en-US" sz="2000" b="0" dirty="0">
                <a:solidFill>
                  <a:schemeClr val="dk1"/>
                </a:solidFill>
              </a:rPr>
            </a:br>
            <a:r>
              <a:rPr lang="en-US" sz="2000" dirty="0">
                <a:solidFill>
                  <a:schemeClr val="dk1"/>
                </a:solidFill>
              </a:rPr>
              <a:t>default: </a:t>
            </a:r>
            <a:r>
              <a:rPr lang="en-US" sz="2000" b="0" dirty="0">
                <a:solidFill>
                  <a:schemeClr val="dk1"/>
                </a:solidFill>
              </a:rPr>
              <a:t>Accessible only within the same package.</a:t>
            </a:r>
            <a:endParaRPr sz="2000" b="0" dirty="0">
              <a:solidFill>
                <a:schemeClr val="dk1"/>
              </a:solidFill>
            </a:endParaRPr>
          </a:p>
          <a:p>
            <a:pPr marL="10160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</a:pPr>
            <a:r>
              <a:rPr lang="en-US" sz="2000" dirty="0">
                <a:solidFill>
                  <a:schemeClr val="accent4"/>
                </a:solidFill>
              </a:rPr>
              <a:t>protected</a:t>
            </a:r>
            <a:r>
              <a:rPr lang="en-US" sz="2000" b="0" dirty="0">
                <a:solidFill>
                  <a:schemeClr val="dk1"/>
                </a:solidFill>
              </a:rPr>
              <a:t>: Accessible within the same package and by subclasses (even in different packages).</a:t>
            </a:r>
            <a:br>
              <a:rPr lang="en-US" sz="2000" b="0" dirty="0">
                <a:solidFill>
                  <a:schemeClr val="dk1"/>
                </a:solidFill>
              </a:rPr>
            </a:br>
            <a:r>
              <a:rPr lang="en-US" sz="2000" dirty="0">
                <a:solidFill>
                  <a:srgbClr val="00B050"/>
                </a:solidFill>
              </a:rPr>
              <a:t>public</a:t>
            </a:r>
            <a:r>
              <a:rPr lang="en-US" sz="2000" b="0" dirty="0">
                <a:solidFill>
                  <a:schemeClr val="dk1"/>
                </a:solidFill>
              </a:rPr>
              <a:t>: Accessible from anywhere (any class, any package, and any subclass).</a:t>
            </a:r>
            <a:endParaRPr sz="2000" b="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endParaRPr sz="2000" b="0" dirty="0">
              <a:solidFill>
                <a:schemeClr val="dk1"/>
              </a:solidFill>
            </a:endParaRPr>
          </a:p>
        </p:txBody>
      </p:sp>
      <p:sp>
        <p:nvSpPr>
          <p:cNvPr id="249" name="Google Shape;249;p3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/>
              <a:t>Example</a:t>
            </a:r>
            <a:endParaRPr/>
          </a:p>
        </p:txBody>
      </p:sp>
      <p:sp>
        <p:nvSpPr>
          <p:cNvPr id="255" name="Google Shape;255;p34"/>
          <p:cNvSpPr txBox="1">
            <a:spLocks noGrp="1"/>
          </p:cNvSpPr>
          <p:nvPr>
            <p:ph type="title"/>
          </p:nvPr>
        </p:nvSpPr>
        <p:spPr>
          <a:xfrm>
            <a:off x="720000" y="1017725"/>
            <a:ext cx="7704000" cy="388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900" dirty="0">
                <a:solidFill>
                  <a:srgbClr val="CC6C1D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900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CC6C1D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900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1290C3"/>
                </a:solidFill>
                <a:effectLst/>
                <a:latin typeface="Consolas" panose="020B0609020204030204" pitchFamily="49" charset="0"/>
              </a:rPr>
              <a:t>Person</a:t>
            </a:r>
            <a:r>
              <a:rPr lang="en-US" sz="900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sz="9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90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// Public: Accessible anywhere</a:t>
            </a:r>
            <a:br>
              <a:rPr lang="en-US" sz="9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900" dirty="0">
                <a:solidFill>
                  <a:srgbClr val="CC6C1D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900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1290C3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900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66E1F8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90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sz="9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en-US" sz="9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en-US" sz="9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90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// Protected: Accessible within the same package or by subclasses</a:t>
            </a:r>
            <a:br>
              <a:rPr lang="en-US" sz="9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900" dirty="0">
                <a:solidFill>
                  <a:srgbClr val="CC6C1D"/>
                </a:solidFill>
                <a:effectLst/>
                <a:latin typeface="Consolas" panose="020B0609020204030204" pitchFamily="49" charset="0"/>
              </a:rPr>
              <a:t>protected</a:t>
            </a:r>
            <a:r>
              <a:rPr lang="en-US" sz="900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CC6C1D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900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66E1F8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US" sz="90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sz="9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en-US" sz="9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en-US" sz="9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90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// Default (Package-private): Accessible only within the same package</a:t>
            </a:r>
            <a:br>
              <a:rPr lang="en-US" sz="9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900" dirty="0">
                <a:solidFill>
                  <a:srgbClr val="1290C3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900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66E1F8"/>
                </a:solidFill>
                <a:effectLst/>
                <a:latin typeface="Consolas" panose="020B0609020204030204" pitchFamily="49" charset="0"/>
              </a:rPr>
              <a:t>address</a:t>
            </a:r>
            <a:r>
              <a:rPr lang="en-US" sz="90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sz="9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en-US" sz="9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en-US" sz="9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90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// Private: Accessible only within this class</a:t>
            </a:r>
            <a:br>
              <a:rPr lang="en-US" sz="9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900" dirty="0">
                <a:solidFill>
                  <a:srgbClr val="CC6C1D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sz="900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1290C3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900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66E1F8"/>
                </a:solidFill>
                <a:effectLst/>
                <a:latin typeface="Consolas" panose="020B0609020204030204" pitchFamily="49" charset="0"/>
              </a:rPr>
              <a:t>password</a:t>
            </a:r>
            <a:r>
              <a:rPr lang="en-US" sz="90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sz="90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</a:br>
            <a:br>
              <a:rPr lang="en-US" sz="9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en-US" sz="9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90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// Constructor to initialize the object</a:t>
            </a:r>
            <a:br>
              <a:rPr lang="en-US" sz="9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900" dirty="0">
                <a:solidFill>
                  <a:srgbClr val="CC6C1D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90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1EB540"/>
                </a:solidFill>
                <a:effectLst/>
                <a:latin typeface="Consolas" panose="020B0609020204030204" pitchFamily="49" charset="0"/>
              </a:rPr>
              <a:t>Person</a:t>
            </a:r>
            <a:r>
              <a:rPr lang="en-US" sz="900" dirty="0">
                <a:solidFill>
                  <a:srgbClr val="F9FAF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900" dirty="0">
                <a:solidFill>
                  <a:srgbClr val="1290C3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900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79ABFF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900" dirty="0">
                <a:solidFill>
                  <a:srgbClr val="E6E6FA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900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CC6C1D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900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79ABFF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US" sz="900" dirty="0">
                <a:solidFill>
                  <a:srgbClr val="E6E6FA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900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1290C3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900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79ABFF"/>
                </a:solidFill>
                <a:effectLst/>
                <a:latin typeface="Consolas" panose="020B0609020204030204" pitchFamily="49" charset="0"/>
              </a:rPr>
              <a:t>address</a:t>
            </a:r>
            <a:r>
              <a:rPr lang="en-US" sz="900" dirty="0">
                <a:solidFill>
                  <a:srgbClr val="E6E6FA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900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1290C3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900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79ABFF"/>
                </a:solidFill>
                <a:effectLst/>
                <a:latin typeface="Consolas" panose="020B0609020204030204" pitchFamily="49" charset="0"/>
              </a:rPr>
              <a:t>password</a:t>
            </a:r>
            <a:r>
              <a:rPr lang="en-US" sz="90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lang="en-US" sz="9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900" dirty="0">
                <a:solidFill>
                  <a:srgbClr val="CC6C1D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900" dirty="0">
                <a:solidFill>
                  <a:srgbClr val="E6E6FA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900" dirty="0">
                <a:solidFill>
                  <a:srgbClr val="66E1F8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900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900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79ABFF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900" dirty="0">
                <a:solidFill>
                  <a:srgbClr val="E6E6FA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sz="9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900" dirty="0" err="1">
                <a:solidFill>
                  <a:srgbClr val="CC6C1D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900" dirty="0" err="1">
                <a:solidFill>
                  <a:srgbClr val="E6E6FA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900" dirty="0" err="1">
                <a:solidFill>
                  <a:srgbClr val="66E1F8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US" sz="900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900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79ABFF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US" sz="900" dirty="0">
                <a:solidFill>
                  <a:srgbClr val="E6E6FA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sz="9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900" dirty="0" err="1">
                <a:solidFill>
                  <a:srgbClr val="CC6C1D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900" dirty="0" err="1">
                <a:solidFill>
                  <a:srgbClr val="E6E6FA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900" dirty="0" err="1">
                <a:solidFill>
                  <a:srgbClr val="66E1F8"/>
                </a:solidFill>
                <a:effectLst/>
                <a:latin typeface="Consolas" panose="020B0609020204030204" pitchFamily="49" charset="0"/>
              </a:rPr>
              <a:t>address</a:t>
            </a:r>
            <a:r>
              <a:rPr lang="en-US" sz="900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900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79ABFF"/>
                </a:solidFill>
                <a:effectLst/>
                <a:latin typeface="Consolas" panose="020B0609020204030204" pitchFamily="49" charset="0"/>
              </a:rPr>
              <a:t>address</a:t>
            </a:r>
            <a:r>
              <a:rPr lang="en-US" sz="900" dirty="0">
                <a:solidFill>
                  <a:srgbClr val="E6E6FA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sz="9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900" dirty="0" err="1">
                <a:solidFill>
                  <a:srgbClr val="CC6C1D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sz="900" dirty="0" err="1">
                <a:solidFill>
                  <a:srgbClr val="E6E6FA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900" dirty="0" err="1">
                <a:solidFill>
                  <a:srgbClr val="66E1F8"/>
                </a:solidFill>
                <a:effectLst/>
                <a:latin typeface="Consolas" panose="020B0609020204030204" pitchFamily="49" charset="0"/>
              </a:rPr>
              <a:t>password</a:t>
            </a:r>
            <a:r>
              <a:rPr lang="en-US" sz="900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900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79ABFF"/>
                </a:solidFill>
                <a:effectLst/>
                <a:latin typeface="Consolas" panose="020B0609020204030204" pitchFamily="49" charset="0"/>
              </a:rPr>
              <a:t>password</a:t>
            </a:r>
            <a:r>
              <a:rPr lang="en-US" sz="900" dirty="0">
                <a:solidFill>
                  <a:srgbClr val="E6E6FA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sz="9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90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sz="9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en-US" sz="9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en-US" sz="9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90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// Getter for password to demonstrate controlled access</a:t>
            </a:r>
            <a:br>
              <a:rPr lang="en-US" sz="9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900" dirty="0">
                <a:solidFill>
                  <a:srgbClr val="CC6C1D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sz="900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1290C3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sz="900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dirty="0" err="1">
                <a:solidFill>
                  <a:srgbClr val="1EB540"/>
                </a:solidFill>
                <a:effectLst/>
                <a:latin typeface="Consolas" panose="020B0609020204030204" pitchFamily="49" charset="0"/>
              </a:rPr>
              <a:t>getPassword</a:t>
            </a:r>
            <a:r>
              <a:rPr lang="en-US" sz="90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() {</a:t>
            </a:r>
            <a:br>
              <a:rPr lang="en-US" sz="9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900" dirty="0">
                <a:solidFill>
                  <a:srgbClr val="CC6C1D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900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900" dirty="0">
                <a:solidFill>
                  <a:srgbClr val="66E1F8"/>
                </a:solidFill>
                <a:effectLst/>
                <a:latin typeface="Consolas" panose="020B0609020204030204" pitchFamily="49" charset="0"/>
              </a:rPr>
              <a:t>password</a:t>
            </a:r>
            <a:r>
              <a:rPr lang="en-US" sz="90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sz="90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</a:br>
            <a:r>
              <a:rPr lang="en-US" sz="90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sz="90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sz="900" b="0" dirty="0">
              <a:solidFill>
                <a:schemeClr val="dk1"/>
              </a:solidFill>
            </a:endParaRPr>
          </a:p>
        </p:txBody>
      </p:sp>
      <p:sp>
        <p:nvSpPr>
          <p:cNvPr id="256" name="Google Shape;256;p3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5"/>
          <p:cNvSpPr txBox="1">
            <a:spLocks noGrp="1"/>
          </p:cNvSpPr>
          <p:nvPr>
            <p:ph type="title"/>
          </p:nvPr>
        </p:nvSpPr>
        <p:spPr>
          <a:xfrm>
            <a:off x="3510436" y="2078107"/>
            <a:ext cx="3653400" cy="98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lang="en-US"/>
              <a:t>HOW ENCAPSULATION WORKS?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35"/>
          <p:cNvSpPr txBox="1">
            <a:spLocks noGrp="1"/>
          </p:cNvSpPr>
          <p:nvPr>
            <p:ph type="title" idx="2"/>
          </p:nvPr>
        </p:nvSpPr>
        <p:spPr>
          <a:xfrm>
            <a:off x="1980166" y="2076006"/>
            <a:ext cx="1343100" cy="9894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Font typeface="Calibri"/>
              <a:buNone/>
            </a:pPr>
            <a:r>
              <a:rPr lang="en-US" b="1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1">
              <a:solidFill>
                <a:srgbClr val="2E75B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3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 dirty="0"/>
              <a:t>Class vs struct</a:t>
            </a:r>
            <a:endParaRPr dirty="0"/>
          </a:p>
        </p:txBody>
      </p:sp>
      <p:sp>
        <p:nvSpPr>
          <p:cNvPr id="269" name="Google Shape;269;p36"/>
          <p:cNvSpPr txBox="1">
            <a:spLocks noGrp="1"/>
          </p:cNvSpPr>
          <p:nvPr>
            <p:ph type="title"/>
          </p:nvPr>
        </p:nvSpPr>
        <p:spPr>
          <a:xfrm>
            <a:off x="605727" y="921833"/>
            <a:ext cx="3936600" cy="2801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10160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</a:pPr>
            <a:r>
              <a:rPr lang="en-US" sz="2000" b="0" dirty="0">
                <a:solidFill>
                  <a:schemeClr val="dk1"/>
                </a:solidFill>
              </a:rPr>
              <a:t>Defining Classes and Objects </a:t>
            </a:r>
            <a:endParaRPr sz="2000" b="0"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dirty="0">
                <a:solidFill>
                  <a:schemeClr val="dk1"/>
                </a:solidFill>
              </a:rPr>
              <a:t>⇒ Can I use </a:t>
            </a:r>
            <a:r>
              <a:rPr lang="en-US" sz="2000" i="1" dirty="0">
                <a:solidFill>
                  <a:schemeClr val="dk1"/>
                </a:solidFill>
              </a:rPr>
              <a:t>Struct</a:t>
            </a:r>
            <a:r>
              <a:rPr lang="en-US" sz="2000" b="0" dirty="0">
                <a:solidFill>
                  <a:schemeClr val="dk1"/>
                </a:solidFill>
              </a:rPr>
              <a:t> instead of </a:t>
            </a:r>
            <a:r>
              <a:rPr lang="en-US" sz="2000" i="1" dirty="0">
                <a:solidFill>
                  <a:schemeClr val="dk1"/>
                </a:solidFill>
              </a:rPr>
              <a:t>Class</a:t>
            </a:r>
            <a:r>
              <a:rPr lang="en-US" sz="2000" b="0" dirty="0">
                <a:solidFill>
                  <a:schemeClr val="dk1"/>
                </a:solidFill>
              </a:rPr>
              <a:t>?</a:t>
            </a:r>
            <a:br>
              <a:rPr lang="en-US" sz="2000" b="0" dirty="0">
                <a:solidFill>
                  <a:schemeClr val="dk1"/>
                </a:solidFill>
              </a:rPr>
            </a:br>
            <a:r>
              <a:rPr lang="en-US" sz="2000" b="0" dirty="0">
                <a:solidFill>
                  <a:schemeClr val="dk1"/>
                </a:solidFill>
              </a:rPr>
              <a:t>Java: no struct</a:t>
            </a:r>
            <a:br>
              <a:rPr lang="en-US" sz="2000" b="0" dirty="0">
                <a:solidFill>
                  <a:schemeClr val="dk1"/>
                </a:solidFill>
              </a:rPr>
            </a:br>
            <a:r>
              <a:rPr lang="en-US" sz="2000" b="0" dirty="0">
                <a:solidFill>
                  <a:schemeClr val="dk1"/>
                </a:solidFill>
              </a:rPr>
              <a:t>C++: class and struct</a:t>
            </a:r>
            <a:br>
              <a:rPr lang="en-US" sz="2000" b="0" dirty="0">
                <a:solidFill>
                  <a:schemeClr val="dk1"/>
                </a:solidFill>
              </a:rPr>
            </a:br>
            <a:endParaRPr sz="2000" b="0" dirty="0">
              <a:solidFill>
                <a:schemeClr val="dk1"/>
              </a:solidFill>
            </a:endParaRPr>
          </a:p>
        </p:txBody>
      </p:sp>
      <p:pic>
        <p:nvPicPr>
          <p:cNvPr id="270" name="Google Shape;270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97951" y="203264"/>
            <a:ext cx="2509814" cy="2532501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3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FA4F421-1506-CA7E-494A-C0F2DDF274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1518842"/>
              </p:ext>
            </p:extLst>
          </p:nvPr>
        </p:nvGraphicFramePr>
        <p:xfrm>
          <a:off x="605726" y="2981740"/>
          <a:ext cx="7818273" cy="15084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6091">
                  <a:extLst>
                    <a:ext uri="{9D8B030D-6E8A-4147-A177-3AD203B41FA5}">
                      <a16:colId xmlns:a16="http://schemas.microsoft.com/office/drawing/2014/main" val="1274068842"/>
                    </a:ext>
                  </a:extLst>
                </a:gridCol>
                <a:gridCol w="2606091">
                  <a:extLst>
                    <a:ext uri="{9D8B030D-6E8A-4147-A177-3AD203B41FA5}">
                      <a16:colId xmlns:a16="http://schemas.microsoft.com/office/drawing/2014/main" val="3719000683"/>
                    </a:ext>
                  </a:extLst>
                </a:gridCol>
                <a:gridCol w="2606091">
                  <a:extLst>
                    <a:ext uri="{9D8B030D-6E8A-4147-A177-3AD203B41FA5}">
                      <a16:colId xmlns:a16="http://schemas.microsoft.com/office/drawing/2014/main" val="1046850913"/>
                    </a:ext>
                  </a:extLst>
                </a:gridCol>
              </a:tblGrid>
              <a:tr h="37712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Struct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Class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7081259"/>
                  </a:ext>
                </a:extLst>
              </a:tr>
              <a:tr h="377121">
                <a:tc>
                  <a:txBody>
                    <a:bodyPr/>
                    <a:lstStyle/>
                    <a:p>
                      <a:r>
                        <a:rPr lang="en-US" dirty="0"/>
                        <a:t>Default Access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Public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Private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5511377"/>
                  </a:ext>
                </a:extLst>
              </a:tr>
              <a:tr h="377121">
                <a:tc>
                  <a:txBody>
                    <a:bodyPr/>
                    <a:lstStyle/>
                    <a:p>
                      <a:r>
                        <a:rPr lang="en-US" dirty="0"/>
                        <a:t>Encapsulation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Less 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Full support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6777914"/>
                  </a:ext>
                </a:extLst>
              </a:tr>
              <a:tr h="377121">
                <a:tc>
                  <a:txBody>
                    <a:bodyPr/>
                    <a:lstStyle/>
                    <a:p>
                      <a:r>
                        <a:rPr lang="en-US" dirty="0"/>
                        <a:t>Use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Light weight objects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921853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/>
              <a:t>Constructor in Encapsulation</a:t>
            </a:r>
            <a:endParaRPr/>
          </a:p>
        </p:txBody>
      </p:sp>
      <p:sp>
        <p:nvSpPr>
          <p:cNvPr id="280" name="Google Shape;280;p37"/>
          <p:cNvSpPr txBox="1">
            <a:spLocks noGrp="1"/>
          </p:cNvSpPr>
          <p:nvPr>
            <p:ph type="title"/>
          </p:nvPr>
        </p:nvSpPr>
        <p:spPr>
          <a:xfrm>
            <a:off x="720000" y="1017725"/>
            <a:ext cx="7704000" cy="36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 sz="2000" b="0" dirty="0">
                <a:solidFill>
                  <a:schemeClr val="dk1"/>
                </a:solidFill>
              </a:rPr>
              <a:t>A constructor is a special function in a class:  </a:t>
            </a:r>
            <a:endParaRPr sz="2000" b="0" dirty="0">
              <a:solidFill>
                <a:schemeClr val="dk1"/>
              </a:solidFill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 b="0" dirty="0">
                <a:solidFill>
                  <a:schemeClr val="dk1"/>
                </a:solidFill>
              </a:rPr>
              <a:t>Same name as the class.  </a:t>
            </a:r>
            <a:endParaRPr sz="2000" b="0" dirty="0">
              <a:solidFill>
                <a:schemeClr val="dk1"/>
              </a:solidFill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 b="0" dirty="0">
                <a:solidFill>
                  <a:schemeClr val="dk1"/>
                </a:solidFill>
              </a:rPr>
              <a:t>Not have a return value.  </a:t>
            </a:r>
            <a:endParaRPr sz="2000" b="0" dirty="0">
              <a:solidFill>
                <a:schemeClr val="dk1"/>
              </a:solidFill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 b="0" dirty="0">
                <a:solidFill>
                  <a:schemeClr val="dk1"/>
                </a:solidFill>
              </a:rPr>
              <a:t>It is automatically called when an </a:t>
            </a:r>
            <a:r>
              <a:rPr lang="en-US" sz="2000" i="1" dirty="0">
                <a:solidFill>
                  <a:schemeClr val="dk1"/>
                </a:solidFill>
              </a:rPr>
              <a:t>object</a:t>
            </a:r>
            <a:r>
              <a:rPr lang="en-US" sz="2000" b="0" dirty="0">
                <a:solidFill>
                  <a:schemeClr val="dk1"/>
                </a:solidFill>
              </a:rPr>
              <a:t> is created (the programmer does not call it directly).  </a:t>
            </a:r>
            <a:endParaRPr sz="2000" b="0" dirty="0">
              <a:solidFill>
                <a:schemeClr val="dk1"/>
              </a:solidFill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US" sz="2000" b="0" dirty="0">
                <a:solidFill>
                  <a:schemeClr val="dk1"/>
                </a:solidFill>
              </a:rPr>
              <a:t>If no constructor is declared, the program automatically provides a default </a:t>
            </a:r>
            <a:r>
              <a:rPr lang="en-US" sz="2000" i="1" dirty="0">
                <a:solidFill>
                  <a:schemeClr val="dk1"/>
                </a:solidFill>
              </a:rPr>
              <a:t>empty constructor</a:t>
            </a:r>
            <a:r>
              <a:rPr lang="en-US" sz="2000" b="0" dirty="0">
                <a:solidFill>
                  <a:schemeClr val="dk1"/>
                </a:solidFill>
              </a:rPr>
              <a:t>. </a:t>
            </a:r>
            <a:endParaRPr sz="2000" b="0" dirty="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dirty="0">
                <a:solidFill>
                  <a:schemeClr val="dk1"/>
                </a:solidFill>
              </a:rPr>
              <a:t>⇒ What is the access modifier for the default constructor</a:t>
            </a:r>
            <a:r>
              <a:rPr lang="en-US" sz="2000" b="0">
                <a:solidFill>
                  <a:schemeClr val="dk1"/>
                </a:solidFill>
              </a:rPr>
              <a:t>?</a:t>
            </a:r>
            <a:r>
              <a:rPr lang="en-US" sz="2000">
                <a:solidFill>
                  <a:schemeClr val="dk1"/>
                </a:solidFill>
              </a:rPr>
              <a:t> </a:t>
            </a:r>
            <a:br>
              <a:rPr lang="en-US" sz="2000">
                <a:solidFill>
                  <a:schemeClr val="dk1"/>
                </a:solidFill>
              </a:rPr>
            </a:br>
            <a:r>
              <a:rPr lang="en-US" sz="2000" b="0">
                <a:solidFill>
                  <a:schemeClr val="dk1"/>
                </a:solidFill>
              </a:rPr>
              <a:t>⇒ </a:t>
            </a:r>
            <a:r>
              <a:rPr lang="en-US" sz="2000" b="0" dirty="0">
                <a:solidFill>
                  <a:schemeClr val="dk1"/>
                </a:solidFill>
              </a:rPr>
              <a:t>Can we create a private constructor? (</a:t>
            </a:r>
            <a:r>
              <a:rPr lang="en-US" sz="2000" b="0" i="1" dirty="0">
                <a:solidFill>
                  <a:schemeClr val="dk1"/>
                </a:solidFill>
              </a:rPr>
              <a:t>Singleton Pattern</a:t>
            </a:r>
            <a:r>
              <a:rPr lang="en-US" sz="2000" b="0" dirty="0">
                <a:solidFill>
                  <a:schemeClr val="dk1"/>
                </a:solidFill>
              </a:rPr>
              <a:t>)</a:t>
            </a:r>
            <a:endParaRPr sz="2000" b="0" dirty="0">
              <a:solidFill>
                <a:schemeClr val="dk1"/>
              </a:solidFill>
            </a:endParaRPr>
          </a:p>
        </p:txBody>
      </p:sp>
      <p:sp>
        <p:nvSpPr>
          <p:cNvPr id="281" name="Google Shape;281;p3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678049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 dirty="0"/>
              <a:t>Getters and Setters</a:t>
            </a:r>
            <a:endParaRPr dirty="0"/>
          </a:p>
        </p:txBody>
      </p:sp>
      <p:sp>
        <p:nvSpPr>
          <p:cNvPr id="274" name="Google Shape;274;p3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B159B4F-5947-5D12-4D76-324BC953FE15}"/>
              </a:ext>
            </a:extLst>
          </p:cNvPr>
          <p:cNvSpPr txBox="1"/>
          <p:nvPr/>
        </p:nvSpPr>
        <p:spPr>
          <a:xfrm>
            <a:off x="720000" y="921835"/>
            <a:ext cx="4756430" cy="41395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Example: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CC6C1D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CC6C1D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1290C3"/>
                </a:solidFill>
                <a:effectLst/>
                <a:latin typeface="Consolas" panose="020B0609020204030204" pitchFamily="49" charset="0"/>
              </a:rPr>
              <a:t>Getset</a:t>
            </a:r>
            <a:r>
              <a:rPr lang="en-US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F9FAF4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CC6C1D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CC6C1D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66E1F8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US" dirty="0">
                <a:solidFill>
                  <a:srgbClr val="E6E6F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// Getter for 'age'</a:t>
            </a:r>
            <a:endParaRPr lang="en-US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CC6C1D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CC6C1D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1EB540"/>
                </a:solidFill>
                <a:effectLst/>
                <a:latin typeface="Consolas" panose="020B0609020204030204" pitchFamily="49" charset="0"/>
              </a:rPr>
              <a:t>getAge</a:t>
            </a:r>
            <a:r>
              <a:rPr lang="en-US" dirty="0">
                <a:solidFill>
                  <a:srgbClr val="F9FAF4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F9FAF4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CC6C1D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66E1F8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US" dirty="0">
                <a:solidFill>
                  <a:srgbClr val="E6E6F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F9FAF4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// Setter for 'age' with validation</a:t>
            </a:r>
            <a:endParaRPr lang="en-US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CC6C1D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CC6C1D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1EB540"/>
                </a:solidFill>
                <a:effectLst/>
                <a:latin typeface="Consolas" panose="020B0609020204030204" pitchFamily="49" charset="0"/>
              </a:rPr>
              <a:t>setAge</a:t>
            </a:r>
            <a:r>
              <a:rPr lang="en-US" dirty="0">
                <a:solidFill>
                  <a:srgbClr val="F9FAF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CC6C1D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79ABFF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US" dirty="0">
                <a:solidFill>
                  <a:srgbClr val="F9FAF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F9FAF4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CC6C1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F9FAF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79ABFF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US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E6E6FA"/>
                </a:solidFill>
                <a:effectLst/>
                <a:latin typeface="Consolas" panose="020B0609020204030204" pitchFamily="49" charset="0"/>
              </a:rPr>
              <a:t>&gt;=</a:t>
            </a:r>
            <a:r>
              <a:rPr lang="en-US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6897BB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dirty="0">
                <a:solidFill>
                  <a:srgbClr val="F9FAF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F9FAF4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 err="1">
                <a:solidFill>
                  <a:srgbClr val="CC6C1D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dirty="0" err="1">
                <a:solidFill>
                  <a:srgbClr val="E6E6FA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66E1F8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US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E6E6FA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79ABFF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US" dirty="0">
                <a:solidFill>
                  <a:srgbClr val="E6E6F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F9FAF4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CC6C1D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F9FAF4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 err="1">
                <a:solidFill>
                  <a:srgbClr val="1290C3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en-US" dirty="0" err="1">
                <a:solidFill>
                  <a:srgbClr val="E6E6FA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1" i="1" dirty="0" err="1">
                <a:solidFill>
                  <a:srgbClr val="8DDAF8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en-US" dirty="0" err="1">
                <a:solidFill>
                  <a:srgbClr val="E6E6FA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dirty="0" err="1">
                <a:solidFill>
                  <a:srgbClr val="A7EC21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en-US" dirty="0">
                <a:solidFill>
                  <a:srgbClr val="F9FAF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17C6A3"/>
                </a:solidFill>
                <a:effectLst/>
                <a:latin typeface="Consolas" panose="020B0609020204030204" pitchFamily="49" charset="0"/>
              </a:rPr>
              <a:t>"Age cannot be negative."</a:t>
            </a:r>
            <a:r>
              <a:rPr lang="en-US" dirty="0">
                <a:solidFill>
                  <a:srgbClr val="F9FAF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dirty="0">
                <a:solidFill>
                  <a:srgbClr val="E6E6FA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F9FAF4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F9FAF4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CC6C1D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en-US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CC6C1D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en-US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CC6C1D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1EB540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dirty="0">
                <a:solidFill>
                  <a:srgbClr val="F9FAF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1290C3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US" dirty="0">
                <a:solidFill>
                  <a:srgbClr val="F9FAF4"/>
                </a:solidFill>
                <a:effectLst/>
                <a:latin typeface="Consolas" panose="020B0609020204030204" pitchFamily="49" charset="0"/>
              </a:rPr>
              <a:t>[]</a:t>
            </a:r>
            <a:r>
              <a:rPr lang="en-US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79ABFF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en-US" dirty="0">
                <a:solidFill>
                  <a:srgbClr val="F9FAF4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dirty="0">
                <a:solidFill>
                  <a:srgbClr val="D9E8F7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F9FAF4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F9FAF4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F9FAF4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4AA506-B3E5-3CE2-BE0A-90552B8CAAD7}"/>
              </a:ext>
            </a:extLst>
          </p:cNvPr>
          <p:cNvSpPr txBox="1"/>
          <p:nvPr/>
        </p:nvSpPr>
        <p:spPr>
          <a:xfrm>
            <a:off x="5047786" y="792808"/>
            <a:ext cx="265919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Getters</a:t>
            </a:r>
            <a:r>
              <a:rPr lang="en-US" sz="2000" dirty="0"/>
              <a:t> and </a:t>
            </a:r>
            <a:r>
              <a:rPr lang="en-US" sz="2000" b="1" dirty="0"/>
              <a:t>Setters</a:t>
            </a:r>
            <a:r>
              <a:rPr lang="en-US" sz="2000" dirty="0"/>
              <a:t> are methods used to access and modify the private fields of a class, adhering to the principles of </a:t>
            </a:r>
            <a:r>
              <a:rPr lang="en-US" sz="2000" b="1" dirty="0"/>
              <a:t>encapsulation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7942275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 dirty="0"/>
              <a:t>Getters and Setters</a:t>
            </a:r>
            <a:endParaRPr dirty="0"/>
          </a:p>
        </p:txBody>
      </p:sp>
      <p:sp>
        <p:nvSpPr>
          <p:cNvPr id="274" name="Google Shape;274;p3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817977-4CC8-8D33-100A-BDAA56D71850}"/>
              </a:ext>
            </a:extLst>
          </p:cNvPr>
          <p:cNvSpPr txBox="1"/>
          <p:nvPr/>
        </p:nvSpPr>
        <p:spPr>
          <a:xfrm>
            <a:off x="784302" y="950887"/>
            <a:ext cx="7639697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Encapsulation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Protects the internal state of an object.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Control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Allows you to validate or modify data before it's set.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Consistency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Helps maintain consistent object state.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Flexibility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Makes it easier to change the internal implementation without affecting other code.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Readability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Improves the readability and maintainability of the code.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Access Control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Allows creation of read-only or write-only properties.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Debugging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Enables easy tracking and debugging of changes to the data. </a:t>
            </a:r>
          </a:p>
        </p:txBody>
      </p:sp>
    </p:spTree>
    <p:extLst>
      <p:ext uri="{BB962C8B-B14F-4D97-AF65-F5344CB8AC3E}">
        <p14:creationId xmlns:p14="http://schemas.microsoft.com/office/powerpoint/2010/main" val="18078103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9"/>
          <p:cNvSpPr txBox="1">
            <a:spLocks noGrp="1"/>
          </p:cNvSpPr>
          <p:nvPr>
            <p:ph type="title"/>
          </p:nvPr>
        </p:nvSpPr>
        <p:spPr>
          <a:xfrm>
            <a:off x="3510436" y="2078107"/>
            <a:ext cx="3653400" cy="98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lang="en-US"/>
              <a:t>BEST PRACTICES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39"/>
          <p:cNvSpPr txBox="1">
            <a:spLocks noGrp="1"/>
          </p:cNvSpPr>
          <p:nvPr>
            <p:ph type="title" idx="2"/>
          </p:nvPr>
        </p:nvSpPr>
        <p:spPr>
          <a:xfrm>
            <a:off x="1980166" y="2076006"/>
            <a:ext cx="1343100" cy="9894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Font typeface="Calibri"/>
              <a:buNone/>
            </a:pPr>
            <a:r>
              <a:rPr lang="en-US" b="1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1">
              <a:solidFill>
                <a:srgbClr val="2E75B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3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/>
              <a:t>Exercise 1 - Multiple constructor</a:t>
            </a:r>
            <a:endParaRPr/>
          </a:p>
        </p:txBody>
      </p:sp>
      <p:sp>
        <p:nvSpPr>
          <p:cNvPr id="301" name="Google Shape;301;p40"/>
          <p:cNvSpPr txBox="1">
            <a:spLocks noGrp="1"/>
          </p:cNvSpPr>
          <p:nvPr>
            <p:ph type="title"/>
          </p:nvPr>
        </p:nvSpPr>
        <p:spPr>
          <a:xfrm>
            <a:off x="720000" y="1017725"/>
            <a:ext cx="7704000" cy="36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dirty="0">
                <a:solidFill>
                  <a:schemeClr val="dk1"/>
                </a:solidFill>
              </a:rPr>
              <a:t>Create a Car class with the following private attributes:</a:t>
            </a:r>
            <a:endParaRPr sz="1800" b="0" dirty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0" i="1" dirty="0">
                <a:solidFill>
                  <a:schemeClr val="dk1"/>
                </a:solidFill>
              </a:rPr>
              <a:t>brand</a:t>
            </a:r>
            <a:r>
              <a:rPr lang="en-US" sz="1800" b="0" dirty="0">
                <a:solidFill>
                  <a:schemeClr val="dk1"/>
                </a:solidFill>
              </a:rPr>
              <a:t> (string)</a:t>
            </a:r>
            <a:endParaRPr sz="1800" b="0" dirty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0" i="1" dirty="0">
                <a:solidFill>
                  <a:schemeClr val="dk1"/>
                </a:solidFill>
              </a:rPr>
              <a:t>model</a:t>
            </a:r>
            <a:r>
              <a:rPr lang="en-US" sz="1800" b="0" dirty="0">
                <a:solidFill>
                  <a:schemeClr val="dk1"/>
                </a:solidFill>
              </a:rPr>
              <a:t> (string)</a:t>
            </a:r>
            <a:endParaRPr sz="1800" b="0" dirty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0" i="1" dirty="0">
                <a:solidFill>
                  <a:schemeClr val="dk1"/>
                </a:solidFill>
              </a:rPr>
              <a:t>year</a:t>
            </a:r>
            <a:r>
              <a:rPr lang="en-US" sz="1800" b="0" dirty="0">
                <a:solidFill>
                  <a:schemeClr val="dk1"/>
                </a:solidFill>
              </a:rPr>
              <a:t> (int)</a:t>
            </a:r>
            <a:endParaRPr sz="1800" b="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dirty="0">
                <a:solidFill>
                  <a:schemeClr val="dk1"/>
                </a:solidFill>
              </a:rPr>
              <a:t>Add the following:</a:t>
            </a:r>
            <a:endParaRPr sz="1800" b="0" dirty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0" dirty="0">
                <a:solidFill>
                  <a:schemeClr val="dk1"/>
                </a:solidFill>
              </a:rPr>
              <a:t>A default constructor that sets default values.</a:t>
            </a:r>
            <a:endParaRPr sz="1800" b="0" dirty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0" dirty="0">
                <a:solidFill>
                  <a:schemeClr val="dk1"/>
                </a:solidFill>
              </a:rPr>
              <a:t>A parameterized constructor to initialize all attributes.</a:t>
            </a:r>
            <a:endParaRPr sz="1800" b="0" dirty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0" dirty="0">
                <a:solidFill>
                  <a:schemeClr val="dk1"/>
                </a:solidFill>
              </a:rPr>
              <a:t>Setters and getters for all attributes.</a:t>
            </a:r>
            <a:endParaRPr sz="1800" b="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dirty="0">
                <a:solidFill>
                  <a:schemeClr val="dk1"/>
                </a:solidFill>
              </a:rPr>
              <a:t>Write a main function to:</a:t>
            </a:r>
            <a:endParaRPr sz="1800" b="0" dirty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0" dirty="0">
                <a:solidFill>
                  <a:schemeClr val="dk1"/>
                </a:solidFill>
              </a:rPr>
              <a:t>Create an object using the default constructor and display its details.</a:t>
            </a:r>
            <a:endParaRPr sz="1800" b="0" dirty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0" dirty="0">
                <a:solidFill>
                  <a:schemeClr val="dk1"/>
                </a:solidFill>
              </a:rPr>
              <a:t>Create another object using the parameterized constructor and display its details.</a:t>
            </a:r>
            <a:endParaRPr sz="1800" b="0" dirty="0">
              <a:solidFill>
                <a:schemeClr val="dk1"/>
              </a:solidFill>
            </a:endParaRPr>
          </a:p>
        </p:txBody>
      </p:sp>
      <p:sp>
        <p:nvSpPr>
          <p:cNvPr id="302" name="Google Shape;302;p4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/>
              <a:t>Exercise 2 - Constructor chaining</a:t>
            </a:r>
            <a:endParaRPr/>
          </a:p>
        </p:txBody>
      </p:sp>
      <p:sp>
        <p:nvSpPr>
          <p:cNvPr id="308" name="Google Shape;308;p41"/>
          <p:cNvSpPr txBox="1">
            <a:spLocks noGrp="1"/>
          </p:cNvSpPr>
          <p:nvPr>
            <p:ph type="title"/>
          </p:nvPr>
        </p:nvSpPr>
        <p:spPr>
          <a:xfrm>
            <a:off x="720000" y="1017725"/>
            <a:ext cx="7704000" cy="36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dirty="0">
                <a:solidFill>
                  <a:schemeClr val="dk1"/>
                </a:solidFill>
              </a:rPr>
              <a:t>Create a Laptop class with attributes:</a:t>
            </a:r>
            <a:endParaRPr sz="1800" b="0" dirty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0" i="1" dirty="0">
                <a:solidFill>
                  <a:schemeClr val="dk1"/>
                </a:solidFill>
              </a:rPr>
              <a:t>brand</a:t>
            </a:r>
            <a:r>
              <a:rPr lang="en-US" sz="1800" b="0" dirty="0">
                <a:solidFill>
                  <a:schemeClr val="dk1"/>
                </a:solidFill>
              </a:rPr>
              <a:t> (string)</a:t>
            </a:r>
            <a:endParaRPr sz="1800" b="0" dirty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0" i="1" dirty="0">
                <a:solidFill>
                  <a:schemeClr val="dk1"/>
                </a:solidFill>
              </a:rPr>
              <a:t>model</a:t>
            </a:r>
            <a:r>
              <a:rPr lang="en-US" sz="1800" b="0" dirty="0">
                <a:solidFill>
                  <a:schemeClr val="dk1"/>
                </a:solidFill>
              </a:rPr>
              <a:t> (string)</a:t>
            </a:r>
            <a:endParaRPr sz="1800" b="0" dirty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0" i="1" dirty="0">
                <a:solidFill>
                  <a:schemeClr val="dk1"/>
                </a:solidFill>
              </a:rPr>
              <a:t>price</a:t>
            </a:r>
            <a:r>
              <a:rPr lang="en-US" sz="1800" b="0" dirty="0">
                <a:solidFill>
                  <a:schemeClr val="dk1"/>
                </a:solidFill>
              </a:rPr>
              <a:t> (double)</a:t>
            </a:r>
            <a:endParaRPr sz="1800" b="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dirty="0">
                <a:solidFill>
                  <a:schemeClr val="dk1"/>
                </a:solidFill>
              </a:rPr>
              <a:t>Add the following:</a:t>
            </a:r>
            <a:endParaRPr sz="1800" b="0" dirty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0" dirty="0">
                <a:solidFill>
                  <a:schemeClr val="dk1"/>
                </a:solidFill>
              </a:rPr>
              <a:t>A default constructor.</a:t>
            </a:r>
            <a:endParaRPr sz="1800" b="0" dirty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0" dirty="0">
                <a:solidFill>
                  <a:schemeClr val="dk1"/>
                </a:solidFill>
              </a:rPr>
              <a:t>A parameterized constructor to initialize all attributes.</a:t>
            </a:r>
            <a:endParaRPr sz="1800" b="0" dirty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 b="0" dirty="0">
                <a:solidFill>
                  <a:schemeClr val="dk1"/>
                </a:solidFill>
              </a:rPr>
              <a:t>Use constructor chaining to call one constructor from another.</a:t>
            </a:r>
            <a:endParaRPr sz="1800" b="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dirty="0">
                <a:solidFill>
                  <a:schemeClr val="dk1"/>
                </a:solidFill>
              </a:rPr>
              <a:t>Write a main function to test the class.</a:t>
            </a:r>
            <a:endParaRPr sz="1800" b="0" dirty="0">
              <a:solidFill>
                <a:schemeClr val="dk1"/>
              </a:solidFill>
            </a:endParaRPr>
          </a:p>
        </p:txBody>
      </p:sp>
      <p:sp>
        <p:nvSpPr>
          <p:cNvPr id="309" name="Google Shape;309;p4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 dirty="0"/>
              <a:t>Exercise 3 (Bonus)</a:t>
            </a:r>
            <a:endParaRPr dirty="0"/>
          </a:p>
        </p:txBody>
      </p:sp>
      <p:sp>
        <p:nvSpPr>
          <p:cNvPr id="315" name="Google Shape;315;p42"/>
          <p:cNvSpPr txBox="1">
            <a:spLocks noGrp="1"/>
          </p:cNvSpPr>
          <p:nvPr>
            <p:ph type="title"/>
          </p:nvPr>
        </p:nvSpPr>
        <p:spPr>
          <a:xfrm>
            <a:off x="720000" y="1017725"/>
            <a:ext cx="7704000" cy="36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dirty="0">
                <a:solidFill>
                  <a:schemeClr val="dk1"/>
                </a:solidFill>
              </a:rPr>
              <a:t>Create a Library system using encapsulation and constructors.</a:t>
            </a:r>
            <a:endParaRPr sz="1800" b="0" dirty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US" sz="1800" b="0" dirty="0">
                <a:solidFill>
                  <a:schemeClr val="dk1"/>
                </a:solidFill>
              </a:rPr>
              <a:t>Create a </a:t>
            </a:r>
            <a:r>
              <a:rPr lang="en-US" sz="1800" i="1" dirty="0">
                <a:solidFill>
                  <a:schemeClr val="dk1"/>
                </a:solidFill>
              </a:rPr>
              <a:t>Book</a:t>
            </a:r>
            <a:r>
              <a:rPr lang="en-US" sz="1800" b="0" dirty="0">
                <a:solidFill>
                  <a:schemeClr val="dk1"/>
                </a:solidFill>
              </a:rPr>
              <a:t> class with attributes: </a:t>
            </a:r>
            <a:r>
              <a:rPr lang="en-US" sz="1800" b="0" i="1" dirty="0">
                <a:solidFill>
                  <a:schemeClr val="dk1"/>
                </a:solidFill>
              </a:rPr>
              <a:t>title</a:t>
            </a:r>
            <a:r>
              <a:rPr lang="en-US" sz="1800" b="0" dirty="0">
                <a:solidFill>
                  <a:schemeClr val="dk1"/>
                </a:solidFill>
              </a:rPr>
              <a:t>, </a:t>
            </a:r>
            <a:r>
              <a:rPr lang="en-US" sz="1800" b="0" i="1" dirty="0">
                <a:solidFill>
                  <a:schemeClr val="dk1"/>
                </a:solidFill>
              </a:rPr>
              <a:t>author</a:t>
            </a:r>
            <a:r>
              <a:rPr lang="en-US" sz="1800" b="0" dirty="0">
                <a:solidFill>
                  <a:schemeClr val="dk1"/>
                </a:solidFill>
              </a:rPr>
              <a:t>, </a:t>
            </a:r>
            <a:r>
              <a:rPr lang="en-US" sz="1800" b="0" i="1" dirty="0">
                <a:solidFill>
                  <a:schemeClr val="dk1"/>
                </a:solidFill>
              </a:rPr>
              <a:t>ISBN</a:t>
            </a:r>
            <a:r>
              <a:rPr lang="en-US" sz="1800" b="0" dirty="0">
                <a:solidFill>
                  <a:schemeClr val="dk1"/>
                </a:solidFill>
              </a:rPr>
              <a:t>, </a:t>
            </a:r>
            <a:r>
              <a:rPr lang="en-US" sz="1800" b="0" i="1" dirty="0">
                <a:solidFill>
                  <a:schemeClr val="dk1"/>
                </a:solidFill>
              </a:rPr>
              <a:t>price</a:t>
            </a:r>
            <a:r>
              <a:rPr lang="en-US" sz="1800" b="0" dirty="0">
                <a:solidFill>
                  <a:schemeClr val="dk1"/>
                </a:solidFill>
              </a:rPr>
              <a:t>, and </a:t>
            </a:r>
            <a:r>
              <a:rPr lang="en-US" sz="1800" b="0" i="1" dirty="0">
                <a:solidFill>
                  <a:schemeClr val="dk1"/>
                </a:solidFill>
              </a:rPr>
              <a:t>stock</a:t>
            </a:r>
            <a:r>
              <a:rPr lang="en-US" sz="1800" b="0" dirty="0">
                <a:solidFill>
                  <a:schemeClr val="dk1"/>
                </a:solidFill>
              </a:rPr>
              <a:t>.</a:t>
            </a:r>
            <a:endParaRPr sz="1800" b="0" dirty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US" sz="1800" b="0" dirty="0">
                <a:solidFill>
                  <a:schemeClr val="dk1"/>
                </a:solidFill>
              </a:rPr>
              <a:t>Create a </a:t>
            </a:r>
            <a:r>
              <a:rPr lang="en-US" sz="1800" i="1" dirty="0">
                <a:solidFill>
                  <a:schemeClr val="dk1"/>
                </a:solidFill>
              </a:rPr>
              <a:t>Library</a:t>
            </a:r>
            <a:r>
              <a:rPr lang="en-US" sz="1800" b="0" dirty="0">
                <a:solidFill>
                  <a:schemeClr val="dk1"/>
                </a:solidFill>
              </a:rPr>
              <a:t> class with:</a:t>
            </a:r>
            <a:endParaRPr sz="1800" b="0" dirty="0">
              <a:solidFill>
                <a:schemeClr val="dk1"/>
              </a:solidFill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lphaLcPeriod"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array of Book objects.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lphaLcPeriod"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Methods to: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romanLcPeriod"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 new books.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romanLcPeriod"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Search for books by title or author.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romanLcPeriod"/>
            </a:pPr>
            <a:r>
              <a:rPr lang="en-US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Borrow books (reduce stock).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US" sz="1800" b="0" dirty="0">
                <a:solidFill>
                  <a:schemeClr val="dk1"/>
                </a:solidFill>
              </a:rPr>
              <a:t>Write a main function to simulate library operations.</a:t>
            </a:r>
            <a:endParaRPr sz="1800" b="0" dirty="0">
              <a:solidFill>
                <a:schemeClr val="dk1"/>
              </a:solidFill>
            </a:endParaRPr>
          </a:p>
        </p:txBody>
      </p:sp>
      <p:sp>
        <p:nvSpPr>
          <p:cNvPr id="316" name="Google Shape;316;p4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3"/>
          <p:cNvSpPr txBox="1">
            <a:spLocks noGrp="1"/>
          </p:cNvSpPr>
          <p:nvPr>
            <p:ph type="title"/>
          </p:nvPr>
        </p:nvSpPr>
        <p:spPr>
          <a:xfrm>
            <a:off x="3510436" y="2078107"/>
            <a:ext cx="3653400" cy="98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lang="en-US"/>
              <a:t>CONCLUSION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43"/>
          <p:cNvSpPr txBox="1">
            <a:spLocks noGrp="1"/>
          </p:cNvSpPr>
          <p:nvPr>
            <p:ph type="title" idx="2"/>
          </p:nvPr>
        </p:nvSpPr>
        <p:spPr>
          <a:xfrm>
            <a:off x="1980166" y="2076006"/>
            <a:ext cx="1343100" cy="9894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Font typeface="Calibri"/>
              <a:buNone/>
            </a:pPr>
            <a:r>
              <a:rPr lang="en-US" b="1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1">
              <a:solidFill>
                <a:srgbClr val="2E75B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4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/>
              <a:t>Conclusion</a:t>
            </a:r>
            <a:endParaRPr/>
          </a:p>
        </p:txBody>
      </p:sp>
      <p:sp>
        <p:nvSpPr>
          <p:cNvPr id="329" name="Google Shape;329;p44"/>
          <p:cNvSpPr txBox="1">
            <a:spLocks noGrp="1"/>
          </p:cNvSpPr>
          <p:nvPr>
            <p:ph type="title"/>
          </p:nvPr>
        </p:nvSpPr>
        <p:spPr>
          <a:xfrm>
            <a:off x="720000" y="763350"/>
            <a:ext cx="7704000" cy="36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US" sz="1800" b="0" dirty="0">
                <a:solidFill>
                  <a:schemeClr val="dk1"/>
                </a:solidFill>
              </a:rPr>
              <a:t>Encapsulation is the foundation of OOP, focusing on bundling data and functions within a class.  </a:t>
            </a:r>
            <a:endParaRPr sz="1800" b="0" dirty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US" sz="1800" b="0" dirty="0">
                <a:solidFill>
                  <a:schemeClr val="dk1"/>
                </a:solidFill>
              </a:rPr>
              <a:t>The main difference between a class and a struct lies in the level of data security (</a:t>
            </a:r>
            <a:r>
              <a:rPr lang="en-US" sz="1800" i="1" dirty="0">
                <a:solidFill>
                  <a:schemeClr val="dk1"/>
                </a:solidFill>
              </a:rPr>
              <a:t>private</a:t>
            </a:r>
            <a:r>
              <a:rPr lang="en-US" sz="1800" b="0" dirty="0">
                <a:solidFill>
                  <a:schemeClr val="dk1"/>
                </a:solidFill>
              </a:rPr>
              <a:t>/</a:t>
            </a:r>
            <a:r>
              <a:rPr lang="en-US" sz="1800" i="1" dirty="0">
                <a:solidFill>
                  <a:schemeClr val="dk1"/>
                </a:solidFill>
              </a:rPr>
              <a:t>public</a:t>
            </a:r>
            <a:r>
              <a:rPr lang="en-US" sz="1800" b="0" dirty="0">
                <a:solidFill>
                  <a:schemeClr val="dk1"/>
                </a:solidFill>
              </a:rPr>
              <a:t>).  </a:t>
            </a:r>
            <a:endParaRPr sz="1800" b="0" dirty="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US" sz="1800" b="0" dirty="0">
                <a:solidFill>
                  <a:schemeClr val="dk1"/>
                </a:solidFill>
              </a:rPr>
              <a:t>A constructor is a special mechanism in OOP that automatically executes when an object is created and can cause errors if not properly designed.</a:t>
            </a:r>
            <a:endParaRPr sz="1800" b="0" dirty="0">
              <a:solidFill>
                <a:schemeClr val="dk1"/>
              </a:solidFill>
            </a:endParaRPr>
          </a:p>
        </p:txBody>
      </p:sp>
      <p:sp>
        <p:nvSpPr>
          <p:cNvPr id="330" name="Google Shape;330;p4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45"/>
          <p:cNvSpPr txBox="1">
            <a:spLocks noGrp="1"/>
          </p:cNvSpPr>
          <p:nvPr>
            <p:ph type="title"/>
          </p:nvPr>
        </p:nvSpPr>
        <p:spPr>
          <a:xfrm>
            <a:off x="3510436" y="2078107"/>
            <a:ext cx="3653400" cy="98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lang="en-US"/>
              <a:t>EXTENSION: 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alibri"/>
              <a:buNone/>
            </a:pPr>
            <a:r>
              <a:rPr lang="en-US"/>
              <a:t>CLASS DIAGRAM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45"/>
          <p:cNvSpPr txBox="1">
            <a:spLocks noGrp="1"/>
          </p:cNvSpPr>
          <p:nvPr>
            <p:ph type="title" idx="2"/>
          </p:nvPr>
        </p:nvSpPr>
        <p:spPr>
          <a:xfrm>
            <a:off x="1980166" y="2076006"/>
            <a:ext cx="1343100" cy="989400"/>
          </a:xfrm>
          <a:prstGeom prst="rect">
            <a:avLst/>
          </a:prstGeom>
          <a:solidFill>
            <a:srgbClr val="FFFFFF">
              <a:alpha val="745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Font typeface="Calibri"/>
              <a:buNone/>
            </a:pPr>
            <a:r>
              <a:rPr lang="en-US" b="1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1">
              <a:solidFill>
                <a:srgbClr val="2E75B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4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/>
              <a:t>Class diagram</a:t>
            </a:r>
            <a:endParaRPr/>
          </a:p>
        </p:txBody>
      </p:sp>
      <p:sp>
        <p:nvSpPr>
          <p:cNvPr id="343" name="Google Shape;343;p4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  <p:pic>
        <p:nvPicPr>
          <p:cNvPr id="344" name="Google Shape;344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3913" y="1462088"/>
            <a:ext cx="7496175" cy="2219325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46"/>
          <p:cNvSpPr txBox="1"/>
          <p:nvPr/>
        </p:nvSpPr>
        <p:spPr>
          <a:xfrm>
            <a:off x="827863" y="3681425"/>
            <a:ext cx="7488300" cy="60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you write a program based on the above class diagram?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4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2600"/>
              <a:buFont typeface="Calibri"/>
              <a:buNone/>
            </a:pPr>
            <a:r>
              <a:rPr lang="en-US"/>
              <a:t>Hands-on exercise</a:t>
            </a:r>
            <a:endParaRPr/>
          </a:p>
        </p:txBody>
      </p:sp>
      <p:sp>
        <p:nvSpPr>
          <p:cNvPr id="351" name="Google Shape;351;p4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  <p:pic>
        <p:nvPicPr>
          <p:cNvPr id="352" name="Google Shape;352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000" y="928875"/>
            <a:ext cx="4824791" cy="3820976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47"/>
          <p:cNvSpPr txBox="1"/>
          <p:nvPr/>
        </p:nvSpPr>
        <p:spPr>
          <a:xfrm>
            <a:off x="5611238" y="302851"/>
            <a:ext cx="2879100" cy="453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class called Ball, which models a bouncing ball, is designed as shown in the following class diagram. </a:t>
            </a: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contains its radius, x and y position. Each move-step advances the x and y by delta-x and delta-y, respectively. delta-x and delta-y could be positive or negative. </a:t>
            </a: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</a:t>
            </a:r>
            <a:r>
              <a:rPr lang="en-US" sz="16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reflectHorizontal</a:t>
            </a: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() and </a:t>
            </a:r>
            <a:r>
              <a:rPr lang="en-US" sz="16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reflectVertical</a:t>
            </a:r>
            <a:r>
              <a:rPr lang="en-US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() methods could be used to bounce the ball off the walls. Write the Ball class. Study the main() on how the ball bounces.</a:t>
            </a: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u="sng" dirty="0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https://www.programiz.com/online-compiler/5VrKcTuK0GRr6</a:t>
            </a: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48"/>
          <p:cNvSpPr txBox="1">
            <a:spLocks noGrp="1"/>
          </p:cNvSpPr>
          <p:nvPr>
            <p:ph type="ctrTitle"/>
          </p:nvPr>
        </p:nvSpPr>
        <p:spPr>
          <a:xfrm>
            <a:off x="1142991" y="1356714"/>
            <a:ext cx="6858000" cy="10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4E79"/>
              </a:buClr>
              <a:buSzPts val="3600"/>
              <a:buFont typeface="Corbel"/>
              <a:buNone/>
            </a:pPr>
            <a:r>
              <a:rPr lang="en-US" sz="3600" dirty="0">
                <a:latin typeface="Corbel"/>
                <a:ea typeface="Corbel"/>
                <a:cs typeface="Corbel"/>
                <a:sym typeface="Corbel"/>
              </a:rPr>
              <a:t>Thank you for your attention!</a:t>
            </a:r>
            <a:endParaRPr dirty="0"/>
          </a:p>
        </p:txBody>
      </p:sp>
      <p:sp>
        <p:nvSpPr>
          <p:cNvPr id="360" name="Google Shape;360;p48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Corbel"/>
              </a:rPr>
              <a:t>https://www.cse.hcmut.edu.vn</a:t>
            </a:r>
            <a:endParaRPr sz="1800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Corbe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CMUT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600</TotalTime>
  <Words>1703</Words>
  <Application>Microsoft Office PowerPoint</Application>
  <PresentationFormat>On-screen Show (16:9)</PresentationFormat>
  <Paragraphs>187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41" baseType="lpstr">
      <vt:lpstr>Raleway Black</vt:lpstr>
      <vt:lpstr>Hanken Grotesk</vt:lpstr>
      <vt:lpstr>Arial</vt:lpstr>
      <vt:lpstr>Roboto</vt:lpstr>
      <vt:lpstr>Anaheim</vt:lpstr>
      <vt:lpstr>Consolas</vt:lpstr>
      <vt:lpstr>Corbel</vt:lpstr>
      <vt:lpstr>Nunito Light</vt:lpstr>
      <vt:lpstr>Tahoma</vt:lpstr>
      <vt:lpstr>Raleway ExtraBold</vt:lpstr>
      <vt:lpstr>Calibri</vt:lpstr>
      <vt:lpstr>HCMUT</vt:lpstr>
      <vt:lpstr>Chapter 1: Object Oriented Programming Revision - Encapsulation</vt:lpstr>
      <vt:lpstr>CONTENT</vt:lpstr>
      <vt:lpstr>INTRODUCTION TO OBJECT ORIENTED PROGRAMMING</vt:lpstr>
      <vt:lpstr>What is OOP?</vt:lpstr>
      <vt:lpstr>Key principles of OOP</vt:lpstr>
      <vt:lpstr>Key principles of OOP</vt:lpstr>
      <vt:lpstr>Key principles of OOP</vt:lpstr>
      <vt:lpstr>Key principles of OOP</vt:lpstr>
      <vt:lpstr>Why OOP?</vt:lpstr>
      <vt:lpstr>ENCAPSULATION</vt:lpstr>
      <vt:lpstr>What is Encapsulation?</vt:lpstr>
      <vt:lpstr>Why is Encapsulation important?</vt:lpstr>
      <vt:lpstr>Core principles of Encapsulation</vt:lpstr>
      <vt:lpstr>Example</vt:lpstr>
      <vt:lpstr>HOW ENCAPSULATION WORKS?</vt:lpstr>
      <vt:lpstr>Class vs struct</vt:lpstr>
      <vt:lpstr>Constructor in Encapsulation</vt:lpstr>
      <vt:lpstr>Getters and Setters</vt:lpstr>
      <vt:lpstr>Getters and Setters</vt:lpstr>
      <vt:lpstr>BEST PRACTICES</vt:lpstr>
      <vt:lpstr>Exercise 1 - Multiple constructor</vt:lpstr>
      <vt:lpstr>Exercise 2 - Constructor chaining</vt:lpstr>
      <vt:lpstr>Exercise 3 (Bonus)</vt:lpstr>
      <vt:lpstr>CONCLUSION</vt:lpstr>
      <vt:lpstr>Conclusion</vt:lpstr>
      <vt:lpstr>EXTENSION:  CLASS DIAGRAM</vt:lpstr>
      <vt:lpstr>Class diagram</vt:lpstr>
      <vt:lpstr>Hands-on exercise</vt:lpstr>
      <vt:lpstr>Thank you for your attention!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1: Object Oriented Programming Revision - Encapsulation</dc:title>
  <dc:creator>Cong Nguyen</dc:creator>
  <cp:lastModifiedBy>Cong Nguyen</cp:lastModifiedBy>
  <cp:revision>10</cp:revision>
  <dcterms:modified xsi:type="dcterms:W3CDTF">2025-01-06T14:47:09Z</dcterms:modified>
</cp:coreProperties>
</file>