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781800" cy="9918700"/>
  <p:embeddedFontLst>
    <p:embeddedFont>
      <p:font typeface="Raleway ExtraBold"/>
      <p:bold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Anaheim"/>
      <p:regular r:id="rId31"/>
      <p:bold r:id="rId32"/>
    </p:embeddedFont>
    <p:embeddedFont>
      <p:font typeface="Corbel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  <p:embeddedFont>
      <p:font typeface="Raleway Black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F3C543-2BEF-4071-A10A-9F1BA49825BA}">
  <a:tblStyle styleId="{A3F3C543-2BEF-4071-A10A-9F1BA49825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Black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ExtraBold-boldItalic.fntdata"/><Relationship Id="rId25" Type="http://schemas.openxmlformats.org/officeDocument/2006/relationships/font" Target="fonts/RalewayExtraBold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nahei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font" Target="fonts/Anaheim-bold.fntdata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39" Type="http://schemas.openxmlformats.org/officeDocument/2006/relationships/font" Target="fonts/RalewayBlack-bold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9709612e3_2_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29709612e3_2_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9709612e3_2_30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29709612e3_2_3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885e2a979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3" name="Google Shape;233;g32885e2a97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8773d7844_0_0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38773d7844_0_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883483ef5_0_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3883483ef5_0_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883483ef5_0_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3883483ef5_0_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885e2a979_1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1" name="Google Shape;261;g32885e2a97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883483ef5_0_13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3883483ef5_0_13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883483ef5_0_19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3883483ef5_0_19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3883483ef5_0_25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3883483ef5_0_25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883483ef5_0_3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3883483ef5_0_3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883483ef5_0_3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3883483ef5_0_3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883483ef5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3" name="Google Shape;303;g33883483ef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275d50d3c_0_13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3275d50d3c_0_13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:notes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9:notes"/>
          <p:cNvSpPr/>
          <p:nvPr>
            <p:ph idx="2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39:notes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i="0" sz="9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5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b="1" sz="9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</a:t>
            </a: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" type="body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01" name="Google Shape;101;p14"/>
          <p:cNvSpPr txBox="1"/>
          <p:nvPr>
            <p:ph idx="4" type="body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indent="-37861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indent="-357187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indent="-335756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indent="-335756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30" name="Google Shape;130;p19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>
            <p:ph idx="2" type="pic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/>
          <p:nvPr>
            <p:ph idx="3" type="pic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2"/>
          <p:cNvSpPr txBox="1"/>
          <p:nvPr>
            <p:ph idx="4" type="body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2"/>
          <p:cNvSpPr/>
          <p:nvPr>
            <p:ph idx="5" type="pic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2"/>
          <p:cNvSpPr txBox="1"/>
          <p:nvPr>
            <p:ph idx="6" type="body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3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>
            <p:ph idx="2" type="pic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/>
          <p:nvPr>
            <p:ph idx="3" type="pic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/>
          <p:nvPr>
            <p:ph idx="4" type="pic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/>
          <p:nvPr>
            <p:ph idx="5" type="pic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6" type="body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7" type="body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8" type="body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eet the team 3">
  <p:cSld name="1_Meet the team 3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78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b="1" i="0" sz="2475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8618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7187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5756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5088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5088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Chapter 2: Programming with Python</a:t>
            </a:r>
            <a:endParaRPr sz="240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/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/>
              <a:t>Advanced Programming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CO2039</a:t>
            </a:r>
            <a:endParaRPr b="0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129019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>
            <p:ph idx="4" type="title"/>
          </p:nvPr>
        </p:nvSpPr>
        <p:spPr>
          <a:xfrm>
            <a:off x="1092960" y="1459772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5" type="title"/>
          </p:nvPr>
        </p:nvSpPr>
        <p:spPr>
          <a:xfrm>
            <a:off x="1092960" y="215834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>
            <p:ph idx="8" type="subTitle"/>
          </p:nvPr>
        </p:nvSpPr>
        <p:spPr>
          <a:xfrm>
            <a:off x="1926546" y="1461550"/>
            <a:ext cx="61245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VARIABLES &amp; DATA TYPES</a:t>
            </a:r>
            <a:endParaRPr sz="2000"/>
          </a:p>
        </p:txBody>
      </p:sp>
      <p:sp>
        <p:nvSpPr>
          <p:cNvPr id="197" name="Google Shape;197;p28"/>
          <p:cNvSpPr txBox="1"/>
          <p:nvPr>
            <p:ph idx="14" type="subTitle"/>
          </p:nvPr>
        </p:nvSpPr>
        <p:spPr>
          <a:xfrm>
            <a:off x="1926550" y="211888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2000"/>
          </a:p>
        </p:txBody>
      </p:sp>
      <p:grpSp>
        <p:nvGrpSpPr>
          <p:cNvPr id="198" name="Google Shape;198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199" name="Google Shape;199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0" name="Google Shape;200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8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8"/>
          <p:cNvSpPr/>
          <p:nvPr/>
        </p:nvSpPr>
        <p:spPr>
          <a:xfrm rot="-5400000">
            <a:off x="107754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8"/>
          <p:cNvSpPr txBox="1"/>
          <p:nvPr>
            <p:ph idx="5" type="title"/>
          </p:nvPr>
        </p:nvSpPr>
        <p:spPr>
          <a:xfrm>
            <a:off x="1092960" y="28569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>
            <p:ph idx="14" type="subTitle"/>
          </p:nvPr>
        </p:nvSpPr>
        <p:spPr>
          <a:xfrm>
            <a:off x="1926550" y="2817463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CONDITIONALS, LOOPS AND EXCEPTIONS</a:t>
            </a:r>
            <a:endParaRPr sz="2000"/>
          </a:p>
        </p:txBody>
      </p:sp>
      <p:sp>
        <p:nvSpPr>
          <p:cNvPr id="207" name="Google Shape;207;p28"/>
          <p:cNvSpPr txBox="1"/>
          <p:nvPr>
            <p:ph idx="4" type="title"/>
          </p:nvPr>
        </p:nvSpPr>
        <p:spPr>
          <a:xfrm>
            <a:off x="1092960" y="3555498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/>
          <p:nvPr>
            <p:ph idx="8" type="subTitle"/>
          </p:nvPr>
        </p:nvSpPr>
        <p:spPr>
          <a:xfrm>
            <a:off x="1926546" y="3557275"/>
            <a:ext cx="61245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VARIABLES &amp; </a:t>
            </a:r>
            <a:br>
              <a:rPr lang="en-US"/>
            </a:br>
            <a:r>
              <a:rPr lang="en-US"/>
              <a:t>DATA TYPES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Python Syntax Overview</a:t>
            </a:r>
            <a:endParaRPr/>
          </a:p>
        </p:txBody>
      </p:sp>
      <p:sp>
        <p:nvSpPr>
          <p:cNvPr id="221" name="Google Shape;221;p30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Python (No semicolons, indentation-based)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print("Hello, Python!")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Java (Curly braces, semicolons)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System.out.println("Hello, Java!");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Python uses indentation instead of {}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No semicolons required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Variables &amp; Data Types in Python</a:t>
            </a:r>
            <a:endParaRPr/>
          </a:p>
        </p:txBody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720000" y="1017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Python is dynamically typed </a:t>
            </a:r>
            <a:r>
              <a:rPr b="0" lang="en-US" sz="1800">
                <a:solidFill>
                  <a:schemeClr val="dk1"/>
                </a:solidFill>
              </a:rPr>
              <a:t>→ No need to declare data types explicitly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30" name="Google Shape;230;p31"/>
          <p:cNvGraphicFramePr/>
          <p:nvPr/>
        </p:nvGraphicFramePr>
        <p:xfrm>
          <a:off x="952500" y="169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{A3F3C543-2BEF-4071-A10A-9F1BA49825BA}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Type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 = 10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Whole numbers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 = 3.14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Decimal numbers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 =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Alice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is_valid = True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</a:t>
                      </a: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NoneType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 = None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Represents “nothing”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DATA STRUCTURES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2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Python Built-in Data Structures</a:t>
            </a:r>
            <a:endParaRPr/>
          </a:p>
        </p:txBody>
      </p:sp>
      <p:sp>
        <p:nvSpPr>
          <p:cNvPr id="243" name="Google Shape;243;p33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Lists (Ordered, Mutable)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["apple", "banana", "cherry"]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fruits.append("orange")  # Add element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print(fruits[1])  # Output: banana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</a:t>
            </a:r>
            <a:r>
              <a:rPr lang="en-US" sz="1800">
                <a:solidFill>
                  <a:schemeClr val="dk1"/>
                </a:solidFill>
              </a:rPr>
              <a:t>Ordered, allows duplicates, mutable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Tuples (Ordered, Immutable)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coordinates = (10, 20)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print(coordinates[0])  # Output: 10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</a:t>
            </a:r>
            <a:r>
              <a:rPr lang="en-US" sz="1800">
                <a:solidFill>
                  <a:schemeClr val="dk1"/>
                </a:solidFill>
              </a:rPr>
              <a:t>Like lists but immutable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4" name="Google Shape;24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Python Built-in Data Structures</a:t>
            </a:r>
            <a:endParaRPr/>
          </a:p>
        </p:txBody>
      </p:sp>
      <p:sp>
        <p:nvSpPr>
          <p:cNvPr id="250" name="Google Shape;250;p34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Sets (Unordered, Unique Elements)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unique_numbers = {1, 2, 3, 3}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print(unique_numbers)  # Output: {1, 2, 3}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</a:t>
            </a:r>
            <a:r>
              <a:rPr lang="en-US" sz="1800">
                <a:solidFill>
                  <a:schemeClr val="dk1"/>
                </a:solidFill>
              </a:rPr>
              <a:t>No duplicates, unordered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Dictionaries (Key-Value Pairs)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{"name": "Alice", "age": 20}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print(student["name"])  # Output: Alice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</a:t>
            </a:r>
            <a:r>
              <a:rPr lang="en-US" sz="1800">
                <a:solidFill>
                  <a:schemeClr val="dk1"/>
                </a:solidFill>
              </a:rPr>
              <a:t>Stores data as key-value pairs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1" name="Google Shape;25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Type conversions</a:t>
            </a:r>
            <a:endParaRPr/>
          </a:p>
        </p:txBody>
      </p:sp>
      <p:sp>
        <p:nvSpPr>
          <p:cNvPr id="257" name="Google Shape;257;p35"/>
          <p:cNvSpPr txBox="1"/>
          <p:nvPr>
            <p:ph type="title"/>
          </p:nvPr>
        </p:nvSpPr>
        <p:spPr>
          <a:xfrm>
            <a:off x="720000" y="1017725"/>
            <a:ext cx="77040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10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 = str(x)  # Convert int to string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print(y)  # Output: "10"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Common conversions</a:t>
            </a:r>
            <a:r>
              <a:rPr b="0" lang="en-US" sz="1800">
                <a:solidFill>
                  <a:schemeClr val="dk1"/>
                </a:solidFill>
              </a:rPr>
              <a:t>: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int(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lang="en-US" sz="1800">
                <a:solidFill>
                  <a:schemeClr val="dk1"/>
                </a:solidFill>
              </a:rPr>
              <a:t> → Converts string to integer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float(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3.14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lang="en-US" sz="1800">
                <a:solidFill>
                  <a:schemeClr val="dk1"/>
                </a:solidFill>
              </a:rPr>
              <a:t> → Converts string to float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str(50)</a:t>
            </a:r>
            <a:r>
              <a:rPr b="0" lang="en-US" sz="1800">
                <a:solidFill>
                  <a:schemeClr val="dk1"/>
                </a:solidFill>
              </a:rPr>
              <a:t> → Converts integer to string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58" name="Google Shape;25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CONDITIONALS, LOOPS &amp; EXCEPTIONS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6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Conditional Statements</a:t>
            </a:r>
            <a:endParaRPr/>
          </a:p>
        </p:txBody>
      </p:sp>
      <p:sp>
        <p:nvSpPr>
          <p:cNvPr id="271" name="Google Shape;271;p37"/>
          <p:cNvSpPr txBox="1"/>
          <p:nvPr>
            <p:ph type="title"/>
          </p:nvPr>
        </p:nvSpPr>
        <p:spPr>
          <a:xfrm>
            <a:off x="720000" y="1017725"/>
            <a:ext cx="77040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age = 18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print("Adult")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elif age &gt;= 13: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print("Teenager")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print("Child")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</a:t>
            </a:r>
            <a:r>
              <a:rPr lang="en-US" sz="1800">
                <a:solidFill>
                  <a:schemeClr val="dk1"/>
                </a:solidFill>
              </a:rPr>
              <a:t>Indentation is required</a:t>
            </a:r>
            <a:r>
              <a:rPr b="0" lang="en-US" sz="1800">
                <a:solidFill>
                  <a:schemeClr val="dk1"/>
                </a:solidFill>
              </a:rPr>
              <a:t> (No {} like Java or C++)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72" name="Google Shape;272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278" name="Google Shape;278;p38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0" lang="en-US" sz="1800">
                <a:solidFill>
                  <a:schemeClr val="dk1"/>
                </a:solidFill>
              </a:rPr>
              <a:t>Loop (Iterate over a sequence)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range(5):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  # Output: 0 1 2 3 4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</a:t>
            </a:r>
            <a:r>
              <a:rPr lang="en-US" sz="1800">
                <a:solidFill>
                  <a:schemeClr val="dk1"/>
                </a:solidFill>
              </a:rPr>
              <a:t>Loops through a range or collection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0" lang="en-US" sz="1800">
                <a:solidFill>
                  <a:schemeClr val="dk1"/>
                </a:solidFill>
              </a:rPr>
              <a:t>Loop (Repeats until condition is false)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0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x &lt; 5: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print(x)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x += 1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</a:t>
            </a:r>
            <a:r>
              <a:rPr lang="en-US" sz="1800">
                <a:solidFill>
                  <a:schemeClr val="dk1"/>
                </a:solidFill>
              </a:rPr>
              <a:t>Use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1800">
                <a:solidFill>
                  <a:schemeClr val="dk1"/>
                </a:solidFill>
              </a:rPr>
              <a:t> to stop the loop early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Functions</a:t>
            </a:r>
            <a:endParaRPr/>
          </a:p>
        </p:txBody>
      </p:sp>
      <p:sp>
        <p:nvSpPr>
          <p:cNvPr id="285" name="Google Shape;285;p39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Defining and calling a function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greet(name):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"Hello, " + name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print(greet("Alice"))  # Output: Hello, Alice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Supports default and keyword arguments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greet(name="Guest"):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"Hello, " + name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print(greet())  # Output: Hello, Guest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Classes</a:t>
            </a:r>
            <a:endParaRPr/>
          </a:p>
        </p:txBody>
      </p:sp>
      <p:sp>
        <p:nvSpPr>
          <p:cNvPr id="292" name="Google Shape;292;p40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Defining a simple class for data storage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Student: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name, age):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self.name = name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self.age = age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student1 = Student("Alice", 20)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print(student1.name)  # Output: Alice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__init__()</a:t>
            </a:r>
            <a:r>
              <a:rPr b="0" lang="en-US" sz="1800">
                <a:solidFill>
                  <a:schemeClr val="dk1"/>
                </a:solidFill>
              </a:rPr>
              <a:t> → Constructor that initializes object properties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800">
                <a:solidFill>
                  <a:schemeClr val="dk1"/>
                </a:solidFill>
              </a:rPr>
              <a:t> → Refers to the instance of the class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93" name="Google Shape;29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Exception Handling</a:t>
            </a:r>
            <a:endParaRPr/>
          </a:p>
        </p:txBody>
      </p:sp>
      <p:sp>
        <p:nvSpPr>
          <p:cNvPr id="299" name="Google Shape;299;p41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Handling errors with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try-except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x = int("abc")  # Error: Cannot convert string to int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except ValueError: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print("Invalid input")</a:t>
            </a:r>
            <a:endParaRPr b="0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Prevents program crashes due to runtime errors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300" name="Google Shape;30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2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13" name="Google Shape;313;p43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Python is dynamically typed and easy to use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Supports various built-in data structures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Uses indentation for code blocks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Includes conditional statements, loops, functions, classes and exception handling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314" name="Google Shape;31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21" name="Google Shape;321;p4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