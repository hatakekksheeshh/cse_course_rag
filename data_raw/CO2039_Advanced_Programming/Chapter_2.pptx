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3" r:id="rId1"/>
  </p:sldMasterIdLst>
  <p:notesMasterIdLst>
    <p:notesMasterId r:id="rId31"/>
  </p:notesMasterIdLst>
  <p:sldIdLst>
    <p:sldId id="256" r:id="rId2"/>
    <p:sldId id="28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9144000" cy="5143500" type="screen16x9"/>
  <p:notesSz cx="6781800" cy="9918700"/>
  <p:embeddedFontLst>
    <p:embeddedFont>
      <p:font typeface="Anaheim" panose="020B0604020202020204" charset="0"/>
      <p:regular r:id="rId32"/>
      <p:bold r:id="rId33"/>
    </p:embeddedFont>
    <p:embeddedFont>
      <p:font typeface="Corbel" panose="020B0503020204020204" pitchFamily="34" charset="0"/>
      <p:regular r:id="rId34"/>
      <p:bold r:id="rId35"/>
      <p:italic r:id="rId36"/>
      <p:boldItalic r:id="rId37"/>
    </p:embeddedFont>
    <p:embeddedFont>
      <p:font typeface="Hanken Grotesk" pitchFamily="2" charset="0"/>
      <p:regular r:id="rId38"/>
      <p:bold r:id="rId39"/>
      <p:italic r:id="rId40"/>
      <p:boldItalic r:id="rId41"/>
    </p:embeddedFont>
    <p:embeddedFont>
      <p:font typeface="Nunito Light" pitchFamily="2" charset="0"/>
      <p:regular r:id="rId42"/>
    </p:embeddedFont>
    <p:embeddedFont>
      <p:font typeface="Raleway Black" pitchFamily="2" charset="0"/>
      <p:bold r:id="rId43"/>
      <p:boldItalic r:id="rId44"/>
    </p:embeddedFont>
    <p:embeddedFont>
      <p:font typeface="Raleway ExtraBold" pitchFamily="2" charset="0"/>
      <p:bold r:id="rId45"/>
      <p:boldItalic r:id="rId46"/>
    </p:embeddedFont>
    <p:embeddedFont>
      <p:font typeface="Roboto" panose="02000000000000000000" pitchFamily="2" charset="0"/>
      <p:regular r:id="rId47"/>
      <p:bold r:id="rId48"/>
      <p:italic r:id="rId49"/>
      <p:boldItalic r:id="rId50"/>
    </p:embeddedFont>
    <p:embeddedFont>
      <p:font typeface="Tahoma" panose="020B0604030504040204" pitchFamily="34" charset="0"/>
      <p:regular r:id="rId51"/>
      <p:bold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font" Target="fonts/font19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52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2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175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4" name="Google Shape;1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1" name="Google Shape;1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5" name="Google Shape;2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2885e2a979_1_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g32885e2a97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2885e2a979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8" name="Google Shape;238;g32885e2a979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2885e2a979_1_14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2885e2a979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2885e2a979_1_22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g32885e2a979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2293746c3b_0_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g32293746c3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288cb7031a_0_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3288cb7031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2885e2a979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1" name="Google Shape;281;g32885e2a979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2885e2a979_1_42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32885e2a979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288cf34b9a_0_3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288cf34b9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2885e2a979_1_4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32885e2a979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22a3e3ed16_0_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322a3e3ed1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22a3e3ed16_0_13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322a3e3ed1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2885e2a979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38" name="Google Shape;338;g32885e2a979_1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2885e2a979_1_62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32885e2a979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22ac6075b6_0_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322ac6075b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2885e2a979_1_6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g32885e2a979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22ac6075b6_0_6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g322ac6075b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289233d6a8_0_8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3289233d6a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2885e2a979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81" name="Google Shape;381;g32885e2a979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2885e2a979_1_7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g32885e2a979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289233d6a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96" name="Google Shape;396;g3289233d6a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289233d6a8_0_16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 class called Author (as shown in the class diagram) is designed to model a book's author. It contains:</a:t>
            </a:r>
            <a:endParaRPr/>
          </a:p>
          <a:p>
            <a:pPr marL="457200" lvl="0" indent="-317500" algn="l" rtl="0">
              <a:spcBef>
                <a:spcPts val="36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Three private instance variables: name (String), email (String), and gender (char of either 'm' or 'f');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One constructor to initialize the name, email and gender with the given values;</a:t>
            </a:r>
            <a:endParaRPr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(There is no default constructor for Author, as there are no defaults for name, email and gender.)</a:t>
            </a:r>
            <a:endParaRPr/>
          </a:p>
          <a:p>
            <a:pPr marL="457200" lvl="0" indent="-317500" algn="l" rtl="0">
              <a:spcBef>
                <a:spcPts val="36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public getters/setters: getName(), getEmail(), setEmail(), and getGender();</a:t>
            </a:r>
            <a:endParaRPr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(There are no setters for name and gender, as these attributes cannot be changed.)</a:t>
            </a:r>
            <a:endParaRPr/>
          </a:p>
          <a:p>
            <a:pPr marL="457200" lvl="0" indent="-317500" algn="l" rtl="0">
              <a:spcBef>
                <a:spcPts val="36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 toString() method that returns "Author[name=?,email=?,gender=?]", e.g., "Author[name=Tan Ah Teck,email=ahTeck@somewhere.com,gender=m]".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 class called Book is designed (as shown in the class diagram) to model a book written by one author. It contains:</a:t>
            </a:r>
            <a:endParaRPr/>
          </a:p>
          <a:p>
            <a:pPr marL="457200" lvl="0" indent="-317500" algn="l" rtl="0">
              <a:spcBef>
                <a:spcPts val="36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Four private instance variables: name (String), author (of the class Author you have just created, assume that a book has one and only one author), price (double), and qty (int);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public methods getName(), getAuthor(), getPrice(), setPrice(), getQty(), setQty().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 toString() that returns "Book[name=?,Author[name=?,email=?,gender=?],price=?,qty=?".  You should reuse Author’s toString().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Write the Book class (which uses the Author class written earlier).</a:t>
            </a:r>
            <a:endParaRPr/>
          </a:p>
        </p:txBody>
      </p:sp>
      <p:sp>
        <p:nvSpPr>
          <p:cNvPr id="403" name="Google Shape;403;g3289233d6a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289233d6a8_0_26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In the earlier exercise, a book is written by one and only one author. In reality, a book can be written by one or more author. Modify the Book class to support one or more authors by changing the instance variable authors to an Author array.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Notes:</a:t>
            </a:r>
            <a:endParaRPr/>
          </a:p>
          <a:p>
            <a:pPr marL="457200" lvl="0" indent="-317500" algn="l" rtl="0">
              <a:spcBef>
                <a:spcPts val="36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 constructors take an array of Author (i.e., Author[]), instead of an Author instance. In this design, once a Book instance is constructor, you cannot add or remove author.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 toString() method shall return "Book[name=?,authors={Author[name=?,email=?,gender=?],......},price=?,qty=?]".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You are required to:</a:t>
            </a:r>
            <a:endParaRPr/>
          </a:p>
          <a:p>
            <a:pPr marL="457200" lvl="0" indent="-317500" algn="l" rtl="0">
              <a:spcBef>
                <a:spcPts val="36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Write the code for the Book class. You shall re-use the Author class written earlier.</a:t>
            </a:r>
            <a:endParaRPr/>
          </a:p>
        </p:txBody>
      </p:sp>
      <p:sp>
        <p:nvSpPr>
          <p:cNvPr id="412" name="Google Shape;412;g3289233d6a8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9:notes"/>
          <p:cNvSpPr txBox="1">
            <a:spLocks noGrp="1"/>
          </p:cNvSpPr>
          <p:nvPr>
            <p:ph type="sldNum" idx="12"/>
          </p:nvPr>
        </p:nvSpPr>
        <p:spPr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1" name="Google Shape;421;p39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7" name="Google Shape;17;p2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 HỌC QUỐC GIA THÀNH PHỐ HỒ CHÍ MINH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sz="900" b="1" i="0" u="none" strike="noStrike" cap="non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83448" y="166398"/>
            <a:ext cx="760916" cy="69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84564" y="275911"/>
            <a:ext cx="1430753" cy="5078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/>
          <p:nvPr/>
        </p:nvSpPr>
        <p:spPr>
          <a:xfrm>
            <a:off x="0" y="1815704"/>
            <a:ext cx="1042988" cy="773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1_One column 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title" idx="3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title" idx="4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 idx="5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title" idx="6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title" idx="7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title" idx="2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6" name="Google Shape;56;p7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NATIONAL UNIVERSITY OF HO CHI MINH CITY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UNIVERSITY OF TECHNOLOGY</a:t>
            </a:r>
            <a:endParaRPr sz="9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9435" y="100723"/>
            <a:ext cx="760916" cy="69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3406" y="1"/>
            <a:ext cx="1736028" cy="8512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9"/>
            <a:ext cx="9144230" cy="514337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8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8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 HỌC QUỐC GIA THÀNH PHỐ HỒ CHÍ MINH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sz="9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9"/>
            <a:ext cx="9144230" cy="514337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0" name="Google Shape;70;p9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NATIONAL UNIVERSITY OF HO CHI MINH CITY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UNIVERSITY OF TECHNOLOGY</a:t>
            </a:r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628650" y="133952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628650" y="1675312"/>
            <a:ext cx="7886700" cy="1207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>
            <a:off x="628650" y="302571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Section Header">
  <p:cSld name="1_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628650" y="1675312"/>
            <a:ext cx="7886700" cy="1207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628650" y="302571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rgbClr val="FFC00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3608615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body" idx="2"/>
          </p:nvPr>
        </p:nvSpPr>
        <p:spPr>
          <a:xfrm>
            <a:off x="4913268" y="1369218"/>
            <a:ext cx="3602083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6" name="Google Shape;96;p13"/>
          <p:cNvCxnSpPr/>
          <p:nvPr/>
        </p:nvCxnSpPr>
        <p:spPr>
          <a:xfrm>
            <a:off x="4585059" y="1369218"/>
            <a:ext cx="0" cy="3166859"/>
          </a:xfrm>
          <a:prstGeom prst="straightConnector1">
            <a:avLst/>
          </a:prstGeom>
          <a:noFill/>
          <a:ln w="19050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629842" y="408216"/>
            <a:ext cx="3607424" cy="587828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 b="1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 b="1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2"/>
          </p:nvPr>
        </p:nvSpPr>
        <p:spPr>
          <a:xfrm>
            <a:off x="629842" y="1216478"/>
            <a:ext cx="3607424" cy="3425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3"/>
          </p:nvPr>
        </p:nvSpPr>
        <p:spPr>
          <a:xfrm>
            <a:off x="4950823" y="408214"/>
            <a:ext cx="3598376" cy="587829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 b="1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 b="1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body" idx="4"/>
          </p:nvPr>
        </p:nvSpPr>
        <p:spPr>
          <a:xfrm>
            <a:off x="4918165" y="1216478"/>
            <a:ext cx="3598376" cy="3425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5" name="Google Shape;105;p14"/>
          <p:cNvCxnSpPr/>
          <p:nvPr/>
        </p:nvCxnSpPr>
        <p:spPr>
          <a:xfrm>
            <a:off x="4585059" y="408216"/>
            <a:ext cx="0" cy="4127863"/>
          </a:xfrm>
          <a:prstGeom prst="straightConnector1">
            <a:avLst/>
          </a:prstGeom>
          <a:noFill/>
          <a:ln w="19050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bg>
      <p:bgPr>
        <a:solidFill>
          <a:schemeClr val="l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body" idx="1"/>
          </p:nvPr>
        </p:nvSpPr>
        <p:spPr>
          <a:xfrm>
            <a:off x="3887391" y="0"/>
            <a:ext cx="525660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 sz="1800"/>
            </a:lvl1pPr>
            <a:lvl2pPr marL="914400" lvl="1" indent="-37861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363"/>
              <a:buChar char="•"/>
              <a:defRPr sz="1575"/>
            </a:lvl2pPr>
            <a:lvl3pPr marL="1371600" lvl="2" indent="-35718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025"/>
              <a:buChar char="•"/>
              <a:defRPr sz="1350"/>
            </a:lvl3pPr>
            <a:lvl4pPr marL="1828800" lvl="3" indent="-335756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Char char="•"/>
              <a:defRPr sz="1125"/>
            </a:lvl4pPr>
            <a:lvl5pPr marL="2286000" lvl="4" indent="-335756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Char char="•"/>
              <a:defRPr sz="1125"/>
            </a:lvl5pPr>
            <a:lvl6pPr marL="2743200" lvl="5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marL="3200400" lvl="6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marL="3657600" lvl="7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marL="4114800" lvl="8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629841" y="342901"/>
            <a:ext cx="2949178" cy="91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350"/>
              <a:buNone/>
              <a:defRPr sz="900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cxnSp>
        <p:nvCxnSpPr>
          <p:cNvPr id="124" name="Google Shape;124;p18"/>
          <p:cNvCxnSpPr/>
          <p:nvPr/>
        </p:nvCxnSpPr>
        <p:spPr>
          <a:xfrm>
            <a:off x="628651" y="1410867"/>
            <a:ext cx="2950369" cy="0"/>
          </a:xfrm>
          <a:prstGeom prst="straightConnector1">
            <a:avLst/>
          </a:prstGeom>
          <a:noFill/>
          <a:ln w="9525" cap="flat" cmpd="sng">
            <a:solidFill>
              <a:srgbClr val="637D9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5" name="Google Shape;125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>
            <a:spLocks noGrp="1"/>
          </p:cNvSpPr>
          <p:nvPr>
            <p:ph type="title"/>
          </p:nvPr>
        </p:nvSpPr>
        <p:spPr>
          <a:xfrm>
            <a:off x="629841" y="342901"/>
            <a:ext cx="2949178" cy="91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9"/>
          <p:cNvSpPr>
            <a:spLocks noGrp="1"/>
          </p:cNvSpPr>
          <p:nvPr>
            <p:ph type="pic" idx="2"/>
          </p:nvPr>
        </p:nvSpPr>
        <p:spPr>
          <a:xfrm>
            <a:off x="3921920" y="0"/>
            <a:ext cx="5222081" cy="5143500"/>
          </a:xfrm>
          <a:prstGeom prst="rect">
            <a:avLst/>
          </a:prstGeom>
          <a:solidFill>
            <a:srgbClr val="1F3864"/>
          </a:solidFill>
          <a:ln w="9525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19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350"/>
              <a:buNone/>
              <a:defRPr sz="900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3" name="Google Shape;133;p19"/>
          <p:cNvCxnSpPr/>
          <p:nvPr/>
        </p:nvCxnSpPr>
        <p:spPr>
          <a:xfrm>
            <a:off x="628651" y="1410867"/>
            <a:ext cx="2950369" cy="0"/>
          </a:xfrm>
          <a:prstGeom prst="straightConnector1">
            <a:avLst/>
          </a:prstGeom>
          <a:noFill/>
          <a:ln w="9525" cap="flat" cmpd="sng">
            <a:solidFill>
              <a:srgbClr val="637D9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72076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>
            <a:spLocks noGrp="1"/>
          </p:cNvSpPr>
          <p:nvPr>
            <p:ph type="title"/>
          </p:nvPr>
        </p:nvSpPr>
        <p:spPr>
          <a:xfrm rot="5400000">
            <a:off x="5350074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body" idx="1"/>
          </p:nvPr>
        </p:nvSpPr>
        <p:spPr>
          <a:xfrm rot="5400000">
            <a:off x="1349574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>
            <a:spLocks noGrp="1"/>
          </p:cNvSpPr>
          <p:nvPr>
            <p:ph type="pic" idx="2"/>
          </p:nvPr>
        </p:nvSpPr>
        <p:spPr>
          <a:xfrm>
            <a:off x="1204230" y="1143951"/>
            <a:ext cx="2058293" cy="2058293"/>
          </a:xfrm>
          <a:prstGeom prst="ellipse">
            <a:avLst/>
          </a:prstGeom>
          <a:solidFill>
            <a:srgbClr val="50637E"/>
          </a:solidFill>
          <a:ln w="762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22"/>
          <p:cNvSpPr txBox="1">
            <a:spLocks noGrp="1"/>
          </p:cNvSpPr>
          <p:nvPr>
            <p:ph type="body" idx="1"/>
          </p:nvPr>
        </p:nvSpPr>
        <p:spPr>
          <a:xfrm>
            <a:off x="1381551" y="3650225"/>
            <a:ext cx="1786951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22"/>
          <p:cNvSpPr>
            <a:spLocks noGrp="1"/>
          </p:cNvSpPr>
          <p:nvPr>
            <p:ph type="pic" idx="3"/>
          </p:nvPr>
        </p:nvSpPr>
        <p:spPr>
          <a:xfrm>
            <a:off x="3650034" y="1143951"/>
            <a:ext cx="2058293" cy="2058293"/>
          </a:xfrm>
          <a:prstGeom prst="ellipse">
            <a:avLst/>
          </a:prstGeom>
          <a:solidFill>
            <a:srgbClr val="50637E"/>
          </a:solidFill>
          <a:ln w="76200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22"/>
          <p:cNvSpPr txBox="1">
            <a:spLocks noGrp="1"/>
          </p:cNvSpPr>
          <p:nvPr>
            <p:ph type="body" idx="4"/>
          </p:nvPr>
        </p:nvSpPr>
        <p:spPr>
          <a:xfrm>
            <a:off x="3785705" y="3650225"/>
            <a:ext cx="1786951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6054191" y="1143951"/>
            <a:ext cx="2058293" cy="2058293"/>
          </a:xfrm>
          <a:prstGeom prst="ellipse">
            <a:avLst/>
          </a:prstGeom>
          <a:solidFill>
            <a:srgbClr val="50637E"/>
          </a:solidFill>
          <a:ln w="762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2"/>
          <p:cNvSpPr txBox="1">
            <a:spLocks noGrp="1"/>
          </p:cNvSpPr>
          <p:nvPr>
            <p:ph type="body" idx="6"/>
          </p:nvPr>
        </p:nvSpPr>
        <p:spPr>
          <a:xfrm>
            <a:off x="6189863" y="3650226"/>
            <a:ext cx="1786951" cy="835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23"/>
          <p:cNvCxnSpPr/>
          <p:nvPr/>
        </p:nvCxnSpPr>
        <p:spPr>
          <a:xfrm>
            <a:off x="1321594" y="681171"/>
            <a:ext cx="3128963" cy="0"/>
          </a:xfrm>
          <a:prstGeom prst="straightConnector1">
            <a:avLst/>
          </a:prstGeom>
          <a:noFill/>
          <a:ln w="9525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6" name="Google Shape;156;p23"/>
          <p:cNvSpPr txBox="1">
            <a:spLocks noGrp="1"/>
          </p:cNvSpPr>
          <p:nvPr>
            <p:ph type="body" idx="1"/>
          </p:nvPr>
        </p:nvSpPr>
        <p:spPr>
          <a:xfrm>
            <a:off x="378620" y="100012"/>
            <a:ext cx="5279231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  <a:defRPr sz="1800" b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body" idx="2"/>
          </p:nvPr>
        </p:nvSpPr>
        <p:spPr>
          <a:xfrm>
            <a:off x="1321593" y="778669"/>
            <a:ext cx="3186113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i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3"/>
          <p:cNvSpPr>
            <a:spLocks noGrp="1"/>
          </p:cNvSpPr>
          <p:nvPr>
            <p:ph type="chart" idx="3"/>
          </p:nvPr>
        </p:nvSpPr>
        <p:spPr>
          <a:xfrm>
            <a:off x="150019" y="1233754"/>
            <a:ext cx="5336381" cy="3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sz="15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body" idx="4"/>
          </p:nvPr>
        </p:nvSpPr>
        <p:spPr>
          <a:xfrm>
            <a:off x="5751910" y="1233756"/>
            <a:ext cx="2949178" cy="375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688"/>
              <a:buNone/>
              <a:defRPr sz="1125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sp>
        <p:nvSpPr>
          <p:cNvPr id="160" name="Google Shape;160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24"/>
          <p:cNvCxnSpPr/>
          <p:nvPr/>
        </p:nvCxnSpPr>
        <p:spPr>
          <a:xfrm>
            <a:off x="1321594" y="681171"/>
            <a:ext cx="3128963" cy="0"/>
          </a:xfrm>
          <a:prstGeom prst="straightConnector1">
            <a:avLst/>
          </a:prstGeom>
          <a:noFill/>
          <a:ln w="9525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3" name="Google Shape;163;p24"/>
          <p:cNvSpPr txBox="1">
            <a:spLocks noGrp="1"/>
          </p:cNvSpPr>
          <p:nvPr>
            <p:ph type="body" idx="1"/>
          </p:nvPr>
        </p:nvSpPr>
        <p:spPr>
          <a:xfrm>
            <a:off x="378620" y="100012"/>
            <a:ext cx="5279231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  <a:defRPr sz="1800" b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body" idx="2"/>
          </p:nvPr>
        </p:nvSpPr>
        <p:spPr>
          <a:xfrm>
            <a:off x="1321593" y="778669"/>
            <a:ext cx="3186113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i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4"/>
          <p:cNvSpPr>
            <a:spLocks noGrp="1"/>
          </p:cNvSpPr>
          <p:nvPr>
            <p:ph type="chart" idx="3"/>
          </p:nvPr>
        </p:nvSpPr>
        <p:spPr>
          <a:xfrm>
            <a:off x="150019" y="1233754"/>
            <a:ext cx="5336381" cy="3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sz="15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body" idx="4"/>
          </p:nvPr>
        </p:nvSpPr>
        <p:spPr>
          <a:xfrm>
            <a:off x="5751910" y="1233756"/>
            <a:ext cx="2949178" cy="375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688"/>
              <a:buNone/>
              <a:defRPr sz="1125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>
            <a:spLocks noGrp="1"/>
          </p:cNvSpPr>
          <p:nvPr>
            <p:ph type="pic" idx="2"/>
          </p:nvPr>
        </p:nvSpPr>
        <p:spPr>
          <a:xfrm flipH="1">
            <a:off x="569046" y="872836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0" name="Google Shape;170;p25"/>
          <p:cNvSpPr>
            <a:spLocks noGrp="1"/>
          </p:cNvSpPr>
          <p:nvPr>
            <p:ph type="pic" idx="3"/>
          </p:nvPr>
        </p:nvSpPr>
        <p:spPr>
          <a:xfrm flipH="1">
            <a:off x="2673352" y="872836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1" name="Google Shape;171;p25"/>
          <p:cNvSpPr>
            <a:spLocks noGrp="1"/>
          </p:cNvSpPr>
          <p:nvPr>
            <p:ph type="pic" idx="4"/>
          </p:nvPr>
        </p:nvSpPr>
        <p:spPr>
          <a:xfrm flipH="1">
            <a:off x="4802151" y="872836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2" name="Google Shape;172;p25"/>
          <p:cNvSpPr>
            <a:spLocks noGrp="1"/>
          </p:cNvSpPr>
          <p:nvPr>
            <p:ph type="pic" idx="5"/>
          </p:nvPr>
        </p:nvSpPr>
        <p:spPr>
          <a:xfrm flipH="1">
            <a:off x="6828076" y="872835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3" name="Google Shape;173;p25"/>
          <p:cNvSpPr txBox="1">
            <a:spLocks noGrp="1"/>
          </p:cNvSpPr>
          <p:nvPr>
            <p:ph type="body" idx="1"/>
          </p:nvPr>
        </p:nvSpPr>
        <p:spPr>
          <a:xfrm>
            <a:off x="569046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body" idx="6"/>
          </p:nvPr>
        </p:nvSpPr>
        <p:spPr>
          <a:xfrm>
            <a:off x="2723781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body" idx="7"/>
          </p:nvPr>
        </p:nvSpPr>
        <p:spPr>
          <a:xfrm>
            <a:off x="4852580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body" idx="8"/>
          </p:nvPr>
        </p:nvSpPr>
        <p:spPr>
          <a:xfrm>
            <a:off x="6928936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eet the team 3">
  <p:cSld name="1_Meet the team 3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/>
          <p:nvPr/>
        </p:nvSpPr>
        <p:spPr>
          <a:xfrm>
            <a:off x="8631714" y="221557"/>
            <a:ext cx="316640" cy="316642"/>
          </a:xfrm>
          <a:prstGeom prst="ellipse">
            <a:avLst/>
          </a:prstGeom>
          <a:solidFill>
            <a:srgbClr val="231D5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8666038" y="258393"/>
            <a:ext cx="225709" cy="17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88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78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475"/>
              <a:buFont typeface="Calibri"/>
              <a:buNone/>
              <a:defRPr sz="2475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8650" y="133952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8618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sz="15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7187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5756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08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08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991" y="0"/>
            <a:ext cx="9142021" cy="5143500"/>
          </a:xfrm>
          <a:prstGeom prst="rect">
            <a:avLst/>
          </a:prstGeom>
          <a:gradFill>
            <a:gsLst>
              <a:gs pos="0">
                <a:srgbClr val="F6F9FC">
                  <a:alpha val="0"/>
                </a:srgbClr>
              </a:gs>
              <a:gs pos="38000">
                <a:srgbClr val="FFFFFF">
                  <a:alpha val="14901"/>
                </a:srgbClr>
              </a:gs>
              <a:gs pos="84000">
                <a:srgbClr val="E7E6E6">
                  <a:alpha val="29803"/>
                </a:srgbClr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programiz.com/online-compiler/03auquyMRJCj0" TargetMode="Externa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online-compiler/74XUfgm8cwc0G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>
            <a:spLocks noGrp="1"/>
          </p:cNvSpPr>
          <p:nvPr>
            <p:ph type="ctrTitle"/>
          </p:nvPr>
        </p:nvSpPr>
        <p:spPr>
          <a:xfrm>
            <a:off x="1400700" y="2795125"/>
            <a:ext cx="6342600" cy="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lang="en-US" sz="2400" b="0"/>
              <a:t>Chapter 2: Object Oriented Programming Revision - </a:t>
            </a:r>
            <a:r>
              <a:rPr lang="en-US" sz="2400"/>
              <a:t>Inheritance</a:t>
            </a:r>
            <a:endParaRPr sz="2400">
              <a:solidFill>
                <a:srgbClr val="2E75B5"/>
              </a:solidFill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2252676" y="4804219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TP.HCM</a:t>
            </a:r>
            <a:r>
              <a:rPr lang="en-US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r>
              <a:rPr lang="en-US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/0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/202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8" name="Google Shape;188;p27"/>
          <p:cNvSpPr txBox="1">
            <a:spLocks noGrp="1"/>
          </p:cNvSpPr>
          <p:nvPr>
            <p:ph type="ctrTitle"/>
          </p:nvPr>
        </p:nvSpPr>
        <p:spPr>
          <a:xfrm>
            <a:off x="3244200" y="1066425"/>
            <a:ext cx="4499100" cy="12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lang="en-US"/>
              <a:t>Advanced Programming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lang="en-US" sz="2400" b="0"/>
              <a:t>CO2039</a:t>
            </a:r>
            <a:endParaRPr sz="2400" b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FC265-428A-9BFC-C9F3-C23BE1998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Additional Notes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E04E43-EB1E-7270-8114-88A0F882290D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F8512E-C808-DBA0-11F4-984D2C839576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7D6316-F548-A1C2-25B6-C9A381A7332D}"/>
              </a:ext>
            </a:extLst>
          </p:cNvPr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B178241-62CC-5EE2-3A07-4C49BD675B24}"/>
              </a:ext>
            </a:extLst>
          </p:cNvPr>
          <p:cNvSpPr>
            <a:spLocks noGrp="1"/>
          </p:cNvSpPr>
          <p:nvPr>
            <p:ph type="title" idx="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B96A45B-6A00-42E5-B407-51D690DDCD7A}"/>
              </a:ext>
            </a:extLst>
          </p:cNvPr>
          <p:cNvSpPr>
            <a:spLocks noGrp="1"/>
          </p:cNvSpPr>
          <p:nvPr>
            <p:ph type="title" idx="6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D3156A9-CFC8-8D10-64F5-56FB7A5B7C92}"/>
              </a:ext>
            </a:extLst>
          </p:cNvPr>
          <p:cNvSpPr>
            <a:spLocks noGrp="1"/>
          </p:cNvSpPr>
          <p:nvPr>
            <p:ph type="title" idx="7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D51CFE7F-0F6F-3F20-3AA9-D94E5F1008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0944" y="1201329"/>
            <a:ext cx="4139456" cy="490200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VN" dirty="0"/>
              <a:t>all constructor of the superclass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9C4BEB8-4978-AF2E-3402-1B2A7411E214}"/>
              </a:ext>
            </a:extLst>
          </p:cNvPr>
          <p:cNvSpPr>
            <a:spLocks noGrp="1"/>
          </p:cNvSpPr>
          <p:nvPr>
            <p:ph type="subTitle" idx="8"/>
          </p:nvPr>
        </p:nvSpPr>
        <p:spPr/>
        <p:txBody>
          <a:bodyPr/>
          <a:lstStyle/>
          <a:p>
            <a:r>
              <a:rPr lang="en-VN" dirty="0"/>
              <a:t>Default baseclass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873A08D7-1197-5A11-DFDF-BA4604E7CDD3}"/>
              </a:ext>
            </a:extLst>
          </p:cNvPr>
          <p:cNvSpPr>
            <a:spLocks noGrp="1"/>
          </p:cNvSpPr>
          <p:nvPr>
            <p:ph type="subTitle" idx="9"/>
          </p:nvPr>
        </p:nvSpPr>
        <p:spPr/>
        <p:txBody>
          <a:bodyPr/>
          <a:lstStyle/>
          <a:p>
            <a:r>
              <a:rPr lang="en-VN" dirty="0"/>
              <a:t>Class Object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D27A184D-1B93-4CE5-4833-1AE05D19298E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VN" dirty="0"/>
              <a:t>Overloading method</a:t>
            </a: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DD84B6A7-711A-4B62-72E5-1C8AEEF552C5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010940" y="3472126"/>
            <a:ext cx="3412259" cy="490200"/>
          </a:xfrm>
        </p:spPr>
        <p:txBody>
          <a:bodyPr/>
          <a:lstStyle/>
          <a:p>
            <a:r>
              <a:rPr lang="en-VN" dirty="0"/>
              <a:t>Subclass inherits ALL members of the superclass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672AE03-0C06-8177-68C9-EDFDBCBEAC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609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>
            <a:spLocks noGrp="1"/>
          </p:cNvSpPr>
          <p:nvPr>
            <p:ph type="title"/>
          </p:nvPr>
        </p:nvSpPr>
        <p:spPr>
          <a:xfrm>
            <a:off x="1908549" y="520050"/>
            <a:ext cx="1671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CONTENT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8"/>
          <p:cNvSpPr txBox="1">
            <a:spLocks noGrp="1"/>
          </p:cNvSpPr>
          <p:nvPr>
            <p:ph type="title" idx="2"/>
          </p:nvPr>
        </p:nvSpPr>
        <p:spPr>
          <a:xfrm>
            <a:off x="1711310" y="1166613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 txBox="1">
            <a:spLocks noGrp="1"/>
          </p:cNvSpPr>
          <p:nvPr>
            <p:ph type="title" idx="3"/>
          </p:nvPr>
        </p:nvSpPr>
        <p:spPr>
          <a:xfrm>
            <a:off x="1711310" y="2869705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8"/>
          <p:cNvSpPr txBox="1">
            <a:spLocks noGrp="1"/>
          </p:cNvSpPr>
          <p:nvPr>
            <p:ph type="title" idx="4"/>
          </p:nvPr>
        </p:nvSpPr>
        <p:spPr>
          <a:xfrm>
            <a:off x="1711310" y="1734310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 txBox="1">
            <a:spLocks noGrp="1"/>
          </p:cNvSpPr>
          <p:nvPr>
            <p:ph type="title" idx="5"/>
          </p:nvPr>
        </p:nvSpPr>
        <p:spPr>
          <a:xfrm>
            <a:off x="1711310" y="3437403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8"/>
          <p:cNvSpPr txBox="1">
            <a:spLocks noGrp="1"/>
          </p:cNvSpPr>
          <p:nvPr>
            <p:ph type="title" idx="6"/>
          </p:nvPr>
        </p:nvSpPr>
        <p:spPr>
          <a:xfrm>
            <a:off x="1711310" y="2302008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8"/>
          <p:cNvSpPr txBox="1">
            <a:spLocks noGrp="1"/>
          </p:cNvSpPr>
          <p:nvPr>
            <p:ph type="subTitle" idx="1"/>
          </p:nvPr>
        </p:nvSpPr>
        <p:spPr>
          <a:xfrm>
            <a:off x="2544907" y="1168425"/>
            <a:ext cx="54243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INTRODUCTION TO INHERITANCE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8"/>
          <p:cNvSpPr txBox="1">
            <a:spLocks noGrp="1"/>
          </p:cNvSpPr>
          <p:nvPr>
            <p:ph type="subTitle" idx="8"/>
          </p:nvPr>
        </p:nvSpPr>
        <p:spPr>
          <a:xfrm>
            <a:off x="2544908" y="1736098"/>
            <a:ext cx="4071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KEY CONCEPTS OF INHERITANCE</a:t>
            </a:r>
            <a:endParaRPr sz="2000"/>
          </a:p>
        </p:txBody>
      </p:sp>
      <p:sp>
        <p:nvSpPr>
          <p:cNvPr id="201" name="Google Shape;201;p28"/>
          <p:cNvSpPr txBox="1">
            <a:spLocks noGrp="1"/>
          </p:cNvSpPr>
          <p:nvPr>
            <p:ph type="subTitle" idx="9"/>
          </p:nvPr>
        </p:nvSpPr>
        <p:spPr>
          <a:xfrm>
            <a:off x="2544908" y="2303795"/>
            <a:ext cx="4071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HOW INHERITANCE WORKS?</a:t>
            </a:r>
            <a:endParaRPr sz="2000"/>
          </a:p>
        </p:txBody>
      </p:sp>
      <p:sp>
        <p:nvSpPr>
          <p:cNvPr id="202" name="Google Shape;202;p28"/>
          <p:cNvSpPr txBox="1">
            <a:spLocks noGrp="1"/>
          </p:cNvSpPr>
          <p:nvPr>
            <p:ph type="subTitle" idx="13"/>
          </p:nvPr>
        </p:nvSpPr>
        <p:spPr>
          <a:xfrm>
            <a:off x="2544900" y="2871504"/>
            <a:ext cx="36393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 sz="2000"/>
          </a:p>
        </p:txBody>
      </p:sp>
      <p:sp>
        <p:nvSpPr>
          <p:cNvPr id="203" name="Google Shape;203;p28"/>
          <p:cNvSpPr txBox="1">
            <a:spLocks noGrp="1"/>
          </p:cNvSpPr>
          <p:nvPr>
            <p:ph type="subTitle" idx="14"/>
          </p:nvPr>
        </p:nvSpPr>
        <p:spPr>
          <a:xfrm>
            <a:off x="2544900" y="3397950"/>
            <a:ext cx="6124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000"/>
          </a:p>
        </p:txBody>
      </p:sp>
      <p:grpSp>
        <p:nvGrpSpPr>
          <p:cNvPr id="204" name="Google Shape;204;p28"/>
          <p:cNvGrpSpPr/>
          <p:nvPr/>
        </p:nvGrpSpPr>
        <p:grpSpPr>
          <a:xfrm>
            <a:off x="8024595" y="1680150"/>
            <a:ext cx="1193310" cy="3463350"/>
            <a:chOff x="472500" y="1762000"/>
            <a:chExt cx="1193310" cy="3463350"/>
          </a:xfrm>
        </p:grpSpPr>
        <p:grpSp>
          <p:nvGrpSpPr>
            <p:cNvPr id="205" name="Google Shape;205;p28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3" cy="1266614"/>
            </a:xfrm>
          </p:grpSpPr>
          <p:sp>
            <p:nvSpPr>
              <p:cNvPr id="206" name="Google Shape;206;p2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2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8" name="Google Shape;208;p28"/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28"/>
          <p:cNvSpPr/>
          <p:nvPr/>
        </p:nvSpPr>
        <p:spPr>
          <a:xfrm rot="-5400000">
            <a:off x="1695899" y="703475"/>
            <a:ext cx="228075" cy="197250"/>
          </a:xfrm>
          <a:prstGeom prst="flowChartMerge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11" name="Google Shape;211;p28"/>
          <p:cNvSpPr txBox="1">
            <a:spLocks noGrp="1"/>
          </p:cNvSpPr>
          <p:nvPr>
            <p:ph type="title" idx="5"/>
          </p:nvPr>
        </p:nvSpPr>
        <p:spPr>
          <a:xfrm>
            <a:off x="1711310" y="4044503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8"/>
          <p:cNvSpPr txBox="1">
            <a:spLocks noGrp="1"/>
          </p:cNvSpPr>
          <p:nvPr>
            <p:ph type="subTitle" idx="14"/>
          </p:nvPr>
        </p:nvSpPr>
        <p:spPr>
          <a:xfrm>
            <a:off x="2544900" y="4005050"/>
            <a:ext cx="6124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EXTENSION: COMPOSITION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>
            <a:spLocks noGrp="1"/>
          </p:cNvSpPr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INTRODUCTION TO INHERITANCE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9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What is Inheritance?</a:t>
            </a:r>
            <a:endParaRPr/>
          </a:p>
        </p:txBody>
      </p:sp>
      <p:sp>
        <p:nvSpPr>
          <p:cNvPr id="225" name="Google Shape;225;p30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12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b="0">
                <a:solidFill>
                  <a:schemeClr val="dk1"/>
                </a:solidFill>
              </a:rPr>
              <a:t>A mechanism for creating a new class (called a </a:t>
            </a:r>
            <a:r>
              <a:rPr lang="en-US" sz="2000" i="1">
                <a:solidFill>
                  <a:schemeClr val="dk1"/>
                </a:solidFill>
              </a:rPr>
              <a:t>derived class</a:t>
            </a:r>
            <a:r>
              <a:rPr lang="en-US" sz="2000" b="0">
                <a:solidFill>
                  <a:schemeClr val="dk1"/>
                </a:solidFill>
              </a:rPr>
              <a:t> or child class) from an existing class (called a </a:t>
            </a:r>
            <a:r>
              <a:rPr lang="en-US" sz="2000" i="1">
                <a:solidFill>
                  <a:schemeClr val="dk1"/>
                </a:solidFill>
              </a:rPr>
              <a:t>base class</a:t>
            </a:r>
            <a:r>
              <a:rPr lang="en-US" sz="2000" b="0">
                <a:solidFill>
                  <a:schemeClr val="dk1"/>
                </a:solidFill>
              </a:rPr>
              <a:t> or parent class) to reuse and extend its functionality.</a:t>
            </a:r>
            <a:endParaRPr/>
          </a:p>
        </p:txBody>
      </p:sp>
      <p:sp>
        <p:nvSpPr>
          <p:cNvPr id="226" name="Google Shape;226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227" name="Google Shape;22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2013" y="2262725"/>
            <a:ext cx="3219969" cy="257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Why is Inheritance important?</a:t>
            </a:r>
            <a:endParaRPr/>
          </a:p>
        </p:txBody>
      </p:sp>
      <p:sp>
        <p:nvSpPr>
          <p:cNvPr id="233" name="Google Shape;233;p31"/>
          <p:cNvSpPr txBox="1">
            <a:spLocks noGrp="1"/>
          </p:cNvSpPr>
          <p:nvPr>
            <p:ph type="title"/>
          </p:nvPr>
        </p:nvSpPr>
        <p:spPr>
          <a:xfrm>
            <a:off x="720000" y="963275"/>
            <a:ext cx="5286900" cy="3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Code Reusability</a:t>
            </a:r>
            <a:r>
              <a:rPr lang="en-US" sz="2000" b="0">
                <a:solidFill>
                  <a:schemeClr val="dk1"/>
                </a:solidFill>
              </a:rPr>
              <a:t>: Reuse of common logic from base classes ⇒ codebase more efficient and maintainable.</a:t>
            </a:r>
            <a:endParaRPr sz="2000" b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Extensibility</a:t>
            </a:r>
            <a:r>
              <a:rPr lang="en-US" sz="2000" b="0">
                <a:solidFill>
                  <a:schemeClr val="dk1"/>
                </a:solidFill>
              </a:rPr>
              <a:t>: New features can be added by extending the base class ⇒ easy updates without affecting existing code.</a:t>
            </a:r>
            <a:endParaRPr sz="2000" b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Polymorphism</a:t>
            </a:r>
            <a:r>
              <a:rPr lang="en-US" sz="2000" b="0">
                <a:solidFill>
                  <a:schemeClr val="dk1"/>
                </a:solidFill>
              </a:rPr>
              <a:t>: Introduced in Chap 3 later.</a:t>
            </a:r>
            <a:endParaRPr sz="2000" b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Hierarchical Organization</a:t>
            </a:r>
            <a:r>
              <a:rPr lang="en-US" sz="2000" b="0">
                <a:solidFill>
                  <a:schemeClr val="dk1"/>
                </a:solidFill>
              </a:rPr>
              <a:t>: Classes can be organized in a logical structure, representing real-world relationships.</a:t>
            </a:r>
            <a:endParaRPr sz="2000" b="0">
              <a:solidFill>
                <a:schemeClr val="dk1"/>
              </a:solidFill>
            </a:endParaRPr>
          </a:p>
        </p:txBody>
      </p:sp>
      <p:sp>
        <p:nvSpPr>
          <p:cNvPr id="234" name="Google Shape;234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35" name="Google Shape;23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3175" y="1874338"/>
            <a:ext cx="1394825" cy="139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>
            <a:spLocks noGrp="1"/>
          </p:cNvSpPr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KEY CONCEPTS OF INHERITANCE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2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Base class &amp; Derived class</a:t>
            </a:r>
            <a:endParaRPr/>
          </a:p>
        </p:txBody>
      </p:sp>
      <p:sp>
        <p:nvSpPr>
          <p:cNvPr id="248" name="Google Shape;248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249" name="Google Shape;24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4038" y="1913213"/>
            <a:ext cx="3219969" cy="257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3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12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000">
                <a:solidFill>
                  <a:schemeClr val="dk1"/>
                </a:solidFill>
              </a:rPr>
              <a:t>Base class</a:t>
            </a:r>
            <a:r>
              <a:rPr lang="en-US" sz="2000" b="0">
                <a:solidFill>
                  <a:schemeClr val="dk1"/>
                </a:solidFill>
              </a:rPr>
              <a:t> (Parent/Superclass): The class whose properties (attributes) and methods (functions) are inherited by another class.</a:t>
            </a:r>
            <a:endParaRPr sz="20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000" b="0" i="1">
                <a:solidFill>
                  <a:schemeClr val="dk1"/>
                </a:solidFill>
              </a:rPr>
              <a:t>Example</a:t>
            </a:r>
            <a:r>
              <a:rPr lang="en-US" sz="2000" b="0">
                <a:solidFill>
                  <a:schemeClr val="dk1"/>
                </a:solidFill>
              </a:rPr>
              <a:t>: </a:t>
            </a:r>
            <a:r>
              <a:rPr lang="en-US" sz="2000" b="0" i="1">
                <a:solidFill>
                  <a:schemeClr val="dk1"/>
                </a:solidFill>
              </a:rPr>
              <a:t>Animal</a:t>
            </a:r>
            <a:r>
              <a:rPr lang="en-US" sz="2000" b="0">
                <a:solidFill>
                  <a:schemeClr val="dk1"/>
                </a:solidFill>
              </a:rPr>
              <a:t> is a base class.</a:t>
            </a:r>
            <a:endParaRPr sz="20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endParaRPr sz="20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endParaRPr sz="2000" b="0">
              <a:solidFill>
                <a:schemeClr val="dk1"/>
              </a:solidFill>
            </a:endParaRPr>
          </a:p>
        </p:txBody>
      </p:sp>
      <p:sp>
        <p:nvSpPr>
          <p:cNvPr id="251" name="Google Shape;251;p33"/>
          <p:cNvSpPr txBox="1"/>
          <p:nvPr/>
        </p:nvSpPr>
        <p:spPr>
          <a:xfrm>
            <a:off x="720000" y="2217300"/>
            <a:ext cx="4623300" cy="22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Derived class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(Child/Subclass): The class inheriting from the base class. It can </a:t>
            </a:r>
            <a:r>
              <a:rPr lang="en-US" sz="20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US" sz="20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override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en-US" sz="20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</a:t>
            </a:r>
            <a:r>
              <a:rPr lang="en-US" sz="20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class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0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its own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⇒ “is-a” relationship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Dog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inherits from </a:t>
            </a:r>
            <a:r>
              <a:rPr lang="en-US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Animal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⇒ Dog “is-a” Animal.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Method overriding</a:t>
            </a:r>
            <a:endParaRPr/>
          </a:p>
        </p:txBody>
      </p:sp>
      <p:sp>
        <p:nvSpPr>
          <p:cNvPr id="257" name="Google Shape;257;p34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15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000" b="0">
                <a:solidFill>
                  <a:schemeClr val="dk1"/>
                </a:solidFill>
              </a:rPr>
              <a:t>A derived class can redefine (override) a method from the base class to provide specific functionality.</a:t>
            </a:r>
            <a:endParaRPr sz="2000" b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b="0">
                <a:solidFill>
                  <a:schemeClr val="dk1"/>
                </a:solidFill>
              </a:rPr>
              <a:t>The method in the base class must have the </a:t>
            </a:r>
            <a:r>
              <a:rPr lang="en-US" sz="2000" i="1">
                <a:solidFill>
                  <a:schemeClr val="dk1"/>
                </a:solidFill>
              </a:rPr>
              <a:t>same name</a:t>
            </a:r>
            <a:r>
              <a:rPr lang="en-US" sz="2000" b="0">
                <a:solidFill>
                  <a:schemeClr val="dk1"/>
                </a:solidFill>
              </a:rPr>
              <a:t>, </a:t>
            </a:r>
            <a:r>
              <a:rPr lang="en-US" sz="2000" i="1">
                <a:solidFill>
                  <a:schemeClr val="dk1"/>
                </a:solidFill>
              </a:rPr>
              <a:t>return type</a:t>
            </a:r>
            <a:r>
              <a:rPr lang="en-US" sz="2000" b="0">
                <a:solidFill>
                  <a:schemeClr val="dk1"/>
                </a:solidFill>
              </a:rPr>
              <a:t>, and </a:t>
            </a:r>
            <a:r>
              <a:rPr lang="en-US" sz="2000" i="1">
                <a:solidFill>
                  <a:schemeClr val="dk1"/>
                </a:solidFill>
              </a:rPr>
              <a:t>parameters</a:t>
            </a:r>
            <a:r>
              <a:rPr lang="en-US" sz="2000" b="0">
                <a:solidFill>
                  <a:schemeClr val="dk1"/>
                </a:solidFill>
              </a:rPr>
              <a:t> as the overridden method.</a:t>
            </a:r>
            <a:endParaRPr sz="2000" b="0">
              <a:solidFill>
                <a:schemeClr val="dk1"/>
              </a:solidFill>
            </a:endParaRPr>
          </a:p>
        </p:txBody>
      </p:sp>
      <p:sp>
        <p:nvSpPr>
          <p:cNvPr id="258" name="Google Shape;258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59" name="Google Shape;259;p34"/>
          <p:cNvSpPr txBox="1">
            <a:spLocks noGrp="1"/>
          </p:cNvSpPr>
          <p:nvPr>
            <p:ph type="title"/>
          </p:nvPr>
        </p:nvSpPr>
        <p:spPr>
          <a:xfrm>
            <a:off x="720000" y="2571750"/>
            <a:ext cx="77040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Constructors</a:t>
            </a:r>
            <a:r>
              <a:rPr lang="en-US" sz="2000" b="0">
                <a:solidFill>
                  <a:schemeClr val="dk1"/>
                </a:solidFill>
              </a:rPr>
              <a:t>: When an object of a derived class is created, the </a:t>
            </a:r>
            <a:r>
              <a:rPr lang="en-US" sz="2000" i="1">
                <a:solidFill>
                  <a:schemeClr val="dk1"/>
                </a:solidFill>
              </a:rPr>
              <a:t>base class constructor</a:t>
            </a:r>
            <a:r>
              <a:rPr lang="en-US" sz="2000" b="0">
                <a:solidFill>
                  <a:schemeClr val="dk1"/>
                </a:solidFill>
              </a:rPr>
              <a:t> is called </a:t>
            </a:r>
            <a:r>
              <a:rPr lang="en-US" sz="2000" i="1">
                <a:solidFill>
                  <a:schemeClr val="dk1"/>
                </a:solidFill>
              </a:rPr>
              <a:t>first</a:t>
            </a:r>
            <a:r>
              <a:rPr lang="en-US" sz="2000" b="0">
                <a:solidFill>
                  <a:schemeClr val="dk1"/>
                </a:solidFill>
              </a:rPr>
              <a:t>, followed by the derived class constructor.</a:t>
            </a:r>
            <a:endParaRPr sz="2000" b="0">
              <a:solidFill>
                <a:schemeClr val="dk1"/>
              </a:solidFill>
            </a:endParaRPr>
          </a:p>
        </p:txBody>
      </p:sp>
      <p:sp>
        <p:nvSpPr>
          <p:cNvPr id="260" name="Google Shape;260;p34"/>
          <p:cNvSpPr txBox="1">
            <a:spLocks noGrp="1"/>
          </p:cNvSpPr>
          <p:nvPr>
            <p:ph type="title"/>
          </p:nvPr>
        </p:nvSpPr>
        <p:spPr>
          <a:xfrm>
            <a:off x="720000" y="3462450"/>
            <a:ext cx="77040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Destructors</a:t>
            </a:r>
            <a:r>
              <a:rPr lang="en-US" sz="2000" b="0">
                <a:solidFill>
                  <a:schemeClr val="dk1"/>
                </a:solidFill>
              </a:rPr>
              <a:t>: When an object is destroyed, the </a:t>
            </a:r>
            <a:r>
              <a:rPr lang="en-US" sz="2000" i="1">
                <a:solidFill>
                  <a:schemeClr val="dk1"/>
                </a:solidFill>
              </a:rPr>
              <a:t>derived class destructor</a:t>
            </a:r>
            <a:r>
              <a:rPr lang="en-US" sz="2000" b="0">
                <a:solidFill>
                  <a:schemeClr val="dk1"/>
                </a:solidFill>
              </a:rPr>
              <a:t> is called </a:t>
            </a:r>
            <a:r>
              <a:rPr lang="en-US" sz="2000" i="1">
                <a:solidFill>
                  <a:schemeClr val="dk1"/>
                </a:solidFill>
              </a:rPr>
              <a:t>first</a:t>
            </a:r>
            <a:r>
              <a:rPr lang="en-US" sz="2000" b="0">
                <a:solidFill>
                  <a:schemeClr val="dk1"/>
                </a:solidFill>
              </a:rPr>
              <a:t>, followed by the base class destructor.</a:t>
            </a:r>
            <a:endParaRPr sz="2000" b="0">
              <a:solidFill>
                <a:schemeClr val="dk1"/>
              </a:solidFill>
            </a:endParaRPr>
          </a:p>
        </p:txBody>
      </p:sp>
      <p:sp>
        <p:nvSpPr>
          <p:cNvPr id="261" name="Google Shape;261;p34"/>
          <p:cNvSpPr txBox="1"/>
          <p:nvPr/>
        </p:nvSpPr>
        <p:spPr>
          <a:xfrm>
            <a:off x="4167475" y="4670950"/>
            <a:ext cx="43893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Introduced more detailed in Chap 3 - Polymorphism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4"/>
          <p:cNvSpPr txBox="1"/>
          <p:nvPr/>
        </p:nvSpPr>
        <p:spPr>
          <a:xfrm>
            <a:off x="6288525" y="4952675"/>
            <a:ext cx="2871600" cy="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Types of Inheritance</a:t>
            </a:r>
            <a:endParaRPr/>
          </a:p>
        </p:txBody>
      </p:sp>
      <p:sp>
        <p:nvSpPr>
          <p:cNvPr id="268" name="Google Shape;268;p35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chemeClr val="dk1"/>
                </a:solidFill>
              </a:rPr>
              <a:t>Single Inheritance</a:t>
            </a:r>
            <a:r>
              <a:rPr lang="en-US" sz="2000" b="0">
                <a:solidFill>
                  <a:schemeClr val="dk1"/>
                </a:solidFill>
              </a:rPr>
              <a:t>: A derived class inherits from one base class.</a:t>
            </a:r>
            <a:endParaRPr sz="20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chemeClr val="dk1"/>
                </a:solidFill>
              </a:rPr>
              <a:t>Multiple Inheritance</a:t>
            </a:r>
            <a:r>
              <a:rPr lang="en-US" sz="2000" b="0">
                <a:solidFill>
                  <a:schemeClr val="dk1"/>
                </a:solidFill>
              </a:rPr>
              <a:t>: A class inherits from more than one base class. (Supported in C++ but not in Java)</a:t>
            </a:r>
            <a:endParaRPr sz="20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chemeClr val="dk1"/>
                </a:solidFill>
              </a:rPr>
              <a:t>Multilevel Inheritance</a:t>
            </a:r>
            <a:r>
              <a:rPr lang="en-US" sz="2000" b="0">
                <a:solidFill>
                  <a:schemeClr val="dk1"/>
                </a:solidFill>
              </a:rPr>
              <a:t>: A class inherits from a derived class, forming a chain.</a:t>
            </a:r>
            <a:endParaRPr sz="20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chemeClr val="dk1"/>
                </a:solidFill>
              </a:rPr>
              <a:t>Hierarchical Inheritance</a:t>
            </a:r>
            <a:r>
              <a:rPr lang="en-US" sz="2000" b="0">
                <a:solidFill>
                  <a:schemeClr val="dk1"/>
                </a:solidFill>
              </a:rPr>
              <a:t>: Multiple derived classes inherit from one base class.</a:t>
            </a:r>
            <a:endParaRPr sz="20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chemeClr val="dk1"/>
                </a:solidFill>
              </a:rPr>
              <a:t>Hybrid Inheritance</a:t>
            </a:r>
            <a:r>
              <a:rPr lang="en-US" sz="2000" b="0">
                <a:solidFill>
                  <a:schemeClr val="dk1"/>
                </a:solidFill>
              </a:rPr>
              <a:t>: A combination of two or more types of inheritance.</a:t>
            </a:r>
            <a:endParaRPr sz="2000" b="0">
              <a:solidFill>
                <a:schemeClr val="dk1"/>
              </a:solidFill>
            </a:endParaRPr>
          </a:p>
        </p:txBody>
      </p:sp>
      <p:sp>
        <p:nvSpPr>
          <p:cNvPr id="269" name="Google Shape;269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Types of Inheritance</a:t>
            </a:r>
            <a:endParaRPr/>
          </a:p>
        </p:txBody>
      </p:sp>
      <p:sp>
        <p:nvSpPr>
          <p:cNvPr id="275" name="Google Shape;275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76" name="Google Shape;27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1988" y="1017725"/>
            <a:ext cx="5440032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6"/>
          <p:cNvSpPr/>
          <p:nvPr/>
        </p:nvSpPr>
        <p:spPr>
          <a:xfrm>
            <a:off x="4907225" y="2699100"/>
            <a:ext cx="2026500" cy="21396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6"/>
          <p:cNvSpPr txBox="1"/>
          <p:nvPr/>
        </p:nvSpPr>
        <p:spPr>
          <a:xfrm>
            <a:off x="7292025" y="2989750"/>
            <a:ext cx="1264800" cy="13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Diamond Problem?</a:t>
            </a:r>
            <a:endParaRPr sz="20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7"/>
          <p:cNvSpPr txBox="1">
            <a:spLocks noGrp="1"/>
          </p:cNvSpPr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HOW INHERITANCE WORKS?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7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Subclass inherits all members from Superclass</a:t>
            </a:r>
            <a:endParaRPr/>
          </a:p>
        </p:txBody>
      </p:sp>
      <p:sp>
        <p:nvSpPr>
          <p:cNvPr id="291" name="Google Shape;291;p38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1"/>
                </a:solidFill>
              </a:rPr>
              <a:t>When a subclass inherits from a superclass:</a:t>
            </a:r>
            <a:endParaRPr sz="2000" b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i="1">
                <a:solidFill>
                  <a:schemeClr val="dk1"/>
                </a:solidFill>
              </a:rPr>
              <a:t>All members</a:t>
            </a:r>
            <a:r>
              <a:rPr lang="en-US" sz="2000" b="0">
                <a:solidFill>
                  <a:schemeClr val="dk1"/>
                </a:solidFill>
              </a:rPr>
              <a:t> of the superclass, whether public or private, are technically </a:t>
            </a:r>
            <a:r>
              <a:rPr lang="en-US" sz="2000" i="1">
                <a:solidFill>
                  <a:schemeClr val="dk1"/>
                </a:solidFill>
              </a:rPr>
              <a:t>inherited</a:t>
            </a:r>
            <a:r>
              <a:rPr lang="en-US" sz="2000" b="0">
                <a:solidFill>
                  <a:schemeClr val="dk1"/>
                </a:solidFill>
              </a:rPr>
              <a:t>.</a:t>
            </a:r>
            <a:endParaRPr sz="2000" b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b="0">
                <a:solidFill>
                  <a:schemeClr val="dk1"/>
                </a:solidFill>
              </a:rPr>
              <a:t>However, accessibility depends on the access specifier:</a:t>
            </a:r>
            <a:endParaRPr sz="2000" b="0">
              <a:solidFill>
                <a:schemeClr val="dk1"/>
              </a:solidFill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000" b="1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protected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members can be </a:t>
            </a:r>
            <a:r>
              <a:rPr lang="en-US" sz="20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directly accessed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the subclass.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Private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members are inherited but </a:t>
            </a:r>
            <a:r>
              <a:rPr lang="en-US" sz="20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accessible directly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they are accessible through public or protected getters and setters in the superclass.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Subclass inherits all members from Superclass</a:t>
            </a:r>
            <a:endParaRPr/>
          </a:p>
        </p:txBody>
      </p:sp>
      <p:sp>
        <p:nvSpPr>
          <p:cNvPr id="298" name="Google Shape;298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99" name="Google Shape;29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500" y="1170125"/>
            <a:ext cx="8480994" cy="3427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Pointers for Polymorphism (1)</a:t>
            </a:r>
            <a:endParaRPr/>
          </a:p>
        </p:txBody>
      </p:sp>
      <p:sp>
        <p:nvSpPr>
          <p:cNvPr id="305" name="Google Shape;305;p40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class Superclass {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public: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    virtual void display() { cout &lt;&lt; "Superclass\n"; }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};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class Subclass : public Superclass {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public: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    void display() override { cout &lt;&lt; "Subclass\n"; }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};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int main() {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    Subclass sub;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    Superclass sup = sub; 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    sup.display(); // Output: ???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}</a:t>
            </a:r>
            <a:endParaRPr sz="1400" b="0">
              <a:solidFill>
                <a:schemeClr val="dk1"/>
              </a:solidFill>
            </a:endParaRPr>
          </a:p>
        </p:txBody>
      </p:sp>
      <p:sp>
        <p:nvSpPr>
          <p:cNvPr id="306" name="Google Shape;306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307" name="Google Shape;307;p40"/>
          <p:cNvSpPr/>
          <p:nvPr/>
        </p:nvSpPr>
        <p:spPr>
          <a:xfrm>
            <a:off x="4861800" y="1454000"/>
            <a:ext cx="1154100" cy="745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Superclass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0"/>
          <p:cNvSpPr/>
          <p:nvPr/>
        </p:nvSpPr>
        <p:spPr>
          <a:xfrm>
            <a:off x="6459125" y="1454000"/>
            <a:ext cx="1154100" cy="745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Subclass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40"/>
          <p:cNvSpPr/>
          <p:nvPr/>
        </p:nvSpPr>
        <p:spPr>
          <a:xfrm>
            <a:off x="4861800" y="2785675"/>
            <a:ext cx="1154100" cy="745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sup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40"/>
          <p:cNvSpPr/>
          <p:nvPr/>
        </p:nvSpPr>
        <p:spPr>
          <a:xfrm>
            <a:off x="6459125" y="2785675"/>
            <a:ext cx="1154100" cy="745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sub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0"/>
          <p:cNvSpPr/>
          <p:nvPr/>
        </p:nvSpPr>
        <p:spPr>
          <a:xfrm>
            <a:off x="6015900" y="1685750"/>
            <a:ext cx="443100" cy="2817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" name="Google Shape;312;p40"/>
          <p:cNvCxnSpPr>
            <a:stCxn id="307" idx="2"/>
            <a:endCxn id="309" idx="0"/>
          </p:cNvCxnSpPr>
          <p:nvPr/>
        </p:nvCxnSpPr>
        <p:spPr>
          <a:xfrm>
            <a:off x="5438850" y="2199200"/>
            <a:ext cx="0" cy="586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13" name="Google Shape;313;p40"/>
          <p:cNvCxnSpPr>
            <a:stCxn id="308" idx="2"/>
            <a:endCxn id="310" idx="0"/>
          </p:cNvCxnSpPr>
          <p:nvPr/>
        </p:nvCxnSpPr>
        <p:spPr>
          <a:xfrm>
            <a:off x="7036175" y="2199200"/>
            <a:ext cx="0" cy="586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Pointers for Polymorphism (2)</a:t>
            </a:r>
            <a:endParaRPr/>
          </a:p>
        </p:txBody>
      </p:sp>
      <p:sp>
        <p:nvSpPr>
          <p:cNvPr id="319" name="Google Shape;319;p41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class Superclass {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public: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    virtual void display() { cout &lt;&lt; "Superclass\n"; }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};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class Subclass : public Superclass {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public: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    void display() override { cout &lt;&lt; "Subclass\n"; }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};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int main() {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    Subclass sub;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    Superclass* sup = &amp;sub; 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    sup–&gt;display(); // Output: ???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}</a:t>
            </a:r>
            <a:endParaRPr sz="1400" b="0">
              <a:solidFill>
                <a:schemeClr val="dk1"/>
              </a:solidFill>
            </a:endParaRPr>
          </a:p>
        </p:txBody>
      </p:sp>
      <p:sp>
        <p:nvSpPr>
          <p:cNvPr id="320" name="Google Shape;320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21" name="Google Shape;321;p41"/>
          <p:cNvSpPr/>
          <p:nvPr/>
        </p:nvSpPr>
        <p:spPr>
          <a:xfrm>
            <a:off x="4861800" y="1454000"/>
            <a:ext cx="1154100" cy="745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Superclass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1"/>
          <p:cNvSpPr/>
          <p:nvPr/>
        </p:nvSpPr>
        <p:spPr>
          <a:xfrm>
            <a:off x="6459125" y="1454000"/>
            <a:ext cx="1154100" cy="745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Subclass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1"/>
          <p:cNvSpPr/>
          <p:nvPr/>
        </p:nvSpPr>
        <p:spPr>
          <a:xfrm>
            <a:off x="4861800" y="2785675"/>
            <a:ext cx="1154100" cy="745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sup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41"/>
          <p:cNvSpPr/>
          <p:nvPr/>
        </p:nvSpPr>
        <p:spPr>
          <a:xfrm>
            <a:off x="6459125" y="2785675"/>
            <a:ext cx="1154100" cy="745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sub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1"/>
          <p:cNvSpPr/>
          <p:nvPr/>
        </p:nvSpPr>
        <p:spPr>
          <a:xfrm>
            <a:off x="6015900" y="1685750"/>
            <a:ext cx="443100" cy="2817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6" name="Google Shape;326;p41"/>
          <p:cNvCxnSpPr>
            <a:stCxn id="322" idx="2"/>
            <a:endCxn id="323" idx="0"/>
          </p:cNvCxnSpPr>
          <p:nvPr/>
        </p:nvCxnSpPr>
        <p:spPr>
          <a:xfrm flipH="1">
            <a:off x="5438975" y="2199200"/>
            <a:ext cx="1597200" cy="586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27" name="Google Shape;327;p41"/>
          <p:cNvCxnSpPr>
            <a:stCxn id="322" idx="2"/>
            <a:endCxn id="324" idx="0"/>
          </p:cNvCxnSpPr>
          <p:nvPr/>
        </p:nvCxnSpPr>
        <p:spPr>
          <a:xfrm>
            <a:off x="7036175" y="2199200"/>
            <a:ext cx="0" cy="586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Implicit use of pointers</a:t>
            </a:r>
            <a:endParaRPr/>
          </a:p>
        </p:txBody>
      </p:sp>
      <p:sp>
        <p:nvSpPr>
          <p:cNvPr id="333" name="Google Shape;333;p42"/>
          <p:cNvSpPr txBox="1">
            <a:spLocks noGrp="1"/>
          </p:cNvSpPr>
          <p:nvPr>
            <p:ph type="title"/>
          </p:nvPr>
        </p:nvSpPr>
        <p:spPr>
          <a:xfrm>
            <a:off x="720000" y="1133050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class Superclass {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    public void display() {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        System.out.println("Superclass");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    }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}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class Subclass extends Superclass {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    @Override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    public void display() {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        System.out.println("Subclass");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    }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}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public class Main {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    public static void main(String[] args) {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        Superclass obj = new Subclass(); 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        obj.display(); // Output: ???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    }</a:t>
            </a: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</a:rPr>
              <a:t>}</a:t>
            </a:r>
            <a:endParaRPr sz="1400" b="0">
              <a:solidFill>
                <a:schemeClr val="dk1"/>
              </a:solidFill>
            </a:endParaRPr>
          </a:p>
        </p:txBody>
      </p:sp>
      <p:sp>
        <p:nvSpPr>
          <p:cNvPr id="334" name="Google Shape;334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35" name="Google Shape;335;p42"/>
          <p:cNvSpPr txBox="1"/>
          <p:nvPr/>
        </p:nvSpPr>
        <p:spPr>
          <a:xfrm>
            <a:off x="4153075" y="1572150"/>
            <a:ext cx="4403700" cy="19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Java (and many other OOP languages): All objects are </a:t>
            </a:r>
            <a:r>
              <a:rPr lang="en-US" sz="20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accessed via references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(similar to pointers in C++).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 txBox="1">
            <a:spLocks noGrp="1"/>
          </p:cNvSpPr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BEST PRACTICES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43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Exercise 1 - Inheritance in Vehicle classes (1)</a:t>
            </a:r>
            <a:endParaRPr/>
          </a:p>
        </p:txBody>
      </p:sp>
      <p:sp>
        <p:nvSpPr>
          <p:cNvPr id="348" name="Google Shape;348;p44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dk1"/>
                </a:solidFill>
              </a:rPr>
              <a:t>Create a base class Vehicle with the following private attributes: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i="1" dirty="0">
                <a:solidFill>
                  <a:schemeClr val="dk1"/>
                </a:solidFill>
              </a:rPr>
              <a:t>brand</a:t>
            </a:r>
            <a:r>
              <a:rPr lang="en-US" sz="1800" b="0" dirty="0">
                <a:solidFill>
                  <a:schemeClr val="dk1"/>
                </a:solidFill>
              </a:rPr>
              <a:t> (string)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i="1" dirty="0">
                <a:solidFill>
                  <a:schemeClr val="dk1"/>
                </a:solidFill>
              </a:rPr>
              <a:t>year</a:t>
            </a:r>
            <a:r>
              <a:rPr lang="en-US" sz="1800" b="0" dirty="0">
                <a:solidFill>
                  <a:schemeClr val="dk1"/>
                </a:solidFill>
              </a:rPr>
              <a:t> (int)</a:t>
            </a:r>
            <a:endParaRPr sz="1800" b="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dk1"/>
                </a:solidFill>
              </a:rPr>
              <a:t>Add the following to Vehicle: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A default constructor that sets default values ("Unknown" for brand, 0 for year).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A parameterized constructor to initialize brand and year.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Setters and getters for brand and year.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A method </a:t>
            </a:r>
            <a:r>
              <a:rPr lang="en-US" sz="1800" b="0" dirty="0" err="1">
                <a:solidFill>
                  <a:schemeClr val="dk1"/>
                </a:solidFill>
              </a:rPr>
              <a:t>displayInfo</a:t>
            </a:r>
            <a:r>
              <a:rPr lang="en-US" sz="1800" b="0" dirty="0">
                <a:solidFill>
                  <a:schemeClr val="dk1"/>
                </a:solidFill>
              </a:rPr>
              <a:t>() to print details of the vehicle.</a:t>
            </a:r>
            <a:endParaRPr sz="1800" b="0" dirty="0">
              <a:solidFill>
                <a:schemeClr val="dk1"/>
              </a:solidFill>
            </a:endParaRPr>
          </a:p>
        </p:txBody>
      </p:sp>
      <p:sp>
        <p:nvSpPr>
          <p:cNvPr id="349" name="Google Shape;349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Exercise 1 - Inheritance in Vehicle classes (2)</a:t>
            </a:r>
            <a:endParaRPr/>
          </a:p>
        </p:txBody>
      </p:sp>
      <p:sp>
        <p:nvSpPr>
          <p:cNvPr id="355" name="Google Shape;355;p45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</a:rPr>
              <a:t>Create a derived class Car that inherits from Vehicle:</a:t>
            </a:r>
            <a:endParaRPr sz="1600" b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0">
                <a:solidFill>
                  <a:schemeClr val="dk1"/>
                </a:solidFill>
              </a:rPr>
              <a:t>Add a private attribute: </a:t>
            </a:r>
            <a:r>
              <a:rPr lang="en-US" sz="1600" b="0" i="1">
                <a:solidFill>
                  <a:schemeClr val="dk1"/>
                </a:solidFill>
              </a:rPr>
              <a:t>model</a:t>
            </a:r>
            <a:r>
              <a:rPr lang="en-US" sz="1600" b="0">
                <a:solidFill>
                  <a:schemeClr val="dk1"/>
                </a:solidFill>
              </a:rPr>
              <a:t> (string).</a:t>
            </a:r>
            <a:endParaRPr sz="1600" b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0">
                <a:solidFill>
                  <a:schemeClr val="dk1"/>
                </a:solidFill>
              </a:rPr>
              <a:t>Provide a default constructor and a parameterized constructor for Car using constructor chaining.</a:t>
            </a:r>
            <a:endParaRPr sz="1600" b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0">
                <a:solidFill>
                  <a:schemeClr val="dk1"/>
                </a:solidFill>
              </a:rPr>
              <a:t>Override the displayInfo() method to include model.</a:t>
            </a:r>
            <a:endParaRPr sz="16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</a:rPr>
              <a:t>Create another derived class Bike that inherits from Vehicle:</a:t>
            </a:r>
            <a:endParaRPr sz="1600" b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0">
                <a:solidFill>
                  <a:schemeClr val="dk1"/>
                </a:solidFill>
              </a:rPr>
              <a:t>Add a private attribute: </a:t>
            </a:r>
            <a:r>
              <a:rPr lang="en-US" sz="1600" b="0" i="1">
                <a:solidFill>
                  <a:schemeClr val="dk1"/>
                </a:solidFill>
              </a:rPr>
              <a:t>engineCapacity</a:t>
            </a:r>
            <a:r>
              <a:rPr lang="en-US" sz="1600" b="0">
                <a:solidFill>
                  <a:schemeClr val="dk1"/>
                </a:solidFill>
              </a:rPr>
              <a:t> (int).</a:t>
            </a:r>
            <a:endParaRPr sz="1600" b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0">
                <a:solidFill>
                  <a:schemeClr val="dk1"/>
                </a:solidFill>
              </a:rPr>
              <a:t>Provide constructors and override displayInfo() to include </a:t>
            </a:r>
            <a:r>
              <a:rPr lang="en-US" sz="1600" b="0" i="1">
                <a:solidFill>
                  <a:schemeClr val="dk1"/>
                </a:solidFill>
              </a:rPr>
              <a:t>engineCapacity</a:t>
            </a:r>
            <a:r>
              <a:rPr lang="en-US" sz="1600" b="0">
                <a:solidFill>
                  <a:schemeClr val="dk1"/>
                </a:solidFill>
              </a:rPr>
              <a:t>.</a:t>
            </a:r>
            <a:endParaRPr sz="16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</a:rPr>
              <a:t>In the main function:</a:t>
            </a:r>
            <a:endParaRPr sz="1600" b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0">
                <a:solidFill>
                  <a:schemeClr val="dk1"/>
                </a:solidFill>
              </a:rPr>
              <a:t>Create a Car object using both default and parameterized constructors and display its details.</a:t>
            </a:r>
            <a:endParaRPr sz="1600" b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0">
                <a:solidFill>
                  <a:schemeClr val="dk1"/>
                </a:solidFill>
              </a:rPr>
              <a:t>Create a Bike object using both default and parameterized constructors and display its details.</a:t>
            </a:r>
            <a:endParaRPr sz="1600" b="0">
              <a:solidFill>
                <a:schemeClr val="dk1"/>
              </a:solidFill>
            </a:endParaRPr>
          </a:p>
        </p:txBody>
      </p:sp>
      <p:sp>
        <p:nvSpPr>
          <p:cNvPr id="356" name="Google Shape;356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Exercise 2 - Enhanced Library System with Inheritance (1)</a:t>
            </a:r>
            <a:endParaRPr/>
          </a:p>
        </p:txBody>
      </p:sp>
      <p:sp>
        <p:nvSpPr>
          <p:cNvPr id="362" name="Google Shape;362;p46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</a:rPr>
              <a:t>Book Class (Base Class):</a:t>
            </a:r>
            <a:endParaRPr sz="1600" b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0">
                <a:solidFill>
                  <a:schemeClr val="dk1"/>
                </a:solidFill>
              </a:rPr>
              <a:t>Attributes: title, author, ISBN, price, and stock.</a:t>
            </a:r>
            <a:endParaRPr sz="1600" b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0">
                <a:solidFill>
                  <a:schemeClr val="dk1"/>
                </a:solidFill>
              </a:rPr>
              <a:t>Methods:</a:t>
            </a:r>
            <a:endParaRPr sz="1600" b="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Constructor to initialize attributes.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Getter and setter methods.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virtual displayDetails() method to display book information.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</a:rPr>
              <a:t>Derived Classes:</a:t>
            </a:r>
            <a:endParaRPr sz="1600" b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0">
                <a:solidFill>
                  <a:schemeClr val="dk1"/>
                </a:solidFill>
              </a:rPr>
              <a:t>EBook (inherits Book):</a:t>
            </a:r>
            <a:endParaRPr sz="1600" b="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Additional attribute: fileSize (in MB).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Override displayDetails() to include file size.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0">
                <a:solidFill>
                  <a:schemeClr val="dk1"/>
                </a:solidFill>
              </a:rPr>
              <a:t>PrintedBook (inherits Book):</a:t>
            </a:r>
            <a:endParaRPr sz="1600" b="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Additional attribute: pageCount.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Override displayDetails() to include page count.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Exercise 2 - Enhanced Library System with Inheritance (2)</a:t>
            </a:r>
            <a:endParaRPr/>
          </a:p>
        </p:txBody>
      </p:sp>
      <p:sp>
        <p:nvSpPr>
          <p:cNvPr id="369" name="Google Shape;369;p47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</a:rPr>
              <a:t>Library Class:</a:t>
            </a:r>
            <a:endParaRPr sz="1600" b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0">
                <a:solidFill>
                  <a:schemeClr val="dk1"/>
                </a:solidFill>
              </a:rPr>
              <a:t>Attributes:</a:t>
            </a:r>
            <a:endParaRPr sz="1600" b="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dynamic array or vector of pointers to Book objects (supporting both EBook and PrintedBook).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0">
                <a:solidFill>
                  <a:schemeClr val="dk1"/>
                </a:solidFill>
              </a:rPr>
              <a:t>Methods:</a:t>
            </a:r>
            <a:endParaRPr sz="1600" b="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addBook(Book*): Add a new book (of any type).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searchByTitle(string) and searchByAuthor(string): Search books by title/author.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borrowBook(string ISBN): Reduce stock of the specified book by 1.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displayAllBooks(): Display all books in the library.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</a:rPr>
              <a:t>Main Function:</a:t>
            </a:r>
            <a:endParaRPr sz="1600" b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0">
                <a:solidFill>
                  <a:schemeClr val="dk1"/>
                </a:solidFill>
              </a:rPr>
              <a:t>Add a mix of EBook and PrintedBook objects to the library.</a:t>
            </a:r>
            <a:endParaRPr sz="1600" b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0">
                <a:solidFill>
                  <a:schemeClr val="dk1"/>
                </a:solidFill>
              </a:rPr>
              <a:t>Simulate user operations: Search for books by title/author, Borrow books, Display all books.</a:t>
            </a:r>
            <a:endParaRPr sz="1600" b="0">
              <a:solidFill>
                <a:schemeClr val="dk1"/>
              </a:solidFill>
            </a:endParaRPr>
          </a:p>
        </p:txBody>
      </p:sp>
      <p:sp>
        <p:nvSpPr>
          <p:cNvPr id="370" name="Google Shape;370;p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Exercise 3 - Point2D and Point3D</a:t>
            </a:r>
            <a:endParaRPr/>
          </a:p>
        </p:txBody>
      </p:sp>
      <p:sp>
        <p:nvSpPr>
          <p:cNvPr id="376" name="Google Shape;376;p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377" name="Google Shape;37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250" y="1017725"/>
            <a:ext cx="4015996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8"/>
          <p:cNvSpPr txBox="1"/>
          <p:nvPr/>
        </p:nvSpPr>
        <p:spPr>
          <a:xfrm>
            <a:off x="5671250" y="1663050"/>
            <a:ext cx="2562000" cy="18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you write a program based on this class diagram?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9"/>
          <p:cNvSpPr txBox="1">
            <a:spLocks noGrp="1"/>
          </p:cNvSpPr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CONCLUSION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9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391" name="Google Shape;391;p50"/>
          <p:cNvSpPr txBox="1">
            <a:spLocks noGrp="1"/>
          </p:cNvSpPr>
          <p:nvPr>
            <p:ph type="title"/>
          </p:nvPr>
        </p:nvSpPr>
        <p:spPr>
          <a:xfrm>
            <a:off x="720000" y="763350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0">
                <a:solidFill>
                  <a:schemeClr val="dk1"/>
                </a:solidFill>
              </a:rPr>
              <a:t>Inheritance is a fundamental concept of OOP, enabling the creation of new classes by reusing and extending existing ones.  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0">
                <a:solidFill>
                  <a:schemeClr val="dk1"/>
                </a:solidFill>
              </a:rPr>
              <a:t>The primary benefit of inheritance lies in code reuse and the establishment of hierarchical relationships between classes.  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0">
                <a:solidFill>
                  <a:schemeClr val="dk1"/>
                </a:solidFill>
              </a:rPr>
              <a:t>Method overriding and dynamic binding</a:t>
            </a:r>
            <a:r>
              <a:rPr lang="en-US" sz="1800" b="0" baseline="30000">
                <a:solidFill>
                  <a:schemeClr val="dk1"/>
                </a:solidFill>
              </a:rPr>
              <a:t>1</a:t>
            </a:r>
            <a:r>
              <a:rPr lang="en-US" sz="1800" b="0">
                <a:solidFill>
                  <a:schemeClr val="dk1"/>
                </a:solidFill>
              </a:rPr>
              <a:t> are key mechanisms in inheritance, supporting polymorphism and enhancing flexibility in design.</a:t>
            </a:r>
            <a:endParaRPr sz="1800" b="0">
              <a:solidFill>
                <a:schemeClr val="dk1"/>
              </a:solidFill>
            </a:endParaRPr>
          </a:p>
        </p:txBody>
      </p:sp>
      <p:sp>
        <p:nvSpPr>
          <p:cNvPr id="392" name="Google Shape;392;p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393" name="Google Shape;393;p50"/>
          <p:cNvSpPr txBox="1"/>
          <p:nvPr/>
        </p:nvSpPr>
        <p:spPr>
          <a:xfrm>
            <a:off x="4167475" y="4670950"/>
            <a:ext cx="43893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Introduced in Chap 3 - Polymorphism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1"/>
          <p:cNvSpPr txBox="1">
            <a:spLocks noGrp="1"/>
          </p:cNvSpPr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EXTENSION: COMPOSITION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51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OOP Composition</a:t>
            </a:r>
            <a:endParaRPr/>
          </a:p>
        </p:txBody>
      </p:sp>
      <p:sp>
        <p:nvSpPr>
          <p:cNvPr id="406" name="Google Shape;406;p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407" name="Google Shape;40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948987"/>
            <a:ext cx="4682950" cy="324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8750" y="1721386"/>
            <a:ext cx="4605251" cy="192795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2"/>
          <p:cNvSpPr txBox="1"/>
          <p:nvPr/>
        </p:nvSpPr>
        <p:spPr>
          <a:xfrm>
            <a:off x="720000" y="4234775"/>
            <a:ext cx="7704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Complete this code: </a:t>
            </a:r>
            <a:r>
              <a:rPr lang="en-US" sz="1575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https://www.programiz.com/online-compiler/03auquyMRJCj0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Hands-on exercise</a:t>
            </a:r>
            <a:endParaRPr/>
          </a:p>
        </p:txBody>
      </p:sp>
      <p:sp>
        <p:nvSpPr>
          <p:cNvPr id="415" name="Google Shape;415;p5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416" name="Google Shape;416;p53"/>
          <p:cNvSpPr txBox="1"/>
          <p:nvPr/>
        </p:nvSpPr>
        <p:spPr>
          <a:xfrm>
            <a:off x="1039950" y="4125775"/>
            <a:ext cx="7064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Complete this code: </a:t>
            </a:r>
            <a:r>
              <a:rPr lang="en-US" sz="1575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https://www.programiz.com/online-compiler/74XUfgm8cwc0G</a:t>
            </a:r>
            <a:endParaRPr sz="1575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75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7" name="Google Shape;417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2388" y="1115625"/>
            <a:ext cx="5479234" cy="291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4"/>
          <p:cNvSpPr txBox="1">
            <a:spLocks noGrp="1"/>
          </p:cNvSpPr>
          <p:nvPr>
            <p:ph type="ctrTitle"/>
          </p:nvPr>
        </p:nvSpPr>
        <p:spPr>
          <a:xfrm>
            <a:off x="1142991" y="1356714"/>
            <a:ext cx="68580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orbel"/>
              <a:buNone/>
            </a:pPr>
            <a:r>
              <a:rPr lang="en-US" sz="3600">
                <a:latin typeface="Corbel"/>
                <a:ea typeface="Corbel"/>
                <a:cs typeface="Corbel"/>
                <a:sym typeface="Corbel"/>
              </a:rPr>
              <a:t>Thank you for your attention!</a:t>
            </a:r>
            <a:endParaRPr/>
          </a:p>
        </p:txBody>
      </p:sp>
      <p:sp>
        <p:nvSpPr>
          <p:cNvPr id="424" name="Google Shape;424;p5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https://www.cse.hcmut.edu.vn</a:t>
            </a:r>
            <a:endParaRPr sz="1800" u="sng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CMU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1789</Words>
  <Application>Microsoft Office PowerPoint</Application>
  <PresentationFormat>On-screen Show (16:9)</PresentationFormat>
  <Paragraphs>232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Corbel</vt:lpstr>
      <vt:lpstr>Roboto</vt:lpstr>
      <vt:lpstr>Tahoma</vt:lpstr>
      <vt:lpstr>Raleway Black</vt:lpstr>
      <vt:lpstr>Calibri</vt:lpstr>
      <vt:lpstr>Anaheim</vt:lpstr>
      <vt:lpstr>Nunito Light</vt:lpstr>
      <vt:lpstr>Hanken Grotesk</vt:lpstr>
      <vt:lpstr>Raleway ExtraBold</vt:lpstr>
      <vt:lpstr>Arial</vt:lpstr>
      <vt:lpstr>HCMUT</vt:lpstr>
      <vt:lpstr>Chapter 2: Object Oriented Programming Revision - Inheritance</vt:lpstr>
      <vt:lpstr>Additional Notes</vt:lpstr>
      <vt:lpstr>CONTENT</vt:lpstr>
      <vt:lpstr>INTRODUCTION TO INHERITANCE</vt:lpstr>
      <vt:lpstr>What is Inheritance?</vt:lpstr>
      <vt:lpstr>Why is Inheritance important?</vt:lpstr>
      <vt:lpstr>KEY CONCEPTS OF INHERITANCE</vt:lpstr>
      <vt:lpstr>Base class &amp; Derived class</vt:lpstr>
      <vt:lpstr>Method overriding</vt:lpstr>
      <vt:lpstr>Types of Inheritance</vt:lpstr>
      <vt:lpstr>Types of Inheritance</vt:lpstr>
      <vt:lpstr>HOW INHERITANCE WORKS?</vt:lpstr>
      <vt:lpstr>Subclass inherits all members from Superclass</vt:lpstr>
      <vt:lpstr>Subclass inherits all members from Superclass</vt:lpstr>
      <vt:lpstr>Pointers for Polymorphism (1)</vt:lpstr>
      <vt:lpstr>Pointers for Polymorphism (2)</vt:lpstr>
      <vt:lpstr>Implicit use of pointers</vt:lpstr>
      <vt:lpstr>BEST PRACTICES</vt:lpstr>
      <vt:lpstr>Exercise 1 - Inheritance in Vehicle classes (1)</vt:lpstr>
      <vt:lpstr>Exercise 1 - Inheritance in Vehicle classes (2)</vt:lpstr>
      <vt:lpstr>Exercise 2 - Enhanced Library System with Inheritance (1)</vt:lpstr>
      <vt:lpstr>Exercise 2 - Enhanced Library System with Inheritance (2)</vt:lpstr>
      <vt:lpstr>Exercise 3 - Point2D and Point3D</vt:lpstr>
      <vt:lpstr>CONCLUSION</vt:lpstr>
      <vt:lpstr>Conclusion</vt:lpstr>
      <vt:lpstr>EXTENSION: COMPOSITION</vt:lpstr>
      <vt:lpstr>OOP Composition</vt:lpstr>
      <vt:lpstr>Hands-on exercise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Object Oriented Programming Revision - Inheritance</dc:title>
  <cp:lastModifiedBy>Cong Nguyen</cp:lastModifiedBy>
  <cp:revision>2</cp:revision>
  <dcterms:modified xsi:type="dcterms:W3CDTF">2025-01-17T06:38:59Z</dcterms:modified>
</cp:coreProperties>
</file>