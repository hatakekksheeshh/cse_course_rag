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350" r:id="rId5"/>
    <p:sldId id="259" r:id="rId6"/>
    <p:sldId id="352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17" autoAdjust="0"/>
  </p:normalViewPr>
  <p:slideViewPr>
    <p:cSldViewPr snapToGrid="0">
      <p:cViewPr varScale="1">
        <p:scale>
          <a:sx n="59" d="100"/>
          <a:sy n="59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D13E5-4CEC-3A4A-8E5D-AFCEE7512EEC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06-Jan-23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1.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Giải thích được thế nào là thương mại điện tử</a:t>
            </a:r>
            <a:endParaRPr lang="en-US" sz="1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0" indent="0">
              <a:buFontTx/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  -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Giải thích được những ích lợi và khó khăn của TMĐT</a:t>
            </a:r>
            <a:endParaRPr lang="en-US" sz="1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  -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các giai đoạn phát triển của TMĐT</a:t>
            </a:r>
            <a:r>
              <a:rPr lang="vi-VN" dirty="0"/>
              <a:t> </a:t>
            </a:r>
            <a:br>
              <a:rPr lang="vi-VN" dirty="0"/>
            </a:br>
            <a:r>
              <a:rPr lang="en-US" dirty="0"/>
              <a:t>2.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Trình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bày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môi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trường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hoạt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động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thương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mại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điện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tử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-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Trình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bày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sự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khác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nhau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về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luật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pháp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giữa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thương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mại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truyền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thống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và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TMĐT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-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Phân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biệt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sự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khác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nhau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giữa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các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loại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tài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sản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trí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tuệ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-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Giải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thích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cách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hoạt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động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những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mô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hình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thu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lợi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nhuận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khác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nhau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những chiến lược định giá động</a:t>
            </a:r>
            <a:r>
              <a:rPr lang="vi-VN" sz="2800" dirty="0"/>
              <a:t> </a:t>
            </a:r>
            <a:br>
              <a:rPr lang="vi-VN" sz="2800" dirty="0"/>
            </a:br>
            <a:r>
              <a:rPr lang="en-US" sz="1800" dirty="0">
                <a:effectLst/>
                <a:latin typeface="Arial" panose="020B0604020202020204" pitchFamily="34" charset="0"/>
              </a:rPr>
              <a:t>4.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những phương pháp tiếp thị trực tuyến</a:t>
            </a:r>
            <a:r>
              <a:rPr lang="vi-VN" sz="2800" dirty="0"/>
              <a:t> </a:t>
            </a:r>
            <a:br>
              <a:rPr lang="vi-VN" sz="2800" dirty="0"/>
            </a:br>
            <a:r>
              <a:rPr lang="en-US" sz="1800" dirty="0">
                <a:effectLst/>
                <a:latin typeface="Arial" panose="020B0604020202020204" pitchFamily="34" charset="0"/>
              </a:rPr>
              <a:t>5.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Hiểu được những kỹ thuật cơ bản trong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TMĐT</a:t>
            </a:r>
            <a:r>
              <a:rPr lang="vi-VN" sz="2800" dirty="0"/>
              <a:t> </a:t>
            </a:r>
            <a:br>
              <a:rPr lang="vi-VN" sz="2800" dirty="0"/>
            </a:br>
            <a:r>
              <a:rPr lang="en-US" sz="2800" dirty="0"/>
              <a:t>6.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những nguyên tắc thiết kế giao diện và kinh nghiệm người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dùng trong TMĐT</a:t>
            </a:r>
            <a:r>
              <a:rPr lang="vi-VN" sz="2800" dirty="0"/>
              <a:t> 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7.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những cách thức để đảm bảo an toàn cho hệ thống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TMĐT</a:t>
            </a:r>
            <a:r>
              <a:rPr lang="vi-VN" sz="4000" dirty="0"/>
              <a:t> </a:t>
            </a:r>
            <a:endParaRPr lang="en-US" sz="40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0" dirty="0"/>
              <a:t>8.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sự quan trọng của thanh toán trực tuyến</a:t>
            </a:r>
            <a:r>
              <a:rPr lang="vi-VN" sz="5400" b="0" dirty="0"/>
              <a:t> </a:t>
            </a:r>
            <a:br>
              <a:rPr lang="vi-VN" sz="5400" b="0" dirty="0"/>
            </a:br>
            <a:r>
              <a:rPr lang="en-US" sz="4000" b="0" dirty="0"/>
              <a:t>9.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Phân tích được vai trò của thương mại di động</a:t>
            </a:r>
            <a:r>
              <a:rPr lang="vi-VN" sz="5400" dirty="0"/>
              <a:t> </a:t>
            </a:r>
            <a:endParaRPr lang="en-US" sz="54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/>
              <a:t>10. </a:t>
            </a:r>
            <a:r>
              <a:rPr lang="vi-VN" sz="1800" b="0" i="0" dirty="0">
                <a:solidFill>
                  <a:srgbClr val="000000"/>
                </a:solidFill>
                <a:effectLst/>
                <a:latin typeface="TimesNewRomanPSMT"/>
              </a:rPr>
              <a:t>Trình bày được quy trình để phát triển hệ thống thương mại điện tử</a:t>
            </a:r>
            <a:r>
              <a:rPr lang="vi-VN" sz="7200" dirty="0"/>
              <a:t> </a:t>
            </a:r>
            <a:br>
              <a:rPr lang="vi-VN" sz="5400" dirty="0"/>
            </a:br>
            <a:br>
              <a:rPr lang="vi-VN" sz="4000" dirty="0"/>
            </a:br>
            <a:br>
              <a:rPr lang="vi-VN" sz="2800" dirty="0"/>
            </a:b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FontTx/>
              <a:buNone/>
            </a:pPr>
            <a:br>
              <a:rPr lang="vi-VN" dirty="0"/>
            </a:br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77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6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1FFB-09F3-5707-32AC-9E277C69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33" y="365126"/>
            <a:ext cx="10918853" cy="96043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A643DF-4E7B-807B-1F4B-884A643FA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55846" y="6359936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7AB321-42EE-7EF5-5121-CA75EB1BF93E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10949436" y="82999"/>
            <a:ext cx="1325563" cy="1159565"/>
            <a:chOff x="0" y="12289"/>
            <a:chExt cx="3550" cy="3551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CE9F6C4B-EA2D-6B6C-73C3-8D4493CC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C76D0361-F198-2968-822B-C399277BE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3AC7BFE7-B833-7A1F-839A-E584FD888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58CE41-8478-FC32-3928-B8B0AD5B697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222948" y="5064666"/>
            <a:ext cx="1571741" cy="2017641"/>
            <a:chOff x="0" y="12289"/>
            <a:chExt cx="3550" cy="355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5A6666D-212C-5B75-23A4-02B93A582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B5947A9E-5EF4-5F9B-E25D-5CDEC24DC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13427515-3DB7-D861-DCE1-37F21683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A147045-28FD-4FC1-43D6-772715AED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33" y="1351686"/>
            <a:ext cx="10918853" cy="4825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6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/>
          <a:lstStyle/>
          <a:p>
            <a:fld id="{6FCA8E82-58CD-E045-8B98-B7A85B79B752}" type="datetime4">
              <a:rPr lang="en-US" smtClean="0"/>
              <a:pPr/>
              <a:t>January 6, 2023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4978-63A8-4A5F-BECC-ABC7EA50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748FD-C04D-4681-9C69-980365414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E4B47-C61A-47F4-987E-5423463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7800-075F-4AA6-8950-74A6AA8B41CF}" type="datetimeFigureOut">
              <a:rPr lang="en-US" smtClean="0"/>
              <a:t>06-Jan-23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F88A-38B8-40E0-907B-76F3DDF3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6A71-1E69-4E01-9420-9DFC7802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FEBF-7A38-41AE-BD0A-F5CA06924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1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0560" y="631190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59" r:id="rId2"/>
    <p:sldLayoutId id="2147483693" r:id="rId3"/>
    <p:sldLayoutId id="2147483671" r:id="rId4"/>
    <p:sldLayoutId id="2147483672" r:id="rId5"/>
    <p:sldLayoutId id="2147483673" r:id="rId6"/>
    <p:sldLayoutId id="2147483684" r:id="rId7"/>
    <p:sldLayoutId id="2147483675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0" y="2116182"/>
            <a:ext cx="7489825" cy="1514019"/>
          </a:xfrm>
        </p:spPr>
        <p:txBody>
          <a:bodyPr/>
          <a:lstStyle/>
          <a:p>
            <a:r>
              <a:rPr lang="en-US" dirty="0"/>
              <a:t>Electronic Commerce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/>
          <a:lstStyle/>
          <a:p>
            <a:r>
              <a:rPr lang="en-US" dirty="0">
                <a:latin typeface="+mj-lt"/>
              </a:rPr>
              <a:t>Course 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8CC6-F4F9-432E-A171-9276DE18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CED4-1756-4B99-8ECC-531174B66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Presentation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168FF16-625A-9419-7EE0-079A65395A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  <a:latin typeface="Britannic Bold" panose="020B0903060703020204" pitchFamily="34" charset="0"/>
              </a:rPr>
              <a:t>20 </a:t>
            </a:r>
            <a:r>
              <a:rPr lang="en-US" sz="6000" b="1" dirty="0">
                <a:solidFill>
                  <a:srgbClr val="FF0000"/>
                </a:solidFill>
              </a:rPr>
              <a:t>%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3">
                    <a:lumMod val="50000"/>
                  </a:schemeClr>
                </a:solidFill>
              </a:rPr>
              <a:t>15 % Presentation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3">
                    <a:lumMod val="50000"/>
                  </a:schemeClr>
                </a:solidFill>
              </a:rPr>
              <a:t>  5 % </a:t>
            </a:r>
            <a:r>
              <a:rPr lang="en-US" sz="2300">
                <a:solidFill>
                  <a:schemeClr val="accent3">
                    <a:lumMod val="50000"/>
                  </a:schemeClr>
                </a:solidFill>
              </a:rPr>
              <a:t>In-class activities</a:t>
            </a:r>
            <a:endParaRPr lang="en-US" sz="23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291EBB0-61A8-3D23-9338-3E2B422F4A6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Assignment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B87F759-E3ED-1371-E0A8-E98FC7F3BAF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  <a:latin typeface="Britannic Bold" panose="020B0903060703020204" pitchFamily="34" charset="0"/>
              </a:rPr>
              <a:t>30 </a:t>
            </a:r>
            <a:r>
              <a:rPr lang="en-US" sz="6000" b="1" dirty="0">
                <a:solidFill>
                  <a:srgbClr val="FF0000"/>
                </a:solidFill>
              </a:rPr>
              <a:t>%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32E3CA4-7773-0D56-A521-0CE4B6637FA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Final exam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D6E7DC3-6346-519C-FAC9-7D41F0E52CD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  <a:latin typeface="Britannic Bold" panose="020B0903060703020204" pitchFamily="34" charset="0"/>
              </a:rPr>
              <a:t>50</a:t>
            </a:r>
            <a:r>
              <a:rPr lang="en-US" sz="6000" b="1" dirty="0">
                <a:solidFill>
                  <a:srgbClr val="FF0000"/>
                </a:solidFill>
              </a:rPr>
              <a:t> %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3">
                    <a:lumMod val="50000"/>
                  </a:schemeClr>
                </a:solidFill>
              </a:rPr>
              <a:t>Opened exam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3">
                    <a:lumMod val="50000"/>
                  </a:schemeClr>
                </a:solidFill>
              </a:rPr>
              <a:t>Multiple-choice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93831-39BA-257F-1385-C887E298C5E6}"/>
              </a:ext>
            </a:extLst>
          </p:cNvPr>
          <p:cNvSpPr txBox="1"/>
          <p:nvPr/>
        </p:nvSpPr>
        <p:spPr>
          <a:xfrm>
            <a:off x="2651760" y="6160031"/>
            <a:ext cx="84825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</a:rPr>
              <a:t>(*) Missing any parts of the above assessment will lead to zero grade.</a:t>
            </a:r>
          </a:p>
        </p:txBody>
      </p:sp>
    </p:spTree>
    <p:extLst>
      <p:ext uri="{BB962C8B-B14F-4D97-AF65-F5344CB8AC3E}">
        <p14:creationId xmlns:p14="http://schemas.microsoft.com/office/powerpoint/2010/main" val="111139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2F48-1D4A-4DA4-BA80-60B1FEFF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F9DFD-07E1-4C57-B3B3-3D2158E806A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0233" y="1413933"/>
            <a:ext cx="11531767" cy="50789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L.O.1: Explain what electronic commerce is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L.O.2: Describe electronic commerce environment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L.O.3: Describe dynamic pricing strategies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L.O.4: Describe online marketing methods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L.O.5: Understand basic technologies in electronic commerce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L.O.6: Present the principles of user experience and interface design and e-commerce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L.O.7: Describe mechanisms to make electronic commerce systems secure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L.O.8: Describe the importance of online payment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L.O.9: Analyze the role of mobile commerce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NewRomanPSMT"/>
              </a:rPr>
              <a:t>L.O.10: Describe development process for electronic commerce systems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6129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6F15F83-D80A-40C0-BB02-180EA816D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7704"/>
              </p:ext>
            </p:extLst>
          </p:nvPr>
        </p:nvGraphicFramePr>
        <p:xfrm>
          <a:off x="149029" y="118533"/>
          <a:ext cx="11873638" cy="660640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66504">
                  <a:extLst>
                    <a:ext uri="{9D8B030D-6E8A-4147-A177-3AD203B41FA5}">
                      <a16:colId xmlns:a16="http://schemas.microsoft.com/office/drawing/2014/main" val="4255396875"/>
                    </a:ext>
                  </a:extLst>
                </a:gridCol>
                <a:gridCol w="7374467">
                  <a:extLst>
                    <a:ext uri="{9D8B030D-6E8A-4147-A177-3AD203B41FA5}">
                      <a16:colId xmlns:a16="http://schemas.microsoft.com/office/drawing/2014/main" val="2896554776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261772905"/>
                    </a:ext>
                  </a:extLst>
                </a:gridCol>
              </a:tblGrid>
              <a:tr h="368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60767"/>
                  </a:ext>
                </a:extLst>
              </a:tr>
              <a:tr h="3662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1: Introduction to 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6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2: E-commerce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Blended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804967"/>
                  </a:ext>
                </a:extLst>
              </a:tr>
              <a:tr h="3662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(Tet holidays)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84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Chapter 3: Pricing &amp; revenue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Blended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0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Review Chapter 2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Lecture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4: Online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Lecture &amp; Presentations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67358"/>
                  </a:ext>
                </a:extLst>
              </a:tr>
              <a:tr h="161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5: Electronic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Lecture &amp; Presentations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547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6: </a:t>
                      </a:r>
                      <a:r>
                        <a:rPr lang="en" dirty="0"/>
                        <a:t>Design Thinking and 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Lecture &amp; Presentations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793435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(Midterm off)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342516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6: </a:t>
                      </a:r>
                      <a:r>
                        <a:rPr lang="en" dirty="0"/>
                        <a:t>Design Thinking and Methodology (cont.)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Lecture &amp; Presentations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40759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7: Mobile 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Lecture &amp; Presentations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863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8: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Lecture &amp; Presentations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58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 9: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Lecture &amp; Presentations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76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92935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754266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Demo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135024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Demo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(Reserved)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66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0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2F48-1D4A-4DA4-BA80-60B1FEFF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F9DFD-07E1-4C57-B3B3-3D2158E806A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0234" y="1690688"/>
            <a:ext cx="11026942" cy="38814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400" b="1" dirty="0">
                <a:solidFill>
                  <a:srgbClr val="FF0000"/>
                </a:solidFill>
              </a:rPr>
              <a:t>[1] </a:t>
            </a:r>
            <a:r>
              <a:rPr lang="vi-VN" sz="2400" dirty="0"/>
              <a:t>G. P. Schneider (2016), </a:t>
            </a:r>
            <a:r>
              <a:rPr lang="vi-VN" sz="2400" b="1" dirty="0"/>
              <a:t>Electronic Commerce</a:t>
            </a:r>
            <a:r>
              <a:rPr lang="vi-VN" sz="2400" dirty="0"/>
              <a:t>, 12th Edition, Course Technology, ISBN: 978 0-538-46924-1 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vi-VN" sz="2400" dirty="0"/>
              <a:t>[2] Krug, S. (2000), </a:t>
            </a:r>
            <a:r>
              <a:rPr lang="vi-VN" sz="2400" b="1" dirty="0"/>
              <a:t>Don't make me think!: a common sense approach to Web usability</a:t>
            </a:r>
            <a:r>
              <a:rPr lang="vi-VN" sz="2400" dirty="0"/>
              <a:t>, Pearson Education India. 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vi-VN" sz="2400" dirty="0"/>
              <a:t>[3] Reynolds, J. (2004), </a:t>
            </a:r>
            <a:r>
              <a:rPr lang="vi-VN" sz="2400" b="1" dirty="0"/>
              <a:t>The complete e-commerce book: design, build &amp; maintain a successful web-based Business</a:t>
            </a:r>
            <a:r>
              <a:rPr lang="vi-VN" sz="2400" dirty="0"/>
              <a:t>, CRC Press. 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vi-VN" sz="2400" dirty="0"/>
              <a:t>[4] Kenneth, c. L. (2019), </a:t>
            </a:r>
            <a:r>
              <a:rPr lang="vi-VN" sz="2400" b="1" dirty="0"/>
              <a:t>E-commerce 2019: business, technology and society</a:t>
            </a:r>
            <a:r>
              <a:rPr lang="vi-VN" sz="2400" dirty="0"/>
              <a:t>, Prentice hall.</a:t>
            </a:r>
            <a:r>
              <a:rPr lang="en-US" sz="2400" dirty="0"/>
              <a:t> </a:t>
            </a:r>
            <a:r>
              <a:rPr lang="vi-VN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932068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C_Win32_MW_JS_SL_v2.potx" id="{230A82CA-9023-4220-9E5B-0E652CF31B20}" vid="{96196EC2-C392-482E-BF29-9BD12A626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110</TotalTime>
  <Words>624</Words>
  <Application>Microsoft Office PowerPoint</Application>
  <PresentationFormat>Widescreen</PresentationFormat>
  <Paragraphs>94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Britannic Bold</vt:lpstr>
      <vt:lpstr>Calibri</vt:lpstr>
      <vt:lpstr>Franklin Gothic Book</vt:lpstr>
      <vt:lpstr>Franklin Gothic Demi</vt:lpstr>
      <vt:lpstr>TimesNewRomanPSMT</vt:lpstr>
      <vt:lpstr>Wingdings</vt:lpstr>
      <vt:lpstr>Theme1</vt:lpstr>
      <vt:lpstr>Electronic Commerce</vt:lpstr>
      <vt:lpstr>Assessments</vt:lpstr>
      <vt:lpstr>Course Goals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Commerce</dc:title>
  <dc:creator>Quynh Chi Truong</dc:creator>
  <cp:lastModifiedBy>Quynh Chi Truong</cp:lastModifiedBy>
  <cp:revision>5</cp:revision>
  <dcterms:created xsi:type="dcterms:W3CDTF">2023-01-05T06:16:01Z</dcterms:created>
  <dcterms:modified xsi:type="dcterms:W3CDTF">2023-01-06T00:20:26Z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