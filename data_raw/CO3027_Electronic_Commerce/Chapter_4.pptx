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6"/>
  </p:notesMasterIdLst>
  <p:handoutMasterIdLst>
    <p:handoutMasterId r:id="rId27"/>
  </p:handoutMasterIdLst>
  <p:sldIdLst>
    <p:sldId id="350" r:id="rId5"/>
    <p:sldId id="351" r:id="rId6"/>
    <p:sldId id="258" r:id="rId7"/>
    <p:sldId id="259" r:id="rId8"/>
    <p:sldId id="260" r:id="rId9"/>
    <p:sldId id="261" r:id="rId10"/>
    <p:sldId id="352" r:id="rId11"/>
    <p:sldId id="353" r:id="rId12"/>
    <p:sldId id="262" r:id="rId13"/>
    <p:sldId id="263" r:id="rId14"/>
    <p:sldId id="354"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065" autoAdjust="0"/>
  </p:normalViewPr>
  <p:slideViewPr>
    <p:cSldViewPr snapToGrid="0">
      <p:cViewPr varScale="1">
        <p:scale>
          <a:sx n="45" d="100"/>
          <a:sy n="45" d="100"/>
        </p:scale>
        <p:origin x="1428" y="40"/>
      </p:cViewPr>
      <p:guideLst/>
    </p:cSldViewPr>
  </p:slid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BD9FEC-1C9F-4D81-A0BC-CCF94BC8D925}"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284DC640-31D7-41D0-846C-E526E4F3B7C5}">
      <dgm:prSet/>
      <dgm:spPr/>
      <dgm:t>
        <a:bodyPr/>
        <a:lstStyle/>
        <a:p>
          <a:r>
            <a:rPr lang="en-US" dirty="0"/>
            <a:t>Advertising on the web</a:t>
          </a:r>
        </a:p>
      </dgm:t>
    </dgm:pt>
    <dgm:pt modelId="{3CA7D045-DBBF-4D5D-B842-883D4C236A20}" type="parTrans" cxnId="{BFC6A1E3-1EBC-4708-A820-E0E6B11BEBCB}">
      <dgm:prSet/>
      <dgm:spPr/>
      <dgm:t>
        <a:bodyPr/>
        <a:lstStyle/>
        <a:p>
          <a:endParaRPr lang="en-US"/>
        </a:p>
      </dgm:t>
    </dgm:pt>
    <dgm:pt modelId="{C8B5028C-0FF1-415F-A2FC-BAB0207ACC21}" type="sibTrans" cxnId="{BFC6A1E3-1EBC-4708-A820-E0E6B11BEBCB}">
      <dgm:prSet/>
      <dgm:spPr/>
      <dgm:t>
        <a:bodyPr/>
        <a:lstStyle/>
        <a:p>
          <a:endParaRPr lang="en-US"/>
        </a:p>
      </dgm:t>
    </dgm:pt>
    <dgm:pt modelId="{5DEF8588-6015-49E7-9C1D-6E7DFF0B1695}">
      <dgm:prSet/>
      <dgm:spPr/>
      <dgm:t>
        <a:bodyPr/>
        <a:lstStyle/>
        <a:p>
          <a:r>
            <a:rPr lang="en-US" dirty="0"/>
            <a:t>Search engine positioning and domain name</a:t>
          </a:r>
        </a:p>
      </dgm:t>
    </dgm:pt>
    <dgm:pt modelId="{FAEE2CE6-D0C6-4F5C-986D-ED3DD9286C84}" type="parTrans" cxnId="{60BC5249-4A79-4866-A2FB-E4883FC567A8}">
      <dgm:prSet/>
      <dgm:spPr/>
      <dgm:t>
        <a:bodyPr/>
        <a:lstStyle/>
        <a:p>
          <a:endParaRPr lang="en-US"/>
        </a:p>
      </dgm:t>
    </dgm:pt>
    <dgm:pt modelId="{FF23831C-8A3D-4539-9C35-9D8D3D12EA6F}" type="sibTrans" cxnId="{60BC5249-4A79-4866-A2FB-E4883FC567A8}">
      <dgm:prSet/>
      <dgm:spPr/>
      <dgm:t>
        <a:bodyPr/>
        <a:lstStyle/>
        <a:p>
          <a:endParaRPr lang="en-US"/>
        </a:p>
      </dgm:t>
    </dgm:pt>
    <dgm:pt modelId="{48767675-8DA9-4D0C-9F04-C45A1F529DFF}">
      <dgm:prSet phldrT="[Text]"/>
      <dgm:spPr/>
      <dgm:t>
        <a:bodyPr/>
        <a:lstStyle/>
        <a:p>
          <a:r>
            <a:rPr lang="en-US" dirty="0"/>
            <a:t>Marketing basics</a:t>
          </a:r>
        </a:p>
      </dgm:t>
    </dgm:pt>
    <dgm:pt modelId="{4D12D526-894F-44A4-9EA3-AE32A74D98FC}" type="parTrans" cxnId="{0D51CF94-C8E4-45EB-9BB4-943D356037F6}">
      <dgm:prSet/>
      <dgm:spPr/>
      <dgm:t>
        <a:bodyPr/>
        <a:lstStyle/>
        <a:p>
          <a:endParaRPr lang="en-US"/>
        </a:p>
      </dgm:t>
    </dgm:pt>
    <dgm:pt modelId="{0FEB38F0-CDB2-452D-A61D-353600DB9F43}" type="sibTrans" cxnId="{0D51CF94-C8E4-45EB-9BB4-943D356037F6}">
      <dgm:prSet/>
      <dgm:spPr/>
      <dgm:t>
        <a:bodyPr/>
        <a:lstStyle/>
        <a:p>
          <a:endParaRPr lang="en-US"/>
        </a:p>
      </dgm:t>
    </dgm:pt>
    <dgm:pt modelId="{4ABA27A0-3720-440B-891C-858510E87676}" type="pres">
      <dgm:prSet presAssocID="{BBBD9FEC-1C9F-4D81-A0BC-CCF94BC8D925}" presName="Name0" presStyleCnt="0">
        <dgm:presLayoutVars>
          <dgm:chMax val="7"/>
          <dgm:chPref val="7"/>
          <dgm:dir/>
        </dgm:presLayoutVars>
      </dgm:prSet>
      <dgm:spPr/>
    </dgm:pt>
    <dgm:pt modelId="{AACE886B-CA06-4AAA-8AC1-6093F7CA5FD6}" type="pres">
      <dgm:prSet presAssocID="{BBBD9FEC-1C9F-4D81-A0BC-CCF94BC8D925}" presName="Name1" presStyleCnt="0"/>
      <dgm:spPr/>
    </dgm:pt>
    <dgm:pt modelId="{926BDE25-3978-42BB-99E3-FA54F165FF09}" type="pres">
      <dgm:prSet presAssocID="{BBBD9FEC-1C9F-4D81-A0BC-CCF94BC8D925}" presName="cycle" presStyleCnt="0"/>
      <dgm:spPr/>
    </dgm:pt>
    <dgm:pt modelId="{87E7A39F-BA7E-40DD-825D-9AEDB6065012}" type="pres">
      <dgm:prSet presAssocID="{BBBD9FEC-1C9F-4D81-A0BC-CCF94BC8D925}" presName="srcNode" presStyleLbl="node1" presStyleIdx="0" presStyleCnt="3"/>
      <dgm:spPr/>
    </dgm:pt>
    <dgm:pt modelId="{639B74CF-6C25-42E3-A37A-0271F62161E0}" type="pres">
      <dgm:prSet presAssocID="{BBBD9FEC-1C9F-4D81-A0BC-CCF94BC8D925}" presName="conn" presStyleLbl="parChTrans1D2" presStyleIdx="0" presStyleCnt="1"/>
      <dgm:spPr/>
    </dgm:pt>
    <dgm:pt modelId="{FB63C225-6D46-47C7-956B-68A6DF7B8A2D}" type="pres">
      <dgm:prSet presAssocID="{BBBD9FEC-1C9F-4D81-A0BC-CCF94BC8D925}" presName="extraNode" presStyleLbl="node1" presStyleIdx="0" presStyleCnt="3"/>
      <dgm:spPr/>
    </dgm:pt>
    <dgm:pt modelId="{464211DF-9E52-4ECF-AA0E-0E99BEC8DC7E}" type="pres">
      <dgm:prSet presAssocID="{BBBD9FEC-1C9F-4D81-A0BC-CCF94BC8D925}" presName="dstNode" presStyleLbl="node1" presStyleIdx="0" presStyleCnt="3"/>
      <dgm:spPr/>
    </dgm:pt>
    <dgm:pt modelId="{55C51C80-022A-4DC3-BF56-2276BD04F630}" type="pres">
      <dgm:prSet presAssocID="{48767675-8DA9-4D0C-9F04-C45A1F529DFF}" presName="text_1" presStyleLbl="node1" presStyleIdx="0" presStyleCnt="3">
        <dgm:presLayoutVars>
          <dgm:bulletEnabled val="1"/>
        </dgm:presLayoutVars>
      </dgm:prSet>
      <dgm:spPr/>
    </dgm:pt>
    <dgm:pt modelId="{E34E86F9-FCC5-4282-BA64-A7E4877D8E4F}" type="pres">
      <dgm:prSet presAssocID="{48767675-8DA9-4D0C-9F04-C45A1F529DFF}" presName="accent_1" presStyleCnt="0"/>
      <dgm:spPr/>
    </dgm:pt>
    <dgm:pt modelId="{628555B9-FC16-4EEB-AAC7-4B578C077F99}" type="pres">
      <dgm:prSet presAssocID="{48767675-8DA9-4D0C-9F04-C45A1F529DFF}" presName="accentRepeatNode" presStyleLbl="solidFgAcc1" presStyleIdx="0" presStyleCnt="3"/>
      <dgm:spPr/>
    </dgm:pt>
    <dgm:pt modelId="{73198804-E894-49AD-BCBE-D94C262E325B}" type="pres">
      <dgm:prSet presAssocID="{284DC640-31D7-41D0-846C-E526E4F3B7C5}" presName="text_2" presStyleLbl="node1" presStyleIdx="1" presStyleCnt="3">
        <dgm:presLayoutVars>
          <dgm:bulletEnabled val="1"/>
        </dgm:presLayoutVars>
      </dgm:prSet>
      <dgm:spPr/>
    </dgm:pt>
    <dgm:pt modelId="{DF1FCF36-C58D-4B2D-AF92-DC163E80B31F}" type="pres">
      <dgm:prSet presAssocID="{284DC640-31D7-41D0-846C-E526E4F3B7C5}" presName="accent_2" presStyleCnt="0"/>
      <dgm:spPr/>
    </dgm:pt>
    <dgm:pt modelId="{740CB270-0ADB-4FC4-91D1-80C3DB8AC336}" type="pres">
      <dgm:prSet presAssocID="{284DC640-31D7-41D0-846C-E526E4F3B7C5}" presName="accentRepeatNode" presStyleLbl="solidFgAcc1" presStyleIdx="1" presStyleCnt="3"/>
      <dgm:spPr/>
    </dgm:pt>
    <dgm:pt modelId="{AF79755A-27F9-4E59-84BD-5A264B2FC41C}" type="pres">
      <dgm:prSet presAssocID="{5DEF8588-6015-49E7-9C1D-6E7DFF0B1695}" presName="text_3" presStyleLbl="node1" presStyleIdx="2" presStyleCnt="3">
        <dgm:presLayoutVars>
          <dgm:bulletEnabled val="1"/>
        </dgm:presLayoutVars>
      </dgm:prSet>
      <dgm:spPr/>
    </dgm:pt>
    <dgm:pt modelId="{A9E0F605-89DF-4B8F-B3DD-716C940B8AB6}" type="pres">
      <dgm:prSet presAssocID="{5DEF8588-6015-49E7-9C1D-6E7DFF0B1695}" presName="accent_3" presStyleCnt="0"/>
      <dgm:spPr/>
    </dgm:pt>
    <dgm:pt modelId="{44AB9F78-8851-42C3-A371-1949F047F49E}" type="pres">
      <dgm:prSet presAssocID="{5DEF8588-6015-49E7-9C1D-6E7DFF0B1695}" presName="accentRepeatNode" presStyleLbl="solidFgAcc1" presStyleIdx="2" presStyleCnt="3"/>
      <dgm:spPr/>
    </dgm:pt>
  </dgm:ptLst>
  <dgm:cxnLst>
    <dgm:cxn modelId="{C9AA0C49-34CA-4C16-A2AC-883358A27AB3}" type="presOf" srcId="{48767675-8DA9-4D0C-9F04-C45A1F529DFF}" destId="{55C51C80-022A-4DC3-BF56-2276BD04F630}" srcOrd="0" destOrd="0" presId="urn:microsoft.com/office/officeart/2008/layout/VerticalCurvedList"/>
    <dgm:cxn modelId="{5B096649-6A15-4E6D-8889-105D6BE74890}" type="presOf" srcId="{5DEF8588-6015-49E7-9C1D-6E7DFF0B1695}" destId="{AF79755A-27F9-4E59-84BD-5A264B2FC41C}" srcOrd="0" destOrd="0" presId="urn:microsoft.com/office/officeart/2008/layout/VerticalCurvedList"/>
    <dgm:cxn modelId="{60BC5249-4A79-4866-A2FB-E4883FC567A8}" srcId="{BBBD9FEC-1C9F-4D81-A0BC-CCF94BC8D925}" destId="{5DEF8588-6015-49E7-9C1D-6E7DFF0B1695}" srcOrd="2" destOrd="0" parTransId="{FAEE2CE6-D0C6-4F5C-986D-ED3DD9286C84}" sibTransId="{FF23831C-8A3D-4539-9C35-9D8D3D12EA6F}"/>
    <dgm:cxn modelId="{EDACD569-98EF-4403-A2D4-8DBDA1F9CC39}" type="presOf" srcId="{BBBD9FEC-1C9F-4D81-A0BC-CCF94BC8D925}" destId="{4ABA27A0-3720-440B-891C-858510E87676}" srcOrd="0" destOrd="0" presId="urn:microsoft.com/office/officeart/2008/layout/VerticalCurvedList"/>
    <dgm:cxn modelId="{0D51CF94-C8E4-45EB-9BB4-943D356037F6}" srcId="{BBBD9FEC-1C9F-4D81-A0BC-CCF94BC8D925}" destId="{48767675-8DA9-4D0C-9F04-C45A1F529DFF}" srcOrd="0" destOrd="0" parTransId="{4D12D526-894F-44A4-9EA3-AE32A74D98FC}" sibTransId="{0FEB38F0-CDB2-452D-A61D-353600DB9F43}"/>
    <dgm:cxn modelId="{C79E949A-2D6A-41D5-982F-7600B3567B8A}" type="presOf" srcId="{0FEB38F0-CDB2-452D-A61D-353600DB9F43}" destId="{639B74CF-6C25-42E3-A37A-0271F62161E0}" srcOrd="0" destOrd="0" presId="urn:microsoft.com/office/officeart/2008/layout/VerticalCurvedList"/>
    <dgm:cxn modelId="{BFC6A1E3-1EBC-4708-A820-E0E6B11BEBCB}" srcId="{BBBD9FEC-1C9F-4D81-A0BC-CCF94BC8D925}" destId="{284DC640-31D7-41D0-846C-E526E4F3B7C5}" srcOrd="1" destOrd="0" parTransId="{3CA7D045-DBBF-4D5D-B842-883D4C236A20}" sibTransId="{C8B5028C-0FF1-415F-A2FC-BAB0207ACC21}"/>
    <dgm:cxn modelId="{8C5B68E4-544A-4ECE-8217-5400CFB93FAA}" type="presOf" srcId="{284DC640-31D7-41D0-846C-E526E4F3B7C5}" destId="{73198804-E894-49AD-BCBE-D94C262E325B}" srcOrd="0" destOrd="0" presId="urn:microsoft.com/office/officeart/2008/layout/VerticalCurvedList"/>
    <dgm:cxn modelId="{D871F45B-C5A5-432A-8F64-C3C2105061B8}" type="presParOf" srcId="{4ABA27A0-3720-440B-891C-858510E87676}" destId="{AACE886B-CA06-4AAA-8AC1-6093F7CA5FD6}" srcOrd="0" destOrd="0" presId="urn:microsoft.com/office/officeart/2008/layout/VerticalCurvedList"/>
    <dgm:cxn modelId="{2D23B00A-B2B5-4C99-96A0-FE9EDABFEFFF}" type="presParOf" srcId="{AACE886B-CA06-4AAA-8AC1-6093F7CA5FD6}" destId="{926BDE25-3978-42BB-99E3-FA54F165FF09}" srcOrd="0" destOrd="0" presId="urn:microsoft.com/office/officeart/2008/layout/VerticalCurvedList"/>
    <dgm:cxn modelId="{015FF733-4362-4E59-9C48-4652B92AE748}" type="presParOf" srcId="{926BDE25-3978-42BB-99E3-FA54F165FF09}" destId="{87E7A39F-BA7E-40DD-825D-9AEDB6065012}" srcOrd="0" destOrd="0" presId="urn:microsoft.com/office/officeart/2008/layout/VerticalCurvedList"/>
    <dgm:cxn modelId="{17797CBB-2C8D-4696-B5BA-8FFE563FA4FD}" type="presParOf" srcId="{926BDE25-3978-42BB-99E3-FA54F165FF09}" destId="{639B74CF-6C25-42E3-A37A-0271F62161E0}" srcOrd="1" destOrd="0" presId="urn:microsoft.com/office/officeart/2008/layout/VerticalCurvedList"/>
    <dgm:cxn modelId="{49437D61-ED16-423F-9955-E160358ECB7F}" type="presParOf" srcId="{926BDE25-3978-42BB-99E3-FA54F165FF09}" destId="{FB63C225-6D46-47C7-956B-68A6DF7B8A2D}" srcOrd="2" destOrd="0" presId="urn:microsoft.com/office/officeart/2008/layout/VerticalCurvedList"/>
    <dgm:cxn modelId="{E6F3B551-C860-42E3-9928-A4AC4C4DA1CC}" type="presParOf" srcId="{926BDE25-3978-42BB-99E3-FA54F165FF09}" destId="{464211DF-9E52-4ECF-AA0E-0E99BEC8DC7E}" srcOrd="3" destOrd="0" presId="urn:microsoft.com/office/officeart/2008/layout/VerticalCurvedList"/>
    <dgm:cxn modelId="{C4C63B55-DAD4-41BC-843D-9C38CE34F14C}" type="presParOf" srcId="{AACE886B-CA06-4AAA-8AC1-6093F7CA5FD6}" destId="{55C51C80-022A-4DC3-BF56-2276BD04F630}" srcOrd="1" destOrd="0" presId="urn:microsoft.com/office/officeart/2008/layout/VerticalCurvedList"/>
    <dgm:cxn modelId="{22CA85F5-B646-441E-9FB5-4B2334288936}" type="presParOf" srcId="{AACE886B-CA06-4AAA-8AC1-6093F7CA5FD6}" destId="{E34E86F9-FCC5-4282-BA64-A7E4877D8E4F}" srcOrd="2" destOrd="0" presId="urn:microsoft.com/office/officeart/2008/layout/VerticalCurvedList"/>
    <dgm:cxn modelId="{36392BA0-0DE2-4BD2-A82E-676E2430E041}" type="presParOf" srcId="{E34E86F9-FCC5-4282-BA64-A7E4877D8E4F}" destId="{628555B9-FC16-4EEB-AAC7-4B578C077F99}" srcOrd="0" destOrd="0" presId="urn:microsoft.com/office/officeart/2008/layout/VerticalCurvedList"/>
    <dgm:cxn modelId="{36590DC5-2061-4F8E-AD2C-E405A2013ADD}" type="presParOf" srcId="{AACE886B-CA06-4AAA-8AC1-6093F7CA5FD6}" destId="{73198804-E894-49AD-BCBE-D94C262E325B}" srcOrd="3" destOrd="0" presId="urn:microsoft.com/office/officeart/2008/layout/VerticalCurvedList"/>
    <dgm:cxn modelId="{15F3BE60-96BF-49DB-AC86-8098ADF17715}" type="presParOf" srcId="{AACE886B-CA06-4AAA-8AC1-6093F7CA5FD6}" destId="{DF1FCF36-C58D-4B2D-AF92-DC163E80B31F}" srcOrd="4" destOrd="0" presId="urn:microsoft.com/office/officeart/2008/layout/VerticalCurvedList"/>
    <dgm:cxn modelId="{DCC2908F-06CC-48FD-A398-ED772827F60D}" type="presParOf" srcId="{DF1FCF36-C58D-4B2D-AF92-DC163E80B31F}" destId="{740CB270-0ADB-4FC4-91D1-80C3DB8AC336}" srcOrd="0" destOrd="0" presId="urn:microsoft.com/office/officeart/2008/layout/VerticalCurvedList"/>
    <dgm:cxn modelId="{C4138C5E-5106-4E28-9AF9-8E3CECB6FB1A}" type="presParOf" srcId="{AACE886B-CA06-4AAA-8AC1-6093F7CA5FD6}" destId="{AF79755A-27F9-4E59-84BD-5A264B2FC41C}" srcOrd="5" destOrd="0" presId="urn:microsoft.com/office/officeart/2008/layout/VerticalCurvedList"/>
    <dgm:cxn modelId="{001E062F-BD05-431B-9AB0-5D14E3DD78EE}" type="presParOf" srcId="{AACE886B-CA06-4AAA-8AC1-6093F7CA5FD6}" destId="{A9E0F605-89DF-4B8F-B3DD-716C940B8AB6}" srcOrd="6" destOrd="0" presId="urn:microsoft.com/office/officeart/2008/layout/VerticalCurvedList"/>
    <dgm:cxn modelId="{9AD419B6-3E73-436E-BAAD-B62281B6FBFA}" type="presParOf" srcId="{A9E0F605-89DF-4B8F-B3DD-716C940B8AB6}" destId="{44AB9F78-8851-42C3-A371-1949F047F49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B74CF-6C25-42E3-A37A-0271F62161E0}">
      <dsp:nvSpPr>
        <dsp:cNvPr id="0" name=""/>
        <dsp:cNvSpPr/>
      </dsp:nvSpPr>
      <dsp:spPr>
        <a:xfrm>
          <a:off x="-5421571" y="-830255"/>
          <a:ext cx="6456180" cy="6456180"/>
        </a:xfrm>
        <a:prstGeom prst="blockArc">
          <a:avLst>
            <a:gd name="adj1" fmla="val 18900000"/>
            <a:gd name="adj2" fmla="val 2700000"/>
            <a:gd name="adj3" fmla="val 335"/>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C51C80-022A-4DC3-BF56-2276BD04F630}">
      <dsp:nvSpPr>
        <dsp:cNvPr id="0" name=""/>
        <dsp:cNvSpPr/>
      </dsp:nvSpPr>
      <dsp:spPr>
        <a:xfrm>
          <a:off x="665638" y="479566"/>
          <a:ext cx="8413363" cy="95913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313"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Marketing basics</a:t>
          </a:r>
        </a:p>
      </dsp:txBody>
      <dsp:txXfrm>
        <a:off x="665638" y="479566"/>
        <a:ext cx="8413363" cy="959133"/>
      </dsp:txXfrm>
    </dsp:sp>
    <dsp:sp modelId="{628555B9-FC16-4EEB-AAC7-4B578C077F99}">
      <dsp:nvSpPr>
        <dsp:cNvPr id="0" name=""/>
        <dsp:cNvSpPr/>
      </dsp:nvSpPr>
      <dsp:spPr>
        <a:xfrm>
          <a:off x="66180" y="359675"/>
          <a:ext cx="1198917" cy="1198917"/>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198804-E894-49AD-BCBE-D94C262E325B}">
      <dsp:nvSpPr>
        <dsp:cNvPr id="0" name=""/>
        <dsp:cNvSpPr/>
      </dsp:nvSpPr>
      <dsp:spPr>
        <a:xfrm>
          <a:off x="1014284" y="1918267"/>
          <a:ext cx="8064718" cy="959133"/>
        </a:xfrm>
        <a:prstGeom prst="rect">
          <a:avLst/>
        </a:prstGeom>
        <a:solidFill>
          <a:schemeClr val="accent3">
            <a:hueOff val="4251024"/>
            <a:satOff val="-4164"/>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313"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Advertising on the web</a:t>
          </a:r>
        </a:p>
      </dsp:txBody>
      <dsp:txXfrm>
        <a:off x="1014284" y="1918267"/>
        <a:ext cx="8064718" cy="959133"/>
      </dsp:txXfrm>
    </dsp:sp>
    <dsp:sp modelId="{740CB270-0ADB-4FC4-91D1-80C3DB8AC336}">
      <dsp:nvSpPr>
        <dsp:cNvPr id="0" name=""/>
        <dsp:cNvSpPr/>
      </dsp:nvSpPr>
      <dsp:spPr>
        <a:xfrm>
          <a:off x="414825" y="1798376"/>
          <a:ext cx="1198917" cy="1198917"/>
        </a:xfrm>
        <a:prstGeom prst="ellipse">
          <a:avLst/>
        </a:prstGeom>
        <a:solidFill>
          <a:schemeClr val="lt1">
            <a:hueOff val="0"/>
            <a:satOff val="0"/>
            <a:lumOff val="0"/>
            <a:alphaOff val="0"/>
          </a:schemeClr>
        </a:solidFill>
        <a:ln w="12700" cap="flat" cmpd="sng" algn="ctr">
          <a:solidFill>
            <a:schemeClr val="accent3">
              <a:hueOff val="4251024"/>
              <a:satOff val="-4164"/>
              <a:lumOff val="2745"/>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79755A-27F9-4E59-84BD-5A264B2FC41C}">
      <dsp:nvSpPr>
        <dsp:cNvPr id="0" name=""/>
        <dsp:cNvSpPr/>
      </dsp:nvSpPr>
      <dsp:spPr>
        <a:xfrm>
          <a:off x="665638" y="3356969"/>
          <a:ext cx="8413363" cy="959133"/>
        </a:xfrm>
        <a:prstGeom prst="rect">
          <a:avLst/>
        </a:prstGeom>
        <a:solidFill>
          <a:schemeClr val="accent3">
            <a:hueOff val="8502047"/>
            <a:satOff val="-8328"/>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1313" tIns="78740" rIns="78740" bIns="78740" numCol="1" spcCol="1270" anchor="ctr" anchorCtr="0">
          <a:noAutofit/>
        </a:bodyPr>
        <a:lstStyle/>
        <a:p>
          <a:pPr marL="0" lvl="0" indent="0" algn="l" defTabSz="1377950">
            <a:lnSpc>
              <a:spcPct val="90000"/>
            </a:lnSpc>
            <a:spcBef>
              <a:spcPct val="0"/>
            </a:spcBef>
            <a:spcAft>
              <a:spcPct val="35000"/>
            </a:spcAft>
            <a:buNone/>
          </a:pPr>
          <a:r>
            <a:rPr lang="en-US" sz="3100" kern="1200" dirty="0"/>
            <a:t>Search engine positioning and domain name</a:t>
          </a:r>
        </a:p>
      </dsp:txBody>
      <dsp:txXfrm>
        <a:off x="665638" y="3356969"/>
        <a:ext cx="8413363" cy="959133"/>
      </dsp:txXfrm>
    </dsp:sp>
    <dsp:sp modelId="{44AB9F78-8851-42C3-A371-1949F047F49E}">
      <dsp:nvSpPr>
        <dsp:cNvPr id="0" name=""/>
        <dsp:cNvSpPr/>
      </dsp:nvSpPr>
      <dsp:spPr>
        <a:xfrm>
          <a:off x="66180" y="3237077"/>
          <a:ext cx="1198917" cy="1198917"/>
        </a:xfrm>
        <a:prstGeom prst="ellipse">
          <a:avLst/>
        </a:prstGeom>
        <a:solidFill>
          <a:schemeClr val="lt1">
            <a:hueOff val="0"/>
            <a:satOff val="0"/>
            <a:lumOff val="0"/>
            <a:alphaOff val="0"/>
          </a:schemeClr>
        </a:solidFill>
        <a:ln w="12700" cap="flat" cmpd="sng" algn="ctr">
          <a:solidFill>
            <a:schemeClr val="accent3">
              <a:hueOff val="8502047"/>
              <a:satOff val="-8328"/>
              <a:lumOff val="549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02-Mar-23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Mô</a:t>
            </a:r>
            <a:r>
              <a:rPr lang="en-US" dirty="0"/>
              <a:t> </a:t>
            </a:r>
            <a:r>
              <a:rPr lang="en-US" dirty="0" err="1"/>
              <a:t>hình</a:t>
            </a:r>
            <a:r>
              <a:rPr lang="en-US" dirty="0"/>
              <a:t> </a:t>
            </a:r>
            <a:r>
              <a:rPr lang="en-US" dirty="0" err="1"/>
              <a:t>định</a:t>
            </a:r>
            <a:r>
              <a:rPr lang="en-US" dirty="0"/>
              <a:t> </a:t>
            </a:r>
            <a:r>
              <a:rPr lang="en-US" dirty="0" err="1"/>
              <a:t>giá</a:t>
            </a:r>
            <a:r>
              <a:rPr lang="en-US" dirty="0"/>
              <a:t> </a:t>
            </a:r>
            <a:r>
              <a:rPr lang="en-US" dirty="0" err="1"/>
              <a:t>và</a:t>
            </a:r>
            <a:r>
              <a:rPr lang="en-US" dirty="0"/>
              <a:t> </a:t>
            </a:r>
            <a:r>
              <a:rPr lang="en-US" dirty="0" err="1"/>
              <a:t>doanh</a:t>
            </a:r>
            <a:r>
              <a:rPr lang="en-US" dirty="0"/>
              <a:t> </a:t>
            </a:r>
            <a:r>
              <a:rPr lang="en-US" dirty="0" err="1"/>
              <a:t>thu</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3588454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Auctions: </a:t>
            </a:r>
            <a:r>
              <a:rPr lang="en-US" dirty="0" err="1"/>
              <a:t>đấu</a:t>
            </a:r>
            <a:r>
              <a:rPr lang="en-US" dirty="0"/>
              <a:t> </a:t>
            </a:r>
            <a:r>
              <a:rPr lang="en-US" dirty="0" err="1"/>
              <a:t>giá</a:t>
            </a:r>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2666781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Marketing mix: </a:t>
            </a:r>
            <a:r>
              <a:rPr lang="en-US" dirty="0" err="1"/>
              <a:t>tiếp</a:t>
            </a:r>
            <a:r>
              <a:rPr lang="en-US" dirty="0"/>
              <a:t> </a:t>
            </a:r>
            <a:r>
              <a:rPr lang="en-US" dirty="0" err="1"/>
              <a:t>thị</a:t>
            </a:r>
            <a:r>
              <a:rPr lang="en-US" dirty="0"/>
              <a:t> </a:t>
            </a:r>
            <a:r>
              <a:rPr lang="en-US" dirty="0" err="1"/>
              <a:t>hỗn</a:t>
            </a:r>
            <a:r>
              <a:rPr lang="en-US" dirty="0"/>
              <a:t> </a:t>
            </a:r>
            <a:r>
              <a:rPr lang="en-US" dirty="0" err="1"/>
              <a:t>hợp</a:t>
            </a:r>
            <a:r>
              <a:rPr lang="en-US" dirty="0"/>
              <a:t>: </a:t>
            </a:r>
            <a:r>
              <a:rPr lang="en-US" dirty="0" err="1"/>
              <a:t>kết</a:t>
            </a:r>
            <a:r>
              <a:rPr lang="en-US" dirty="0"/>
              <a:t> </a:t>
            </a:r>
            <a:r>
              <a:rPr lang="en-US" dirty="0" err="1"/>
              <a:t>hợp</a:t>
            </a:r>
            <a:r>
              <a:rPr lang="en-US" dirty="0"/>
              <a:t> </a:t>
            </a:r>
            <a:r>
              <a:rPr lang="en-US" dirty="0" err="1"/>
              <a:t>nhiều</a:t>
            </a:r>
            <a:r>
              <a:rPr lang="en-US" dirty="0"/>
              <a:t> </a:t>
            </a:r>
            <a:r>
              <a:rPr lang="en-US" dirty="0" err="1"/>
              <a:t>yếu</a:t>
            </a:r>
            <a:r>
              <a:rPr lang="en-US" dirty="0"/>
              <a:t> </a:t>
            </a:r>
            <a:r>
              <a:rPr lang="en-US" dirty="0" err="1"/>
              <a:t>tố</a:t>
            </a:r>
            <a:r>
              <a:rPr lang="en-US" dirty="0"/>
              <a:t> </a:t>
            </a:r>
            <a:r>
              <a:rPr lang="en-US" dirty="0" err="1"/>
              <a:t>để</a:t>
            </a:r>
            <a:r>
              <a:rPr lang="en-US" dirty="0"/>
              <a:t> </a:t>
            </a:r>
            <a:r>
              <a:rPr lang="en-US" dirty="0" err="1"/>
              <a:t>đạt</a:t>
            </a:r>
            <a:r>
              <a:rPr lang="en-US" dirty="0"/>
              <a:t> </a:t>
            </a:r>
            <a:r>
              <a:rPr lang="en-US" dirty="0" err="1"/>
              <a:t>được</a:t>
            </a:r>
            <a:r>
              <a:rPr lang="en-US" dirty="0"/>
              <a:t> </a:t>
            </a:r>
            <a:r>
              <a:rPr lang="en-US" dirty="0" err="1"/>
              <a:t>mục</a:t>
            </a:r>
            <a:r>
              <a:rPr lang="en-US" dirty="0"/>
              <a:t> </a:t>
            </a:r>
            <a:r>
              <a:rPr lang="en-US" dirty="0" err="1"/>
              <a:t>tiêu</a:t>
            </a:r>
            <a:r>
              <a:rPr lang="en-US" dirty="0"/>
              <a:t>: </a:t>
            </a:r>
            <a:r>
              <a:rPr lang="en-US" dirty="0" err="1"/>
              <a:t>bán</a:t>
            </a:r>
            <a:r>
              <a:rPr lang="en-US" dirty="0"/>
              <a:t> </a:t>
            </a:r>
            <a:r>
              <a:rPr lang="en-US" dirty="0" err="1"/>
              <a:t>được</a:t>
            </a:r>
            <a:r>
              <a:rPr lang="en-US" dirty="0"/>
              <a:t> hang </a:t>
            </a:r>
            <a:r>
              <a:rPr lang="en-US" dirty="0" err="1"/>
              <a:t>và</a:t>
            </a:r>
            <a:r>
              <a:rPr lang="en-US" dirty="0"/>
              <a:t> </a:t>
            </a:r>
            <a:r>
              <a:rPr lang="en-US" dirty="0" err="1"/>
              <a:t>thu</a:t>
            </a:r>
            <a:r>
              <a:rPr lang="en-US" dirty="0"/>
              <a:t> </a:t>
            </a:r>
            <a:r>
              <a:rPr lang="en-US" dirty="0" err="1"/>
              <a:t>lợi</a:t>
            </a:r>
            <a:r>
              <a:rPr lang="en-US" dirty="0"/>
              <a:t> </a:t>
            </a:r>
            <a:r>
              <a:rPr lang="en-US" dirty="0" err="1"/>
              <a:t>nhuận</a:t>
            </a:r>
            <a:endParaRPr lang="en-US" dirty="0"/>
          </a:p>
          <a:p>
            <a:pPr marL="0" lvl="0" indent="0" algn="l" rtl="0">
              <a:spcBef>
                <a:spcPts val="0"/>
              </a:spcBef>
              <a:spcAft>
                <a:spcPts val="0"/>
              </a:spcAft>
              <a:buNone/>
            </a:pPr>
            <a:r>
              <a:rPr lang="en-US" dirty="0"/>
              <a:t>Product: </a:t>
            </a:r>
            <a:r>
              <a:rPr lang="en-US" sz="1800" b="0" i="0" dirty="0">
                <a:solidFill>
                  <a:srgbClr val="242021"/>
                </a:solidFill>
                <a:effectLst/>
                <a:latin typeface="Caslon224Std-Book"/>
              </a:rPr>
              <a:t>Elements such as quality, design, features, characteristics, and even the packaging make up the product. These intrinsic characteristics of the product are important, but customers’ perceptions of the product, called the product’s </a:t>
            </a:r>
            <a:r>
              <a:rPr lang="en-US" sz="1800" b="1" i="0" dirty="0">
                <a:solidFill>
                  <a:srgbClr val="242021"/>
                </a:solidFill>
                <a:effectLst/>
                <a:latin typeface="Caslon224Std-Bold"/>
              </a:rPr>
              <a:t>brand</a:t>
            </a:r>
            <a:r>
              <a:rPr lang="en-US" sz="1800" b="0" i="0" dirty="0">
                <a:solidFill>
                  <a:srgbClr val="242021"/>
                </a:solidFill>
                <a:effectLst/>
                <a:latin typeface="Caslon224Std-Book"/>
              </a:rPr>
              <a:t>, can be as important as the actual characteristics of the product</a:t>
            </a:r>
            <a:r>
              <a:rPr lang="en-US" dirty="0"/>
              <a:t> </a:t>
            </a:r>
            <a:br>
              <a:rPr lang="en-US" dirty="0"/>
            </a:br>
            <a:r>
              <a:rPr lang="en-US" dirty="0"/>
              <a:t>Promotion: </a:t>
            </a:r>
            <a:r>
              <a:rPr lang="en-US" sz="1800" b="0" i="0" dirty="0">
                <a:solidFill>
                  <a:srgbClr val="242021"/>
                </a:solidFill>
                <a:effectLst/>
                <a:latin typeface="Caslon224Std-Book"/>
              </a:rPr>
              <a:t>On the Internet, possibilities abound for communicating with existing and potential customers. In this chapter, you will learn how organizations use their Web sites, e-mail strategies, and social media as communication tools for promoting their products and services</a:t>
            </a:r>
            <a:r>
              <a:rPr lang="en-US" dirty="0"/>
              <a:t> </a:t>
            </a:r>
            <a:br>
              <a:rPr lang="en-US" dirty="0"/>
            </a:br>
            <a:endParaRPr lang="en-US" dirty="0"/>
          </a:p>
        </p:txBody>
      </p:sp>
      <p:sp>
        <p:nvSpPr>
          <p:cNvPr id="102" name="Google Shape;102;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Examples of product-based strategy: </a:t>
            </a:r>
            <a:r>
              <a:rPr lang="en-US" dirty="0" err="1"/>
              <a:t>phân</a:t>
            </a:r>
            <a:r>
              <a:rPr lang="en-US" dirty="0"/>
              <a:t> </a:t>
            </a:r>
            <a:r>
              <a:rPr lang="en-US" dirty="0" err="1"/>
              <a:t>loại</a:t>
            </a:r>
            <a:r>
              <a:rPr lang="en-US" dirty="0"/>
              <a:t> </a:t>
            </a:r>
            <a:r>
              <a:rPr lang="en-US" dirty="0" err="1"/>
              <a:t>sản</a:t>
            </a:r>
            <a:r>
              <a:rPr lang="en-US" dirty="0"/>
              <a:t> </a:t>
            </a:r>
            <a:r>
              <a:rPr lang="en-US" dirty="0" err="1"/>
              <a:t>phẩm</a:t>
            </a:r>
            <a:r>
              <a:rPr lang="en-US" dirty="0"/>
              <a:t> </a:t>
            </a:r>
            <a:r>
              <a:rPr lang="en-US" dirty="0" err="1"/>
              <a:t>theo</a:t>
            </a:r>
            <a:r>
              <a:rPr lang="en-US" dirty="0"/>
              <a:t> </a:t>
            </a:r>
            <a:r>
              <a:rPr lang="en-US" dirty="0" err="1"/>
              <a:t>danh</a:t>
            </a:r>
            <a:r>
              <a:rPr lang="en-US" dirty="0"/>
              <a:t> </a:t>
            </a:r>
            <a:r>
              <a:rPr lang="en-US" dirty="0" err="1"/>
              <a:t>mục</a:t>
            </a:r>
            <a:r>
              <a:rPr lang="en-US" dirty="0"/>
              <a:t> </a:t>
            </a:r>
            <a:r>
              <a:rPr lang="en-US" dirty="0" err="1"/>
              <a:t>sản</a:t>
            </a:r>
            <a:r>
              <a:rPr lang="en-US" dirty="0"/>
              <a:t> </a:t>
            </a:r>
            <a:r>
              <a:rPr lang="en-US" dirty="0" err="1"/>
              <a:t>phẩm</a:t>
            </a:r>
            <a:r>
              <a:rPr lang="en-US" dirty="0"/>
              <a:t>: web catalog: </a:t>
            </a:r>
            <a:r>
              <a:rPr lang="en-US" dirty="0" err="1"/>
              <a:t>ví</a:t>
            </a:r>
            <a:r>
              <a:rPr lang="en-US" dirty="0"/>
              <a:t> </a:t>
            </a:r>
            <a:r>
              <a:rPr lang="en-US" dirty="0" err="1"/>
              <a:t>dụ</a:t>
            </a:r>
            <a:r>
              <a:rPr lang="en-US" dirty="0"/>
              <a:t>: </a:t>
            </a:r>
            <a:r>
              <a:rPr lang="en-US" dirty="0" err="1"/>
              <a:t>cửa</a:t>
            </a:r>
            <a:r>
              <a:rPr lang="en-US" dirty="0"/>
              <a:t> </a:t>
            </a:r>
            <a:r>
              <a:rPr lang="en-US" dirty="0" err="1"/>
              <a:t>hàng</a:t>
            </a:r>
            <a:r>
              <a:rPr lang="en-US" dirty="0"/>
              <a:t> </a:t>
            </a:r>
            <a:r>
              <a:rPr lang="en-US" dirty="0" err="1"/>
              <a:t>thể</a:t>
            </a:r>
            <a:r>
              <a:rPr lang="en-US" dirty="0"/>
              <a:t> </a:t>
            </a:r>
            <a:r>
              <a:rPr lang="en-US" dirty="0" err="1"/>
              <a:t>thao</a:t>
            </a:r>
            <a:r>
              <a:rPr lang="en-US" dirty="0"/>
              <a:t> Decathlon: chia </a:t>
            </a:r>
            <a:r>
              <a:rPr lang="en-US" dirty="0" err="1"/>
              <a:t>danh</a:t>
            </a:r>
            <a:r>
              <a:rPr lang="en-US" dirty="0"/>
              <a:t> </a:t>
            </a:r>
            <a:r>
              <a:rPr lang="en-US" dirty="0" err="1"/>
              <a:t>mục</a:t>
            </a:r>
            <a:r>
              <a:rPr lang="en-US" dirty="0"/>
              <a:t> </a:t>
            </a:r>
            <a:r>
              <a:rPr lang="en-US" dirty="0" err="1"/>
              <a:t>sản</a:t>
            </a:r>
            <a:r>
              <a:rPr lang="en-US" dirty="0"/>
              <a:t> </a:t>
            </a:r>
            <a:r>
              <a:rPr lang="en-US" dirty="0" err="1"/>
              <a:t>phẩm</a:t>
            </a:r>
            <a:r>
              <a:rPr lang="en-US" dirty="0"/>
              <a:t> </a:t>
            </a:r>
            <a:r>
              <a:rPr lang="en-US" dirty="0" err="1"/>
              <a:t>theo</a:t>
            </a:r>
            <a:r>
              <a:rPr lang="en-US" dirty="0"/>
              <a:t> </a:t>
            </a:r>
            <a:r>
              <a:rPr lang="en-US" dirty="0" err="1"/>
              <a:t>môn</a:t>
            </a:r>
            <a:r>
              <a:rPr lang="en-US" dirty="0"/>
              <a:t> </a:t>
            </a:r>
            <a:r>
              <a:rPr lang="en-US" dirty="0" err="1"/>
              <a:t>thể</a:t>
            </a:r>
            <a:r>
              <a:rPr lang="en-US" dirty="0"/>
              <a:t> </a:t>
            </a:r>
            <a:r>
              <a:rPr lang="en-US" dirty="0" err="1"/>
              <a:t>thao</a:t>
            </a:r>
            <a:r>
              <a:rPr lang="en-US" dirty="0"/>
              <a:t>, </a:t>
            </a:r>
            <a:r>
              <a:rPr lang="en-US" dirty="0" err="1"/>
              <a:t>Siêu</a:t>
            </a:r>
            <a:r>
              <a:rPr lang="en-US" dirty="0"/>
              <a:t> </a:t>
            </a:r>
            <a:r>
              <a:rPr lang="en-US" dirty="0" err="1"/>
              <a:t>thị</a:t>
            </a:r>
            <a:r>
              <a:rPr lang="en-US" dirty="0"/>
              <a:t>: </a:t>
            </a:r>
            <a:r>
              <a:rPr lang="en-US" dirty="0" err="1"/>
              <a:t>tươi</a:t>
            </a:r>
            <a:r>
              <a:rPr lang="en-US" dirty="0"/>
              <a:t> </a:t>
            </a:r>
            <a:r>
              <a:rPr lang="en-US" dirty="0" err="1"/>
              <a:t>sống</a:t>
            </a:r>
            <a:r>
              <a:rPr lang="en-US" dirty="0"/>
              <a:t>, </a:t>
            </a:r>
            <a:r>
              <a:rPr lang="en-US" dirty="0" err="1"/>
              <a:t>đồ</a:t>
            </a:r>
            <a:r>
              <a:rPr lang="en-US" dirty="0"/>
              <a:t> </a:t>
            </a:r>
            <a:r>
              <a:rPr lang="en-US" dirty="0" err="1"/>
              <a:t>hộp</a:t>
            </a:r>
            <a:r>
              <a:rPr lang="en-US" dirty="0"/>
              <a:t>, </a:t>
            </a:r>
            <a:r>
              <a:rPr lang="en-US" dirty="0" err="1"/>
              <a:t>đồ</a:t>
            </a:r>
            <a:r>
              <a:rPr lang="en-US" dirty="0"/>
              <a:t> </a:t>
            </a:r>
            <a:r>
              <a:rPr lang="en-US" dirty="0" err="1"/>
              <a:t>lạnh</a:t>
            </a:r>
            <a:r>
              <a:rPr lang="en-US" dirty="0"/>
              <a:t> …</a:t>
            </a:r>
          </a:p>
          <a:p>
            <a:pPr marL="0" lvl="0" indent="0" algn="l" rtl="0">
              <a:spcBef>
                <a:spcPts val="0"/>
              </a:spcBef>
              <a:spcAft>
                <a:spcPts val="0"/>
              </a:spcAft>
              <a:buNone/>
            </a:pPr>
            <a:r>
              <a:rPr lang="en-US" dirty="0"/>
              <a:t>     Web office supply stores, Previous print catalog sales</a:t>
            </a:r>
          </a:p>
          <a:p>
            <a:pPr marL="0" lvl="0" indent="0" algn="l" rtl="0">
              <a:lnSpc>
                <a:spcPct val="90000"/>
              </a:lnSpc>
              <a:spcBef>
                <a:spcPts val="0"/>
              </a:spcBef>
              <a:spcAft>
                <a:spcPts val="0"/>
              </a:spcAft>
              <a:buNone/>
            </a:pPr>
            <a:r>
              <a:rPr lang="en-US" dirty="0"/>
              <a:t>Examples of customer-based strategy: </a:t>
            </a:r>
            <a:r>
              <a:rPr lang="en-US" dirty="0" err="1"/>
              <a:t>phân</a:t>
            </a:r>
            <a:r>
              <a:rPr lang="en-US" dirty="0"/>
              <a:t> </a:t>
            </a:r>
            <a:r>
              <a:rPr lang="en-US" dirty="0" err="1"/>
              <a:t>loại</a:t>
            </a:r>
            <a:r>
              <a:rPr lang="en-US" dirty="0"/>
              <a:t> </a:t>
            </a:r>
            <a:r>
              <a:rPr lang="en-US" dirty="0" err="1"/>
              <a:t>khách</a:t>
            </a:r>
            <a:r>
              <a:rPr lang="en-US" dirty="0"/>
              <a:t> </a:t>
            </a:r>
            <a:r>
              <a:rPr lang="en-US" dirty="0" err="1"/>
              <a:t>hàng</a:t>
            </a:r>
            <a:r>
              <a:rPr lang="en-US" dirty="0"/>
              <a:t>: </a:t>
            </a:r>
            <a:r>
              <a:rPr lang="en-US" dirty="0" err="1"/>
              <a:t>tùy</a:t>
            </a:r>
            <a:r>
              <a:rPr lang="en-US" dirty="0"/>
              <a:t> </a:t>
            </a:r>
            <a:r>
              <a:rPr lang="en-US" dirty="0" err="1"/>
              <a:t>vào</a:t>
            </a:r>
            <a:r>
              <a:rPr lang="en-US" dirty="0"/>
              <a:t> </a:t>
            </a:r>
            <a:r>
              <a:rPr lang="en-US" dirty="0" err="1"/>
              <a:t>giới</a:t>
            </a:r>
            <a:r>
              <a:rPr lang="en-US" dirty="0"/>
              <a:t> </a:t>
            </a:r>
            <a:r>
              <a:rPr lang="en-US" dirty="0" err="1"/>
              <a:t>tính</a:t>
            </a:r>
            <a:r>
              <a:rPr lang="en-US" dirty="0"/>
              <a:t>, </a:t>
            </a:r>
            <a:r>
              <a:rPr lang="en-US" dirty="0" err="1"/>
              <a:t>độ</a:t>
            </a:r>
            <a:r>
              <a:rPr lang="en-US" dirty="0"/>
              <a:t> </a:t>
            </a:r>
            <a:r>
              <a:rPr lang="en-US" dirty="0" err="1"/>
              <a:t>tuổi</a:t>
            </a:r>
            <a:r>
              <a:rPr lang="en-US" dirty="0"/>
              <a:t> …</a:t>
            </a:r>
          </a:p>
          <a:p>
            <a:pPr marL="0" lvl="0" indent="0" algn="l" rtl="0">
              <a:lnSpc>
                <a:spcPct val="90000"/>
              </a:lnSpc>
              <a:spcBef>
                <a:spcPts val="0"/>
              </a:spcBef>
              <a:spcAft>
                <a:spcPts val="0"/>
              </a:spcAft>
              <a:buNone/>
            </a:pPr>
            <a:r>
              <a:rPr lang="en-US" dirty="0"/>
              <a:t>university Web sites for student, investor, staff; job site for employer, job seeker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Chọn</a:t>
            </a:r>
            <a:r>
              <a:rPr lang="en-US" dirty="0"/>
              <a:t> </a:t>
            </a:r>
            <a:r>
              <a:rPr lang="en-US" dirty="0" err="1"/>
              <a:t>nơi</a:t>
            </a:r>
            <a:r>
              <a:rPr lang="en-US" dirty="0"/>
              <a:t>/ </a:t>
            </a:r>
            <a:r>
              <a:rPr lang="en-US" dirty="0" err="1"/>
              <a:t>hình</a:t>
            </a:r>
            <a:r>
              <a:rPr lang="en-US" dirty="0"/>
              <a:t> </a:t>
            </a:r>
            <a:r>
              <a:rPr lang="en-US" dirty="0" err="1"/>
              <a:t>thức</a:t>
            </a:r>
            <a:r>
              <a:rPr lang="en-US" dirty="0"/>
              <a:t> </a:t>
            </a:r>
            <a:r>
              <a:rPr lang="en-US" dirty="0" err="1"/>
              <a:t>tiếp</a:t>
            </a:r>
            <a:r>
              <a:rPr lang="en-US" dirty="0"/>
              <a:t> </a:t>
            </a:r>
            <a:r>
              <a:rPr lang="en-US" dirty="0" err="1"/>
              <a:t>thị</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t>
            </a:r>
            <a:r>
              <a:rPr lang="en-US" dirty="0" err="1"/>
              <a:t>Thế</a:t>
            </a:r>
            <a:r>
              <a:rPr lang="en-US" dirty="0"/>
              <a:t> </a:t>
            </a:r>
            <a:r>
              <a:rPr lang="en-US" dirty="0" err="1"/>
              <a:t>giới</a:t>
            </a:r>
            <a:r>
              <a:rPr lang="en-US" dirty="0"/>
              <a:t> </a:t>
            </a:r>
            <a:r>
              <a:rPr lang="en-US" dirty="0" err="1"/>
              <a:t>thật</a:t>
            </a:r>
            <a:r>
              <a:rPr lang="en-US" dirty="0"/>
              <a:t>: </a:t>
            </a:r>
            <a:r>
              <a:rPr lang="en-US" dirty="0" err="1"/>
              <a:t>sử</a:t>
            </a:r>
            <a:r>
              <a:rPr lang="en-US" dirty="0"/>
              <a:t> </a:t>
            </a:r>
            <a:r>
              <a:rPr lang="en-US" dirty="0" err="1"/>
              <a:t>dụng</a:t>
            </a:r>
            <a:r>
              <a:rPr lang="en-US" dirty="0"/>
              <a:t> </a:t>
            </a:r>
            <a:r>
              <a:rPr lang="en-US" dirty="0" err="1"/>
              <a:t>thiết</a:t>
            </a:r>
            <a:r>
              <a:rPr lang="en-US" dirty="0"/>
              <a:t> </a:t>
            </a:r>
            <a:r>
              <a:rPr lang="en-US" dirty="0" err="1"/>
              <a:t>kế</a:t>
            </a:r>
            <a:r>
              <a:rPr lang="en-US" dirty="0"/>
              <a:t> </a:t>
            </a:r>
            <a:r>
              <a:rPr lang="en-US" dirty="0" err="1"/>
              <a:t>nội</a:t>
            </a:r>
            <a:r>
              <a:rPr lang="en-US" dirty="0"/>
              <a:t> – </a:t>
            </a:r>
            <a:r>
              <a:rPr lang="en-US" dirty="0" err="1"/>
              <a:t>ngoại</a:t>
            </a:r>
            <a:r>
              <a:rPr lang="en-US" dirty="0"/>
              <a:t> </a:t>
            </a:r>
            <a:r>
              <a:rPr lang="en-US" dirty="0" err="1"/>
              <a:t>thất</a:t>
            </a:r>
            <a:r>
              <a:rPr lang="en-US" dirty="0"/>
              <a:t> </a:t>
            </a:r>
            <a:r>
              <a:rPr lang="en-US" dirty="0" err="1"/>
              <a:t>để</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khách</a:t>
            </a:r>
            <a:r>
              <a:rPr lang="en-US" dirty="0"/>
              <a:t> </a:t>
            </a:r>
            <a:r>
              <a:rPr lang="en-US" dirty="0" err="1"/>
              <a:t>hàng</a:t>
            </a:r>
            <a:r>
              <a:rPr lang="en-US" dirty="0"/>
              <a:t> (café, </a:t>
            </a:r>
            <a:r>
              <a:rPr lang="en-US" dirty="0" err="1"/>
              <a:t>ngân</a:t>
            </a:r>
            <a:r>
              <a:rPr lang="en-US" dirty="0"/>
              <a:t> </a:t>
            </a:r>
            <a:r>
              <a:rPr lang="en-US" dirty="0" err="1"/>
              <a:t>hàng</a:t>
            </a:r>
            <a:r>
              <a:rPr lang="en-US" dirty="0"/>
              <a:t>, </a:t>
            </a:r>
            <a:r>
              <a:rPr lang="en-US" dirty="0" err="1"/>
              <a:t>cơ</a:t>
            </a:r>
            <a:r>
              <a:rPr lang="en-US" dirty="0"/>
              <a:t> </a:t>
            </a:r>
            <a:r>
              <a:rPr lang="en-US" dirty="0" err="1"/>
              <a:t>sở</a:t>
            </a:r>
            <a:r>
              <a:rPr lang="en-US" dirty="0"/>
              <a:t> </a:t>
            </a:r>
            <a:r>
              <a:rPr lang="en-US" dirty="0" err="1"/>
              <a:t>giáo</a:t>
            </a:r>
            <a:r>
              <a:rPr lang="en-US" dirty="0"/>
              <a:t> </a:t>
            </a:r>
            <a:r>
              <a:rPr lang="en-US" dirty="0" err="1"/>
              <a:t>dục</a:t>
            </a:r>
            <a:r>
              <a:rPr lang="en-US" dirty="0"/>
              <a:t>… </a:t>
            </a:r>
            <a:r>
              <a:rPr lang="en-US" dirty="0" err="1"/>
              <a:t>có</a:t>
            </a:r>
            <a:r>
              <a:rPr lang="en-US" dirty="0"/>
              <a:t> </a:t>
            </a:r>
            <a:r>
              <a:rPr lang="en-US" dirty="0" err="1"/>
              <a:t>thiết</a:t>
            </a:r>
            <a:r>
              <a:rPr lang="en-US" dirty="0"/>
              <a:t> </a:t>
            </a:r>
            <a:r>
              <a:rPr lang="en-US" dirty="0" err="1"/>
              <a:t>kế</a:t>
            </a:r>
            <a:r>
              <a:rPr lang="en-US" dirty="0"/>
              <a:t> </a:t>
            </a:r>
            <a:r>
              <a:rPr lang="en-US" dirty="0" err="1"/>
              <a:t>khác</a:t>
            </a:r>
            <a:r>
              <a:rPr lang="en-US" dirty="0"/>
              <a:t> </a:t>
            </a:r>
            <a:r>
              <a:rPr lang="en-US" dirty="0" err="1"/>
              <a:t>nhau</a:t>
            </a:r>
            <a:r>
              <a:rPr lang="en-US" dirty="0"/>
              <a:t>, </a:t>
            </a:r>
            <a:r>
              <a:rPr lang="en-US" dirty="0" err="1"/>
              <a:t>theo</a:t>
            </a:r>
            <a:r>
              <a:rPr lang="en-US" dirty="0"/>
              <a:t> </a:t>
            </a:r>
            <a:r>
              <a:rPr lang="en-US" dirty="0" err="1"/>
              <a:t>mục</a:t>
            </a:r>
            <a:r>
              <a:rPr lang="en-US" dirty="0"/>
              <a:t> </a:t>
            </a:r>
            <a:r>
              <a:rPr lang="en-US" dirty="0" err="1"/>
              <a:t>đích</a:t>
            </a:r>
            <a:r>
              <a:rPr lang="en-US" dirty="0"/>
              <a:t> </a:t>
            </a:r>
            <a:r>
              <a:rPr lang="en-US" dirty="0" err="1"/>
              <a:t>mà</a:t>
            </a:r>
            <a:r>
              <a:rPr lang="en-US" dirty="0"/>
              <a:t> </a:t>
            </a:r>
            <a:r>
              <a:rPr lang="en-US" dirty="0" err="1"/>
              <a:t>chúng</a:t>
            </a:r>
            <a:r>
              <a:rPr lang="en-US" dirty="0"/>
              <a:t> </a:t>
            </a:r>
            <a:r>
              <a:rPr lang="en-US" dirty="0" err="1"/>
              <a:t>muốn</a:t>
            </a:r>
            <a:r>
              <a:rPr lang="en-US" dirty="0"/>
              <a:t> </a:t>
            </a:r>
            <a:r>
              <a:rPr lang="en-US" dirty="0" err="1"/>
              <a:t>khách</a:t>
            </a:r>
            <a:r>
              <a:rPr lang="en-US" dirty="0"/>
              <a:t> </a:t>
            </a:r>
            <a:r>
              <a:rPr lang="en-US" dirty="0" err="1"/>
              <a:t>hàng</a:t>
            </a:r>
            <a:r>
              <a:rPr lang="en-US" dirty="0"/>
              <a:t> </a:t>
            </a:r>
            <a:r>
              <a:rPr lang="en-US" dirty="0" err="1"/>
              <a:t>cảm</a:t>
            </a:r>
            <a:r>
              <a:rPr lang="en-US" dirty="0"/>
              <a:t> </a:t>
            </a:r>
            <a:r>
              <a:rPr lang="en-US" dirty="0" err="1"/>
              <a:t>nhận</a:t>
            </a:r>
            <a:r>
              <a:rPr lang="en-US" dirty="0"/>
              <a:t> </a:t>
            </a:r>
            <a:r>
              <a:rPr lang="en-US" dirty="0" err="1"/>
              <a:t>được</a:t>
            </a:r>
            <a:r>
              <a:rPr lang="en-US" dirty="0"/>
              <a:t>)</a:t>
            </a:r>
            <a:endParaRPr dirty="0"/>
          </a:p>
          <a:p>
            <a:pPr marL="0" lvl="0" indent="0" algn="l" rtl="0">
              <a:spcBef>
                <a:spcPts val="0"/>
              </a:spcBef>
              <a:spcAft>
                <a:spcPts val="0"/>
              </a:spcAft>
              <a:buNone/>
            </a:pPr>
            <a:r>
              <a:rPr lang="en-US" dirty="0"/>
              <a:t>-Web: </a:t>
            </a:r>
            <a:r>
              <a:rPr lang="en-US" dirty="0" err="1"/>
              <a:t>sử</a:t>
            </a:r>
            <a:r>
              <a:rPr lang="en-US" dirty="0"/>
              <a:t> </a:t>
            </a:r>
            <a:r>
              <a:rPr lang="en-US" dirty="0" err="1"/>
              <a:t>dụng</a:t>
            </a:r>
            <a:r>
              <a:rPr lang="en-US" dirty="0"/>
              <a:t> </a:t>
            </a:r>
            <a:r>
              <a:rPr lang="en-US" dirty="0" err="1"/>
              <a:t>thiết</a:t>
            </a:r>
            <a:r>
              <a:rPr lang="en-US" dirty="0"/>
              <a:t> </a:t>
            </a:r>
            <a:r>
              <a:rPr lang="en-US" dirty="0" err="1"/>
              <a:t>kế</a:t>
            </a:r>
            <a:r>
              <a:rPr lang="en-US" dirty="0"/>
              <a:t> website =&gt; </a:t>
            </a:r>
            <a:r>
              <a:rPr lang="en-US" dirty="0" err="1"/>
              <a:t>khó</a:t>
            </a:r>
            <a:r>
              <a:rPr lang="en-US" dirty="0"/>
              <a:t> </a:t>
            </a:r>
            <a:r>
              <a:rPr lang="en-US" dirty="0" err="1"/>
              <a:t>khăn</a:t>
            </a:r>
            <a:r>
              <a:rPr lang="en-US" dirty="0"/>
              <a:t> </a:t>
            </a:r>
            <a:r>
              <a:rPr lang="en-US" dirty="0" err="1"/>
              <a:t>hơn</a:t>
            </a:r>
            <a:r>
              <a:rPr lang="en-US" dirty="0"/>
              <a:t> </a:t>
            </a:r>
            <a:r>
              <a:rPr lang="en-US" dirty="0" err="1"/>
              <a:t>nhiều</a:t>
            </a:r>
            <a:endParaRPr dirty="0"/>
          </a:p>
        </p:txBody>
      </p:sp>
      <p:sp>
        <p:nvSpPr>
          <p:cNvPr id="109" name="Google Shape;109;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Mass media: </a:t>
            </a:r>
            <a:r>
              <a:rPr lang="en-US" dirty="0" err="1"/>
              <a:t>quảng</a:t>
            </a:r>
            <a:r>
              <a:rPr lang="en-US" dirty="0"/>
              <a:t> </a:t>
            </a:r>
            <a:r>
              <a:rPr lang="en-US" dirty="0" err="1"/>
              <a:t>cáo</a:t>
            </a:r>
            <a:r>
              <a:rPr lang="en-US" dirty="0"/>
              <a:t> </a:t>
            </a:r>
            <a:r>
              <a:rPr lang="en-US" dirty="0" err="1"/>
              <a:t>trên</a:t>
            </a:r>
            <a:r>
              <a:rPr lang="en-US" dirty="0"/>
              <a:t> TV, </a:t>
            </a:r>
            <a:r>
              <a:rPr lang="en-US" dirty="0" err="1"/>
              <a:t>các</a:t>
            </a:r>
            <a:r>
              <a:rPr lang="en-US" dirty="0"/>
              <a:t> </a:t>
            </a:r>
            <a:r>
              <a:rPr lang="en-US" dirty="0" err="1"/>
              <a:t>trang</a:t>
            </a:r>
            <a:r>
              <a:rPr lang="en-US" dirty="0"/>
              <a:t> web </a:t>
            </a:r>
            <a:r>
              <a:rPr lang="en-US" dirty="0" err="1"/>
              <a:t>nổi</a:t>
            </a:r>
            <a:r>
              <a:rPr lang="en-US" dirty="0"/>
              <a:t> </a:t>
            </a:r>
            <a:r>
              <a:rPr lang="en-US" dirty="0" err="1"/>
              <a:t>tiếng</a:t>
            </a:r>
            <a:r>
              <a:rPr lang="en-US" dirty="0"/>
              <a:t>: chi </a:t>
            </a:r>
            <a:r>
              <a:rPr lang="en-US" dirty="0" err="1"/>
              <a:t>phí</a:t>
            </a:r>
            <a:r>
              <a:rPr lang="en-US" dirty="0"/>
              <a:t> </a:t>
            </a:r>
            <a:r>
              <a:rPr lang="en-US" dirty="0" err="1"/>
              <a:t>cho</a:t>
            </a:r>
            <a:r>
              <a:rPr lang="en-US" dirty="0"/>
              <a:t> </a:t>
            </a:r>
            <a:r>
              <a:rPr lang="en-US" dirty="0" err="1"/>
              <a:t>quảng</a:t>
            </a:r>
            <a:r>
              <a:rPr lang="en-US" dirty="0"/>
              <a:t> </a:t>
            </a:r>
            <a:r>
              <a:rPr lang="en-US" dirty="0" err="1"/>
              <a:t>cáo</a:t>
            </a:r>
            <a:r>
              <a:rPr lang="en-US" dirty="0"/>
              <a:t> </a:t>
            </a:r>
            <a:r>
              <a:rPr lang="en-US" dirty="0" err="1"/>
              <a:t>cao</a:t>
            </a:r>
            <a:r>
              <a:rPr lang="en-US" dirty="0"/>
              <a:t> </a:t>
            </a:r>
            <a:r>
              <a:rPr lang="en-US" dirty="0" err="1"/>
              <a:t>nhưng</a:t>
            </a:r>
            <a:r>
              <a:rPr lang="en-US" dirty="0"/>
              <a:t> </a:t>
            </a:r>
            <a:r>
              <a:rPr lang="en-US" dirty="0" err="1"/>
              <a:t>nếu</a:t>
            </a:r>
            <a:r>
              <a:rPr lang="en-US" dirty="0"/>
              <a:t> </a:t>
            </a:r>
            <a:r>
              <a:rPr lang="en-US" dirty="0" err="1"/>
              <a:t>tính</a:t>
            </a:r>
            <a:r>
              <a:rPr lang="en-US" dirty="0"/>
              <a:t> </a:t>
            </a:r>
            <a:r>
              <a:rPr lang="en-US" dirty="0" err="1"/>
              <a:t>số</a:t>
            </a:r>
            <a:r>
              <a:rPr lang="en-US" dirty="0"/>
              <a:t> </a:t>
            </a:r>
            <a:r>
              <a:rPr lang="en-US" dirty="0" err="1"/>
              <a:t>tiền</a:t>
            </a:r>
            <a:r>
              <a:rPr lang="en-US" dirty="0"/>
              <a:t>/viewer: </a:t>
            </a:r>
            <a:r>
              <a:rPr lang="en-US" dirty="0" err="1"/>
              <a:t>rẻ</a:t>
            </a:r>
            <a:r>
              <a:rPr lang="en-US" dirty="0"/>
              <a:t>  </a:t>
            </a:r>
            <a:r>
              <a:rPr lang="en-US" dirty="0">
                <a:sym typeface="Wingdings" panose="05000000000000000000" pitchFamily="2" charset="2"/>
              </a:rPr>
              <a:t> Trust ko </a:t>
            </a:r>
            <a:r>
              <a:rPr lang="en-US" dirty="0" err="1">
                <a:sym typeface="Wingdings" panose="05000000000000000000" pitchFamily="2" charset="2"/>
              </a:rPr>
              <a:t>cao</a:t>
            </a: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Personal contact: </a:t>
            </a:r>
            <a:r>
              <a:rPr lang="en-US" dirty="0" err="1">
                <a:sym typeface="Wingdings" panose="05000000000000000000" pitchFamily="2" charset="2"/>
              </a:rPr>
              <a:t>giới</a:t>
            </a:r>
            <a:r>
              <a:rPr lang="en-US" dirty="0">
                <a:sym typeface="Wingdings" panose="05000000000000000000" pitchFamily="2" charset="2"/>
              </a:rPr>
              <a:t> </a:t>
            </a:r>
            <a:r>
              <a:rPr lang="en-US" dirty="0" err="1">
                <a:sym typeface="Wingdings" panose="05000000000000000000" pitchFamily="2" charset="2"/>
              </a:rPr>
              <a:t>thiệu</a:t>
            </a:r>
            <a:r>
              <a:rPr lang="en-US" dirty="0">
                <a:sym typeface="Wingdings" panose="05000000000000000000" pitchFamily="2" charset="2"/>
              </a:rPr>
              <a:t> </a:t>
            </a:r>
            <a:r>
              <a:rPr lang="en-US" dirty="0" err="1">
                <a:sym typeface="Wingdings" panose="05000000000000000000" pitchFamily="2" charset="2"/>
              </a:rPr>
              <a:t>từng</a:t>
            </a:r>
            <a:r>
              <a:rPr lang="en-US" dirty="0">
                <a:sym typeface="Wingdings" panose="05000000000000000000" pitchFamily="2" charset="2"/>
              </a:rPr>
              <a:t> </a:t>
            </a:r>
            <a:r>
              <a:rPr lang="en-US" dirty="0" err="1">
                <a:sym typeface="Wingdings" panose="05000000000000000000" pitchFamily="2" charset="2"/>
              </a:rPr>
              <a:t>người</a:t>
            </a:r>
            <a:r>
              <a:rPr lang="en-US" dirty="0">
                <a:sym typeface="Wingdings" panose="05000000000000000000" pitchFamily="2" charset="2"/>
              </a:rPr>
              <a:t>, </a:t>
            </a:r>
            <a:r>
              <a:rPr lang="en-US" dirty="0" err="1">
                <a:sym typeface="Wingdings" panose="05000000000000000000" pitchFamily="2" charset="2"/>
              </a:rPr>
              <a:t>được</a:t>
            </a:r>
            <a:r>
              <a:rPr lang="en-US" dirty="0">
                <a:sym typeface="Wingdings" panose="05000000000000000000" pitchFamily="2" charset="2"/>
              </a:rPr>
              <a:t> </a:t>
            </a:r>
            <a:r>
              <a:rPr lang="en-US" dirty="0" err="1">
                <a:sym typeface="Wingdings" panose="05000000000000000000" pitchFamily="2" charset="2"/>
              </a:rPr>
              <a:t>giới</a:t>
            </a:r>
            <a:r>
              <a:rPr lang="en-US" dirty="0">
                <a:sym typeface="Wingdings" panose="05000000000000000000" pitchFamily="2" charset="2"/>
              </a:rPr>
              <a:t> </a:t>
            </a:r>
            <a:r>
              <a:rPr lang="en-US" dirty="0" err="1">
                <a:sym typeface="Wingdings" panose="05000000000000000000" pitchFamily="2" charset="2"/>
              </a:rPr>
              <a:t>thiệu</a:t>
            </a:r>
            <a:r>
              <a:rPr lang="en-US" dirty="0">
                <a:sym typeface="Wingdings" panose="05000000000000000000" pitchFamily="2" charset="2"/>
              </a:rPr>
              <a:t>  trust </a:t>
            </a:r>
            <a:r>
              <a:rPr lang="en-US" dirty="0" err="1">
                <a:sym typeface="Wingdings" panose="05000000000000000000" pitchFamily="2" charset="2"/>
              </a:rPr>
              <a:t>cao</a:t>
            </a:r>
            <a:r>
              <a:rPr lang="en-US" dirty="0">
                <a:sym typeface="Wingdings" panose="05000000000000000000" pitchFamily="2" charset="2"/>
              </a:rPr>
              <a:t> </a:t>
            </a:r>
            <a:r>
              <a:rPr lang="en-US" dirty="0" err="1">
                <a:sym typeface="Wingdings" panose="05000000000000000000" pitchFamily="2" charset="2"/>
              </a:rPr>
              <a:t>hơn</a:t>
            </a:r>
            <a:endParaRPr lang="en-US" dirty="0"/>
          </a:p>
          <a:p>
            <a:pPr marL="0" lvl="0" indent="0" algn="l" rtl="0">
              <a:spcBef>
                <a:spcPts val="0"/>
              </a:spcBef>
              <a:spcAft>
                <a:spcPts val="0"/>
              </a:spcAft>
              <a:buNone/>
            </a:pPr>
            <a:endParaRPr dirty="0"/>
          </a:p>
        </p:txBody>
      </p:sp>
      <p:sp>
        <p:nvSpPr>
          <p:cNvPr id="116" name="Google Shape;11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b="0" i="0" dirty="0">
                <a:solidFill>
                  <a:srgbClr val="5D677A"/>
                </a:solidFill>
                <a:effectLst/>
                <a:latin typeface="Barlow" panose="020B0604020202020204" pitchFamily="2" charset="0"/>
              </a:rPr>
              <a:t>Market Segment – phân khúc thị trường là những đối tượng có các đặc điểm chung như giới tính, tuổi tác, sở thích, lối sống,… được tập hợp thành một nhóm để hỗ trợ cho mục đích tiếp thị. </a:t>
            </a:r>
            <a:endParaRPr lang="en-US" b="0" i="0" dirty="0">
              <a:solidFill>
                <a:srgbClr val="5D677A"/>
              </a:solidFill>
              <a:effectLst/>
              <a:latin typeface="Barlow" panose="020B0604020202020204" pitchFamily="2" charset="0"/>
            </a:endParaRPr>
          </a:p>
          <a:p>
            <a:pPr marL="0" lvl="0" indent="0" algn="l" rtl="0">
              <a:spcBef>
                <a:spcPts val="0"/>
              </a:spcBef>
              <a:spcAft>
                <a:spcPts val="0"/>
              </a:spcAft>
              <a:buNone/>
            </a:pPr>
            <a:endParaRPr lang="en-US" b="0" i="0" dirty="0">
              <a:solidFill>
                <a:srgbClr val="5D677A"/>
              </a:solidFill>
              <a:effectLst/>
              <a:latin typeface="Barlow" panose="020B0604020202020204" pitchFamily="2" charset="0"/>
            </a:endParaRPr>
          </a:p>
          <a:p>
            <a:pPr algn="just"/>
            <a:r>
              <a:rPr lang="vi-VN" b="1" i="0" dirty="0">
                <a:solidFill>
                  <a:srgbClr val="5D677A"/>
                </a:solidFill>
                <a:effectLst/>
                <a:latin typeface="Barlow" panose="00000500000000000000" pitchFamily="2" charset="0"/>
              </a:rPr>
              <a:t>Phân khúc thị trường theo yếu tố địa lý</a:t>
            </a:r>
          </a:p>
          <a:p>
            <a:pPr algn="just"/>
            <a:r>
              <a:rPr lang="vi-VN" b="0" i="0" dirty="0">
                <a:solidFill>
                  <a:srgbClr val="5D677A"/>
                </a:solidFill>
                <a:effectLst/>
                <a:latin typeface="Barlow" panose="00000500000000000000" pitchFamily="2" charset="0"/>
              </a:rPr>
              <a:t>Đây là phương pháp chia nhóm khách hàng dựa theo vị trí địa lý của họ, được xác định theo tỉnh, thành phố, mã bưu điện, quốc gia,... Vị trí địa lý sẽ giúp bạn nắm được những yếu tố ảnh hưởng đến hành vi mua sắm như mức thu nhập, khả năng chi tiêu, điều kiện thời tiết,... để cân nhắc lựa chọn sản phẩm, triển khai những loại hình quảng cáo hiệu quả.</a:t>
            </a:r>
          </a:p>
          <a:p>
            <a:pPr algn="just"/>
            <a:r>
              <a:rPr lang="vi-VN" b="1" i="0" dirty="0">
                <a:solidFill>
                  <a:srgbClr val="5D677A"/>
                </a:solidFill>
                <a:effectLst/>
                <a:latin typeface="Barlow" panose="00000500000000000000" pitchFamily="2" charset="0"/>
              </a:rPr>
              <a:t>Phân khúc thị trường theo yếu tố nhân khẩu học</a:t>
            </a:r>
          </a:p>
          <a:p>
            <a:pPr algn="just"/>
            <a:r>
              <a:rPr lang="vi-VN" b="0" i="0" dirty="0">
                <a:solidFill>
                  <a:srgbClr val="5D677A"/>
                </a:solidFill>
                <a:effectLst/>
                <a:latin typeface="Barlow" panose="00000500000000000000" pitchFamily="2" charset="0"/>
              </a:rPr>
              <a:t>Theo yếu tố nhân khẩu học, doanh nghiệp sẽ dựa trên các yếu tố như giới tính, tuổi tác, nghề nghiệp, tôn giáo, tình trạng hôn nhân... để phân chia khách hàng thành các nhóm riêng. Đây được coi là phương pháp dễ thực hiện, có độ tin cậy cao nên được áp dụng rất phổ biến.</a:t>
            </a:r>
          </a:p>
          <a:p>
            <a:pPr algn="just"/>
            <a:r>
              <a:rPr lang="vi-VN" b="1" i="0" dirty="0">
                <a:solidFill>
                  <a:srgbClr val="5D677A"/>
                </a:solidFill>
                <a:effectLst/>
                <a:latin typeface="Barlow" panose="00000500000000000000" pitchFamily="2" charset="0"/>
              </a:rPr>
              <a:t>Phân khúc thị trường theo yếu tố hành vi</a:t>
            </a:r>
          </a:p>
          <a:p>
            <a:pPr algn="just"/>
            <a:r>
              <a:rPr lang="vi-VN" b="0" i="0" dirty="0">
                <a:solidFill>
                  <a:srgbClr val="5D677A"/>
                </a:solidFill>
                <a:effectLst/>
                <a:latin typeface="Barlow" panose="00000500000000000000" pitchFamily="2" charset="0"/>
              </a:rPr>
              <a:t>Phương pháp này sẽ mang lại hiệu quả cao nhất với những doanh nghiệp hoạt động trong lĩnh vực thương mại điện tử. Những dữ liệu về hành vi khách hàng có thể dễ dàng được thu thập từ chính website của công ty. Yếu tố này bao gồm: thói quen chi tiêu, mua sắm, thời gian truy cập web, mức độ tương tác với doanh nghiệp, những phản hồi về sản phẩm đã mua,... Từ những dữ liệu này, doanh nghiệp sẽ điều chỉnh thông điệp, mục tiêu chiến dịch marketing sao cho phù hợp nhất.</a:t>
            </a:r>
          </a:p>
          <a:p>
            <a:pPr algn="just"/>
            <a:r>
              <a:rPr lang="vi-VN" b="1" i="0" dirty="0">
                <a:solidFill>
                  <a:srgbClr val="5D677A"/>
                </a:solidFill>
                <a:effectLst/>
                <a:latin typeface="Barlow" panose="00000500000000000000" pitchFamily="2" charset="0"/>
              </a:rPr>
              <a:t>Phân khúc thị trường theo yếu tố tâm lý</a:t>
            </a:r>
          </a:p>
          <a:p>
            <a:pPr algn="just"/>
            <a:r>
              <a:rPr lang="vi-VN" b="0" i="0" dirty="0">
                <a:solidFill>
                  <a:srgbClr val="5D677A"/>
                </a:solidFill>
                <a:effectLst/>
                <a:latin typeface="Barlow" panose="00000500000000000000" pitchFamily="2" charset="0"/>
              </a:rPr>
              <a:t>So với phân khúc thị trường theo nhân khẩu học, phân khúc tâm lý sẽ khó xác định hơn bởi những yếu tố như sở thích, tính cách, giá trị, niềm tin, mục tiêu, phong cách sống,... rất trừu tượng và dễ thay đổi. Các nhóm tâm lý cũng có thể là sự kết hợp của những phân loại khác như tuổi tác, nghề nghiệp (nhân khẩu học) hay vị trí của họ (địa lý), nhưng tựu chung lại chúng đều thể hiện thái độ, lối sống của một nhóm. Phân khúc tâm lý sẽ giúp hoạt động tiếp thị của doanh nghiệp có hiệu quả cao bởi qua đó khách hàng sẽ cảm thấy doanh nghiệp hiểu được họ đang cần và muốn gì.</a:t>
            </a:r>
          </a:p>
          <a:p>
            <a:pPr marL="0" lvl="0" indent="0" algn="l" rtl="0">
              <a:spcBef>
                <a:spcPts val="0"/>
              </a:spcBef>
              <a:spcAft>
                <a:spcPts val="0"/>
              </a:spcAft>
              <a:buNone/>
            </a:pPr>
            <a:endParaRPr lang="en-US" b="0" i="0" dirty="0">
              <a:solidFill>
                <a:srgbClr val="5D677A"/>
              </a:solidFill>
              <a:effectLst/>
              <a:latin typeface="Barlow" panose="020B0604020202020204" pitchFamily="2" charset="0"/>
            </a:endParaRP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-micromarketing: chia </a:t>
            </a:r>
            <a:r>
              <a:rPr lang="en-US" dirty="0" err="1"/>
              <a:t>thành</a:t>
            </a:r>
            <a:r>
              <a:rPr lang="en-US" dirty="0"/>
              <a:t> </a:t>
            </a:r>
            <a:r>
              <a:rPr lang="en-US" dirty="0" err="1"/>
              <a:t>nhóm</a:t>
            </a:r>
            <a:r>
              <a:rPr lang="en-US" dirty="0"/>
              <a:t> </a:t>
            </a:r>
            <a:r>
              <a:rPr lang="en-US" dirty="0" err="1"/>
              <a:t>càng</a:t>
            </a:r>
            <a:r>
              <a:rPr lang="en-US" dirty="0"/>
              <a:t> </a:t>
            </a:r>
            <a:r>
              <a:rPr lang="en-US" dirty="0" err="1"/>
              <a:t>ngày</a:t>
            </a:r>
            <a:r>
              <a:rPr lang="en-US" dirty="0"/>
              <a:t> </a:t>
            </a:r>
            <a:r>
              <a:rPr lang="en-US" dirty="0" err="1"/>
              <a:t>càng</a:t>
            </a:r>
            <a:r>
              <a:rPr lang="en-US" dirty="0"/>
              <a:t> </a:t>
            </a:r>
            <a:r>
              <a:rPr lang="en-US" dirty="0" err="1"/>
              <a:t>nhỏ</a:t>
            </a:r>
            <a:r>
              <a:rPr lang="en-US" dirty="0"/>
              <a:t> </a:t>
            </a:r>
            <a:r>
              <a:rPr lang="en-US" dirty="0" err="1"/>
              <a:t>để</a:t>
            </a:r>
            <a:r>
              <a:rPr lang="en-US" dirty="0"/>
              <a:t> </a:t>
            </a:r>
            <a:r>
              <a:rPr lang="en-US" dirty="0" err="1"/>
              <a:t>đưa</a:t>
            </a:r>
            <a:r>
              <a:rPr lang="en-US" dirty="0"/>
              <a:t> </a:t>
            </a:r>
            <a:r>
              <a:rPr lang="en-US" dirty="0" err="1"/>
              <a:t>đến</a:t>
            </a:r>
            <a:r>
              <a:rPr lang="en-US" dirty="0"/>
              <a:t> </a:t>
            </a:r>
            <a:r>
              <a:rPr lang="en-US" dirty="0" err="1"/>
              <a:t>các</a:t>
            </a:r>
            <a:r>
              <a:rPr lang="en-US" dirty="0"/>
              <a:t> </a:t>
            </a:r>
            <a:r>
              <a:rPr lang="en-US" dirty="0" err="1"/>
              <a:t>thông</a:t>
            </a:r>
            <a:r>
              <a:rPr lang="en-US" dirty="0"/>
              <a:t> </a:t>
            </a:r>
            <a:r>
              <a:rPr lang="en-US" dirty="0" err="1"/>
              <a:t>điệp</a:t>
            </a:r>
            <a:r>
              <a:rPr lang="en-US" dirty="0"/>
              <a:t> </a:t>
            </a:r>
            <a:r>
              <a:rPr lang="en-US" dirty="0" err="1"/>
              <a:t>quảng</a:t>
            </a:r>
            <a:r>
              <a:rPr lang="en-US" dirty="0"/>
              <a:t> </a:t>
            </a:r>
            <a:r>
              <a:rPr lang="en-US" dirty="0" err="1"/>
              <a:t>cáo</a:t>
            </a:r>
            <a:r>
              <a:rPr lang="en-US" dirty="0"/>
              <a:t>: chi </a:t>
            </a:r>
            <a:r>
              <a:rPr lang="en-US" dirty="0" err="1"/>
              <a:t>phí</a:t>
            </a:r>
            <a:r>
              <a:rPr lang="en-US" dirty="0"/>
              <a:t> </a:t>
            </a:r>
            <a:r>
              <a:rPr lang="en-US" dirty="0" err="1"/>
              <a:t>cao</a:t>
            </a:r>
            <a:r>
              <a:rPr lang="en-US" dirty="0"/>
              <a:t> </a:t>
            </a:r>
            <a:r>
              <a:rPr lang="en-US" dirty="0" err="1"/>
              <a:t>khi</a:t>
            </a:r>
            <a:r>
              <a:rPr lang="en-US" dirty="0"/>
              <a:t> </a:t>
            </a:r>
            <a:r>
              <a:rPr lang="en-US" dirty="0" err="1"/>
              <a:t>quảng</a:t>
            </a:r>
            <a:r>
              <a:rPr lang="en-US" dirty="0"/>
              <a:t> </a:t>
            </a:r>
            <a:r>
              <a:rPr lang="en-US" dirty="0" err="1"/>
              <a:t>cáo</a:t>
            </a:r>
            <a:r>
              <a:rPr lang="en-US" dirty="0"/>
              <a:t> </a:t>
            </a:r>
            <a:r>
              <a:rPr lang="en-US" dirty="0" err="1"/>
              <a:t>trên</a:t>
            </a:r>
            <a:r>
              <a:rPr lang="en-US" dirty="0"/>
              <a:t> mass media</a:t>
            </a:r>
            <a:endParaRPr dirty="0"/>
          </a:p>
          <a:p>
            <a:pPr marL="0" lvl="0" indent="0" algn="l" rtl="0">
              <a:spcBef>
                <a:spcPts val="0"/>
              </a:spcBef>
              <a:spcAft>
                <a:spcPts val="0"/>
              </a:spcAft>
              <a:buNone/>
            </a:pPr>
            <a:r>
              <a:rPr lang="en-US" dirty="0"/>
              <a:t>-demographic: </a:t>
            </a:r>
            <a:r>
              <a:rPr lang="en-US" dirty="0" err="1"/>
              <a:t>tuổi</a:t>
            </a:r>
            <a:r>
              <a:rPr lang="en-US" dirty="0"/>
              <a:t> </a:t>
            </a:r>
            <a:r>
              <a:rPr lang="en-US" dirty="0" err="1"/>
              <a:t>tác</a:t>
            </a:r>
            <a:r>
              <a:rPr lang="en-US" dirty="0"/>
              <a:t>, </a:t>
            </a:r>
            <a:r>
              <a:rPr lang="en-US" dirty="0" err="1"/>
              <a:t>giới</a:t>
            </a:r>
            <a:r>
              <a:rPr lang="en-US" dirty="0"/>
              <a:t> </a:t>
            </a:r>
            <a:r>
              <a:rPr lang="en-US" dirty="0" err="1"/>
              <a:t>tính</a:t>
            </a:r>
            <a:r>
              <a:rPr lang="en-US" dirty="0"/>
              <a:t>, </a:t>
            </a:r>
            <a:r>
              <a:rPr lang="en-US" dirty="0" err="1"/>
              <a:t>thu</a:t>
            </a:r>
            <a:r>
              <a:rPr lang="en-US" dirty="0"/>
              <a:t> </a:t>
            </a:r>
            <a:r>
              <a:rPr lang="en-US" dirty="0" err="1"/>
              <a:t>nhập</a:t>
            </a:r>
            <a:r>
              <a:rPr lang="en-US" dirty="0"/>
              <a:t>, </a:t>
            </a:r>
            <a:r>
              <a:rPr lang="en-US" dirty="0" err="1"/>
              <a:t>tôn</a:t>
            </a:r>
            <a:r>
              <a:rPr lang="en-US" dirty="0"/>
              <a:t> </a:t>
            </a:r>
            <a:r>
              <a:rPr lang="en-US" dirty="0" err="1"/>
              <a:t>giáo</a:t>
            </a:r>
            <a:r>
              <a:rPr lang="en-US" dirty="0"/>
              <a:t>, </a:t>
            </a:r>
            <a:r>
              <a:rPr lang="en-US" dirty="0" err="1"/>
              <a:t>v.v</a:t>
            </a:r>
            <a:r>
              <a:rPr lang="en-US" dirty="0"/>
              <a:t>…</a:t>
            </a:r>
            <a:endParaRPr dirty="0"/>
          </a:p>
          <a:p>
            <a:pPr marL="0" lvl="0" indent="0" algn="l" rtl="0">
              <a:spcBef>
                <a:spcPts val="0"/>
              </a:spcBef>
              <a:spcAft>
                <a:spcPts val="0"/>
              </a:spcAft>
              <a:buNone/>
            </a:pPr>
            <a:r>
              <a:rPr lang="en-US" dirty="0"/>
              <a:t>-psychographic: </a:t>
            </a:r>
            <a:r>
              <a:rPr lang="en-US" dirty="0" err="1"/>
              <a:t>giai</a:t>
            </a:r>
            <a:r>
              <a:rPr lang="en-US" dirty="0"/>
              <a:t> </a:t>
            </a:r>
            <a:r>
              <a:rPr lang="en-US" dirty="0" err="1"/>
              <a:t>cấp</a:t>
            </a:r>
            <a:r>
              <a:rPr lang="en-US" dirty="0"/>
              <a:t>, </a:t>
            </a:r>
            <a:r>
              <a:rPr lang="en-US" dirty="0" err="1"/>
              <a:t>cá</a:t>
            </a:r>
            <a:r>
              <a:rPr lang="en-US" dirty="0"/>
              <a:t> </a:t>
            </a:r>
            <a:r>
              <a:rPr lang="en-US" dirty="0" err="1"/>
              <a:t>tính</a:t>
            </a:r>
            <a:r>
              <a:rPr lang="en-US" dirty="0"/>
              <a:t>, </a:t>
            </a:r>
            <a:r>
              <a:rPr lang="en-US" dirty="0" err="1"/>
              <a:t>v.v</a:t>
            </a:r>
            <a:r>
              <a:rPr lang="en-US" dirty="0"/>
              <a:t>… (</a:t>
            </a:r>
            <a:r>
              <a:rPr lang="en-US" dirty="0" err="1"/>
              <a:t>xe</a:t>
            </a:r>
            <a:r>
              <a:rPr lang="en-US" dirty="0"/>
              <a:t> </a:t>
            </a:r>
            <a:r>
              <a:rPr lang="en-US" dirty="0" err="1"/>
              <a:t>hơi</a:t>
            </a:r>
            <a:r>
              <a:rPr lang="en-US" dirty="0"/>
              <a:t>: </a:t>
            </a:r>
            <a:r>
              <a:rPr lang="en-US" dirty="0" err="1"/>
              <a:t>người</a:t>
            </a:r>
            <a:r>
              <a:rPr lang="en-US" dirty="0"/>
              <a:t> </a:t>
            </a:r>
            <a:r>
              <a:rPr lang="en-US" dirty="0" err="1"/>
              <a:t>mê</a:t>
            </a:r>
            <a:r>
              <a:rPr lang="en-US" dirty="0"/>
              <a:t> </a:t>
            </a:r>
            <a:r>
              <a:rPr lang="en-US" dirty="0" err="1"/>
              <a:t>tốc</a:t>
            </a:r>
            <a:r>
              <a:rPr lang="en-US" dirty="0"/>
              <a:t> </a:t>
            </a:r>
            <a:r>
              <a:rPr lang="en-US" dirty="0" err="1"/>
              <a:t>độ</a:t>
            </a:r>
            <a:r>
              <a:rPr lang="en-US" dirty="0"/>
              <a:t> vs </a:t>
            </a:r>
            <a:r>
              <a:rPr lang="en-US" dirty="0" err="1"/>
              <a:t>người</a:t>
            </a:r>
            <a:r>
              <a:rPr lang="en-US" dirty="0"/>
              <a:t> </a:t>
            </a:r>
            <a:r>
              <a:rPr lang="en-US" dirty="0" err="1"/>
              <a:t>quan</a:t>
            </a:r>
            <a:r>
              <a:rPr lang="en-US" dirty="0"/>
              <a:t> </a:t>
            </a:r>
            <a:r>
              <a:rPr lang="en-US" dirty="0" err="1"/>
              <a:t>tâm</a:t>
            </a:r>
            <a:r>
              <a:rPr lang="en-US" dirty="0"/>
              <a:t> an </a:t>
            </a:r>
            <a:r>
              <a:rPr lang="en-US" dirty="0" err="1"/>
              <a:t>toàn</a:t>
            </a:r>
            <a:r>
              <a:rPr lang="en-US" dirty="0"/>
              <a:t> vs </a:t>
            </a:r>
            <a:r>
              <a:rPr lang="en-US" dirty="0" err="1"/>
              <a:t>người</a:t>
            </a:r>
            <a:r>
              <a:rPr lang="en-US" dirty="0"/>
              <a:t> </a:t>
            </a:r>
            <a:r>
              <a:rPr lang="en-US" dirty="0" err="1"/>
              <a:t>quan</a:t>
            </a:r>
            <a:r>
              <a:rPr lang="en-US" dirty="0"/>
              <a:t> </a:t>
            </a:r>
            <a:r>
              <a:rPr lang="en-US" dirty="0" err="1"/>
              <a:t>tâm</a:t>
            </a:r>
            <a:r>
              <a:rPr lang="en-US" dirty="0"/>
              <a:t> </a:t>
            </a:r>
            <a:r>
              <a:rPr lang="en-US" dirty="0" err="1"/>
              <a:t>kinh</a:t>
            </a:r>
            <a:r>
              <a:rPr lang="en-US" dirty="0"/>
              <a:t> </a:t>
            </a:r>
            <a:r>
              <a:rPr lang="en-US" dirty="0" err="1"/>
              <a:t>tế</a:t>
            </a:r>
            <a:r>
              <a:rPr lang="en-US" dirty="0"/>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a:t>
            </a:r>
            <a:endParaRPr dirty="0"/>
          </a:p>
        </p:txBody>
      </p:sp>
      <p:sp>
        <p:nvSpPr>
          <p:cNvPr id="124" name="Google Shape;124;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-Simplifiers are users who like convenience. They are attracted by sites that make doing business easier, faster, or otherwise more efficient than is possible in the physical world.</a:t>
            </a:r>
          </a:p>
          <a:p>
            <a:pPr marL="0" lvl="0" indent="0" algn="l" rtl="0">
              <a:spcBef>
                <a:spcPts val="0"/>
              </a:spcBef>
              <a:spcAft>
                <a:spcPts val="0"/>
              </a:spcAft>
              <a:buNone/>
            </a:pPr>
            <a:r>
              <a:rPr lang="en-US" dirty="0"/>
              <a:t>-Surfers use the Web to find information, explore new ideas, and shop. They like to be entertained, and they spend far more time on the Web than other people. To attract surfers, sites must offer a wide variety of content that is attractive, well displayed, and constantly updated.</a:t>
            </a:r>
          </a:p>
          <a:p>
            <a:pPr marL="0" lvl="0" indent="0" algn="l" rtl="0">
              <a:spcBef>
                <a:spcPts val="0"/>
              </a:spcBef>
              <a:spcAft>
                <a:spcPts val="0"/>
              </a:spcAft>
              <a:buNone/>
            </a:pPr>
            <a:r>
              <a:rPr lang="en-US" dirty="0"/>
              <a:t>-Bargainers are in search of a good deal. Although they make up less than 10 percent of the online population, they make up more than half of all visitors to the eBay auction site. They enjoy searching for the best price or shipping terms and are willing to visit many sites to do that.</a:t>
            </a:r>
          </a:p>
          <a:p>
            <a:pPr marL="0" lvl="0" indent="0" algn="l" rtl="0">
              <a:spcBef>
                <a:spcPts val="0"/>
              </a:spcBef>
              <a:spcAft>
                <a:spcPts val="0"/>
              </a:spcAft>
              <a:buNone/>
            </a:pPr>
            <a:r>
              <a:rPr lang="en-US" dirty="0"/>
              <a:t>-Connectors use the Web to stay in touch with other people. They are intensive users of chat rooms, instant messaging services, social networking sites, electronic greeting card sites, and Web-based e-mail. Connectors tend to be new to the Web, less likely than other people to purchase on the Web, and actively trying to learn what the Web has to offer them.</a:t>
            </a:r>
          </a:p>
          <a:p>
            <a:pPr marL="0" lvl="0" indent="0" algn="l" rtl="0">
              <a:spcBef>
                <a:spcPts val="0"/>
              </a:spcBef>
              <a:spcAft>
                <a:spcPts val="0"/>
              </a:spcAft>
              <a:buNone/>
            </a:pPr>
            <a:r>
              <a:rPr lang="en-US" dirty="0"/>
              <a:t>-</a:t>
            </a:r>
            <a:r>
              <a:rPr lang="en-US" dirty="0" err="1"/>
              <a:t>Routiners</a:t>
            </a:r>
            <a:r>
              <a:rPr lang="en-US" dirty="0"/>
              <a:t> return to the same sites over and over again. They use the Web to obtain news, stock quotes, and other financial information. </a:t>
            </a:r>
            <a:r>
              <a:rPr lang="en-US" dirty="0" err="1"/>
              <a:t>Routiners</a:t>
            </a:r>
            <a:r>
              <a:rPr lang="en-US" dirty="0"/>
              <a:t> like the comfort of working with a user interface that they know well.</a:t>
            </a:r>
          </a:p>
          <a:p>
            <a:pPr marL="0" lvl="0" indent="0" algn="l" rtl="0">
              <a:spcBef>
                <a:spcPts val="0"/>
              </a:spcBef>
              <a:spcAft>
                <a:spcPts val="0"/>
              </a:spcAft>
              <a:buNone/>
            </a:pPr>
            <a:r>
              <a:rPr lang="en-US" dirty="0"/>
              <a:t>-Sportsters are similar to </a:t>
            </a:r>
            <a:r>
              <a:rPr lang="en-US" dirty="0" err="1"/>
              <a:t>routiners</a:t>
            </a:r>
            <a:r>
              <a:rPr lang="en-US" dirty="0"/>
              <a:t>, but they tend to spend time on sports and entertainment sites rather than news and financial information sites. Since they view the Web as an entertainment vehicle, sportsters are attracted by sites that are interactive and attractive</a:t>
            </a:r>
            <a:endParaRPr dirty="0"/>
          </a:p>
        </p:txBody>
      </p:sp>
      <p:sp>
        <p:nvSpPr>
          <p:cNvPr id="124" name="Google Shape;124;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664783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-Simplifiers are users who like convenience. They are attracted by sites that make doing business easier, faster, or otherwise more efficient than is possible in the physical world.</a:t>
            </a:r>
          </a:p>
          <a:p>
            <a:pPr marL="0" lvl="0" indent="0" algn="l" rtl="0">
              <a:spcBef>
                <a:spcPts val="0"/>
              </a:spcBef>
              <a:spcAft>
                <a:spcPts val="0"/>
              </a:spcAft>
              <a:buNone/>
            </a:pPr>
            <a:r>
              <a:rPr lang="en-US" dirty="0"/>
              <a:t>-Surfers use the Web to find information, explore new ideas, and shop. They like to be entertained, and they spend far more time on the Web than other people. To attract surfers, sites must offer a wide variety of content that is attractive, well displayed, and constantly updated.</a:t>
            </a:r>
          </a:p>
          <a:p>
            <a:pPr marL="0" lvl="0" indent="0" algn="l" rtl="0">
              <a:spcBef>
                <a:spcPts val="0"/>
              </a:spcBef>
              <a:spcAft>
                <a:spcPts val="0"/>
              </a:spcAft>
              <a:buNone/>
            </a:pPr>
            <a:r>
              <a:rPr lang="en-US" dirty="0"/>
              <a:t>-Bargainers are in search of a good deal. Although they make up less than 10 percent of the online population, they make up more than half of all visitors to the eBay auction site. They enjoy searching for the best price or shipping terms and are willing to visit many sites to do that.</a:t>
            </a:r>
          </a:p>
          <a:p>
            <a:pPr marL="0" lvl="0" indent="0" algn="l" rtl="0">
              <a:spcBef>
                <a:spcPts val="0"/>
              </a:spcBef>
              <a:spcAft>
                <a:spcPts val="0"/>
              </a:spcAft>
              <a:buNone/>
            </a:pPr>
            <a:r>
              <a:rPr lang="en-US" dirty="0"/>
              <a:t>-Connectors use the Web to stay in touch with other people. They are intensive users of chat rooms, instant messaging services, social networking sites, electronic greeting card sites, and Web-based e-mail. Connectors tend to be new to the Web, less likely than other people to purchase on the Web, and actively trying to learn what the Web has to offer them.</a:t>
            </a:r>
          </a:p>
          <a:p>
            <a:pPr marL="0" lvl="0" indent="0" algn="l" rtl="0">
              <a:spcBef>
                <a:spcPts val="0"/>
              </a:spcBef>
              <a:spcAft>
                <a:spcPts val="0"/>
              </a:spcAft>
              <a:buNone/>
            </a:pPr>
            <a:r>
              <a:rPr lang="en-US" dirty="0"/>
              <a:t>-</a:t>
            </a:r>
            <a:r>
              <a:rPr lang="en-US" dirty="0" err="1"/>
              <a:t>Routiners</a:t>
            </a:r>
            <a:r>
              <a:rPr lang="en-US" dirty="0"/>
              <a:t> return to the same sites over and over again. They use the Web to obtain news, stock quotes, and other financial information. </a:t>
            </a:r>
            <a:r>
              <a:rPr lang="en-US" dirty="0" err="1"/>
              <a:t>Routiners</a:t>
            </a:r>
            <a:r>
              <a:rPr lang="en-US" dirty="0"/>
              <a:t> like the comfort of working with a user interface that they know well.</a:t>
            </a:r>
          </a:p>
          <a:p>
            <a:pPr marL="0" lvl="0" indent="0" algn="l" rtl="0">
              <a:spcBef>
                <a:spcPts val="0"/>
              </a:spcBef>
              <a:spcAft>
                <a:spcPts val="0"/>
              </a:spcAft>
              <a:buNone/>
            </a:pPr>
            <a:r>
              <a:rPr lang="en-US" dirty="0"/>
              <a:t>-Sportsters are similar to </a:t>
            </a:r>
            <a:r>
              <a:rPr lang="en-US" dirty="0" err="1"/>
              <a:t>routiners</a:t>
            </a:r>
            <a:r>
              <a:rPr lang="en-US" dirty="0"/>
              <a:t>, but they tend to spend time on sports and entertainment sites rather than news and financial information sites. Since they view the Web as an entertainment vehicle, sportsters are attracted by sites that are interactive and attractive</a:t>
            </a:r>
            <a:endParaRPr dirty="0"/>
          </a:p>
        </p:txBody>
      </p:sp>
      <p:sp>
        <p:nvSpPr>
          <p:cNvPr id="124" name="Google Shape;124;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2635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800" b="0" i="0" dirty="0">
                <a:solidFill>
                  <a:srgbClr val="242021"/>
                </a:solidFill>
                <a:effectLst/>
                <a:latin typeface="Caslon224Std-Book"/>
              </a:rPr>
              <a:t>One goal of marketing is to create strong relationships between a company and its customers.</a:t>
            </a:r>
          </a:p>
          <a:p>
            <a:pPr marL="0" lvl="0" indent="0" algn="l" rtl="0">
              <a:spcBef>
                <a:spcPts val="0"/>
              </a:spcBef>
              <a:spcAft>
                <a:spcPts val="0"/>
              </a:spcAft>
              <a:buNone/>
            </a:pPr>
            <a:r>
              <a:rPr lang="en-US" sz="1800" b="0" i="0" dirty="0">
                <a:solidFill>
                  <a:srgbClr val="242021"/>
                </a:solidFill>
                <a:effectLst/>
                <a:latin typeface="Caslon224Std-Book"/>
              </a:rPr>
              <a:t>Good customer experiences can help create an intense feeling of loyalty toward the company and its products or services</a:t>
            </a:r>
            <a:r>
              <a:rPr lang="en-US" dirty="0"/>
              <a:t> </a:t>
            </a:r>
            <a:br>
              <a:rPr lang="en-US" dirty="0"/>
            </a:br>
            <a:br>
              <a:rPr lang="en-US" dirty="0"/>
            </a:br>
            <a:endParaRPr dirty="0"/>
          </a:p>
        </p:txBody>
      </p:sp>
      <p:sp>
        <p:nvSpPr>
          <p:cNvPr id="131" name="Google Shape;131;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2" indent="0" algn="l" rtl="0">
              <a:lnSpc>
                <a:spcPct val="100000"/>
              </a:lnSpc>
              <a:spcBef>
                <a:spcPts val="0"/>
              </a:spcBef>
              <a:spcAft>
                <a:spcPts val="0"/>
              </a:spcAft>
              <a:buClr>
                <a:schemeClr val="dk1"/>
              </a:buClr>
              <a:buSzPts val="1200"/>
              <a:buFont typeface="Calibri"/>
              <a:buNone/>
            </a:pPr>
            <a:r>
              <a:rPr lang="en-US"/>
              <a:t>-Banner exchange network: coordinates ad sharing</a:t>
            </a:r>
            <a:endParaRPr/>
          </a:p>
          <a:p>
            <a:pPr marL="0" marR="0" lvl="2" indent="0" algn="l" rtl="0">
              <a:lnSpc>
                <a:spcPct val="100000"/>
              </a:lnSpc>
              <a:spcBef>
                <a:spcPts val="0"/>
              </a:spcBef>
              <a:spcAft>
                <a:spcPts val="0"/>
              </a:spcAft>
              <a:buClr>
                <a:schemeClr val="dk1"/>
              </a:buClr>
              <a:buSzPts val="1200"/>
              <a:buFont typeface="Calibri"/>
              <a:buNone/>
            </a:pPr>
            <a:r>
              <a:rPr lang="en-US"/>
              <a:t>-Banner advertising network: acts as broker between advertisers and Web sites that carry ads</a:t>
            </a: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46" name="Google Shape;14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2" indent="0" algn="l" rtl="0">
              <a:lnSpc>
                <a:spcPct val="100000"/>
              </a:lnSpc>
              <a:spcBef>
                <a:spcPts val="0"/>
              </a:spcBef>
              <a:spcAft>
                <a:spcPts val="0"/>
              </a:spcAft>
              <a:buClr>
                <a:schemeClr val="dk1"/>
              </a:buClr>
              <a:buSzPts val="1200"/>
              <a:buFont typeface="Calibri"/>
              <a:buNone/>
            </a:pPr>
            <a:r>
              <a:rPr lang="en-US"/>
              <a:t>-Value of each visitor is not equal depends on how much information she give to the site (email, name, phone, etc.)</a:t>
            </a:r>
            <a:endParaRPr/>
          </a:p>
        </p:txBody>
      </p:sp>
      <p:sp>
        <p:nvSpPr>
          <p:cNvPr id="160" name="Google Shape;16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1" name="Google Shape;18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b="1" i="0" dirty="0">
                <a:solidFill>
                  <a:srgbClr val="5F6368"/>
                </a:solidFill>
                <a:effectLst/>
                <a:latin typeface="arial" panose="020B0604020202020204" pitchFamily="34" charset="0"/>
              </a:rPr>
              <a:t>Search Engine Optimization</a:t>
            </a:r>
            <a:r>
              <a:rPr lang="vi-VN" b="0" i="0" dirty="0">
                <a:solidFill>
                  <a:srgbClr val="4D5156"/>
                </a:solidFill>
                <a:effectLst/>
                <a:latin typeface="arial" panose="020B0604020202020204" pitchFamily="34" charset="0"/>
              </a:rPr>
              <a:t> (tối ưu hóa công cụ tìm kiếm), </a:t>
            </a:r>
            <a:r>
              <a:rPr lang="vi-VN" b="1" i="0" dirty="0">
                <a:solidFill>
                  <a:srgbClr val="5F6368"/>
                </a:solidFill>
                <a:effectLst/>
                <a:latin typeface="arial" panose="020B0604020202020204" pitchFamily="34" charset="0"/>
              </a:rPr>
              <a:t>là</a:t>
            </a:r>
            <a:r>
              <a:rPr lang="vi-VN" b="0" i="0" dirty="0">
                <a:solidFill>
                  <a:srgbClr val="4D5156"/>
                </a:solidFill>
                <a:effectLst/>
                <a:latin typeface="arial" panose="020B0604020202020204" pitchFamily="34" charset="0"/>
              </a:rPr>
              <a:t> một quy trình nâng cao thứ hạng của website trên các công cụ</a:t>
            </a:r>
            <a:endParaRPr dirty="0"/>
          </a:p>
        </p:txBody>
      </p:sp>
      <p:sp>
        <p:nvSpPr>
          <p:cNvPr id="188" name="Google Shape;188;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2" name="Google Shape;202;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9" name="Google Shape;209;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4521-5518-88CD-AEB1-AF485557B0B8}"/>
              </a:ext>
            </a:extLst>
          </p:cNvPr>
          <p:cNvSpPr>
            <a:spLocks noGrp="1"/>
          </p:cNvSpPr>
          <p:nvPr>
            <p:ph type="title"/>
          </p:nvPr>
        </p:nvSpPr>
        <p:spPr>
          <a:xfrm>
            <a:off x="544995" y="137524"/>
            <a:ext cx="11044031" cy="866328"/>
          </a:xfrm>
        </p:spPr>
        <p:txBody>
          <a:bodyPr/>
          <a:lstStyle/>
          <a:p>
            <a:r>
              <a:rPr lang="en-US"/>
              <a:t>Click to edit Master title style</a:t>
            </a:r>
          </a:p>
        </p:txBody>
      </p:sp>
      <p:grpSp>
        <p:nvGrpSpPr>
          <p:cNvPr id="5" name="Group 4">
            <a:extLst>
              <a:ext uri="{FF2B5EF4-FFF2-40B4-BE49-F238E27FC236}">
                <a16:creationId xmlns:a16="http://schemas.microsoft.com/office/drawing/2014/main" id="{6A77EA8B-E003-58EB-2A56-117C1ADBE73D}"/>
              </a:ext>
            </a:extLst>
          </p:cNvPr>
          <p:cNvGrpSpPr>
            <a:grpSpLocks/>
          </p:cNvGrpSpPr>
          <p:nvPr userDrawn="1"/>
        </p:nvGrpSpPr>
        <p:grpSpPr bwMode="auto">
          <a:xfrm rot="5400000" flipV="1">
            <a:off x="9693153" y="55511"/>
            <a:ext cx="2536101" cy="2461591"/>
            <a:chOff x="0" y="12289"/>
            <a:chExt cx="3550" cy="3551"/>
          </a:xfrm>
        </p:grpSpPr>
        <p:sp>
          <p:nvSpPr>
            <p:cNvPr id="6" name="Freeform 14">
              <a:extLst>
                <a:ext uri="{FF2B5EF4-FFF2-40B4-BE49-F238E27FC236}">
                  <a16:creationId xmlns:a16="http://schemas.microsoft.com/office/drawing/2014/main" id="{B291EAAF-6A16-EDF9-533A-B02FB32F2CA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7" name="Freeform 15">
              <a:extLst>
                <a:ext uri="{FF2B5EF4-FFF2-40B4-BE49-F238E27FC236}">
                  <a16:creationId xmlns:a16="http://schemas.microsoft.com/office/drawing/2014/main" id="{A31A7074-3397-63C1-8957-0AA8FC694977}"/>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18">
              <a:extLst>
                <a:ext uri="{FF2B5EF4-FFF2-40B4-BE49-F238E27FC236}">
                  <a16:creationId xmlns:a16="http://schemas.microsoft.com/office/drawing/2014/main" id="{2F6F977A-783E-61C5-FE75-C0D4C253886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9" name="Straight Connector 8">
            <a:extLst>
              <a:ext uri="{FF2B5EF4-FFF2-40B4-BE49-F238E27FC236}">
                <a16:creationId xmlns:a16="http://schemas.microsoft.com/office/drawing/2014/main" id="{EBC9E799-5C81-FD36-E7E5-379F648A2B31}"/>
              </a:ext>
            </a:extLst>
          </p:cNvPr>
          <p:cNvCxnSpPr>
            <a:cxnSpLocks/>
          </p:cNvCxnSpPr>
          <p:nvPr userDrawn="1"/>
        </p:nvCxnSpPr>
        <p:spPr>
          <a:xfrm>
            <a:off x="544995" y="1052529"/>
            <a:ext cx="7843631" cy="0"/>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F34F396-F0D2-CD05-62DF-073803288637}"/>
              </a:ext>
            </a:extLst>
          </p:cNvPr>
          <p:cNvSpPr txBox="1"/>
          <p:nvPr userDrawn="1"/>
        </p:nvSpPr>
        <p:spPr>
          <a:xfrm>
            <a:off x="11407599" y="6345929"/>
            <a:ext cx="540817" cy="369332"/>
          </a:xfrm>
          <a:prstGeom prst="rect">
            <a:avLst/>
          </a:prstGeom>
          <a:noFill/>
        </p:spPr>
        <p:txBody>
          <a:bodyPr wrap="square" rtlCol="0">
            <a:spAutoFit/>
          </a:bodyPr>
          <a:lstStyle/>
          <a:p>
            <a:fld id="{FCA1FBFD-59E1-451F-A63E-5A72DB31BC5A}" type="slidenum">
              <a:rPr lang="en-US" smtClean="0">
                <a:solidFill>
                  <a:schemeClr val="accent3">
                    <a:lumMod val="75000"/>
                  </a:schemeClr>
                </a:solidFill>
              </a:rPr>
              <a:t>‹#›</a:t>
            </a:fld>
            <a:endParaRPr lang="en-US" dirty="0">
              <a:solidFill>
                <a:schemeClr val="accent3">
                  <a:lumMod val="75000"/>
                </a:schemeClr>
              </a:solidFill>
            </a:endParaRPr>
          </a:p>
        </p:txBody>
      </p:sp>
      <p:sp>
        <p:nvSpPr>
          <p:cNvPr id="4" name="Text Placeholder 2">
            <a:extLst>
              <a:ext uri="{FF2B5EF4-FFF2-40B4-BE49-F238E27FC236}">
                <a16:creationId xmlns:a16="http://schemas.microsoft.com/office/drawing/2014/main" id="{57B5FDEF-DE66-8106-9AF4-CD7D4DB2CC55}"/>
              </a:ext>
            </a:extLst>
          </p:cNvPr>
          <p:cNvSpPr>
            <a:spLocks noGrp="1"/>
          </p:cNvSpPr>
          <p:nvPr>
            <p:ph idx="1" hasCustomPrompt="1"/>
          </p:nvPr>
        </p:nvSpPr>
        <p:spPr>
          <a:xfrm>
            <a:off x="544995" y="1212573"/>
            <a:ext cx="11044031" cy="4964389"/>
          </a:xfrm>
          <a:prstGeom prst="rect">
            <a:avLst/>
          </a:prstGeom>
        </p:spPr>
        <p:txBody>
          <a:bodyPr vert="horz" lIns="91440" tIns="45720" rIns="91440" bIns="45720" rtlCol="0">
            <a:normAutofit/>
          </a:bodyPr>
          <a:lstStyle>
            <a:lvl1pPr>
              <a:defRPr/>
            </a:lvl1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7560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484177" y="349729"/>
            <a:ext cx="9710603"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endParaRPr lang="en-US"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a:t>Click icon to add table</a:t>
            </a:r>
            <a:endParaRPr lang="en-US" dirty="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endParaRPr lang="en-US"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endParaRPr lang="en-US"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endParaRPr lang="en-US"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a:lstStyle/>
          <a:p>
            <a:endParaRPr lang="en-US"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a:lstStyle/>
          <a:p>
            <a:endParaRPr lang="en-US" b="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a:xfrm>
            <a:off x="2992120" y="6332220"/>
            <a:ext cx="1313180" cy="247651"/>
          </a:xfrm>
          <a:prstGeom prst="rect">
            <a:avLst/>
          </a:prstGeom>
        </p:spPr>
        <p:txBody>
          <a:bodyPr/>
          <a:lstStyle/>
          <a:p>
            <a:endParaRPr lang="en-US"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a:xfrm>
            <a:off x="1494790" y="6332220"/>
            <a:ext cx="1497330" cy="247651"/>
          </a:xfrm>
          <a:prstGeom prst="rect">
            <a:avLst/>
          </a:prstGeom>
        </p:spPr>
        <p:txBody>
          <a:bodyPr/>
          <a:lstStyle/>
          <a:p>
            <a:endParaRPr lang="en-US" b="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endParaRPr lang="en-US"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44995" y="1113183"/>
            <a:ext cx="10808805" cy="50637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44995" y="87829"/>
            <a:ext cx="10808805" cy="866328"/>
          </a:xfrm>
          <a:prstGeom prst="rect">
            <a:avLst/>
          </a:prstGeom>
        </p:spPr>
        <p:txBody>
          <a:bodyPr vert="horz" lIns="91440" tIns="45720" rIns="91440" bIns="45720" rtlCol="0" anchor="ctr">
            <a:normAutofit/>
          </a:bodyPr>
          <a:lstStyle/>
          <a:p>
            <a:r>
              <a:rPr lang="en-US" dirty="0"/>
              <a:t>Click to edit Master title style</a:t>
            </a: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10830560" y="6405562"/>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FD105E26-F9F1-4204-8FF7-5A02817EDB1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94" r:id="rId1"/>
    <p:sldLayoutId id="2147483659" r:id="rId2"/>
    <p:sldLayoutId id="2147483693" r:id="rId3"/>
    <p:sldLayoutId id="2147483671" r:id="rId4"/>
    <p:sldLayoutId id="2147483672" r:id="rId5"/>
    <p:sldLayoutId id="2147483673" r:id="rId6"/>
    <p:sldLayoutId id="2147483684" r:id="rId7"/>
    <p:sldLayoutId id="2147483675" r:id="rId8"/>
    <p:sldLayoutId id="2147483676" r:id="rId9"/>
    <p:sldLayoutId id="2147483677" r:id="rId10"/>
    <p:sldLayoutId id="2147483685" r:id="rId11"/>
    <p:sldLayoutId id="2147483688" r:id="rId12"/>
    <p:sldLayoutId id="2147483692" r:id="rId13"/>
    <p:sldLayoutId id="2147483682" r:id="rId14"/>
  </p:sldLayoutIdLst>
  <p:hf hdr="0" ftr="0" dt="0"/>
  <p:txStyles>
    <p:titleStyle>
      <a:lvl1pPr algn="l" defTabSz="914400" rtl="0" eaLnBrk="1" latinLnBrk="0" hangingPunct="1">
        <a:lnSpc>
          <a:spcPct val="90000"/>
        </a:lnSpc>
        <a:spcBef>
          <a:spcPct val="0"/>
        </a:spcBef>
        <a:buNone/>
        <a:defRPr sz="4400" b="1" i="0" kern="1200" spc="100" baseline="0">
          <a:solidFill>
            <a:schemeClr val="accent3">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3993266" y="2116182"/>
            <a:ext cx="7865359" cy="1514019"/>
          </a:xfrm>
        </p:spPr>
        <p:txBody>
          <a:bodyPr/>
          <a:lstStyle/>
          <a:p>
            <a:r>
              <a:rPr lang="en-US" sz="4000" dirty="0">
                <a:solidFill>
                  <a:schemeClr val="accent3">
                    <a:lumMod val="75000"/>
                  </a:schemeClr>
                </a:solidFill>
              </a:rPr>
              <a:t>Chapter 4: </a:t>
            </a:r>
            <a:br>
              <a:rPr lang="en-US" sz="6000" dirty="0">
                <a:solidFill>
                  <a:srgbClr val="C00000"/>
                </a:solidFill>
              </a:rPr>
            </a:br>
            <a:r>
              <a:rPr lang="en-US" sz="7000" dirty="0">
                <a:solidFill>
                  <a:srgbClr val="C00000"/>
                </a:solidFill>
              </a:rPr>
              <a:t>Online Marketing</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a:lstStyle/>
          <a:p>
            <a:r>
              <a:rPr lang="en-US" sz="3000" dirty="0">
                <a:latin typeface="+mj-lt"/>
              </a:rPr>
              <a:t>Electronic Commerce</a:t>
            </a:r>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E3DDD-D2C2-11DB-499F-63A3E86AFD0C}"/>
              </a:ext>
            </a:extLst>
          </p:cNvPr>
          <p:cNvSpPr>
            <a:spLocks noGrp="1"/>
          </p:cNvSpPr>
          <p:nvPr>
            <p:ph type="title"/>
          </p:nvPr>
        </p:nvSpPr>
        <p:spPr/>
        <p:txBody>
          <a:bodyPr/>
          <a:lstStyle/>
          <a:p>
            <a:r>
              <a:rPr lang="en-US" dirty="0"/>
              <a:t>Outline</a:t>
            </a:r>
          </a:p>
        </p:txBody>
      </p:sp>
      <p:graphicFrame>
        <p:nvGraphicFramePr>
          <p:cNvPr id="4" name="Diagram 3">
            <a:extLst>
              <a:ext uri="{FF2B5EF4-FFF2-40B4-BE49-F238E27FC236}">
                <a16:creationId xmlns:a16="http://schemas.microsoft.com/office/drawing/2014/main" id="{4FC22C5C-1495-AF8F-49FE-8B8C50CDE111}"/>
              </a:ext>
            </a:extLst>
          </p:cNvPr>
          <p:cNvGraphicFramePr/>
          <p:nvPr>
            <p:extLst>
              <p:ext uri="{D42A27DB-BD31-4B8C-83A1-F6EECF244321}">
                <p14:modId xmlns:p14="http://schemas.microsoft.com/office/powerpoint/2010/main" val="2912239701"/>
              </p:ext>
            </p:extLst>
          </p:nvPr>
        </p:nvGraphicFramePr>
        <p:xfrm>
          <a:off x="602973" y="1247238"/>
          <a:ext cx="9145183" cy="47956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9484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p:txBody>
          <a:bodyPr/>
          <a:lstStyle/>
          <a:p>
            <a:r>
              <a:rPr lang="en-US"/>
              <a:t>Marketing basics</a:t>
            </a:r>
          </a:p>
        </p:txBody>
      </p:sp>
      <p:sp>
        <p:nvSpPr>
          <p:cNvPr id="105" name="Google Shape;105;p3"/>
          <p:cNvSpPr txBox="1">
            <a:spLocks noGrp="1"/>
          </p:cNvSpPr>
          <p:nvPr>
            <p:ph idx="1"/>
          </p:nvPr>
        </p:nvSpPr>
        <p:spPr/>
        <p:txBody>
          <a:bodyPr>
            <a:normAutofit/>
          </a:bodyPr>
          <a:lstStyle/>
          <a:p>
            <a:r>
              <a:rPr lang="en-US" dirty="0"/>
              <a:t>Marketing mix: Element combination to achieve goals</a:t>
            </a:r>
          </a:p>
          <a:p>
            <a:pPr lvl="1"/>
            <a:r>
              <a:rPr lang="en-US" dirty="0"/>
              <a:t>Selling and promoting products and services</a:t>
            </a:r>
          </a:p>
          <a:p>
            <a:r>
              <a:rPr lang="en-US" dirty="0"/>
              <a:t>Four Ps of marketing</a:t>
            </a:r>
          </a:p>
        </p:txBody>
      </p:sp>
      <p:pic>
        <p:nvPicPr>
          <p:cNvPr id="5" name="Picture 4">
            <a:extLst>
              <a:ext uri="{FF2B5EF4-FFF2-40B4-BE49-F238E27FC236}">
                <a16:creationId xmlns:a16="http://schemas.microsoft.com/office/drawing/2014/main" id="{3B797960-772A-A39C-3776-67CDA1E3BAFC}"/>
              </a:ext>
            </a:extLst>
          </p:cNvPr>
          <p:cNvPicPr>
            <a:picLocks noChangeAspect="1"/>
          </p:cNvPicPr>
          <p:nvPr/>
        </p:nvPicPr>
        <p:blipFill>
          <a:blip r:embed="rId3"/>
          <a:stretch>
            <a:fillRect/>
          </a:stretch>
        </p:blipFill>
        <p:spPr>
          <a:xfrm>
            <a:off x="1652588" y="2528889"/>
            <a:ext cx="9728005" cy="43291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p:txBody>
          <a:bodyPr/>
          <a:lstStyle/>
          <a:p>
            <a:r>
              <a:rPr lang="en-US"/>
              <a:t>Marketing basics</a:t>
            </a:r>
          </a:p>
        </p:txBody>
      </p:sp>
      <p:sp>
        <p:nvSpPr>
          <p:cNvPr id="112" name="Google Shape;112;p4"/>
          <p:cNvSpPr txBox="1">
            <a:spLocks noGrp="1"/>
          </p:cNvSpPr>
          <p:nvPr>
            <p:ph idx="1"/>
          </p:nvPr>
        </p:nvSpPr>
        <p:spPr/>
        <p:txBody>
          <a:bodyPr/>
          <a:lstStyle/>
          <a:p>
            <a:r>
              <a:rPr lang="en-US" dirty="0"/>
              <a:t>Marketing strategies</a:t>
            </a:r>
          </a:p>
          <a:p>
            <a:pPr lvl="1"/>
            <a:r>
              <a:rPr lang="en-US" dirty="0"/>
              <a:t>Product-based</a:t>
            </a:r>
          </a:p>
          <a:p>
            <a:pPr lvl="1"/>
            <a:r>
              <a:rPr lang="en-US" dirty="0"/>
              <a:t>Customer-based</a:t>
            </a:r>
          </a:p>
          <a:p>
            <a:r>
              <a:rPr lang="en-US" dirty="0"/>
              <a:t>Communicating with Different Market Segments</a:t>
            </a:r>
          </a:p>
          <a:p>
            <a:pPr lvl="1"/>
            <a:r>
              <a:rPr lang="en-US" dirty="0"/>
              <a:t>Physical world	</a:t>
            </a:r>
          </a:p>
          <a:p>
            <a:pPr lvl="2"/>
            <a:r>
              <a:rPr lang="en-US" dirty="0"/>
              <a:t>Use building construction and floor space design</a:t>
            </a:r>
          </a:p>
          <a:p>
            <a:pPr lvl="1"/>
            <a:r>
              <a:rPr lang="en-US" dirty="0"/>
              <a:t>Online firm</a:t>
            </a:r>
          </a:p>
          <a:p>
            <a:pPr lvl="2"/>
            <a:r>
              <a:rPr lang="en-US" dirty="0"/>
              <a:t>No physical presence</a:t>
            </a:r>
          </a:p>
          <a:p>
            <a:pPr lvl="2"/>
            <a:r>
              <a:rPr lang="en-US" dirty="0"/>
              <a:t>Customer contact through media and Web site</a:t>
            </a:r>
          </a:p>
          <a:p>
            <a:pPr lvl="2"/>
            <a:r>
              <a:rPr lang="en-US" dirty="0"/>
              <a:t>Communications media selection is critical</a:t>
            </a:r>
          </a:p>
          <a:p>
            <a:pPr lvl="1"/>
            <a:r>
              <a:rPr lang="en-US" dirty="0"/>
              <a:t>Online firm challenge</a:t>
            </a:r>
          </a:p>
          <a:p>
            <a:pPr lvl="2"/>
            <a:r>
              <a:rPr lang="en-US" dirty="0"/>
              <a:t>Customer trust with no physical presence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Marketing basics</a:t>
            </a:r>
            <a:endParaRPr/>
          </a:p>
        </p:txBody>
      </p:sp>
      <p:sp>
        <p:nvSpPr>
          <p:cNvPr id="119" name="Google Shape;119;p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Trust and communication media</a:t>
            </a:r>
            <a:endParaRPr/>
          </a:p>
          <a:p>
            <a:pPr marL="342900" indent="-88900">
              <a:spcBef>
                <a:spcPts val="440"/>
              </a:spcBef>
              <a:buSzPts val="2200"/>
              <a:buNone/>
            </a:pPr>
            <a:endParaRPr/>
          </a:p>
          <a:p>
            <a:pPr marL="342900" indent="-88900">
              <a:spcBef>
                <a:spcPts val="440"/>
              </a:spcBef>
              <a:buSzPts val="2200"/>
              <a:buNone/>
            </a:pPr>
            <a:endParaRPr/>
          </a:p>
        </p:txBody>
      </p:sp>
      <p:pic>
        <p:nvPicPr>
          <p:cNvPr id="3" name="Picture 2">
            <a:extLst>
              <a:ext uri="{FF2B5EF4-FFF2-40B4-BE49-F238E27FC236}">
                <a16:creationId xmlns:a16="http://schemas.microsoft.com/office/drawing/2014/main" id="{4F08EA87-0DD3-E35D-AF5B-2BB07406206D}"/>
              </a:ext>
            </a:extLst>
          </p:cNvPr>
          <p:cNvPicPr>
            <a:picLocks noChangeAspect="1"/>
          </p:cNvPicPr>
          <p:nvPr/>
        </p:nvPicPr>
        <p:blipFill>
          <a:blip r:embed="rId3"/>
          <a:stretch>
            <a:fillRect/>
          </a:stretch>
        </p:blipFill>
        <p:spPr>
          <a:xfrm>
            <a:off x="1542635" y="1756087"/>
            <a:ext cx="8830091" cy="49135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p:txBody>
          <a:bodyPr/>
          <a:lstStyle/>
          <a:p>
            <a:r>
              <a:rPr lang="en-US"/>
              <a:t>Market segmentation</a:t>
            </a:r>
          </a:p>
        </p:txBody>
      </p:sp>
      <p:sp>
        <p:nvSpPr>
          <p:cNvPr id="127" name="Google Shape;127;p6"/>
          <p:cNvSpPr txBox="1">
            <a:spLocks noGrp="1"/>
          </p:cNvSpPr>
          <p:nvPr>
            <p:ph idx="1"/>
          </p:nvPr>
        </p:nvSpPr>
        <p:spPr/>
        <p:txBody>
          <a:bodyPr/>
          <a:lstStyle/>
          <a:p>
            <a:r>
              <a:rPr lang="en-US" dirty="0"/>
              <a:t>Market segmentation: divides the pool of potential customers into groups or segments</a:t>
            </a:r>
          </a:p>
          <a:p>
            <a:r>
              <a:rPr lang="en-US" dirty="0"/>
              <a:t>Identify specific portions of their markets and target them with specific advertising messages</a:t>
            </a:r>
          </a:p>
          <a:p>
            <a:pPr lvl="1"/>
            <a:r>
              <a:rPr lang="en-US" dirty="0"/>
              <a:t>Geographic segmentation</a:t>
            </a:r>
          </a:p>
          <a:p>
            <a:pPr lvl="1"/>
            <a:r>
              <a:rPr lang="en-US" dirty="0"/>
              <a:t>Demographic segmentation</a:t>
            </a:r>
          </a:p>
          <a:p>
            <a:pPr lvl="1"/>
            <a:r>
              <a:rPr lang="en-US" dirty="0"/>
              <a:t>Behavioral segmentation</a:t>
            </a:r>
          </a:p>
          <a:p>
            <a:pPr lvl="1"/>
            <a:r>
              <a:rPr lang="en-US" dirty="0"/>
              <a:t>Psychographic segmentation</a:t>
            </a:r>
          </a:p>
          <a:p>
            <a:endParaRPr lang="en-US" dirty="0"/>
          </a:p>
        </p:txBody>
      </p:sp>
      <p:pic>
        <p:nvPicPr>
          <p:cNvPr id="1026" name="Picture 2" descr="Market segment là tập hợp một nhóm đối tượng có những đặc điểm chung">
            <a:extLst>
              <a:ext uri="{FF2B5EF4-FFF2-40B4-BE49-F238E27FC236}">
                <a16:creationId xmlns:a16="http://schemas.microsoft.com/office/drawing/2014/main" id="{F0382652-7770-95A5-C91A-83DA03AEB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9810" y="2930801"/>
            <a:ext cx="5408464" cy="3643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p:txBody>
          <a:bodyPr/>
          <a:lstStyle/>
          <a:p>
            <a:r>
              <a:rPr lang="en-US" dirty="0"/>
              <a:t>Internet users segmentation</a:t>
            </a:r>
          </a:p>
        </p:txBody>
      </p:sp>
      <p:pic>
        <p:nvPicPr>
          <p:cNvPr id="5" name="Picture 4">
            <a:extLst>
              <a:ext uri="{FF2B5EF4-FFF2-40B4-BE49-F238E27FC236}">
                <a16:creationId xmlns:a16="http://schemas.microsoft.com/office/drawing/2014/main" id="{99783D03-391E-AEC5-558A-13E5828F1FA0}"/>
              </a:ext>
            </a:extLst>
          </p:cNvPr>
          <p:cNvPicPr>
            <a:picLocks noChangeAspect="1"/>
          </p:cNvPicPr>
          <p:nvPr/>
        </p:nvPicPr>
        <p:blipFill>
          <a:blip r:embed="rId3"/>
          <a:stretch>
            <a:fillRect/>
          </a:stretch>
        </p:blipFill>
        <p:spPr>
          <a:xfrm>
            <a:off x="544995" y="1162049"/>
            <a:ext cx="10256355" cy="5558427"/>
          </a:xfrm>
          <a:prstGeom prst="rect">
            <a:avLst/>
          </a:prstGeom>
        </p:spPr>
      </p:pic>
    </p:spTree>
    <p:extLst>
      <p:ext uri="{BB962C8B-B14F-4D97-AF65-F5344CB8AC3E}">
        <p14:creationId xmlns:p14="http://schemas.microsoft.com/office/powerpoint/2010/main" val="671075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p:txBody>
          <a:bodyPr/>
          <a:lstStyle/>
          <a:p>
            <a:r>
              <a:rPr lang="en-US"/>
              <a:t>Market segmentation</a:t>
            </a:r>
          </a:p>
        </p:txBody>
      </p:sp>
      <p:pic>
        <p:nvPicPr>
          <p:cNvPr id="3" name="Picture 2">
            <a:extLst>
              <a:ext uri="{FF2B5EF4-FFF2-40B4-BE49-F238E27FC236}">
                <a16:creationId xmlns:a16="http://schemas.microsoft.com/office/drawing/2014/main" id="{CA099B5B-3D60-57AE-5F52-2869E190F5C4}"/>
              </a:ext>
            </a:extLst>
          </p:cNvPr>
          <p:cNvPicPr>
            <a:picLocks noChangeAspect="1"/>
          </p:cNvPicPr>
          <p:nvPr/>
        </p:nvPicPr>
        <p:blipFill>
          <a:blip r:embed="rId3"/>
          <a:stretch>
            <a:fillRect/>
          </a:stretch>
        </p:blipFill>
        <p:spPr>
          <a:xfrm>
            <a:off x="442122" y="1685925"/>
            <a:ext cx="11146904" cy="4857749"/>
          </a:xfrm>
          <a:prstGeom prst="rect">
            <a:avLst/>
          </a:prstGeom>
        </p:spPr>
      </p:pic>
    </p:spTree>
    <p:extLst>
      <p:ext uri="{BB962C8B-B14F-4D97-AF65-F5344CB8AC3E}">
        <p14:creationId xmlns:p14="http://schemas.microsoft.com/office/powerpoint/2010/main" val="278414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Advertising on the web</a:t>
            </a:r>
            <a:endParaRPr/>
          </a:p>
        </p:txBody>
      </p:sp>
      <p:sp>
        <p:nvSpPr>
          <p:cNvPr id="134" name="Google Shape;134;p7"/>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Five-stage customer loyalty model</a:t>
            </a:r>
            <a:endParaRPr/>
          </a:p>
          <a:p>
            <a:pPr marL="342900" indent="-88900">
              <a:spcBef>
                <a:spcPts val="440"/>
              </a:spcBef>
              <a:buSzPts val="2200"/>
              <a:buNone/>
            </a:pPr>
            <a:endParaRPr/>
          </a:p>
          <a:p>
            <a:pPr marL="640080" lvl="1" indent="-101600">
              <a:spcBef>
                <a:spcPts val="400"/>
              </a:spcBef>
              <a:buSzPts val="2000"/>
              <a:buNone/>
            </a:pPr>
            <a:endParaRPr/>
          </a:p>
        </p:txBody>
      </p:sp>
      <p:pic>
        <p:nvPicPr>
          <p:cNvPr id="135" name="Google Shape;135;p7" descr="Fig04-06"/>
          <p:cNvPicPr preferRelativeResize="0"/>
          <p:nvPr/>
        </p:nvPicPr>
        <p:blipFill rotWithShape="1">
          <a:blip r:embed="rId3">
            <a:alphaModFix/>
          </a:blip>
          <a:srcRect/>
          <a:stretch/>
        </p:blipFill>
        <p:spPr>
          <a:xfrm>
            <a:off x="2286000" y="2368550"/>
            <a:ext cx="7048500" cy="3651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8"/>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Advertising on the web</a:t>
            </a:r>
            <a:endParaRPr/>
          </a:p>
        </p:txBody>
      </p:sp>
      <p:sp>
        <p:nvSpPr>
          <p:cNvPr id="142" name="Google Shape;142;p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dirty="0"/>
              <a:t>Advertising: communication</a:t>
            </a:r>
            <a:endParaRPr dirty="0"/>
          </a:p>
          <a:p>
            <a:pPr marL="342900">
              <a:spcBef>
                <a:spcPts val="440"/>
              </a:spcBef>
              <a:buSzPts val="2200"/>
            </a:pPr>
            <a:r>
              <a:rPr lang="en-US" dirty="0"/>
              <a:t>Five-stage customer loyalty model</a:t>
            </a:r>
            <a:endParaRPr dirty="0"/>
          </a:p>
          <a:p>
            <a:pPr marL="640080" lvl="1">
              <a:spcBef>
                <a:spcPts val="400"/>
              </a:spcBef>
              <a:buSzPts val="2000"/>
            </a:pPr>
            <a:r>
              <a:rPr lang="en-US" dirty="0"/>
              <a:t>Awareness stage</a:t>
            </a:r>
            <a:endParaRPr dirty="0"/>
          </a:p>
          <a:p>
            <a:pPr marL="1005839" lvl="2">
              <a:spcBef>
                <a:spcPts val="360"/>
              </a:spcBef>
              <a:buSzPts val="1800"/>
            </a:pPr>
            <a:r>
              <a:rPr lang="en-US" dirty="0"/>
              <a:t>Advertising message should inform</a:t>
            </a:r>
            <a:endParaRPr dirty="0"/>
          </a:p>
          <a:p>
            <a:pPr marL="640080" lvl="1">
              <a:spcBef>
                <a:spcPts val="400"/>
              </a:spcBef>
              <a:buSzPts val="2000"/>
            </a:pPr>
            <a:r>
              <a:rPr lang="en-US" dirty="0"/>
              <a:t>Exploration stage</a:t>
            </a:r>
            <a:endParaRPr dirty="0"/>
          </a:p>
          <a:p>
            <a:pPr marL="1005839" lvl="2">
              <a:spcBef>
                <a:spcPts val="360"/>
              </a:spcBef>
              <a:buSzPts val="1800"/>
            </a:pPr>
            <a:r>
              <a:rPr lang="en-US" dirty="0"/>
              <a:t>Message should explain how product, service works</a:t>
            </a:r>
            <a:endParaRPr dirty="0"/>
          </a:p>
          <a:p>
            <a:pPr marL="1005839" lvl="2">
              <a:spcBef>
                <a:spcPts val="360"/>
              </a:spcBef>
              <a:buSzPts val="1800"/>
            </a:pPr>
            <a:r>
              <a:rPr lang="en-US" dirty="0"/>
              <a:t>Encourage switching brands</a:t>
            </a:r>
            <a:endParaRPr dirty="0"/>
          </a:p>
          <a:p>
            <a:pPr marL="640080" lvl="1">
              <a:spcBef>
                <a:spcPts val="400"/>
              </a:spcBef>
              <a:buSzPts val="2000"/>
            </a:pPr>
            <a:r>
              <a:rPr lang="en-US" dirty="0"/>
              <a:t>Familiarity stage</a:t>
            </a:r>
            <a:endParaRPr dirty="0"/>
          </a:p>
          <a:p>
            <a:pPr marL="1005839" lvl="2">
              <a:spcBef>
                <a:spcPts val="360"/>
              </a:spcBef>
              <a:buSzPts val="1800"/>
            </a:pPr>
            <a:r>
              <a:rPr lang="en-US" dirty="0"/>
              <a:t>Message should be persuasive</a:t>
            </a:r>
            <a:endParaRPr dirty="0"/>
          </a:p>
          <a:p>
            <a:pPr marL="640080" lvl="1">
              <a:spcBef>
                <a:spcPts val="400"/>
              </a:spcBef>
              <a:buSzPts val="2000"/>
            </a:pPr>
            <a:r>
              <a:rPr lang="en-US" dirty="0"/>
              <a:t>Commitment stage</a:t>
            </a:r>
            <a:endParaRPr dirty="0"/>
          </a:p>
          <a:p>
            <a:pPr marL="1005839" lvl="2">
              <a:spcBef>
                <a:spcPts val="360"/>
              </a:spcBef>
              <a:buSzPts val="1800"/>
            </a:pPr>
            <a:r>
              <a:rPr lang="en-US" dirty="0"/>
              <a:t>Reminder messages</a:t>
            </a:r>
            <a:endParaRPr dirty="0"/>
          </a:p>
          <a:p>
            <a:pPr marL="640080" lvl="1">
              <a:spcBef>
                <a:spcPts val="400"/>
              </a:spcBef>
              <a:buSzPts val="2000"/>
            </a:pPr>
            <a:r>
              <a:rPr lang="en-US" dirty="0"/>
              <a:t>Separation stage</a:t>
            </a:r>
            <a:endParaRPr dirty="0"/>
          </a:p>
          <a:p>
            <a:pPr marL="1005839" lvl="2">
              <a:spcBef>
                <a:spcPts val="360"/>
              </a:spcBef>
              <a:buSzPts val="1800"/>
            </a:pPr>
            <a:r>
              <a:rPr lang="en-US" dirty="0"/>
              <a:t>Not targeted</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6F4AF-29D3-4B43-6A16-98244C753B73}"/>
              </a:ext>
            </a:extLst>
          </p:cNvPr>
          <p:cNvSpPr>
            <a:spLocks noGrp="1"/>
          </p:cNvSpPr>
          <p:nvPr>
            <p:ph type="title"/>
          </p:nvPr>
        </p:nvSpPr>
        <p:spPr/>
        <p:txBody>
          <a:bodyPr/>
          <a:lstStyle/>
          <a:p>
            <a:r>
              <a:rPr lang="en-US" dirty="0"/>
              <a:t>Customer Acquisition: The Funnel Model</a:t>
            </a:r>
          </a:p>
        </p:txBody>
      </p:sp>
      <p:sp>
        <p:nvSpPr>
          <p:cNvPr id="3" name="Content Placeholder 2">
            <a:extLst>
              <a:ext uri="{FF2B5EF4-FFF2-40B4-BE49-F238E27FC236}">
                <a16:creationId xmlns:a16="http://schemas.microsoft.com/office/drawing/2014/main" id="{C444310C-7BFB-BC07-CE48-B569CC15304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D619A0C-DE35-98F4-5E27-274430EC001A}"/>
              </a:ext>
            </a:extLst>
          </p:cNvPr>
          <p:cNvPicPr>
            <a:picLocks noChangeAspect="1"/>
          </p:cNvPicPr>
          <p:nvPr/>
        </p:nvPicPr>
        <p:blipFill>
          <a:blip r:embed="rId2"/>
          <a:stretch>
            <a:fillRect/>
          </a:stretch>
        </p:blipFill>
        <p:spPr>
          <a:xfrm>
            <a:off x="1747837" y="1212573"/>
            <a:ext cx="8096250" cy="4819650"/>
          </a:xfrm>
          <a:prstGeom prst="rect">
            <a:avLst/>
          </a:prstGeom>
        </p:spPr>
      </p:pic>
    </p:spTree>
    <p:extLst>
      <p:ext uri="{BB962C8B-B14F-4D97-AF65-F5344CB8AC3E}">
        <p14:creationId xmlns:p14="http://schemas.microsoft.com/office/powerpoint/2010/main" val="2621040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dirty="0"/>
              <a:t>Advertising on the web: Display Ads</a:t>
            </a:r>
            <a:endParaRPr dirty="0"/>
          </a:p>
        </p:txBody>
      </p:sp>
      <p:sp>
        <p:nvSpPr>
          <p:cNvPr id="149" name="Google Shape;149;p9"/>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dirty="0"/>
              <a:t>Banner</a:t>
            </a:r>
            <a:r>
              <a:rPr lang="en-US" b="1" dirty="0"/>
              <a:t> </a:t>
            </a:r>
            <a:r>
              <a:rPr lang="en-US" dirty="0"/>
              <a:t>ad</a:t>
            </a:r>
            <a:r>
              <a:rPr lang="en-US" b="1" dirty="0"/>
              <a:t> </a:t>
            </a:r>
            <a:endParaRPr dirty="0"/>
          </a:p>
          <a:p>
            <a:pPr marL="640080" lvl="1">
              <a:spcBef>
                <a:spcPts val="400"/>
              </a:spcBef>
              <a:buSzPts val="2000"/>
            </a:pPr>
            <a:r>
              <a:rPr lang="en-US" dirty="0"/>
              <a:t>Small rectangular object on Web page</a:t>
            </a:r>
            <a:endParaRPr dirty="0"/>
          </a:p>
          <a:p>
            <a:pPr marL="640080" lvl="1">
              <a:spcBef>
                <a:spcPts val="400"/>
              </a:spcBef>
              <a:buSzPts val="2000"/>
            </a:pPr>
            <a:r>
              <a:rPr lang="en-US" dirty="0"/>
              <a:t>Displays stationary or moving graphic</a:t>
            </a:r>
            <a:endParaRPr dirty="0"/>
          </a:p>
          <a:p>
            <a:pPr marL="640080" lvl="1">
              <a:spcBef>
                <a:spcPts val="400"/>
              </a:spcBef>
              <a:buSzPts val="2000"/>
            </a:pPr>
            <a:r>
              <a:rPr lang="en-US" dirty="0"/>
              <a:t>Includes hyperlink to advertiser’s Web site</a:t>
            </a:r>
            <a:endParaRPr dirty="0"/>
          </a:p>
          <a:p>
            <a:pPr marL="640080" lvl="1">
              <a:spcBef>
                <a:spcPts val="400"/>
              </a:spcBef>
              <a:buSzPts val="2000"/>
            </a:pPr>
            <a:r>
              <a:rPr lang="en-US" dirty="0"/>
              <a:t>Versatile</a:t>
            </a:r>
            <a:endParaRPr dirty="0"/>
          </a:p>
          <a:p>
            <a:pPr marL="640080" lvl="1">
              <a:spcBef>
                <a:spcPts val="400"/>
              </a:spcBef>
              <a:buSzPts val="2000"/>
            </a:pPr>
            <a:r>
              <a:rPr lang="en-US" dirty="0"/>
              <a:t>Leaderboard ad: designed to span Web page top or bottom</a:t>
            </a:r>
            <a:endParaRPr dirty="0"/>
          </a:p>
          <a:p>
            <a:pPr marL="640080" lvl="1">
              <a:spcBef>
                <a:spcPts val="400"/>
              </a:spcBef>
              <a:buSzPts val="2000"/>
            </a:pPr>
            <a:r>
              <a:rPr lang="en-US" dirty="0"/>
              <a:t>Skyscraper ad: designed to be placed on Web page side =&gt; Remains visible as user scrolls through page</a:t>
            </a:r>
            <a:endParaRPr dirty="0"/>
          </a:p>
          <a:p>
            <a:pPr marL="640080" lvl="1">
              <a:spcBef>
                <a:spcPts val="400"/>
              </a:spcBef>
              <a:buSzPts val="2000"/>
            </a:pPr>
            <a:r>
              <a:rPr lang="en-US" dirty="0"/>
              <a:t>Banner ad placement</a:t>
            </a:r>
            <a:endParaRPr dirty="0"/>
          </a:p>
          <a:p>
            <a:pPr marL="1005839" lvl="2">
              <a:spcBef>
                <a:spcPts val="360"/>
              </a:spcBef>
              <a:buSzPts val="1800"/>
            </a:pPr>
            <a:r>
              <a:rPr lang="en-US" dirty="0"/>
              <a:t>Use a banner exchange network</a:t>
            </a:r>
            <a:endParaRPr dirty="0"/>
          </a:p>
          <a:p>
            <a:pPr marL="1005839" lvl="2">
              <a:spcBef>
                <a:spcPts val="360"/>
              </a:spcBef>
              <a:buSzPts val="1800"/>
            </a:pPr>
            <a:r>
              <a:rPr lang="en-US" dirty="0"/>
              <a:t>Pay sites to carry ad</a:t>
            </a:r>
            <a:endParaRPr dirty="0"/>
          </a:p>
          <a:p>
            <a:pPr marL="1005839" lvl="2">
              <a:spcBef>
                <a:spcPts val="360"/>
              </a:spcBef>
              <a:buSzPts val="1800"/>
            </a:pPr>
            <a:r>
              <a:rPr lang="en-US" dirty="0"/>
              <a:t>Use a banner advertising network</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p:nvPr>
        </p:nvSpPr>
        <p:spPr/>
        <p:txBody>
          <a:bodyPr/>
          <a:lstStyle/>
          <a:p>
            <a:r>
              <a:rPr lang="en-US"/>
              <a:t>Advertising on the web</a:t>
            </a:r>
          </a:p>
        </p:txBody>
      </p:sp>
      <p:sp>
        <p:nvSpPr>
          <p:cNvPr id="156" name="Google Shape;156;p10"/>
          <p:cNvSpPr txBox="1">
            <a:spLocks noGrp="1"/>
          </p:cNvSpPr>
          <p:nvPr>
            <p:ph idx="1"/>
          </p:nvPr>
        </p:nvSpPr>
        <p:spPr/>
        <p:txBody>
          <a:bodyPr/>
          <a:lstStyle/>
          <a:p>
            <a:r>
              <a:rPr lang="en-US" dirty="0"/>
              <a:t>Text ads</a:t>
            </a:r>
          </a:p>
          <a:p>
            <a:pPr lvl="1"/>
            <a:r>
              <a:rPr lang="en-US" dirty="0"/>
              <a:t>Short promotional message</a:t>
            </a:r>
          </a:p>
          <a:p>
            <a:pPr lvl="1"/>
            <a:r>
              <a:rPr lang="en-US" dirty="0"/>
              <a:t>Usually placed along Web page top or right side</a:t>
            </a:r>
          </a:p>
          <a:p>
            <a:pPr lvl="1"/>
            <a:r>
              <a:rPr lang="en-US" dirty="0"/>
              <a:t>Simple but very effective</a:t>
            </a:r>
          </a:p>
          <a:p>
            <a:r>
              <a:rPr lang="en-US" dirty="0"/>
              <a:t>Pop-up ad</a:t>
            </a:r>
          </a:p>
          <a:p>
            <a:pPr lvl="1"/>
            <a:r>
              <a:rPr lang="en-US" dirty="0"/>
              <a:t>Appears in its own window</a:t>
            </a:r>
          </a:p>
          <a:p>
            <a:pPr lvl="1"/>
            <a:r>
              <a:rPr lang="en-US" dirty="0"/>
              <a:t>Extremely annoying</a:t>
            </a:r>
          </a:p>
          <a:p>
            <a:pPr lvl="1"/>
            <a:r>
              <a:rPr lang="en-US" dirty="0"/>
              <a:t>Ad-blocking software: Prevents banner ads and pop-up ads from loading</a:t>
            </a:r>
          </a:p>
          <a:p>
            <a:r>
              <a:rPr lang="en-US" dirty="0"/>
              <a:t>Rich media ads (active ads)</a:t>
            </a:r>
          </a:p>
          <a:p>
            <a:pPr lvl="1"/>
            <a:r>
              <a:rPr lang="en-US" dirty="0"/>
              <a:t>Generate graphical activity that “floats” over the Web page itself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Advertising on the web</a:t>
            </a:r>
            <a:endParaRPr/>
          </a:p>
        </p:txBody>
      </p:sp>
      <p:sp>
        <p:nvSpPr>
          <p:cNvPr id="163" name="Google Shape;163;p11"/>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dirty="0"/>
              <a:t>Online advertising cost</a:t>
            </a:r>
            <a:endParaRPr dirty="0"/>
          </a:p>
          <a:p>
            <a:pPr marL="640080" lvl="1">
              <a:spcBef>
                <a:spcPts val="400"/>
              </a:spcBef>
              <a:buSzPts val="2000"/>
            </a:pPr>
            <a:r>
              <a:rPr lang="en-US" dirty="0"/>
              <a:t>Cost per thousand (CPM): amount paid for every thousand people in the estimated audience</a:t>
            </a:r>
            <a:endParaRPr dirty="0"/>
          </a:p>
          <a:p>
            <a:pPr marL="1005839" lvl="2">
              <a:spcBef>
                <a:spcPts val="360"/>
              </a:spcBef>
              <a:buSzPts val="1800"/>
            </a:pPr>
            <a:r>
              <a:rPr lang="en-US" dirty="0"/>
              <a:t>“M” from Roman numeral for “thousand”</a:t>
            </a:r>
            <a:endParaRPr dirty="0"/>
          </a:p>
          <a:p>
            <a:pPr marL="548639" lvl="1">
              <a:spcBef>
                <a:spcPts val="360"/>
              </a:spcBef>
              <a:buSzPts val="1800"/>
            </a:pPr>
            <a:r>
              <a:rPr lang="en-US" dirty="0"/>
              <a:t>Cost per click (CPC), in which the site monitors the number of visitors who click an ad and charges for each click.</a:t>
            </a:r>
            <a:endParaRPr dirty="0"/>
          </a:p>
          <a:p>
            <a:pPr marL="640080" lvl="1">
              <a:spcBef>
                <a:spcPts val="400"/>
              </a:spcBef>
              <a:buSzPts val="2000"/>
            </a:pPr>
            <a:r>
              <a:rPr lang="en-US" dirty="0"/>
              <a:t>Measuring Web audiences (complicated)</a:t>
            </a:r>
            <a:endParaRPr dirty="0"/>
          </a:p>
          <a:p>
            <a:pPr marL="1005839" lvl="2">
              <a:spcBef>
                <a:spcPts val="360"/>
              </a:spcBef>
              <a:buSzPts val="1800"/>
            </a:pPr>
            <a:r>
              <a:rPr lang="en-US" dirty="0"/>
              <a:t>Web’s interactivity</a:t>
            </a:r>
            <a:endParaRPr dirty="0"/>
          </a:p>
          <a:p>
            <a:pPr marL="1005839" lvl="2">
              <a:spcBef>
                <a:spcPts val="360"/>
              </a:spcBef>
              <a:buSzPts val="1800"/>
            </a:pPr>
            <a:r>
              <a:rPr lang="en-US" dirty="0"/>
              <a:t>Value of visitor to an advertiser</a:t>
            </a:r>
            <a:endParaRPr dirty="0"/>
          </a:p>
          <a:p>
            <a:pPr marL="342900" indent="-88900">
              <a:spcBef>
                <a:spcPts val="440"/>
              </a:spcBef>
              <a:buSzPts val="22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2"/>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Advertising on the web</a:t>
            </a:r>
            <a:endParaRPr/>
          </a:p>
        </p:txBody>
      </p:sp>
      <p:sp>
        <p:nvSpPr>
          <p:cNvPr id="170" name="Google Shape;170;p12"/>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Some popular metrics</a:t>
            </a:r>
            <a:endParaRPr/>
          </a:p>
          <a:p>
            <a:pPr marL="640080" lvl="1">
              <a:spcBef>
                <a:spcPts val="400"/>
              </a:spcBef>
              <a:buSzPts val="2000"/>
            </a:pPr>
            <a:r>
              <a:rPr lang="en-US"/>
              <a:t>Visit: occurs when visitor requests a page from Web site</a:t>
            </a:r>
            <a:endParaRPr/>
          </a:p>
          <a:p>
            <a:pPr marL="640080" lvl="1">
              <a:spcBef>
                <a:spcPts val="400"/>
              </a:spcBef>
              <a:buSzPts val="2000"/>
            </a:pPr>
            <a:r>
              <a:rPr lang="en-US"/>
              <a:t>Trial visit: first time a particular visitor loads Web site page</a:t>
            </a:r>
            <a:endParaRPr/>
          </a:p>
          <a:p>
            <a:pPr marL="640080" lvl="1">
              <a:spcBef>
                <a:spcPts val="400"/>
              </a:spcBef>
              <a:buSzPts val="2000"/>
            </a:pPr>
            <a:r>
              <a:rPr lang="en-US"/>
              <a:t>Repeat visits: subsequent page loads</a:t>
            </a:r>
            <a:endParaRPr/>
          </a:p>
          <a:p>
            <a:pPr marL="640080" lvl="1">
              <a:spcBef>
                <a:spcPts val="400"/>
              </a:spcBef>
              <a:buSzPts val="2000"/>
            </a:pPr>
            <a:r>
              <a:rPr lang="en-US"/>
              <a:t>Ad view: occurs if page contains an ad</a:t>
            </a:r>
            <a:endParaRPr/>
          </a:p>
          <a:p>
            <a:pPr marL="640080" lvl="1">
              <a:spcBef>
                <a:spcPts val="400"/>
              </a:spcBef>
              <a:buSzPts val="2000"/>
            </a:pPr>
            <a:r>
              <a:rPr lang="en-US"/>
              <a:t>Impression: each time banner ad loads</a:t>
            </a:r>
            <a:endParaRPr/>
          </a:p>
          <a:p>
            <a:pPr marL="640080" lvl="1">
              <a:spcBef>
                <a:spcPts val="400"/>
              </a:spcBef>
              <a:buSzPts val="2000"/>
            </a:pPr>
            <a:r>
              <a:rPr lang="en-US"/>
              <a:t>Click (click-through): action whereby visitor clicks banner ad to open advertiser’s page</a:t>
            </a:r>
            <a:endParaRPr/>
          </a:p>
          <a:p>
            <a:pPr marL="342900" indent="-88900">
              <a:spcBef>
                <a:spcPts val="440"/>
              </a:spcBef>
              <a:buSzPts val="22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3"/>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Advertising on the web</a:t>
            </a:r>
            <a:endParaRPr/>
          </a:p>
        </p:txBody>
      </p:sp>
      <p:pic>
        <p:nvPicPr>
          <p:cNvPr id="177" name="Google Shape;177;p13" descr="Fig04-09"/>
          <p:cNvPicPr preferRelativeResize="0">
            <a:picLocks noGrp="1"/>
          </p:cNvPicPr>
          <p:nvPr>
            <p:ph idx="1"/>
          </p:nvPr>
        </p:nvPicPr>
        <p:blipFill rotWithShape="1">
          <a:blip r:embed="rId3">
            <a:alphaModFix/>
          </a:blip>
          <a:stretch/>
        </p:blipFill>
        <p:spPr>
          <a:xfrm>
            <a:off x="2471738" y="1212850"/>
            <a:ext cx="6278065" cy="55076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4"/>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Search engine positioning and domain name</a:t>
            </a:r>
            <a:endParaRPr/>
          </a:p>
        </p:txBody>
      </p:sp>
      <p:sp>
        <p:nvSpPr>
          <p:cNvPr id="184" name="Google Shape;184;p14"/>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dirty="0"/>
              <a:t>Ways that potential customers find Web sites </a:t>
            </a:r>
            <a:endParaRPr dirty="0"/>
          </a:p>
          <a:p>
            <a:pPr marL="640080" lvl="1">
              <a:spcBef>
                <a:spcPts val="400"/>
              </a:spcBef>
              <a:buSzPts val="2000"/>
            </a:pPr>
            <a:r>
              <a:rPr lang="en-US" dirty="0"/>
              <a:t>Referred by friend</a:t>
            </a:r>
            <a:endParaRPr dirty="0"/>
          </a:p>
          <a:p>
            <a:pPr marL="640080" lvl="1">
              <a:spcBef>
                <a:spcPts val="400"/>
              </a:spcBef>
              <a:buSzPts val="2000"/>
            </a:pPr>
            <a:r>
              <a:rPr lang="en-US" dirty="0"/>
              <a:t>Referred by affiliate marketing partner</a:t>
            </a:r>
            <a:endParaRPr dirty="0"/>
          </a:p>
          <a:p>
            <a:pPr marL="640080" lvl="1">
              <a:spcBef>
                <a:spcPts val="400"/>
              </a:spcBef>
              <a:buSzPts val="2000"/>
            </a:pPr>
            <a:r>
              <a:rPr lang="en-US" dirty="0"/>
              <a:t>See site’s URL in print advertisement, television</a:t>
            </a:r>
            <a:endParaRPr dirty="0"/>
          </a:p>
          <a:p>
            <a:pPr marL="640080" lvl="1">
              <a:spcBef>
                <a:spcPts val="400"/>
              </a:spcBef>
              <a:buSzPts val="2000"/>
            </a:pPr>
            <a:r>
              <a:rPr lang="en-US" dirty="0"/>
              <a:t>Arrive unintentionally after mistyping similar URL</a:t>
            </a:r>
            <a:endParaRPr dirty="0"/>
          </a:p>
          <a:p>
            <a:pPr marL="640080" lvl="1">
              <a:spcBef>
                <a:spcPts val="400"/>
              </a:spcBef>
              <a:buSzPts val="2000"/>
            </a:pPr>
            <a:r>
              <a:rPr lang="en-US" dirty="0"/>
              <a:t>Use a search engine or directory Web site</a:t>
            </a:r>
            <a:endParaRPr dirty="0"/>
          </a:p>
          <a:p>
            <a:pPr marL="342900" indent="-88900">
              <a:spcBef>
                <a:spcPts val="440"/>
              </a:spcBef>
              <a:buSzPts val="220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Search engine positioning and domain name</a:t>
            </a:r>
            <a:endParaRPr/>
          </a:p>
        </p:txBody>
      </p:sp>
      <p:sp>
        <p:nvSpPr>
          <p:cNvPr id="191" name="Google Shape;191;p15"/>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Search engine</a:t>
            </a:r>
            <a:endParaRPr/>
          </a:p>
          <a:p>
            <a:pPr marL="640080" lvl="1">
              <a:spcBef>
                <a:spcPts val="400"/>
              </a:spcBef>
              <a:buSzPts val="2000"/>
            </a:pPr>
            <a:r>
              <a:rPr lang="en-US"/>
              <a:t>Web site that helps people find things on the Web</a:t>
            </a:r>
            <a:endParaRPr/>
          </a:p>
          <a:p>
            <a:pPr marL="640080" lvl="1">
              <a:spcBef>
                <a:spcPts val="400"/>
              </a:spcBef>
              <a:buSzPts val="2000"/>
            </a:pPr>
            <a:r>
              <a:rPr lang="en-US"/>
              <a:t>Contains three major parts</a:t>
            </a:r>
            <a:endParaRPr/>
          </a:p>
          <a:p>
            <a:pPr marL="1005839" lvl="2">
              <a:spcBef>
                <a:spcPts val="360"/>
              </a:spcBef>
              <a:buSzPts val="1800"/>
            </a:pPr>
            <a:r>
              <a:rPr lang="en-US"/>
              <a:t>Spider (crawler, robot, bot): program automatically searches the Web to find potentially interesting Web pages for people</a:t>
            </a:r>
            <a:endParaRPr/>
          </a:p>
          <a:p>
            <a:pPr marL="1005839" lvl="2">
              <a:spcBef>
                <a:spcPts val="360"/>
              </a:spcBef>
              <a:buSzPts val="1800"/>
            </a:pPr>
            <a:r>
              <a:rPr lang="en-US"/>
              <a:t>Index (database): storage element of search engine</a:t>
            </a:r>
            <a:endParaRPr/>
          </a:p>
          <a:p>
            <a:pPr marL="1005839" lvl="2">
              <a:spcBef>
                <a:spcPts val="360"/>
              </a:spcBef>
              <a:buSzPts val="1800"/>
            </a:pPr>
            <a:r>
              <a:rPr lang="en-US"/>
              <a:t>Search utility: takes terms, finds matching Web page entries in index</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6"/>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Search engine positioning and domain name</a:t>
            </a:r>
            <a:endParaRPr/>
          </a:p>
        </p:txBody>
      </p:sp>
      <p:sp>
        <p:nvSpPr>
          <p:cNvPr id="198" name="Google Shape;198;p16"/>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Search engine ranking</a:t>
            </a:r>
            <a:endParaRPr/>
          </a:p>
          <a:p>
            <a:pPr marL="640080" lvl="1">
              <a:spcBef>
                <a:spcPts val="400"/>
              </a:spcBef>
              <a:buSzPts val="2000"/>
            </a:pPr>
            <a:r>
              <a:rPr lang="en-US"/>
              <a:t>Weighting of factors: factors to decide URLs that appear first on searches for a particular search term</a:t>
            </a:r>
            <a:endParaRPr/>
          </a:p>
          <a:p>
            <a:pPr marL="342900">
              <a:spcBef>
                <a:spcPts val="440"/>
              </a:spcBef>
              <a:buSzPts val="2200"/>
            </a:pPr>
            <a:r>
              <a:rPr lang="en-US"/>
              <a:t>Search engine positioning (search engine optimization, search engine placement)</a:t>
            </a:r>
            <a:endParaRPr/>
          </a:p>
          <a:p>
            <a:pPr marL="640080" lvl="1">
              <a:spcBef>
                <a:spcPts val="400"/>
              </a:spcBef>
              <a:buSzPts val="2000"/>
            </a:pPr>
            <a:r>
              <a:rPr lang="en-US"/>
              <a:t>Results from the combined art and science of having a particular URL listed near the top of search engine</a:t>
            </a:r>
            <a:endParaRPr/>
          </a:p>
          <a:p>
            <a:pPr marL="342900">
              <a:spcBef>
                <a:spcPts val="440"/>
              </a:spcBef>
              <a:buSzPts val="2200"/>
            </a:pPr>
            <a:r>
              <a:rPr lang="en-US"/>
              <a:t>Paid placement (sponsorship, search term sponsorship)</a:t>
            </a:r>
            <a:endParaRPr/>
          </a:p>
          <a:p>
            <a:pPr marL="640080" lvl="1">
              <a:spcBef>
                <a:spcPts val="400"/>
              </a:spcBef>
              <a:buSzPts val="2000"/>
            </a:pPr>
            <a:r>
              <a:rPr lang="en-US"/>
              <a:t>Option of purchasing top listing on results pages for a particular set of search terms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Search engine positioning and domain name</a:t>
            </a:r>
            <a:endParaRPr/>
          </a:p>
        </p:txBody>
      </p:sp>
      <p:sp>
        <p:nvSpPr>
          <p:cNvPr id="205" name="Google Shape;205;p17"/>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Website naming issues</a:t>
            </a:r>
            <a:endParaRPr/>
          </a:p>
          <a:p>
            <a:pPr marL="640080" lvl="1">
              <a:spcBef>
                <a:spcPts val="400"/>
              </a:spcBef>
              <a:buSzPts val="2000"/>
            </a:pPr>
            <a:r>
              <a:rPr lang="en-US"/>
              <a:t>Companies would like URLs for their Web sites to reflect name or reputation</a:t>
            </a:r>
            <a:endParaRPr/>
          </a:p>
          <a:p>
            <a:pPr marL="640080" lvl="1">
              <a:spcBef>
                <a:spcPts val="400"/>
              </a:spcBef>
              <a:buSzPts val="2000"/>
            </a:pPr>
            <a:r>
              <a:rPr lang="en-US"/>
              <a:t>Troublesome domain names</a:t>
            </a:r>
            <a:endParaRPr/>
          </a:p>
          <a:p>
            <a:pPr marL="1005839" lvl="2">
              <a:spcBef>
                <a:spcPts val="360"/>
              </a:spcBef>
              <a:buSzPts val="1800"/>
            </a:pPr>
            <a:r>
              <a:rPr lang="en-US"/>
              <a:t>Purchase more suitable domain names</a:t>
            </a:r>
            <a:endParaRPr/>
          </a:p>
          <a:p>
            <a:pPr marL="640080" lvl="1">
              <a:spcBef>
                <a:spcPts val="400"/>
              </a:spcBef>
              <a:buSzPts val="2000"/>
            </a:pPr>
            <a:r>
              <a:rPr lang="en-US"/>
              <a:t>Companies often buy more than one domain name</a:t>
            </a:r>
            <a:endParaRPr/>
          </a:p>
          <a:p>
            <a:pPr marL="1005839" lvl="2">
              <a:spcBef>
                <a:spcPts val="360"/>
              </a:spcBef>
              <a:buSzPts val="1800"/>
            </a:pPr>
            <a:r>
              <a:rPr lang="en-US"/>
              <a:t>In case user misspells URL: redirected to intended site</a:t>
            </a:r>
            <a:endParaRPr/>
          </a:p>
          <a:p>
            <a:pPr marL="1005839" lvl="2">
              <a:spcBef>
                <a:spcPts val="360"/>
              </a:spcBef>
              <a:buSzPts val="1800"/>
            </a:pPr>
            <a:r>
              <a:rPr lang="en-US"/>
              <a:t>Have different names or forms of names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8"/>
          <p:cNvSpPr txBox="1">
            <a:spLocks noGrp="1"/>
          </p:cNvSpPr>
          <p:nvPr>
            <p:ph type="title"/>
          </p:nvPr>
        </p:nvSpPr>
        <p:spPr>
          <a:prstGeom prst="rect">
            <a:avLst/>
          </a:prstGeom>
          <a:noFill/>
          <a:ln>
            <a:noFill/>
          </a:ln>
        </p:spPr>
        <p:txBody>
          <a:bodyPr spcFirstLastPara="1" vert="horz" wrap="square" lIns="91425" tIns="45700" rIns="91425" bIns="45700" rtlCol="0" anchor="ctr" anchorCtr="0">
            <a:noAutofit/>
          </a:bodyPr>
          <a:lstStyle/>
          <a:p>
            <a:pPr>
              <a:spcBef>
                <a:spcPts val="0"/>
              </a:spcBef>
              <a:buClr>
                <a:schemeClr val="dk2"/>
              </a:buClr>
              <a:buSzPts val="4600"/>
            </a:pPr>
            <a:r>
              <a:rPr lang="en-US"/>
              <a:t>Search engine positioning and domain name</a:t>
            </a:r>
            <a:endParaRPr/>
          </a:p>
        </p:txBody>
      </p:sp>
      <p:sp>
        <p:nvSpPr>
          <p:cNvPr id="212" name="Google Shape;212;p18"/>
          <p:cNvSpPr txBox="1">
            <a:spLocks noGrp="1"/>
          </p:cNvSpPr>
          <p:nvPr>
            <p:ph idx="1"/>
          </p:nvPr>
        </p:nvSpPr>
        <p:spPr>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200"/>
            </a:pPr>
            <a:r>
              <a:rPr lang="en-US"/>
              <a:t>Buying, selling, and leasing domain names</a:t>
            </a:r>
            <a:endParaRPr/>
          </a:p>
          <a:p>
            <a:pPr marL="640080" lvl="1">
              <a:spcBef>
                <a:spcPts val="400"/>
              </a:spcBef>
              <a:buSzPts val="2000"/>
            </a:pPr>
            <a:r>
              <a:rPr lang="en-US"/>
              <a:t>Recently, higher prices have prevailed in the market for domain names</a:t>
            </a:r>
            <a:endParaRPr/>
          </a:p>
          <a:p>
            <a:pPr marL="640080" lvl="1" indent="-101600">
              <a:spcBef>
                <a:spcPts val="400"/>
              </a:spcBef>
              <a:buSzPts val="2000"/>
              <a:buNone/>
            </a:pPr>
            <a:endParaRPr/>
          </a:p>
        </p:txBody>
      </p:sp>
      <p:pic>
        <p:nvPicPr>
          <p:cNvPr id="213" name="Google Shape;213;p18" descr="Fig04-16"/>
          <p:cNvPicPr preferRelativeResize="0"/>
          <p:nvPr/>
        </p:nvPicPr>
        <p:blipFill rotWithShape="1">
          <a:blip r:embed="rId3">
            <a:alphaModFix/>
          </a:blip>
          <a:srcRect/>
          <a:stretch/>
        </p:blipFill>
        <p:spPr>
          <a:xfrm>
            <a:off x="2586037" y="2300288"/>
            <a:ext cx="6667501" cy="4221163"/>
          </a:xfrm>
          <a:prstGeom prst="rect">
            <a:avLst/>
          </a:prstGeom>
          <a:noFill/>
          <a:ln>
            <a:noFill/>
          </a:ln>
        </p:spPr>
      </p:pic>
    </p:spTree>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Geometric annual presentation</Template>
  <TotalTime>1568</TotalTime>
  <Words>2409</Words>
  <Application>Microsoft Office PowerPoint</Application>
  <PresentationFormat>Widescreen</PresentationFormat>
  <Paragraphs>193</Paragraphs>
  <Slides>21</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vt:lpstr>
      <vt:lpstr>Barlow</vt:lpstr>
      <vt:lpstr>Calibri</vt:lpstr>
      <vt:lpstr>Caslon224Std-Bold</vt:lpstr>
      <vt:lpstr>Caslon224Std-Book</vt:lpstr>
      <vt:lpstr>Franklin Gothic Book</vt:lpstr>
      <vt:lpstr>Franklin Gothic Demi</vt:lpstr>
      <vt:lpstr>Wingdings</vt:lpstr>
      <vt:lpstr>Theme1</vt:lpstr>
      <vt:lpstr>Chapter 4:  Online Marketing</vt:lpstr>
      <vt:lpstr>Outline</vt:lpstr>
      <vt:lpstr>Marketing basics</vt:lpstr>
      <vt:lpstr>Marketing basics</vt:lpstr>
      <vt:lpstr>Marketing basics</vt:lpstr>
      <vt:lpstr>Market segmentation</vt:lpstr>
      <vt:lpstr>Internet users segmentation</vt:lpstr>
      <vt:lpstr>Market segmentation</vt:lpstr>
      <vt:lpstr>Advertising on the web</vt:lpstr>
      <vt:lpstr>Advertising on the web</vt:lpstr>
      <vt:lpstr>Customer Acquisition: The Funnel Model</vt:lpstr>
      <vt:lpstr>Advertising on the web: Display Ads</vt:lpstr>
      <vt:lpstr>Advertising on the web</vt:lpstr>
      <vt:lpstr>Advertising on the web</vt:lpstr>
      <vt:lpstr>Advertising on the web</vt:lpstr>
      <vt:lpstr>Advertising on the web</vt:lpstr>
      <vt:lpstr>Search engine positioning and domain name</vt:lpstr>
      <vt:lpstr>Search engine positioning and domain name</vt:lpstr>
      <vt:lpstr>Search engine positioning and domain name</vt:lpstr>
      <vt:lpstr>Search engine positioning and domain name</vt:lpstr>
      <vt:lpstr>Search engine positioning and domain name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Pricing &amp; Revenue models</dc:title>
  <dc:creator>Quynh Chi Truong</dc:creator>
  <cp:lastModifiedBy>Quynh Chi Truong</cp:lastModifiedBy>
  <cp:revision>14</cp:revision>
  <dcterms:created xsi:type="dcterms:W3CDTF">2023-02-09T09:07:28Z</dcterms:created>
  <dcterms:modified xsi:type="dcterms:W3CDTF">2023-03-02T08:59:50Z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