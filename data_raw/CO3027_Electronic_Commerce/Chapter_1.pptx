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7" r:id="rId4"/>
  </p:sldMasterIdLst>
  <p:notesMasterIdLst>
    <p:notesMasterId r:id="rId32"/>
  </p:notesMasterIdLst>
  <p:sldIdLst>
    <p:sldId id="1864" r:id="rId5"/>
    <p:sldId id="1846" r:id="rId6"/>
    <p:sldId id="1865" r:id="rId7"/>
    <p:sldId id="1866" r:id="rId8"/>
    <p:sldId id="1871" r:id="rId9"/>
    <p:sldId id="1872" r:id="rId10"/>
    <p:sldId id="1873" r:id="rId11"/>
    <p:sldId id="1868" r:id="rId12"/>
    <p:sldId id="1869" r:id="rId13"/>
    <p:sldId id="1876" r:id="rId14"/>
    <p:sldId id="1877" r:id="rId15"/>
    <p:sldId id="1870" r:id="rId16"/>
    <p:sldId id="1874" r:id="rId17"/>
    <p:sldId id="1867" r:id="rId18"/>
    <p:sldId id="1878" r:id="rId19"/>
    <p:sldId id="1879" r:id="rId20"/>
    <p:sldId id="263" r:id="rId21"/>
    <p:sldId id="1880" r:id="rId22"/>
    <p:sldId id="266" r:id="rId23"/>
    <p:sldId id="267" r:id="rId24"/>
    <p:sldId id="268" r:id="rId25"/>
    <p:sldId id="270" r:id="rId26"/>
    <p:sldId id="271" r:id="rId27"/>
    <p:sldId id="272" r:id="rId28"/>
    <p:sldId id="273" r:id="rId29"/>
    <p:sldId id="274" r:id="rId30"/>
    <p:sldId id="275" r:id="rId31"/>
  </p:sldIdLst>
  <p:sldSz cx="12192000" cy="6858000"/>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480" userDrawn="1">
          <p15:clr>
            <a:srgbClr val="A4A3A4"/>
          </p15:clr>
        </p15:guide>
        <p15:guide id="3" pos="7200" userDrawn="1">
          <p15:clr>
            <a:srgbClr val="A4A3A4"/>
          </p15:clr>
        </p15:guide>
        <p15:guide id="4" pos="436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7C2A"/>
    <a:srgbClr val="FE4387"/>
    <a:srgbClr val="FF2625"/>
    <a:srgbClr val="007788"/>
    <a:srgbClr val="F69000"/>
    <a:srgbClr val="01C2D1"/>
    <a:srgbClr val="D6D734"/>
    <a:srgbClr val="005C68"/>
    <a:srgbClr val="3B2E58"/>
    <a:srgbClr val="6B2929"/>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3279" autoAdjust="0"/>
  </p:normalViewPr>
  <p:slideViewPr>
    <p:cSldViewPr snapToGrid="0">
      <p:cViewPr>
        <p:scale>
          <a:sx n="50" d="100"/>
          <a:sy n="50" d="100"/>
        </p:scale>
        <p:origin x="1212" y="24"/>
      </p:cViewPr>
      <p:guideLst>
        <p:guide orient="horz" pos="2160"/>
        <p:guide pos="480"/>
        <p:guide pos="7200"/>
        <p:guide pos="4368"/>
      </p:guideLst>
    </p:cSldViewPr>
  </p:slideViewPr>
  <p:notesTextViewPr>
    <p:cViewPr>
      <p:scale>
        <a:sx n="1" d="1"/>
        <a:sy n="1" d="1"/>
      </p:scale>
      <p:origin x="0" y="0"/>
    </p:cViewPr>
  </p:notesTextViewPr>
  <p:sorterViewPr>
    <p:cViewPr>
      <p:scale>
        <a:sx n="94" d="100"/>
        <a:sy n="94"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9F622F8-1824-4338-8C3C-5529D3BDEF4A}"/>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atin typeface="Arial" charset="0"/>
              </a:defRPr>
            </a:lvl1pPr>
          </a:lstStyle>
          <a:p>
            <a:pPr>
              <a:defRPr/>
            </a:pPr>
            <a:endParaRPr lang="en-US" dirty="0"/>
          </a:p>
        </p:txBody>
      </p:sp>
      <p:sp>
        <p:nvSpPr>
          <p:cNvPr id="30723" name="Rectangle 3">
            <a:extLst>
              <a:ext uri="{FF2B5EF4-FFF2-40B4-BE49-F238E27FC236}">
                <a16:creationId xmlns:a16="http://schemas.microsoft.com/office/drawing/2014/main" id="{618DDD53-BB38-4118-BC75-9CE27D49C550}"/>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atin typeface="Arial" charset="0"/>
              </a:defRPr>
            </a:lvl1pPr>
          </a:lstStyle>
          <a:p>
            <a:pPr>
              <a:defRPr/>
            </a:pPr>
            <a:endParaRPr lang="en-US" dirty="0"/>
          </a:p>
        </p:txBody>
      </p:sp>
      <p:sp>
        <p:nvSpPr>
          <p:cNvPr id="14340" name="Rectangle 4">
            <a:extLst>
              <a:ext uri="{FF2B5EF4-FFF2-40B4-BE49-F238E27FC236}">
                <a16:creationId xmlns:a16="http://schemas.microsoft.com/office/drawing/2014/main" id="{6C03B6F7-B1AE-4118-ABA2-FFEC9B8F0E9C}"/>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5" name="Rectangle 5">
            <a:extLst>
              <a:ext uri="{FF2B5EF4-FFF2-40B4-BE49-F238E27FC236}">
                <a16:creationId xmlns:a16="http://schemas.microsoft.com/office/drawing/2014/main" id="{646F5356-BDE8-43C1-9587-85323D02B19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26" name="Rectangle 6">
            <a:extLst>
              <a:ext uri="{FF2B5EF4-FFF2-40B4-BE49-F238E27FC236}">
                <a16:creationId xmlns:a16="http://schemas.microsoft.com/office/drawing/2014/main" id="{89912C35-11A9-4DA7-8476-F1823F658CAA}"/>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atin typeface="Arial" charset="0"/>
              </a:defRPr>
            </a:lvl1pPr>
          </a:lstStyle>
          <a:p>
            <a:pPr>
              <a:defRPr/>
            </a:pPr>
            <a:endParaRPr lang="en-US" dirty="0"/>
          </a:p>
        </p:txBody>
      </p:sp>
      <p:sp>
        <p:nvSpPr>
          <p:cNvPr id="30727" name="Rectangle 7">
            <a:extLst>
              <a:ext uri="{FF2B5EF4-FFF2-40B4-BE49-F238E27FC236}">
                <a16:creationId xmlns:a16="http://schemas.microsoft.com/office/drawing/2014/main" id="{7180ED79-CEC3-4FB9-B511-8597B20A0C10}"/>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6DEB7EE2-04A2-4FB2-9625-C9C73AC4D32F}" type="slidenum">
              <a:rPr lang="en-US" altLang="en-US"/>
              <a:pPr/>
              <a:t>‹#›</a:t>
            </a:fld>
            <a:endParaRPr lang="en-US" altLang="en-US" dirty="0"/>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a:extLst>
              <a:ext uri="{FF2B5EF4-FFF2-40B4-BE49-F238E27FC236}">
                <a16:creationId xmlns:a16="http://schemas.microsoft.com/office/drawing/2014/main" id="{FA4671F7-4D2C-4B1E-AED7-24676BE8B49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7842D7-C728-4EBD-982B-B8BE79E4DBBE}" type="slidenum">
              <a:rPr lang="en-US" altLang="en-US"/>
              <a:pPr eaLnBrk="1" hangingPunct="1"/>
              <a:t>1</a:t>
            </a:fld>
            <a:endParaRPr lang="en-US" altLang="en-US" dirty="0"/>
          </a:p>
        </p:txBody>
      </p:sp>
      <p:sp>
        <p:nvSpPr>
          <p:cNvPr id="15363" name="Rectangle 2">
            <a:extLst>
              <a:ext uri="{FF2B5EF4-FFF2-40B4-BE49-F238E27FC236}">
                <a16:creationId xmlns:a16="http://schemas.microsoft.com/office/drawing/2014/main" id="{D8E83BD0-7AE4-4323-9047-FC368929C520}"/>
              </a:ext>
            </a:extLst>
          </p:cNvPr>
          <p:cNvSpPr>
            <a:spLocks noGrp="1" noRot="1" noChangeAspect="1" noChangeArrowheads="1" noTextEdit="1"/>
          </p:cNvSpPr>
          <p:nvPr>
            <p:ph type="sldImg"/>
          </p:nvPr>
        </p:nvSpPr>
        <p:spPr>
          <a:ln/>
        </p:spPr>
      </p:sp>
      <p:sp>
        <p:nvSpPr>
          <p:cNvPr id="15364" name="Rectangle 3">
            <a:extLst>
              <a:ext uri="{FF2B5EF4-FFF2-40B4-BE49-F238E27FC236}">
                <a16:creationId xmlns:a16="http://schemas.microsoft.com/office/drawing/2014/main" id="{FDECF5EC-C5EC-4723-8F4F-A75A20018F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extLst>
      <p:ext uri="{BB962C8B-B14F-4D97-AF65-F5344CB8AC3E}">
        <p14:creationId xmlns:p14="http://schemas.microsoft.com/office/powerpoint/2010/main" val="19508148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E-commerce: shopping on the World Wide Web</a:t>
            </a:r>
          </a:p>
          <a:p>
            <a:r>
              <a:rPr lang="en-US" dirty="0"/>
              <a:t>-</a:t>
            </a:r>
            <a:r>
              <a:rPr lang="en-US" dirty="0" err="1"/>
              <a:t>Nghĩa</a:t>
            </a:r>
            <a:r>
              <a:rPr lang="en-US" baseline="0" dirty="0"/>
              <a:t> </a:t>
            </a:r>
            <a:r>
              <a:rPr lang="en-US" baseline="0" dirty="0" err="1"/>
              <a:t>hẹp</a:t>
            </a:r>
            <a:r>
              <a:rPr lang="en-US" baseline="0" dirty="0"/>
              <a:t>: </a:t>
            </a:r>
            <a:r>
              <a:rPr lang="en-US" baseline="0" dirty="0" err="1"/>
              <a:t>phần</a:t>
            </a:r>
            <a:r>
              <a:rPr lang="en-US" baseline="0" dirty="0"/>
              <a:t> </a:t>
            </a:r>
            <a:r>
              <a:rPr lang="en-US" baseline="0" dirty="0" err="1"/>
              <a:t>mua</a:t>
            </a:r>
            <a:r>
              <a:rPr lang="en-US" baseline="0" dirty="0"/>
              <a:t> </a:t>
            </a:r>
            <a:r>
              <a:rPr lang="en-US" baseline="0" dirty="0" err="1"/>
              <a:t>bán</a:t>
            </a:r>
            <a:endParaRPr lang="en-US" baseline="0" dirty="0"/>
          </a:p>
          <a:p>
            <a:r>
              <a:rPr lang="en-US" baseline="0" dirty="0"/>
              <a:t>-</a:t>
            </a:r>
            <a:r>
              <a:rPr lang="en-US" baseline="0" dirty="0" err="1"/>
              <a:t>Nghĩa</a:t>
            </a:r>
            <a:r>
              <a:rPr lang="en-US" baseline="0" dirty="0"/>
              <a:t> </a:t>
            </a:r>
            <a:r>
              <a:rPr lang="en-US" baseline="0" dirty="0" err="1"/>
              <a:t>rộng</a:t>
            </a:r>
            <a:r>
              <a:rPr lang="en-US" baseline="0" dirty="0"/>
              <a:t>: </a:t>
            </a:r>
            <a:r>
              <a:rPr lang="en-US" baseline="0" dirty="0" err="1"/>
              <a:t>các</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khác</a:t>
            </a:r>
            <a:r>
              <a:rPr lang="en-US" baseline="0" dirty="0"/>
              <a:t>, </a:t>
            </a:r>
            <a:r>
              <a:rPr lang="en-US" baseline="0" dirty="0" err="1"/>
              <a:t>ví</a:t>
            </a:r>
            <a:r>
              <a:rPr lang="en-US" baseline="0" dirty="0"/>
              <a:t> </a:t>
            </a:r>
            <a:r>
              <a:rPr lang="en-US" baseline="0" dirty="0" err="1"/>
              <a:t>dụ</a:t>
            </a:r>
            <a:r>
              <a:rPr lang="en-US" baseline="0" dirty="0"/>
              <a:t> </a:t>
            </a:r>
            <a:r>
              <a:rPr lang="en-US" baseline="0" dirty="0" err="1"/>
              <a:t>như</a:t>
            </a:r>
            <a:r>
              <a:rPr lang="en-US" baseline="0" dirty="0"/>
              <a:t> marketing, </a:t>
            </a:r>
            <a:r>
              <a:rPr lang="en-US" baseline="0" dirty="0" err="1"/>
              <a:t>tuyển</a:t>
            </a:r>
            <a:r>
              <a:rPr lang="en-US" baseline="0" dirty="0"/>
              <a:t> </a:t>
            </a:r>
            <a:r>
              <a:rPr lang="en-US" baseline="0" dirty="0" err="1"/>
              <a:t>dụng</a:t>
            </a:r>
            <a:r>
              <a:rPr lang="en-US" baseline="0" dirty="0"/>
              <a:t>, </a:t>
            </a:r>
            <a:r>
              <a:rPr lang="en-US" baseline="0" dirty="0" err="1"/>
              <a:t>đào</a:t>
            </a:r>
            <a:r>
              <a:rPr lang="en-US" baseline="0" dirty="0"/>
              <a:t> </a:t>
            </a:r>
            <a:r>
              <a:rPr lang="en-US" baseline="0" dirty="0" err="1"/>
              <a:t>tạo</a:t>
            </a:r>
            <a:r>
              <a:rPr lang="en-US" baseline="0" dirty="0"/>
              <a:t>, </a:t>
            </a:r>
            <a:r>
              <a:rPr lang="en-US" baseline="0" dirty="0" err="1"/>
              <a:t>v.v</a:t>
            </a:r>
            <a:r>
              <a:rPr lang="en-US" baseline="0" dirty="0"/>
              <a:t>…</a:t>
            </a:r>
          </a:p>
          <a:p>
            <a:r>
              <a:rPr lang="en-US" baseline="0" dirty="0"/>
              <a:t>-Theo </a:t>
            </a:r>
            <a:r>
              <a:rPr lang="en-US" baseline="0" dirty="0" err="1"/>
              <a:t>nghĩa</a:t>
            </a:r>
            <a:r>
              <a:rPr lang="en-US" baseline="0" dirty="0"/>
              <a:t> </a:t>
            </a:r>
            <a:r>
              <a:rPr lang="en-US" baseline="0" dirty="0" err="1"/>
              <a:t>này</a:t>
            </a:r>
            <a:r>
              <a:rPr lang="en-US" baseline="0" dirty="0"/>
              <a:t>, </a:t>
            </a:r>
            <a:r>
              <a:rPr lang="en-US" baseline="0" dirty="0" err="1"/>
              <a:t>trường</a:t>
            </a:r>
            <a:r>
              <a:rPr lang="en-US" baseline="0" dirty="0"/>
              <a:t> DHBK </a:t>
            </a:r>
            <a:r>
              <a:rPr lang="en-US" baseline="0" dirty="0" err="1"/>
              <a:t>mở</a:t>
            </a:r>
            <a:r>
              <a:rPr lang="en-US" baseline="0" dirty="0"/>
              <a:t> </a:t>
            </a:r>
            <a:r>
              <a:rPr lang="en-US" baseline="0" dirty="0" err="1"/>
              <a:t>hệ</a:t>
            </a:r>
            <a:r>
              <a:rPr lang="en-US" baseline="0" dirty="0"/>
              <a:t> ĐTTX </a:t>
            </a:r>
            <a:r>
              <a:rPr lang="en-US" baseline="0" dirty="0" err="1"/>
              <a:t>có</a:t>
            </a:r>
            <a:r>
              <a:rPr lang="en-US" baseline="0" dirty="0"/>
              <a:t> </a:t>
            </a:r>
            <a:r>
              <a:rPr lang="en-US" baseline="0" dirty="0" err="1"/>
              <a:t>phải</a:t>
            </a:r>
            <a:r>
              <a:rPr lang="en-US" baseline="0" dirty="0"/>
              <a:t> </a:t>
            </a:r>
            <a:r>
              <a:rPr lang="en-US" baseline="0" dirty="0" err="1"/>
              <a:t>là</a:t>
            </a:r>
            <a:r>
              <a:rPr lang="en-US" baseline="0" dirty="0"/>
              <a:t> TMĐT </a:t>
            </a:r>
            <a:r>
              <a:rPr lang="en-US" baseline="0" dirty="0" err="1"/>
              <a:t>không</a:t>
            </a:r>
            <a:r>
              <a:rPr lang="en-US" baseline="0" dirty="0"/>
              <a:t>?</a:t>
            </a:r>
          </a:p>
          <a:p>
            <a:r>
              <a:rPr lang="en-US" dirty="0"/>
              <a:t>-</a:t>
            </a:r>
            <a:r>
              <a:rPr lang="en-US" dirty="0" err="1"/>
              <a:t>Có</a:t>
            </a:r>
            <a:r>
              <a:rPr lang="en-US" baseline="0" dirty="0"/>
              <a:t> model </a:t>
            </a:r>
            <a:r>
              <a:rPr lang="en-US" baseline="0" dirty="0" err="1"/>
              <a:t>thành</a:t>
            </a:r>
            <a:r>
              <a:rPr lang="en-US" baseline="0" dirty="0"/>
              <a:t> </a:t>
            </a:r>
            <a:r>
              <a:rPr lang="en-US" baseline="0" dirty="0" err="1"/>
              <a:t>công</a:t>
            </a:r>
            <a:r>
              <a:rPr lang="en-US" baseline="0" dirty="0"/>
              <a:t>, </a:t>
            </a:r>
            <a:r>
              <a:rPr lang="en-US" baseline="0" dirty="0" err="1"/>
              <a:t>có</a:t>
            </a:r>
            <a:r>
              <a:rPr lang="en-US" baseline="0" dirty="0"/>
              <a:t> </a:t>
            </a:r>
            <a:r>
              <a:rPr lang="en-US" baseline="0" dirty="0" err="1"/>
              <a:t>thể</a:t>
            </a:r>
            <a:r>
              <a:rPr lang="en-US" baseline="0" dirty="0"/>
              <a:t> copy model </a:t>
            </a:r>
            <a:r>
              <a:rPr lang="en-US" baseline="0" dirty="0" err="1"/>
              <a:t>thành</a:t>
            </a:r>
            <a:r>
              <a:rPr lang="en-US" baseline="0" dirty="0"/>
              <a:t> </a:t>
            </a:r>
            <a:r>
              <a:rPr lang="en-US" baseline="0" dirty="0" err="1"/>
              <a:t>công</a:t>
            </a:r>
            <a:r>
              <a:rPr lang="en-US" baseline="0" dirty="0"/>
              <a:t> </a:t>
            </a:r>
            <a:r>
              <a:rPr lang="en-US" baseline="0" dirty="0" err="1"/>
              <a:t>của</a:t>
            </a:r>
            <a:r>
              <a:rPr lang="en-US" baseline="0" dirty="0"/>
              <a:t> </a:t>
            </a:r>
            <a:r>
              <a:rPr lang="en-US" baseline="0" dirty="0" err="1"/>
              <a:t>công</a:t>
            </a:r>
            <a:r>
              <a:rPr lang="en-US" baseline="0" dirty="0"/>
              <a:t> ty </a:t>
            </a:r>
            <a:r>
              <a:rPr lang="en-US" baseline="0" dirty="0" err="1"/>
              <a:t>khác</a:t>
            </a:r>
            <a:r>
              <a:rPr lang="en-US" baseline="0" dirty="0"/>
              <a:t> </a:t>
            </a:r>
            <a:r>
              <a:rPr lang="en-US" baseline="0" dirty="0" err="1"/>
              <a:t>để</a:t>
            </a:r>
            <a:r>
              <a:rPr lang="en-US" baseline="0" dirty="0"/>
              <a:t> </a:t>
            </a:r>
            <a:r>
              <a:rPr lang="en-US" baseline="0" dirty="0" err="1"/>
              <a:t>thành</a:t>
            </a:r>
            <a:r>
              <a:rPr lang="en-US" baseline="0" dirty="0"/>
              <a:t> </a:t>
            </a:r>
            <a:r>
              <a:rPr lang="en-US" baseline="0" dirty="0" err="1"/>
              <a:t>công</a:t>
            </a:r>
            <a:r>
              <a:rPr lang="en-US" baseline="0" dirty="0"/>
              <a:t> </a:t>
            </a:r>
            <a:r>
              <a:rPr lang="en-US" baseline="0" dirty="0" err="1"/>
              <a:t>không</a:t>
            </a:r>
            <a:r>
              <a:rPr lang="en-US" baseline="0" dirty="0"/>
              <a:t>? </a:t>
            </a:r>
            <a:r>
              <a:rPr lang="en-US" baseline="0" dirty="0" err="1"/>
              <a:t>Có</a:t>
            </a:r>
            <a:r>
              <a:rPr lang="en-US" baseline="0" dirty="0"/>
              <a:t> </a:t>
            </a:r>
            <a:r>
              <a:rPr lang="en-US" baseline="0" dirty="0" err="1"/>
              <a:t>dễ</a:t>
            </a:r>
            <a:r>
              <a:rPr lang="en-US" baseline="0" dirty="0"/>
              <a:t> </a:t>
            </a:r>
            <a:r>
              <a:rPr lang="en-US" baseline="0" dirty="0" err="1"/>
              <a:t>dàng</a:t>
            </a:r>
            <a:r>
              <a:rPr lang="en-US" baseline="0" dirty="0"/>
              <a:t> </a:t>
            </a:r>
            <a:r>
              <a:rPr lang="en-US" baseline="0" dirty="0" err="1"/>
              <a:t>thực</a:t>
            </a:r>
            <a:r>
              <a:rPr lang="en-US" baseline="0" dirty="0"/>
              <a:t> </a:t>
            </a:r>
            <a:r>
              <a:rPr lang="en-US" baseline="0" dirty="0" err="1"/>
              <a:t>hiện</a:t>
            </a:r>
            <a:r>
              <a:rPr lang="en-US" baseline="0" dirty="0"/>
              <a:t> </a:t>
            </a:r>
            <a:r>
              <a:rPr lang="en-US" baseline="0" dirty="0" err="1"/>
              <a:t>được</a:t>
            </a:r>
            <a:r>
              <a:rPr lang="en-US" baseline="0" dirty="0"/>
              <a:t> </a:t>
            </a:r>
            <a:r>
              <a:rPr lang="en-US" baseline="0" dirty="0" err="1"/>
              <a:t>không</a:t>
            </a:r>
            <a:r>
              <a:rPr lang="en-US" baseline="0" dirty="0"/>
              <a:t>?</a:t>
            </a:r>
          </a:p>
          <a:p>
            <a:endParaRPr lang="en-US" dirty="0"/>
          </a:p>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3</a:t>
            </a:fld>
            <a:endParaRPr lang="en-US" altLang="en-US" dirty="0"/>
          </a:p>
        </p:txBody>
      </p:sp>
    </p:spTree>
    <p:extLst>
      <p:ext uri="{BB962C8B-B14F-4D97-AF65-F5344CB8AC3E}">
        <p14:creationId xmlns:p14="http://schemas.microsoft.com/office/powerpoint/2010/main" val="20904052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Xét</a:t>
            </a:r>
            <a:r>
              <a:rPr lang="en-US" baseline="0" dirty="0"/>
              <a:t> </a:t>
            </a:r>
            <a:r>
              <a:rPr lang="en-US" baseline="0" dirty="0" err="1"/>
              <a:t>theo</a:t>
            </a:r>
            <a:r>
              <a:rPr lang="en-US" baseline="0" dirty="0"/>
              <a:t> </a:t>
            </a:r>
            <a:r>
              <a:rPr lang="en-US" baseline="0" dirty="0" err="1"/>
              <a:t>khía</a:t>
            </a:r>
            <a:r>
              <a:rPr lang="en-US" baseline="0" dirty="0"/>
              <a:t> </a:t>
            </a:r>
            <a:r>
              <a:rPr lang="en-US" baseline="0" dirty="0" err="1"/>
              <a:t>cạnh</a:t>
            </a:r>
            <a:r>
              <a:rPr lang="en-US" baseline="0" dirty="0"/>
              <a:t> </a:t>
            </a:r>
            <a:r>
              <a:rPr lang="en-US" baseline="0" dirty="0" err="1"/>
              <a:t>đối</a:t>
            </a:r>
            <a:r>
              <a:rPr lang="en-US" baseline="0" dirty="0"/>
              <a:t> </a:t>
            </a:r>
            <a:r>
              <a:rPr lang="en-US" baseline="0" dirty="0" err="1"/>
              <a:t>tượng</a:t>
            </a:r>
            <a:r>
              <a:rPr lang="en-US" baseline="0" dirty="0"/>
              <a:t> </a:t>
            </a:r>
            <a:r>
              <a:rPr lang="en-US" baseline="0" dirty="0" err="1"/>
              <a:t>mua</a:t>
            </a:r>
            <a:r>
              <a:rPr lang="en-US" baseline="0" dirty="0"/>
              <a:t> </a:t>
            </a:r>
            <a:r>
              <a:rPr lang="en-US" baseline="0" dirty="0" err="1"/>
              <a:t>và</a:t>
            </a:r>
            <a:r>
              <a:rPr lang="en-US" baseline="0" dirty="0"/>
              <a:t> </a:t>
            </a:r>
            <a:r>
              <a:rPr lang="en-US" baseline="0" dirty="0" err="1"/>
              <a:t>bán</a:t>
            </a:r>
            <a:r>
              <a:rPr lang="en-US" baseline="0" dirty="0"/>
              <a:t>, chia EC </a:t>
            </a:r>
            <a:r>
              <a:rPr lang="en-US" baseline="0" dirty="0" err="1"/>
              <a:t>ra</a:t>
            </a:r>
            <a:r>
              <a:rPr lang="en-US" baseline="0" dirty="0"/>
              <a:t> </a:t>
            </a:r>
            <a:r>
              <a:rPr lang="en-US" baseline="0" dirty="0" err="1"/>
              <a:t>thành</a:t>
            </a:r>
            <a:r>
              <a:rPr lang="en-US" baseline="0" dirty="0"/>
              <a:t> </a:t>
            </a:r>
            <a:r>
              <a:rPr lang="en-US" baseline="0" dirty="0" err="1"/>
              <a:t>các</a:t>
            </a:r>
            <a:r>
              <a:rPr lang="en-US" baseline="0" dirty="0"/>
              <a:t> </a:t>
            </a:r>
            <a:r>
              <a:rPr lang="en-US" baseline="0" dirty="0" err="1"/>
              <a:t>nhóm</a:t>
            </a:r>
            <a:r>
              <a:rPr lang="en-US" baseline="0" dirty="0"/>
              <a:t> </a:t>
            </a:r>
            <a:r>
              <a:rPr lang="en-US" baseline="0" dirty="0" err="1"/>
              <a:t>sau</a:t>
            </a:r>
            <a:endParaRPr lang="en-US" baseline="0" dirty="0"/>
          </a:p>
          <a:p>
            <a:r>
              <a:rPr lang="en-US" baseline="0" dirty="0"/>
              <a:t>-</a:t>
            </a:r>
            <a:r>
              <a:rPr lang="en-US" baseline="0" dirty="0" err="1"/>
              <a:t>Giải</a:t>
            </a:r>
            <a:r>
              <a:rPr lang="en-US" baseline="0" dirty="0"/>
              <a:t> </a:t>
            </a:r>
            <a:r>
              <a:rPr lang="en-US" baseline="0" dirty="0" err="1"/>
              <a:t>thích</a:t>
            </a:r>
            <a:r>
              <a:rPr lang="en-US" baseline="0" dirty="0"/>
              <a:t> </a:t>
            </a:r>
            <a:r>
              <a:rPr lang="en-US" baseline="0" dirty="0" err="1"/>
              <a:t>và</a:t>
            </a:r>
            <a:r>
              <a:rPr lang="en-US" baseline="0" dirty="0"/>
              <a:t> </a:t>
            </a:r>
            <a:r>
              <a:rPr lang="en-US" baseline="0" dirty="0" err="1"/>
              <a:t>ví</a:t>
            </a:r>
            <a:r>
              <a:rPr lang="en-US" baseline="0" dirty="0"/>
              <a:t> </a:t>
            </a:r>
            <a:r>
              <a:rPr lang="en-US" baseline="0" dirty="0" err="1"/>
              <a:t>dụ</a:t>
            </a:r>
            <a:r>
              <a:rPr lang="en-US" baseline="0" dirty="0"/>
              <a:t> </a:t>
            </a:r>
            <a:r>
              <a:rPr lang="en-US" baseline="0" dirty="0" err="1"/>
              <a:t>cho</a:t>
            </a:r>
            <a:r>
              <a:rPr lang="en-US" baseline="0" dirty="0"/>
              <a:t> </a:t>
            </a:r>
            <a:r>
              <a:rPr lang="en-US" baseline="0" dirty="0" err="1"/>
              <a:t>từng</a:t>
            </a:r>
            <a:r>
              <a:rPr lang="en-US" baseline="0" dirty="0"/>
              <a:t> </a:t>
            </a:r>
            <a:r>
              <a:rPr lang="en-US" baseline="0" dirty="0" err="1"/>
              <a:t>loại</a:t>
            </a:r>
            <a:endParaRPr lang="en-US" baseline="0" dirty="0"/>
          </a:p>
          <a:p>
            <a:r>
              <a:rPr lang="en-US" baseline="0" dirty="0"/>
              <a:t>-</a:t>
            </a:r>
            <a:r>
              <a:rPr lang="en-US" baseline="0" dirty="0" err="1"/>
              <a:t>Có</a:t>
            </a:r>
            <a:r>
              <a:rPr lang="en-US" baseline="0" dirty="0"/>
              <a:t> </a:t>
            </a:r>
            <a:r>
              <a:rPr lang="en-US" baseline="0" dirty="0" err="1"/>
              <a:t>thể</a:t>
            </a:r>
            <a:r>
              <a:rPr lang="en-US" baseline="0" dirty="0"/>
              <a:t> </a:t>
            </a:r>
            <a:r>
              <a:rPr lang="en-US" baseline="0" dirty="0" err="1"/>
              <a:t>cho</a:t>
            </a:r>
            <a:r>
              <a:rPr lang="en-US" baseline="0" dirty="0"/>
              <a:t> SV </a:t>
            </a:r>
            <a:r>
              <a:rPr lang="en-US" baseline="0" dirty="0" err="1"/>
              <a:t>ví</a:t>
            </a:r>
            <a:r>
              <a:rPr lang="en-US" baseline="0" dirty="0"/>
              <a:t> </a:t>
            </a:r>
            <a:r>
              <a:rPr lang="en-US" baseline="0" dirty="0" err="1"/>
              <a:t>dụ</a:t>
            </a:r>
            <a:r>
              <a:rPr lang="en-US" baseline="0" dirty="0"/>
              <a:t> </a:t>
            </a:r>
            <a:r>
              <a:rPr lang="en-US" baseline="0" dirty="0" err="1"/>
              <a:t>thêm</a:t>
            </a:r>
            <a:endParaRPr lang="en-US" dirty="0"/>
          </a:p>
          <a:p>
            <a:r>
              <a:rPr lang="en-US" sz="1800" b="0" i="0" dirty="0">
                <a:solidFill>
                  <a:srgbClr val="242021"/>
                </a:solidFill>
                <a:effectLst/>
                <a:latin typeface="Caslon224Std-Book"/>
              </a:rPr>
              <a:t>A single company might participate in activities that fall under multiple e-commerce categories. Consider a company that manufactures stereo speakers. The company might sell its finished product to consumers on the Web, which would be B2C electronic commerce. It might also purchase the materials it uses to make the speakers from other companies on the Web, which would be B2B electronic commerce.</a:t>
            </a:r>
            <a:r>
              <a:rPr lang="en-US" dirty="0"/>
              <a:t> </a:t>
            </a:r>
            <a:br>
              <a:rPr lang="en-US" dirty="0"/>
            </a:br>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4</a:t>
            </a:fld>
            <a:endParaRPr lang="en-US" altLang="en-US" dirty="0"/>
          </a:p>
        </p:txBody>
      </p:sp>
    </p:spTree>
    <p:extLst>
      <p:ext uri="{BB962C8B-B14F-4D97-AF65-F5344CB8AC3E}">
        <p14:creationId xmlns:p14="http://schemas.microsoft.com/office/powerpoint/2010/main" val="3278700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i="0" dirty="0">
                <a:solidFill>
                  <a:srgbClr val="212529"/>
                </a:solidFill>
                <a:effectLst/>
                <a:latin typeface="-apple-system"/>
              </a:rPr>
              <a:t>B2C được dùng như một thuật ngữ mô tả giao dịch giữa các doanh nghiệp với người tiêu dùng. Đây là một giao dịch thương mại điện tử trong đó các doanh nghiệp đóng vai trò là bên bán các sản phẩm hoặc dịch vụ cho người tiêu dùng. </a:t>
            </a:r>
            <a:endParaRPr lang="en-US" b="0" i="0" dirty="0">
              <a:solidFill>
                <a:srgbClr val="212529"/>
              </a:solidFill>
              <a:effectLst/>
              <a:latin typeface="-apple-system"/>
            </a:endParaRPr>
          </a:p>
          <a:p>
            <a:r>
              <a:rPr lang="vi-VN" b="0" i="0" dirty="0">
                <a:solidFill>
                  <a:srgbClr val="212529"/>
                </a:solidFill>
                <a:effectLst/>
                <a:latin typeface="-apple-system"/>
              </a:rPr>
              <a:t>B2C chủ yếu được dùng để chỉ các nhà bán lẻ trực tuyến bán sản phẩm và dịch vụ cho người tiêu dùng thông qua việc sử dụng môi trường mạng Internet. </a:t>
            </a:r>
            <a:endParaRPr lang="en-US" b="0" i="0" dirty="0">
              <a:solidFill>
                <a:srgbClr val="212529"/>
              </a:solidFill>
              <a:effectLst/>
              <a:latin typeface="-apple-system"/>
            </a:endParaRPr>
          </a:p>
          <a:p>
            <a:r>
              <a:rPr lang="en-US" b="0" i="0" dirty="0" err="1">
                <a:solidFill>
                  <a:srgbClr val="212529"/>
                </a:solidFill>
                <a:effectLst/>
                <a:latin typeface="-apple-system"/>
              </a:rPr>
              <a:t>Các</a:t>
            </a:r>
            <a:r>
              <a:rPr lang="en-US" b="0" i="0" dirty="0">
                <a:solidFill>
                  <a:srgbClr val="212529"/>
                </a:solidFill>
                <a:effectLst/>
                <a:latin typeface="-apple-system"/>
              </a:rPr>
              <a:t> </a:t>
            </a:r>
            <a:r>
              <a:rPr lang="en-US" b="0" i="0" dirty="0" err="1">
                <a:solidFill>
                  <a:srgbClr val="212529"/>
                </a:solidFill>
                <a:effectLst/>
                <a:latin typeface="-apple-system"/>
              </a:rPr>
              <a:t>sàn</a:t>
            </a:r>
            <a:r>
              <a:rPr lang="en-US" b="0" i="0" dirty="0">
                <a:solidFill>
                  <a:srgbClr val="212529"/>
                </a:solidFill>
                <a:effectLst/>
                <a:latin typeface="-apple-system"/>
              </a:rPr>
              <a:t> </a:t>
            </a:r>
            <a:r>
              <a:rPr lang="en-US" b="0" i="0" dirty="0" err="1">
                <a:solidFill>
                  <a:srgbClr val="212529"/>
                </a:solidFill>
                <a:effectLst/>
                <a:latin typeface="-apple-system"/>
              </a:rPr>
              <a:t>thương</a:t>
            </a:r>
            <a:r>
              <a:rPr lang="en-US" b="0" i="0" dirty="0">
                <a:solidFill>
                  <a:srgbClr val="212529"/>
                </a:solidFill>
                <a:effectLst/>
                <a:latin typeface="-apple-system"/>
              </a:rPr>
              <a:t> </a:t>
            </a:r>
            <a:r>
              <a:rPr lang="en-US" b="0" i="0" dirty="0" err="1">
                <a:solidFill>
                  <a:srgbClr val="212529"/>
                </a:solidFill>
                <a:effectLst/>
                <a:latin typeface="-apple-system"/>
              </a:rPr>
              <a:t>mại</a:t>
            </a:r>
            <a:r>
              <a:rPr lang="en-US" b="0" i="0" dirty="0">
                <a:solidFill>
                  <a:srgbClr val="212529"/>
                </a:solidFill>
                <a:effectLst/>
                <a:latin typeface="-apple-system"/>
              </a:rPr>
              <a:t> </a:t>
            </a:r>
            <a:r>
              <a:rPr lang="en-US" b="0" i="0" dirty="0" err="1">
                <a:solidFill>
                  <a:srgbClr val="212529"/>
                </a:solidFill>
                <a:effectLst/>
                <a:latin typeface="-apple-system"/>
              </a:rPr>
              <a:t>điện</a:t>
            </a:r>
            <a:r>
              <a:rPr lang="en-US" b="0" i="0" dirty="0">
                <a:solidFill>
                  <a:srgbClr val="212529"/>
                </a:solidFill>
                <a:effectLst/>
                <a:latin typeface="-apple-system"/>
              </a:rPr>
              <a:t> </a:t>
            </a:r>
            <a:r>
              <a:rPr lang="en-US" b="0" i="0" dirty="0" err="1">
                <a:solidFill>
                  <a:srgbClr val="212529"/>
                </a:solidFill>
                <a:effectLst/>
                <a:latin typeface="-apple-system"/>
              </a:rPr>
              <a:t>tử</a:t>
            </a:r>
            <a:r>
              <a:rPr lang="en-US" b="0" i="0" dirty="0">
                <a:solidFill>
                  <a:srgbClr val="212529"/>
                </a:solidFill>
                <a:effectLst/>
                <a:latin typeface="-apple-system"/>
              </a:rPr>
              <a:t> </a:t>
            </a:r>
            <a:r>
              <a:rPr lang="en-US" b="0" i="0" dirty="0" err="1">
                <a:solidFill>
                  <a:srgbClr val="212529"/>
                </a:solidFill>
                <a:effectLst/>
                <a:latin typeface="-apple-system"/>
              </a:rPr>
              <a:t>mở</a:t>
            </a:r>
            <a:r>
              <a:rPr lang="en-US" b="0" i="0" dirty="0">
                <a:solidFill>
                  <a:srgbClr val="212529"/>
                </a:solidFill>
                <a:effectLst/>
                <a:latin typeface="-apple-system"/>
              </a:rPr>
              <a:t> </a:t>
            </a:r>
            <a:r>
              <a:rPr lang="en-US" b="0" i="0" dirty="0" err="1">
                <a:solidFill>
                  <a:srgbClr val="212529"/>
                </a:solidFill>
                <a:effectLst/>
                <a:latin typeface="-apple-system"/>
              </a:rPr>
              <a:t>rộng</a:t>
            </a:r>
            <a:r>
              <a:rPr lang="en-US" b="0" i="0" dirty="0">
                <a:solidFill>
                  <a:srgbClr val="212529"/>
                </a:solidFill>
                <a:effectLst/>
                <a:latin typeface="-apple-system"/>
              </a:rPr>
              <a:t>: B2B2C</a:t>
            </a:r>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5</a:t>
            </a:fld>
            <a:endParaRPr lang="en-US" altLang="en-US" dirty="0"/>
          </a:p>
        </p:txBody>
      </p:sp>
    </p:spTree>
    <p:extLst>
      <p:ext uri="{BB962C8B-B14F-4D97-AF65-F5344CB8AC3E}">
        <p14:creationId xmlns:p14="http://schemas.microsoft.com/office/powerpoint/2010/main" val="9091365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vi-VN" b="0" i="0" dirty="0">
                <a:solidFill>
                  <a:srgbClr val="212529"/>
                </a:solidFill>
                <a:effectLst/>
                <a:latin typeface="Arial" panose="020B0604020202020204" pitchFamily="34" charset="0"/>
              </a:rPr>
              <a:t>B2B thường xuất hiện nhiều trong chuỗi cung ứng như một công ty sẽ mua các nguyên liệu thô từ một công ty khác nhằm phục vụ cho quá trình sản xuất của mình. </a:t>
            </a:r>
          </a:p>
          <a:p>
            <a:pPr algn="just"/>
            <a:r>
              <a:rPr lang="vi-VN" b="1" i="0" dirty="0">
                <a:solidFill>
                  <a:srgbClr val="212529"/>
                </a:solidFill>
                <a:effectLst/>
                <a:latin typeface="Arial" panose="020B0604020202020204" pitchFamily="34" charset="0"/>
              </a:rPr>
              <a:t>Ví dụ về B2B:</a:t>
            </a:r>
            <a:r>
              <a:rPr lang="vi-VN" b="0" i="0" dirty="0">
                <a:solidFill>
                  <a:srgbClr val="212529"/>
                </a:solidFill>
                <a:effectLst/>
                <a:latin typeface="Arial" panose="020B0604020202020204" pitchFamily="34" charset="0"/>
              </a:rPr>
              <a:t> Hãng Samsung chính là một trong những nhà cung cấp lớn nhất của Apple trong việc sản xuất ra iPhone. Hơn nữa, Apple cũng giữ mối quan hệ B2B với những công ty khác như hãng Intel, Panasonic và Micron Technology.</a:t>
            </a:r>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6</a:t>
            </a:fld>
            <a:endParaRPr lang="en-US" altLang="en-US" dirty="0"/>
          </a:p>
        </p:txBody>
      </p:sp>
    </p:spTree>
    <p:extLst>
      <p:ext uri="{BB962C8B-B14F-4D97-AF65-F5344CB8AC3E}">
        <p14:creationId xmlns:p14="http://schemas.microsoft.com/office/powerpoint/2010/main" val="27981219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vi-VN" b="0" i="0" dirty="0">
                <a:solidFill>
                  <a:srgbClr val="212529"/>
                </a:solidFill>
                <a:effectLst/>
                <a:latin typeface="Arial" panose="020B0604020202020204" pitchFamily="34" charset="0"/>
              </a:rPr>
              <a:t>B2B thường xuất hiện nhiều trong chuỗi cung ứng như một công ty sẽ mua các nguyên liệu thô từ một công ty khác nhằm phục vụ cho quá trình sản xuất của mình. </a:t>
            </a:r>
          </a:p>
          <a:p>
            <a:pPr algn="just"/>
            <a:r>
              <a:rPr lang="vi-VN" b="1" i="0" dirty="0">
                <a:solidFill>
                  <a:srgbClr val="212529"/>
                </a:solidFill>
                <a:effectLst/>
                <a:latin typeface="Arial" panose="020B0604020202020204" pitchFamily="34" charset="0"/>
              </a:rPr>
              <a:t>Ví dụ về B2B:</a:t>
            </a:r>
            <a:r>
              <a:rPr lang="vi-VN" b="0" i="0" dirty="0">
                <a:solidFill>
                  <a:srgbClr val="212529"/>
                </a:solidFill>
                <a:effectLst/>
                <a:latin typeface="Arial" panose="020B0604020202020204" pitchFamily="34" charset="0"/>
              </a:rPr>
              <a:t> Hãng Samsung chính là một trong những nhà cung cấp lớn nhất của Apple trong việc sản xuất ra iPhone. Hơn nữa, Apple cũng giữ mối quan hệ B2B với những công ty khác như hãng Intel, Panasonic và Micron Technology.</a:t>
            </a:r>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7</a:t>
            </a:fld>
            <a:endParaRPr lang="en-US" altLang="en-US" dirty="0"/>
          </a:p>
        </p:txBody>
      </p:sp>
    </p:spTree>
    <p:extLst>
      <p:ext uri="{BB962C8B-B14F-4D97-AF65-F5344CB8AC3E}">
        <p14:creationId xmlns:p14="http://schemas.microsoft.com/office/powerpoint/2010/main" val="13370046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Loại</a:t>
            </a:r>
            <a:r>
              <a:rPr lang="en-US" dirty="0"/>
              <a:t> business process: B2B, B2C </a:t>
            </a:r>
            <a:r>
              <a:rPr lang="en-US" dirty="0">
                <a:sym typeface="Wingdings" panose="05000000000000000000" pitchFamily="2" charset="2"/>
              </a:rPr>
              <a:t> selling data/information/process/solution</a:t>
            </a:r>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8</a:t>
            </a:fld>
            <a:endParaRPr lang="en-US" altLang="en-US" dirty="0"/>
          </a:p>
        </p:txBody>
      </p:sp>
    </p:spTree>
    <p:extLst>
      <p:ext uri="{BB962C8B-B14F-4D97-AF65-F5344CB8AC3E}">
        <p14:creationId xmlns:p14="http://schemas.microsoft.com/office/powerpoint/2010/main" val="4055804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Tỉ</a:t>
            </a:r>
            <a:r>
              <a:rPr lang="en-US" baseline="0" dirty="0"/>
              <a:t> </a:t>
            </a:r>
            <a:r>
              <a:rPr lang="en-US" baseline="0" dirty="0" err="1"/>
              <a:t>lệ</a:t>
            </a:r>
            <a:r>
              <a:rPr lang="en-US" baseline="0" dirty="0"/>
              <a:t> </a:t>
            </a:r>
            <a:r>
              <a:rPr lang="en-US" baseline="0" dirty="0" err="1"/>
              <a:t>doanh</a:t>
            </a:r>
            <a:r>
              <a:rPr lang="en-US" baseline="0" dirty="0"/>
              <a:t> </a:t>
            </a:r>
            <a:r>
              <a:rPr lang="en-US" baseline="0" dirty="0" err="1"/>
              <a:t>số</a:t>
            </a:r>
            <a:r>
              <a:rPr lang="en-US" baseline="0" dirty="0"/>
              <a:t> </a:t>
            </a:r>
            <a:r>
              <a:rPr lang="en-US" baseline="0" dirty="0" err="1"/>
              <a:t>tạo</a:t>
            </a:r>
            <a:r>
              <a:rPr lang="en-US" baseline="0" dirty="0"/>
              <a:t> </a:t>
            </a:r>
            <a:r>
              <a:rPr lang="en-US" baseline="0" dirty="0" err="1"/>
              <a:t>ra</a:t>
            </a:r>
            <a:r>
              <a:rPr lang="en-US" baseline="0" dirty="0"/>
              <a:t> </a:t>
            </a:r>
            <a:r>
              <a:rPr lang="en-US" baseline="0" dirty="0" err="1"/>
              <a:t>với</a:t>
            </a:r>
            <a:r>
              <a:rPr lang="en-US" baseline="0" dirty="0"/>
              <a:t> </a:t>
            </a:r>
            <a:r>
              <a:rPr lang="en-US" baseline="0" dirty="0" err="1"/>
              <a:t>các</a:t>
            </a:r>
            <a:r>
              <a:rPr lang="en-US" baseline="0" dirty="0"/>
              <a:t> </a:t>
            </a:r>
            <a:r>
              <a:rPr lang="en-US" baseline="0" dirty="0" err="1"/>
              <a:t>loại</a:t>
            </a:r>
            <a:r>
              <a:rPr lang="en-US" baseline="0" dirty="0"/>
              <a:t> EC </a:t>
            </a:r>
            <a:r>
              <a:rPr lang="en-US" baseline="0" dirty="0" err="1"/>
              <a:t>khác</a:t>
            </a:r>
            <a:r>
              <a:rPr lang="en-US" baseline="0" dirty="0"/>
              <a:t> </a:t>
            </a:r>
            <a:r>
              <a:rPr lang="en-US" baseline="0" dirty="0" err="1"/>
              <a:t>nhau</a:t>
            </a:r>
            <a:endParaRPr lang="en-US" baseline="0" dirty="0"/>
          </a:p>
          <a:p>
            <a:r>
              <a:rPr lang="en-US" baseline="0" dirty="0"/>
              <a:t>-</a:t>
            </a:r>
            <a:r>
              <a:rPr lang="en-US" baseline="0" dirty="0" err="1"/>
              <a:t>Nhấn</a:t>
            </a:r>
            <a:r>
              <a:rPr lang="en-US" baseline="0" dirty="0"/>
              <a:t> </a:t>
            </a:r>
            <a:r>
              <a:rPr lang="en-US" baseline="0" dirty="0" err="1"/>
              <a:t>mạnh</a:t>
            </a:r>
            <a:r>
              <a:rPr lang="en-US" baseline="0" dirty="0"/>
              <a:t> </a:t>
            </a:r>
            <a:r>
              <a:rPr lang="en-US" baseline="0" dirty="0" err="1"/>
              <a:t>phần</a:t>
            </a:r>
            <a:r>
              <a:rPr lang="en-US" baseline="0" dirty="0"/>
              <a:t> </a:t>
            </a:r>
            <a:r>
              <a:rPr lang="en-US" baseline="0" dirty="0" err="1"/>
              <a:t>lớn</a:t>
            </a:r>
            <a:r>
              <a:rPr lang="en-US" baseline="0" dirty="0"/>
              <a:t> </a:t>
            </a:r>
            <a:r>
              <a:rPr lang="en-US" baseline="0" dirty="0" err="1"/>
              <a:t>là</a:t>
            </a:r>
            <a:r>
              <a:rPr lang="en-US" baseline="0" dirty="0"/>
              <a:t> </a:t>
            </a:r>
            <a:r>
              <a:rPr lang="en-US" baseline="0" dirty="0" err="1"/>
              <a:t>vào</a:t>
            </a:r>
            <a:r>
              <a:rPr lang="en-US" baseline="0" dirty="0"/>
              <a:t> </a:t>
            </a:r>
            <a:r>
              <a:rPr lang="en-US" baseline="0" dirty="0" err="1"/>
              <a:t>các</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hỗ</a:t>
            </a:r>
            <a:r>
              <a:rPr lang="en-US" baseline="0" dirty="0"/>
              <a:t> </a:t>
            </a:r>
            <a:r>
              <a:rPr lang="en-US" baseline="0" dirty="0" err="1"/>
              <a:t>trợ</a:t>
            </a:r>
            <a:r>
              <a:rPr lang="en-US" baseline="0" dirty="0"/>
              <a:t> (</a:t>
            </a:r>
            <a:r>
              <a:rPr lang="en-US" baseline="0" dirty="0" err="1"/>
              <a:t>bán</a:t>
            </a:r>
            <a:r>
              <a:rPr lang="en-US" baseline="0" dirty="0"/>
              <a:t> </a:t>
            </a:r>
            <a:r>
              <a:rPr lang="en-US" baseline="0" dirty="0" err="1"/>
              <a:t>hàng</a:t>
            </a:r>
            <a:r>
              <a:rPr lang="en-US" baseline="0" dirty="0"/>
              <a:t> </a:t>
            </a:r>
            <a:r>
              <a:rPr lang="en-US" baseline="0" dirty="0" err="1"/>
              <a:t>chỉ</a:t>
            </a:r>
            <a:r>
              <a:rPr lang="en-US" baseline="0" dirty="0"/>
              <a:t> </a:t>
            </a:r>
            <a:r>
              <a:rPr lang="en-US" baseline="0" dirty="0" err="1"/>
              <a:t>là</a:t>
            </a:r>
            <a:r>
              <a:rPr lang="en-US" baseline="0" dirty="0"/>
              <a:t> </a:t>
            </a:r>
            <a:r>
              <a:rPr lang="en-US" baseline="0" dirty="0" err="1"/>
              <a:t>phần</a:t>
            </a:r>
            <a:r>
              <a:rPr lang="en-US" baseline="0" dirty="0"/>
              <a:t> </a:t>
            </a:r>
            <a:r>
              <a:rPr lang="en-US" baseline="0" dirty="0" err="1"/>
              <a:t>nổi</a:t>
            </a:r>
            <a:r>
              <a:rPr lang="en-US" baseline="0" dirty="0"/>
              <a:t> </a:t>
            </a:r>
            <a:r>
              <a:rPr lang="en-US" baseline="0" dirty="0" err="1"/>
              <a:t>của</a:t>
            </a:r>
            <a:r>
              <a:rPr lang="en-US" baseline="0" dirty="0"/>
              <a:t> </a:t>
            </a:r>
            <a:r>
              <a:rPr lang="en-US" baseline="0" dirty="0" err="1"/>
              <a:t>tảng</a:t>
            </a:r>
            <a:r>
              <a:rPr lang="en-US" baseline="0" dirty="0"/>
              <a:t> </a:t>
            </a:r>
            <a:r>
              <a:rPr lang="en-US" baseline="0" dirty="0" err="1"/>
              <a:t>băng</a:t>
            </a:r>
            <a:r>
              <a:rPr lang="en-US" baseline="0" dirty="0"/>
              <a:t>)</a:t>
            </a:r>
            <a:endParaRPr lang="en-US" dirty="0"/>
          </a:p>
          <a:p>
            <a:r>
              <a:rPr lang="en-US" sz="1800" b="0" i="0" dirty="0">
                <a:solidFill>
                  <a:srgbClr val="242021"/>
                </a:solidFill>
                <a:effectLst/>
                <a:latin typeface="Caslon224Std-Book"/>
              </a:rPr>
              <a:t>The figure presents a rough approximation of the relative sizes of these three elements (B2C commerce, B2B</a:t>
            </a:r>
            <a:br>
              <a:rPr lang="en-US" sz="1800" b="0" i="0" dirty="0">
                <a:solidFill>
                  <a:srgbClr val="242021"/>
                </a:solidFill>
                <a:effectLst/>
                <a:latin typeface="Caslon224Std-Book"/>
              </a:rPr>
            </a:br>
            <a:r>
              <a:rPr lang="en-US" sz="1800" b="0" i="0" dirty="0">
                <a:solidFill>
                  <a:srgbClr val="242021"/>
                </a:solidFill>
                <a:effectLst/>
                <a:latin typeface="Caslon224Std-Book"/>
              </a:rPr>
              <a:t>commerce, and overall business processes). In terms of dollar volume and number of transactions, B2B electronic commerce is much greater than B2C electronic commerce. However, the number of business processes that are conducted using online technologies is far greater than the number of all B2C and B2B transactions combined</a:t>
            </a:r>
            <a:r>
              <a:rPr lang="en-US" dirty="0"/>
              <a:t> </a:t>
            </a:r>
            <a:br>
              <a:rPr lang="en-US" dirty="0"/>
            </a:br>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9</a:t>
            </a:fld>
            <a:endParaRPr lang="en-US" altLang="en-US" dirty="0"/>
          </a:p>
        </p:txBody>
      </p:sp>
    </p:spTree>
    <p:extLst>
      <p:ext uri="{BB962C8B-B14F-4D97-AF65-F5344CB8AC3E}">
        <p14:creationId xmlns:p14="http://schemas.microsoft.com/office/powerpoint/2010/main" val="6665695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800" b="1" i="0" dirty="0">
                <a:solidFill>
                  <a:srgbClr val="202124"/>
                </a:solidFill>
                <a:effectLst/>
                <a:latin typeface="arial" panose="020B0604020202020204" pitchFamily="34" charset="0"/>
              </a:rPr>
              <a:t>January 1, 1983</a:t>
            </a:r>
            <a:r>
              <a:rPr lang="en-US" sz="2800" b="0" i="0" dirty="0">
                <a:solidFill>
                  <a:srgbClr val="202124"/>
                </a:solidFill>
                <a:effectLst/>
                <a:latin typeface="arial" panose="020B0604020202020204" pitchFamily="34" charset="0"/>
              </a:rPr>
              <a:t> is considered the official birthday of the Internet. Prior to this, the various computer networks did not have a standard way to communicate with each other. A new communications protocol was established called Transfer Control Protocol/Internetwork Protocol (TCP/IP).</a:t>
            </a:r>
          </a:p>
          <a:p>
            <a:endParaRPr lang="en-US" sz="1800" b="0" i="0" dirty="0">
              <a:solidFill>
                <a:srgbClr val="242021"/>
              </a:solidFill>
              <a:effectLst/>
              <a:latin typeface="Caslon224Std-Book"/>
            </a:endParaRPr>
          </a:p>
          <a:p>
            <a:r>
              <a:rPr lang="en-US" sz="1800" dirty="0"/>
              <a:t>-</a:t>
            </a:r>
            <a:r>
              <a:rPr lang="en-US" sz="1800" dirty="0" err="1"/>
              <a:t>Các</a:t>
            </a:r>
            <a:r>
              <a:rPr lang="en-US" sz="1800" baseline="0" dirty="0"/>
              <a:t> </a:t>
            </a:r>
            <a:r>
              <a:rPr lang="en-US" sz="1800" baseline="0" dirty="0" err="1"/>
              <a:t>công</a:t>
            </a:r>
            <a:r>
              <a:rPr lang="en-US" sz="1800" baseline="0" dirty="0"/>
              <a:t> ty internet </a:t>
            </a:r>
            <a:r>
              <a:rPr lang="en-US" sz="1800" baseline="0" dirty="0" err="1"/>
              <a:t>được</a:t>
            </a:r>
            <a:r>
              <a:rPr lang="en-US" sz="1800" baseline="0" dirty="0"/>
              <a:t> </a:t>
            </a:r>
            <a:r>
              <a:rPr lang="en-US" sz="1800" baseline="0" dirty="0" err="1"/>
              <a:t>thành</a:t>
            </a:r>
            <a:r>
              <a:rPr lang="en-US" sz="1800" baseline="0" dirty="0"/>
              <a:t> </a:t>
            </a:r>
            <a:r>
              <a:rPr lang="en-US" sz="1800" baseline="0" dirty="0" err="1"/>
              <a:t>lập</a:t>
            </a:r>
            <a:r>
              <a:rPr lang="en-US" sz="1800" baseline="0" dirty="0"/>
              <a:t> </a:t>
            </a:r>
            <a:r>
              <a:rPr lang="en-US" sz="1800" baseline="0" dirty="0" err="1"/>
              <a:t>hàng</a:t>
            </a:r>
            <a:r>
              <a:rPr lang="en-US" sz="1800" baseline="0" dirty="0"/>
              <a:t> </a:t>
            </a:r>
            <a:r>
              <a:rPr lang="en-US" sz="1800" baseline="0" dirty="0" err="1"/>
              <a:t>loạt</a:t>
            </a:r>
            <a:endParaRPr lang="en-US" sz="1800" baseline="0" dirty="0"/>
          </a:p>
          <a:p>
            <a:r>
              <a:rPr lang="en-US" sz="1800" baseline="0" dirty="0"/>
              <a:t>-</a:t>
            </a:r>
            <a:r>
              <a:rPr lang="en-US" sz="1800" baseline="0" dirty="0" err="1"/>
              <a:t>Giá</a:t>
            </a:r>
            <a:r>
              <a:rPr lang="en-US" sz="1800" baseline="0" dirty="0"/>
              <a:t> </a:t>
            </a:r>
            <a:r>
              <a:rPr lang="en-US" sz="1800" baseline="0" dirty="0" err="1"/>
              <a:t>cả</a:t>
            </a:r>
            <a:r>
              <a:rPr lang="en-US" sz="1800" baseline="0" dirty="0"/>
              <a:t> </a:t>
            </a:r>
            <a:r>
              <a:rPr lang="en-US" sz="1800" baseline="0" dirty="0" err="1"/>
              <a:t>cao</a:t>
            </a:r>
            <a:r>
              <a:rPr lang="en-US" sz="1800" baseline="0" dirty="0"/>
              <a:t> </a:t>
            </a:r>
            <a:r>
              <a:rPr lang="en-US" sz="1800" baseline="0" dirty="0" err="1"/>
              <a:t>trên</a:t>
            </a:r>
            <a:r>
              <a:rPr lang="en-US" sz="1800" baseline="0" dirty="0"/>
              <a:t> </a:t>
            </a:r>
            <a:r>
              <a:rPr lang="en-US" sz="1800" baseline="0" dirty="0" err="1"/>
              <a:t>thị</a:t>
            </a:r>
            <a:r>
              <a:rPr lang="en-US" sz="1800" baseline="0" dirty="0"/>
              <a:t> </a:t>
            </a:r>
            <a:r>
              <a:rPr lang="en-US" sz="1800" baseline="0" dirty="0" err="1"/>
              <a:t>trường</a:t>
            </a:r>
            <a:r>
              <a:rPr lang="en-US" sz="1800" baseline="0" dirty="0"/>
              <a:t> </a:t>
            </a:r>
            <a:r>
              <a:rPr lang="en-US" sz="1800" baseline="0" dirty="0" err="1"/>
              <a:t>chứng</a:t>
            </a:r>
            <a:r>
              <a:rPr lang="en-US" sz="1800" baseline="0" dirty="0"/>
              <a:t> </a:t>
            </a:r>
            <a:r>
              <a:rPr lang="en-US" sz="1800" baseline="0" dirty="0" err="1"/>
              <a:t>khoán</a:t>
            </a:r>
            <a:endParaRPr lang="en-US" sz="1800" baseline="0" dirty="0"/>
          </a:p>
          <a:p>
            <a:r>
              <a:rPr lang="en-US" sz="1800" baseline="0" dirty="0"/>
              <a:t>-</a:t>
            </a:r>
            <a:r>
              <a:rPr lang="en-US" sz="1800" baseline="0" dirty="0" err="1"/>
              <a:t>Thêm</a:t>
            </a:r>
            <a:r>
              <a:rPr lang="en-US" sz="1800" baseline="0" dirty="0"/>
              <a:t> </a:t>
            </a:r>
            <a:r>
              <a:rPr lang="en-US" sz="1800" baseline="0" dirty="0" err="1"/>
              <a:t>phía</a:t>
            </a:r>
            <a:r>
              <a:rPr lang="en-US" sz="1800" baseline="0" dirty="0"/>
              <a:t> </a:t>
            </a:r>
            <a:r>
              <a:rPr lang="en-US" sz="1800" baseline="0" dirty="0" err="1"/>
              <a:t>trước</a:t>
            </a:r>
            <a:r>
              <a:rPr lang="en-US" sz="1800" baseline="0" dirty="0"/>
              <a:t> </a:t>
            </a:r>
            <a:r>
              <a:rPr lang="en-US" sz="1800" baseline="0" dirty="0" err="1"/>
              <a:t>tên</a:t>
            </a:r>
            <a:r>
              <a:rPr lang="en-US" sz="1800" baseline="0" dirty="0"/>
              <a:t> </a:t>
            </a:r>
            <a:r>
              <a:rPr lang="en-US" sz="1800" baseline="0" dirty="0" err="1"/>
              <a:t>chữ</a:t>
            </a:r>
            <a:r>
              <a:rPr lang="en-US" sz="1800" baseline="0" dirty="0"/>
              <a:t> “e” </a:t>
            </a:r>
            <a:r>
              <a:rPr lang="en-US" sz="1800" baseline="0" dirty="0" err="1"/>
              <a:t>hoặc</a:t>
            </a:r>
            <a:r>
              <a:rPr lang="en-US" sz="1800" baseline="0" dirty="0"/>
              <a:t> </a:t>
            </a:r>
            <a:r>
              <a:rPr lang="en-US" sz="1800" baseline="0" dirty="0" err="1"/>
              <a:t>phía</a:t>
            </a:r>
            <a:r>
              <a:rPr lang="en-US" sz="1800" baseline="0" dirty="0"/>
              <a:t> </a:t>
            </a:r>
            <a:r>
              <a:rPr lang="en-US" sz="1800" baseline="0" dirty="0" err="1"/>
              <a:t>sau</a:t>
            </a:r>
            <a:r>
              <a:rPr lang="en-US" sz="1800" baseline="0" dirty="0"/>
              <a:t> “.com” </a:t>
            </a:r>
            <a:r>
              <a:rPr lang="en-US" sz="1800" baseline="0" dirty="0" err="1"/>
              <a:t>làm</a:t>
            </a:r>
            <a:r>
              <a:rPr lang="en-US" sz="1800" baseline="0" dirty="0"/>
              <a:t> </a:t>
            </a:r>
            <a:r>
              <a:rPr lang="en-US" sz="1800" baseline="0" dirty="0" err="1"/>
              <a:t>giá</a:t>
            </a:r>
            <a:r>
              <a:rPr lang="en-US" sz="1800" baseline="0" dirty="0"/>
              <a:t> </a:t>
            </a:r>
            <a:r>
              <a:rPr lang="en-US" sz="1800" baseline="0" dirty="0" err="1"/>
              <a:t>của</a:t>
            </a:r>
            <a:r>
              <a:rPr lang="en-US" sz="1800" baseline="0" dirty="0"/>
              <a:t> </a:t>
            </a:r>
            <a:r>
              <a:rPr lang="en-US" sz="1800" baseline="0" dirty="0" err="1"/>
              <a:t>chúng</a:t>
            </a:r>
            <a:r>
              <a:rPr lang="en-US" sz="1800" baseline="0" dirty="0"/>
              <a:t> </a:t>
            </a:r>
            <a:r>
              <a:rPr lang="en-US" sz="1800" baseline="0" dirty="0" err="1"/>
              <a:t>được</a:t>
            </a:r>
            <a:r>
              <a:rPr lang="en-US" sz="1800" baseline="0" dirty="0"/>
              <a:t> </a:t>
            </a:r>
            <a:r>
              <a:rPr lang="en-US" sz="1800" baseline="0" dirty="0" err="1"/>
              <a:t>tăng</a:t>
            </a:r>
            <a:r>
              <a:rPr lang="en-US" sz="1800" baseline="0" dirty="0"/>
              <a:t> </a:t>
            </a:r>
            <a:r>
              <a:rPr lang="en-US" sz="1800" baseline="0" dirty="0" err="1"/>
              <a:t>lên</a:t>
            </a:r>
            <a:endParaRPr lang="en-US" sz="1800" baseline="0" dirty="0"/>
          </a:p>
          <a:p>
            <a:r>
              <a:rPr lang="en-US" sz="1800" baseline="0" dirty="0"/>
              <a:t>-Pets.com: </a:t>
            </a:r>
            <a:r>
              <a:rPr lang="en-US" sz="1800" baseline="0" dirty="0" err="1"/>
              <a:t>thành</a:t>
            </a:r>
            <a:r>
              <a:rPr lang="en-US" sz="1800" baseline="0" dirty="0"/>
              <a:t> </a:t>
            </a:r>
            <a:r>
              <a:rPr lang="en-US" sz="1800" baseline="0" dirty="0" err="1"/>
              <a:t>lập</a:t>
            </a:r>
            <a:r>
              <a:rPr lang="en-US" sz="1800" baseline="0" dirty="0"/>
              <a:t> 8/1998 – </a:t>
            </a:r>
            <a:r>
              <a:rPr lang="en-US" sz="1800" baseline="0" dirty="0" err="1"/>
              <a:t>phá</a:t>
            </a:r>
            <a:r>
              <a:rPr lang="en-US" sz="1800" baseline="0" dirty="0"/>
              <a:t> </a:t>
            </a:r>
            <a:r>
              <a:rPr lang="en-US" sz="1800" baseline="0" dirty="0" err="1"/>
              <a:t>sản</a:t>
            </a:r>
            <a:r>
              <a:rPr lang="en-US" sz="1800" baseline="0" dirty="0"/>
              <a:t> 11/2000, </a:t>
            </a:r>
            <a:r>
              <a:rPr lang="en-US" sz="1800" baseline="0" dirty="0" err="1"/>
              <a:t>lỗ</a:t>
            </a:r>
            <a:r>
              <a:rPr lang="en-US" sz="1800" baseline="0" dirty="0"/>
              <a:t> 300 </a:t>
            </a:r>
            <a:r>
              <a:rPr lang="en-US" sz="1800" baseline="0" dirty="0" err="1"/>
              <a:t>triệu</a:t>
            </a:r>
            <a:r>
              <a:rPr lang="en-US" sz="1800" baseline="0" dirty="0"/>
              <a:t> USD =&gt; </a:t>
            </a:r>
            <a:r>
              <a:rPr lang="en-US" sz="1800" baseline="0" dirty="0" err="1"/>
              <a:t>được</a:t>
            </a:r>
            <a:r>
              <a:rPr lang="en-US" sz="1800" baseline="0" dirty="0"/>
              <a:t> </a:t>
            </a:r>
            <a:r>
              <a:rPr lang="en-US" sz="1800" baseline="0" dirty="0" err="1"/>
              <a:t>xem</a:t>
            </a:r>
            <a:r>
              <a:rPr lang="en-US" sz="1800" baseline="0" dirty="0"/>
              <a:t> </a:t>
            </a:r>
            <a:r>
              <a:rPr lang="en-US" sz="1800" baseline="0" dirty="0" err="1"/>
              <a:t>là</a:t>
            </a:r>
            <a:r>
              <a:rPr lang="en-US" sz="1800" baseline="0" dirty="0"/>
              <a:t> </a:t>
            </a:r>
            <a:r>
              <a:rPr lang="en-US" sz="1800" baseline="0" dirty="0" err="1"/>
              <a:t>một</a:t>
            </a:r>
            <a:r>
              <a:rPr lang="en-US" sz="1800" baseline="0" dirty="0"/>
              <a:t> </a:t>
            </a:r>
            <a:r>
              <a:rPr lang="en-US" sz="1800" baseline="0" dirty="0" err="1"/>
              <a:t>trong</a:t>
            </a:r>
            <a:r>
              <a:rPr lang="en-US" sz="1800" baseline="0" dirty="0"/>
              <a:t> </a:t>
            </a:r>
            <a:r>
              <a:rPr lang="en-US" sz="1800" baseline="0" dirty="0" err="1"/>
              <a:t>những</a:t>
            </a:r>
            <a:r>
              <a:rPr lang="en-US" sz="1800" baseline="0" dirty="0"/>
              <a:t> </a:t>
            </a:r>
            <a:r>
              <a:rPr lang="en-US" sz="1800" baseline="0" dirty="0" err="1"/>
              <a:t>thảm</a:t>
            </a:r>
            <a:r>
              <a:rPr lang="en-US" sz="1800" baseline="0" dirty="0"/>
              <a:t> </a:t>
            </a:r>
            <a:r>
              <a:rPr lang="en-US" sz="1800" baseline="0" dirty="0" err="1"/>
              <a:t>họa</a:t>
            </a:r>
            <a:r>
              <a:rPr lang="en-US" sz="1800" baseline="0" dirty="0"/>
              <a:t> </a:t>
            </a:r>
            <a:r>
              <a:rPr lang="en-US" sz="1800" baseline="0" dirty="0" err="1"/>
              <a:t>lớn</a:t>
            </a:r>
            <a:r>
              <a:rPr lang="en-US" sz="1800" baseline="0" dirty="0"/>
              <a:t> </a:t>
            </a:r>
            <a:r>
              <a:rPr lang="en-US" sz="1800" baseline="0" dirty="0" err="1"/>
              <a:t>nhất</a:t>
            </a:r>
            <a:r>
              <a:rPr lang="en-US" sz="1800" baseline="0" dirty="0"/>
              <a:t> dot com business</a:t>
            </a:r>
          </a:p>
          <a:p>
            <a:r>
              <a:rPr lang="en-US" sz="1800" baseline="0" dirty="0"/>
              <a:t>-Boo.com: </a:t>
            </a:r>
            <a:r>
              <a:rPr lang="en-US" sz="1800" baseline="0" dirty="0" err="1"/>
              <a:t>bán</a:t>
            </a:r>
            <a:r>
              <a:rPr lang="en-US" sz="1800" baseline="0" dirty="0"/>
              <a:t> </a:t>
            </a:r>
            <a:r>
              <a:rPr lang="en-US" sz="1800" baseline="0" dirty="0" err="1"/>
              <a:t>hàng</a:t>
            </a:r>
            <a:r>
              <a:rPr lang="en-US" sz="1800" baseline="0" dirty="0"/>
              <a:t> </a:t>
            </a:r>
            <a:r>
              <a:rPr lang="en-US" sz="1800" baseline="0" dirty="0" err="1"/>
              <a:t>thời</a:t>
            </a:r>
            <a:r>
              <a:rPr lang="en-US" sz="1800" baseline="0" dirty="0"/>
              <a:t> </a:t>
            </a:r>
            <a:r>
              <a:rPr lang="en-US" sz="1800" baseline="0" dirty="0" err="1"/>
              <a:t>trang</a:t>
            </a:r>
            <a:r>
              <a:rPr lang="en-US" sz="1800" baseline="0" dirty="0"/>
              <a:t> </a:t>
            </a:r>
            <a:r>
              <a:rPr lang="en-US" sz="1800" baseline="0" dirty="0" err="1"/>
              <a:t>và</a:t>
            </a:r>
            <a:r>
              <a:rPr lang="en-US" sz="1800" baseline="0" dirty="0"/>
              <a:t> </a:t>
            </a:r>
            <a:r>
              <a:rPr lang="en-US" sz="1800" baseline="0" dirty="0" err="1"/>
              <a:t>mỹ</a:t>
            </a:r>
            <a:r>
              <a:rPr lang="en-US" sz="1800" baseline="0" dirty="0"/>
              <a:t> </a:t>
            </a:r>
            <a:r>
              <a:rPr lang="en-US" sz="1800" baseline="0" dirty="0" err="1"/>
              <a:t>phẩm</a:t>
            </a:r>
            <a:r>
              <a:rPr lang="en-US" sz="1800" baseline="0" dirty="0"/>
              <a:t>, </a:t>
            </a:r>
            <a:r>
              <a:rPr lang="en-US" sz="1800" baseline="0" dirty="0" err="1"/>
              <a:t>tiêu</a:t>
            </a:r>
            <a:r>
              <a:rPr lang="en-US" sz="1800" baseline="0" dirty="0"/>
              <a:t> 188 </a:t>
            </a:r>
            <a:r>
              <a:rPr lang="en-US" sz="1800" baseline="0" dirty="0" err="1"/>
              <a:t>triệu</a:t>
            </a:r>
            <a:r>
              <a:rPr lang="en-US" sz="1800" baseline="0" dirty="0"/>
              <a:t> USD </a:t>
            </a:r>
            <a:r>
              <a:rPr lang="en-US" sz="1800" baseline="0" dirty="0" err="1"/>
              <a:t>trong</a:t>
            </a:r>
            <a:r>
              <a:rPr lang="en-US" sz="1800" baseline="0" dirty="0"/>
              <a:t> </a:t>
            </a:r>
            <a:r>
              <a:rPr lang="en-US" sz="1800" baseline="0" dirty="0" err="1"/>
              <a:t>vòng</a:t>
            </a:r>
            <a:r>
              <a:rPr lang="en-US" sz="1800" baseline="0" dirty="0"/>
              <a:t> 6 </a:t>
            </a:r>
            <a:r>
              <a:rPr lang="en-US" sz="1800" baseline="0" dirty="0" err="1"/>
              <a:t>tháng</a:t>
            </a:r>
            <a:r>
              <a:rPr lang="en-US" sz="1800" baseline="0" dirty="0"/>
              <a:t>, </a:t>
            </a:r>
            <a:r>
              <a:rPr lang="en-US" sz="1800" baseline="0" dirty="0" err="1"/>
              <a:t>thảm</a:t>
            </a:r>
            <a:r>
              <a:rPr lang="en-US" sz="1800" baseline="0" dirty="0"/>
              <a:t> </a:t>
            </a:r>
            <a:r>
              <a:rPr lang="en-US" sz="1800" baseline="0" dirty="0" err="1"/>
              <a:t>họa</a:t>
            </a:r>
            <a:r>
              <a:rPr lang="en-US" sz="1800" baseline="0" dirty="0"/>
              <a:t> </a:t>
            </a:r>
            <a:r>
              <a:rPr lang="en-US" sz="1800" baseline="0" dirty="0" err="1"/>
              <a:t>giống</a:t>
            </a:r>
            <a:r>
              <a:rPr lang="en-US" sz="1800" baseline="0" dirty="0"/>
              <a:t> Pets.com</a:t>
            </a:r>
          </a:p>
          <a:p>
            <a:r>
              <a:rPr lang="en-US" sz="1800" baseline="0" dirty="0"/>
              <a:t>-Cisco: </a:t>
            </a:r>
            <a:r>
              <a:rPr lang="en-US" sz="1800" baseline="0" dirty="0" err="1"/>
              <a:t>giá</a:t>
            </a:r>
            <a:r>
              <a:rPr lang="en-US" sz="1800" baseline="0" dirty="0"/>
              <a:t> </a:t>
            </a:r>
            <a:r>
              <a:rPr lang="en-US" sz="1800" baseline="0" dirty="0" err="1"/>
              <a:t>trị</a:t>
            </a:r>
            <a:r>
              <a:rPr lang="en-US" sz="1800" baseline="0" dirty="0"/>
              <a:t> </a:t>
            </a:r>
            <a:r>
              <a:rPr lang="en-US" sz="1800" baseline="0" dirty="0" err="1"/>
              <a:t>cổ</a:t>
            </a:r>
            <a:r>
              <a:rPr lang="en-US" sz="1800" baseline="0" dirty="0"/>
              <a:t> </a:t>
            </a:r>
            <a:r>
              <a:rPr lang="en-US" sz="1800" baseline="0" dirty="0" err="1"/>
              <a:t>phiếu</a:t>
            </a:r>
            <a:r>
              <a:rPr lang="en-US" sz="1800" baseline="0" dirty="0"/>
              <a:t> </a:t>
            </a:r>
            <a:r>
              <a:rPr lang="en-US" sz="1800" baseline="0" dirty="0" err="1"/>
              <a:t>giảm</a:t>
            </a:r>
            <a:r>
              <a:rPr lang="en-US" sz="1800" baseline="0" dirty="0"/>
              <a:t> 86%, Amazon </a:t>
            </a:r>
            <a:r>
              <a:rPr lang="en-US" sz="1800" baseline="0" dirty="0" err="1"/>
              <a:t>giá</a:t>
            </a:r>
            <a:r>
              <a:rPr lang="en-US" sz="1800" baseline="0" dirty="0"/>
              <a:t> </a:t>
            </a:r>
            <a:r>
              <a:rPr lang="en-US" sz="1800" baseline="0" dirty="0" err="1"/>
              <a:t>từ</a:t>
            </a:r>
            <a:r>
              <a:rPr lang="en-US" sz="1800" baseline="0" dirty="0"/>
              <a:t> 107 -&gt; 7 </a:t>
            </a:r>
            <a:r>
              <a:rPr lang="en-US" sz="1800" baseline="0" dirty="0" err="1"/>
              <a:t>trên</a:t>
            </a:r>
            <a:r>
              <a:rPr lang="en-US" sz="1800" baseline="0" dirty="0"/>
              <a:t> </a:t>
            </a:r>
            <a:r>
              <a:rPr lang="en-US" sz="1800" baseline="0" dirty="0" err="1"/>
              <a:t>mỗi</a:t>
            </a:r>
            <a:r>
              <a:rPr lang="en-US" sz="1800" baseline="0" dirty="0"/>
              <a:t> </a:t>
            </a:r>
            <a:r>
              <a:rPr lang="en-US" sz="1800" baseline="0" dirty="0" err="1"/>
              <a:t>cổ</a:t>
            </a:r>
            <a:r>
              <a:rPr lang="en-US" sz="1800" baseline="0" dirty="0"/>
              <a:t> </a:t>
            </a:r>
            <a:r>
              <a:rPr lang="en-US" sz="1800" baseline="0" dirty="0" err="1"/>
              <a:t>phần</a:t>
            </a:r>
            <a:r>
              <a:rPr lang="en-US" sz="1800" baseline="0" dirty="0"/>
              <a:t> (</a:t>
            </a:r>
            <a:r>
              <a:rPr lang="en-US" sz="1800" baseline="0" dirty="0" err="1"/>
              <a:t>nhưng</a:t>
            </a:r>
            <a:r>
              <a:rPr lang="en-US" sz="1800" baseline="0" dirty="0"/>
              <a:t> </a:t>
            </a:r>
            <a:r>
              <a:rPr lang="en-US" sz="1800" baseline="0" dirty="0" err="1"/>
              <a:t>sau</a:t>
            </a:r>
            <a:r>
              <a:rPr lang="en-US" sz="1800" baseline="0" dirty="0"/>
              <a:t> </a:t>
            </a:r>
            <a:r>
              <a:rPr lang="en-US" sz="1800" baseline="0" dirty="0" err="1"/>
              <a:t>đó</a:t>
            </a:r>
            <a:r>
              <a:rPr lang="en-US" sz="1800" baseline="0" dirty="0"/>
              <a:t> </a:t>
            </a:r>
            <a:r>
              <a:rPr lang="en-US" sz="1800" baseline="0" dirty="0" err="1"/>
              <a:t>phát</a:t>
            </a:r>
            <a:r>
              <a:rPr lang="en-US" sz="1800" baseline="0" dirty="0"/>
              <a:t> </a:t>
            </a:r>
            <a:r>
              <a:rPr lang="en-US" sz="1800" baseline="0" dirty="0" err="1"/>
              <a:t>triển</a:t>
            </a:r>
            <a:r>
              <a:rPr lang="en-US" sz="1800" baseline="0" dirty="0"/>
              <a:t> </a:t>
            </a:r>
            <a:r>
              <a:rPr lang="en-US" sz="1800" baseline="0" dirty="0" err="1"/>
              <a:t>hơn</a:t>
            </a:r>
            <a:r>
              <a:rPr lang="en-US" sz="1800" baseline="0" dirty="0"/>
              <a:t> </a:t>
            </a:r>
            <a:r>
              <a:rPr lang="en-US" sz="1800" baseline="0" dirty="0" err="1"/>
              <a:t>trước</a:t>
            </a:r>
            <a:r>
              <a:rPr lang="en-US" sz="1800" baseline="0" dirty="0"/>
              <a:t>)</a:t>
            </a:r>
          </a:p>
          <a:p>
            <a:pPr algn="l"/>
            <a:endParaRPr lang="en-US" sz="2800" b="0" i="0" dirty="0">
              <a:solidFill>
                <a:srgbClr val="111111"/>
              </a:solidFill>
              <a:effectLst/>
              <a:latin typeface="SourceSansPro"/>
            </a:endParaRPr>
          </a:p>
          <a:p>
            <a:pPr algn="l"/>
            <a:r>
              <a:rPr lang="en-US" sz="2800" b="0" i="0" dirty="0">
                <a:solidFill>
                  <a:srgbClr val="111111"/>
                </a:solidFill>
                <a:effectLst/>
                <a:latin typeface="SourceSansPro"/>
              </a:rPr>
              <a:t> During the dot-com bubble, Pets.com was one of five online pet stores that popped up during this time.</a:t>
            </a:r>
          </a:p>
          <a:p>
            <a:pPr algn="l"/>
            <a:r>
              <a:rPr lang="en-US" sz="2800" b="0" i="0" dirty="0">
                <a:solidFill>
                  <a:srgbClr val="111111"/>
                </a:solidFill>
                <a:effectLst/>
                <a:latin typeface="SourceSansPro"/>
              </a:rPr>
              <a:t>Pets.com stood out thanks to its stock puppet mascot and catchy slogan.</a:t>
            </a:r>
          </a:p>
          <a:p>
            <a:endParaRPr lang="en-US" sz="1800" baseline="0" dirty="0"/>
          </a:p>
          <a:p>
            <a:r>
              <a:rPr lang="en-US" sz="1800" b="0" i="0" dirty="0">
                <a:solidFill>
                  <a:srgbClr val="242021"/>
                </a:solidFill>
                <a:effectLst/>
                <a:latin typeface="Caslon224Std-Book"/>
              </a:rPr>
              <a:t>More than 5000 of these Internet start-up firms went out of business or were acquired</a:t>
            </a:r>
            <a:br>
              <a:rPr lang="en-US" sz="1800" b="0" i="0" dirty="0">
                <a:solidFill>
                  <a:srgbClr val="242021"/>
                </a:solidFill>
                <a:effectLst/>
                <a:latin typeface="Caslon224Std-Book"/>
              </a:rPr>
            </a:br>
            <a:r>
              <a:rPr lang="en-US" sz="1800" b="0" i="0" dirty="0">
                <a:solidFill>
                  <a:srgbClr val="242021"/>
                </a:solidFill>
                <a:effectLst/>
                <a:latin typeface="Caslon224Std-Book"/>
              </a:rPr>
              <a:t>in the downturn that began in 2000</a:t>
            </a:r>
            <a:r>
              <a:rPr lang="en-US" sz="2800" dirty="0"/>
              <a:t> </a:t>
            </a:r>
            <a:br>
              <a:rPr lang="en-US" sz="2800" dirty="0"/>
            </a:br>
            <a:endParaRPr lang="en-US" sz="1800" dirty="0"/>
          </a:p>
          <a:p>
            <a:endParaRPr lang="en-US" sz="1800" dirty="0"/>
          </a:p>
          <a:p>
            <a:endParaRPr lang="en-US" sz="1800" b="0" i="0" dirty="0">
              <a:solidFill>
                <a:srgbClr val="242021"/>
              </a:solidFill>
              <a:effectLst/>
              <a:latin typeface="Caslon224Std-Book"/>
            </a:endParaRPr>
          </a:p>
          <a:p>
            <a:endParaRPr lang="en-US" sz="1800" b="0" i="0" dirty="0">
              <a:solidFill>
                <a:srgbClr val="242021"/>
              </a:solidFill>
              <a:effectLst/>
              <a:latin typeface="Caslon224Std-Book"/>
            </a:endParaRPr>
          </a:p>
          <a:p>
            <a:r>
              <a:rPr lang="en-US" sz="1800" b="0" i="0" dirty="0">
                <a:solidFill>
                  <a:srgbClr val="242021"/>
                </a:solidFill>
                <a:effectLst/>
                <a:latin typeface="Caslon224Std-Book"/>
              </a:rPr>
              <a:t>Over the thousands of years that people have engaged in commerce with one another,</a:t>
            </a:r>
            <a:br>
              <a:rPr lang="en-US" sz="1800" b="0" i="0" dirty="0">
                <a:solidFill>
                  <a:srgbClr val="242021"/>
                </a:solidFill>
                <a:effectLst/>
                <a:latin typeface="Caslon224Std-Book"/>
              </a:rPr>
            </a:br>
            <a:r>
              <a:rPr lang="en-US" sz="1800" b="0" i="0" dirty="0">
                <a:solidFill>
                  <a:srgbClr val="242021"/>
                </a:solidFill>
                <a:effectLst/>
                <a:latin typeface="Caslon224Std-Book"/>
              </a:rPr>
              <a:t>they have adopted the tools and technologies that became available. For example, the</a:t>
            </a:r>
            <a:br>
              <a:rPr lang="en-US" sz="1800" b="0" i="0" dirty="0">
                <a:solidFill>
                  <a:srgbClr val="242021"/>
                </a:solidFill>
                <a:effectLst/>
                <a:latin typeface="Caslon224Std-Book"/>
              </a:rPr>
            </a:br>
            <a:r>
              <a:rPr lang="en-US" sz="1800" b="0" i="0" dirty="0">
                <a:solidFill>
                  <a:srgbClr val="242021"/>
                </a:solidFill>
                <a:effectLst/>
                <a:latin typeface="Caslon224Std-Book"/>
              </a:rPr>
              <a:t>advent of sailing ships in ancient times opened new avenues of trade to buyers and sellers.</a:t>
            </a:r>
            <a:br>
              <a:rPr lang="en-US" sz="1800" b="0" i="0" dirty="0">
                <a:solidFill>
                  <a:srgbClr val="242021"/>
                </a:solidFill>
                <a:effectLst/>
                <a:latin typeface="Caslon224Std-Book"/>
              </a:rPr>
            </a:br>
            <a:r>
              <a:rPr lang="en-US" sz="1800" b="0" i="0" dirty="0">
                <a:solidFill>
                  <a:srgbClr val="242021"/>
                </a:solidFill>
                <a:effectLst/>
                <a:latin typeface="Caslon224Std-Book"/>
              </a:rPr>
              <a:t>Later innovations, such as the printing press, steam engine, and telephone, have changed</a:t>
            </a:r>
            <a:br>
              <a:rPr lang="en-US" sz="1800" b="0" i="0" dirty="0">
                <a:solidFill>
                  <a:srgbClr val="242021"/>
                </a:solidFill>
                <a:effectLst/>
                <a:latin typeface="Caslon224Std-Book"/>
              </a:rPr>
            </a:br>
            <a:r>
              <a:rPr lang="en-US" sz="1800" b="0" i="0" dirty="0">
                <a:solidFill>
                  <a:srgbClr val="242021"/>
                </a:solidFill>
                <a:effectLst/>
                <a:latin typeface="Caslon224Std-Book"/>
              </a:rPr>
              <a:t>the way people conduct commerce activities. The Internet has changed the way people</a:t>
            </a:r>
            <a:br>
              <a:rPr lang="en-US" sz="1800" b="0" i="0" dirty="0">
                <a:solidFill>
                  <a:srgbClr val="242021"/>
                </a:solidFill>
                <a:effectLst/>
                <a:latin typeface="Caslon224Std-Book"/>
              </a:rPr>
            </a:br>
            <a:r>
              <a:rPr lang="en-US" sz="1800" b="0" i="0" dirty="0">
                <a:solidFill>
                  <a:srgbClr val="242021"/>
                </a:solidFill>
                <a:effectLst/>
                <a:latin typeface="Caslon224Std-Book"/>
              </a:rPr>
              <a:t>buy, sell, hire, and organize business activities in more ways and more rapidly than any</a:t>
            </a:r>
            <a:br>
              <a:rPr lang="en-US" sz="1800" b="0" i="0" dirty="0">
                <a:solidFill>
                  <a:srgbClr val="242021"/>
                </a:solidFill>
                <a:effectLst/>
                <a:latin typeface="Caslon224Std-Book"/>
              </a:rPr>
            </a:br>
            <a:r>
              <a:rPr lang="en-US" sz="1800" b="0" i="0" dirty="0">
                <a:solidFill>
                  <a:srgbClr val="242021"/>
                </a:solidFill>
                <a:effectLst/>
                <a:latin typeface="Caslon224Std-Book"/>
              </a:rPr>
              <a:t>other technology in the history of business.</a:t>
            </a:r>
            <a:r>
              <a:rPr lang="en-US" dirty="0"/>
              <a:t> </a:t>
            </a:r>
            <a:br>
              <a:rPr lang="en-US" dirty="0"/>
            </a:br>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11</a:t>
            </a:fld>
            <a:endParaRPr lang="en-US" altLang="en-US" dirty="0"/>
          </a:p>
        </p:txBody>
      </p:sp>
    </p:spTree>
    <p:extLst>
      <p:ext uri="{BB962C8B-B14F-4D97-AF65-F5344CB8AC3E}">
        <p14:creationId xmlns:p14="http://schemas.microsoft.com/office/powerpoint/2010/main" val="32504022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800" b="1" i="0" dirty="0">
                <a:solidFill>
                  <a:srgbClr val="202124"/>
                </a:solidFill>
                <a:effectLst/>
                <a:latin typeface="arial" panose="020B0604020202020204" pitchFamily="34" charset="0"/>
              </a:rPr>
              <a:t>January 1, 1983</a:t>
            </a:r>
            <a:r>
              <a:rPr lang="en-US" sz="2800" b="0" i="0" dirty="0">
                <a:solidFill>
                  <a:srgbClr val="202124"/>
                </a:solidFill>
                <a:effectLst/>
                <a:latin typeface="arial" panose="020B0604020202020204" pitchFamily="34" charset="0"/>
              </a:rPr>
              <a:t> is considered the official birthday of the Internet. Prior to this, the various computer networks did not have a standard way to communicate with each other. A new communications protocol was established called Transfer Control Protocol/Internetwork Protocol (TCP/IP).</a:t>
            </a:r>
          </a:p>
          <a:p>
            <a:endParaRPr lang="en-US" sz="1800" b="0" i="0" dirty="0">
              <a:solidFill>
                <a:srgbClr val="242021"/>
              </a:solidFill>
              <a:effectLst/>
              <a:latin typeface="Caslon224Std-Book"/>
            </a:endParaRPr>
          </a:p>
          <a:p>
            <a:r>
              <a:rPr lang="en-US" sz="1800" dirty="0"/>
              <a:t>-</a:t>
            </a:r>
            <a:r>
              <a:rPr lang="en-US" sz="1800" dirty="0" err="1"/>
              <a:t>Các</a:t>
            </a:r>
            <a:r>
              <a:rPr lang="en-US" sz="1800" baseline="0" dirty="0"/>
              <a:t> </a:t>
            </a:r>
            <a:r>
              <a:rPr lang="en-US" sz="1800" baseline="0" dirty="0" err="1"/>
              <a:t>công</a:t>
            </a:r>
            <a:r>
              <a:rPr lang="en-US" sz="1800" baseline="0" dirty="0"/>
              <a:t> ty internet </a:t>
            </a:r>
            <a:r>
              <a:rPr lang="en-US" sz="1800" baseline="0" dirty="0" err="1"/>
              <a:t>được</a:t>
            </a:r>
            <a:r>
              <a:rPr lang="en-US" sz="1800" baseline="0" dirty="0"/>
              <a:t> </a:t>
            </a:r>
            <a:r>
              <a:rPr lang="en-US" sz="1800" baseline="0" dirty="0" err="1"/>
              <a:t>thành</a:t>
            </a:r>
            <a:r>
              <a:rPr lang="en-US" sz="1800" baseline="0" dirty="0"/>
              <a:t> </a:t>
            </a:r>
            <a:r>
              <a:rPr lang="en-US" sz="1800" baseline="0" dirty="0" err="1"/>
              <a:t>lập</a:t>
            </a:r>
            <a:r>
              <a:rPr lang="en-US" sz="1800" baseline="0" dirty="0"/>
              <a:t> </a:t>
            </a:r>
            <a:r>
              <a:rPr lang="en-US" sz="1800" baseline="0" dirty="0" err="1"/>
              <a:t>hàng</a:t>
            </a:r>
            <a:r>
              <a:rPr lang="en-US" sz="1800" baseline="0" dirty="0"/>
              <a:t> </a:t>
            </a:r>
            <a:r>
              <a:rPr lang="en-US" sz="1800" baseline="0" dirty="0" err="1"/>
              <a:t>loạt</a:t>
            </a:r>
            <a:endParaRPr lang="en-US" sz="1800" baseline="0" dirty="0"/>
          </a:p>
          <a:p>
            <a:r>
              <a:rPr lang="en-US" sz="1800" baseline="0" dirty="0"/>
              <a:t>-</a:t>
            </a:r>
            <a:r>
              <a:rPr lang="en-US" sz="1800" baseline="0" dirty="0" err="1"/>
              <a:t>Giá</a:t>
            </a:r>
            <a:r>
              <a:rPr lang="en-US" sz="1800" baseline="0" dirty="0"/>
              <a:t> </a:t>
            </a:r>
            <a:r>
              <a:rPr lang="en-US" sz="1800" baseline="0" dirty="0" err="1"/>
              <a:t>cả</a:t>
            </a:r>
            <a:r>
              <a:rPr lang="en-US" sz="1800" baseline="0" dirty="0"/>
              <a:t> </a:t>
            </a:r>
            <a:r>
              <a:rPr lang="en-US" sz="1800" baseline="0" dirty="0" err="1"/>
              <a:t>cao</a:t>
            </a:r>
            <a:r>
              <a:rPr lang="en-US" sz="1800" baseline="0" dirty="0"/>
              <a:t> </a:t>
            </a:r>
            <a:r>
              <a:rPr lang="en-US" sz="1800" baseline="0" dirty="0" err="1"/>
              <a:t>trên</a:t>
            </a:r>
            <a:r>
              <a:rPr lang="en-US" sz="1800" baseline="0" dirty="0"/>
              <a:t> </a:t>
            </a:r>
            <a:r>
              <a:rPr lang="en-US" sz="1800" baseline="0" dirty="0" err="1"/>
              <a:t>thị</a:t>
            </a:r>
            <a:r>
              <a:rPr lang="en-US" sz="1800" baseline="0" dirty="0"/>
              <a:t> </a:t>
            </a:r>
            <a:r>
              <a:rPr lang="en-US" sz="1800" baseline="0" dirty="0" err="1"/>
              <a:t>trường</a:t>
            </a:r>
            <a:r>
              <a:rPr lang="en-US" sz="1800" baseline="0" dirty="0"/>
              <a:t> </a:t>
            </a:r>
            <a:r>
              <a:rPr lang="en-US" sz="1800" baseline="0" dirty="0" err="1"/>
              <a:t>chứng</a:t>
            </a:r>
            <a:r>
              <a:rPr lang="en-US" sz="1800" baseline="0" dirty="0"/>
              <a:t> </a:t>
            </a:r>
            <a:r>
              <a:rPr lang="en-US" sz="1800" baseline="0" dirty="0" err="1"/>
              <a:t>khoán</a:t>
            </a:r>
            <a:endParaRPr lang="en-US" sz="1800" baseline="0" dirty="0"/>
          </a:p>
          <a:p>
            <a:r>
              <a:rPr lang="en-US" sz="1800" baseline="0" dirty="0"/>
              <a:t>-</a:t>
            </a:r>
            <a:r>
              <a:rPr lang="en-US" sz="1800" baseline="0" dirty="0" err="1"/>
              <a:t>Thêm</a:t>
            </a:r>
            <a:r>
              <a:rPr lang="en-US" sz="1800" baseline="0" dirty="0"/>
              <a:t> </a:t>
            </a:r>
            <a:r>
              <a:rPr lang="en-US" sz="1800" baseline="0" dirty="0" err="1"/>
              <a:t>phía</a:t>
            </a:r>
            <a:r>
              <a:rPr lang="en-US" sz="1800" baseline="0" dirty="0"/>
              <a:t> </a:t>
            </a:r>
            <a:r>
              <a:rPr lang="en-US" sz="1800" baseline="0" dirty="0" err="1"/>
              <a:t>trước</a:t>
            </a:r>
            <a:r>
              <a:rPr lang="en-US" sz="1800" baseline="0" dirty="0"/>
              <a:t> </a:t>
            </a:r>
            <a:r>
              <a:rPr lang="en-US" sz="1800" baseline="0" dirty="0" err="1"/>
              <a:t>tên</a:t>
            </a:r>
            <a:r>
              <a:rPr lang="en-US" sz="1800" baseline="0" dirty="0"/>
              <a:t> </a:t>
            </a:r>
            <a:r>
              <a:rPr lang="en-US" sz="1800" baseline="0" dirty="0" err="1"/>
              <a:t>chữ</a:t>
            </a:r>
            <a:r>
              <a:rPr lang="en-US" sz="1800" baseline="0" dirty="0"/>
              <a:t> “e” </a:t>
            </a:r>
            <a:r>
              <a:rPr lang="en-US" sz="1800" baseline="0" dirty="0" err="1"/>
              <a:t>hoặc</a:t>
            </a:r>
            <a:r>
              <a:rPr lang="en-US" sz="1800" baseline="0" dirty="0"/>
              <a:t> </a:t>
            </a:r>
            <a:r>
              <a:rPr lang="en-US" sz="1800" baseline="0" dirty="0" err="1"/>
              <a:t>phía</a:t>
            </a:r>
            <a:r>
              <a:rPr lang="en-US" sz="1800" baseline="0" dirty="0"/>
              <a:t> </a:t>
            </a:r>
            <a:r>
              <a:rPr lang="en-US" sz="1800" baseline="0" dirty="0" err="1"/>
              <a:t>sau</a:t>
            </a:r>
            <a:r>
              <a:rPr lang="en-US" sz="1800" baseline="0" dirty="0"/>
              <a:t> “.com” </a:t>
            </a:r>
            <a:r>
              <a:rPr lang="en-US" sz="1800" baseline="0" dirty="0" err="1"/>
              <a:t>làm</a:t>
            </a:r>
            <a:r>
              <a:rPr lang="en-US" sz="1800" baseline="0" dirty="0"/>
              <a:t> </a:t>
            </a:r>
            <a:r>
              <a:rPr lang="en-US" sz="1800" baseline="0" dirty="0" err="1"/>
              <a:t>giá</a:t>
            </a:r>
            <a:r>
              <a:rPr lang="en-US" sz="1800" baseline="0" dirty="0"/>
              <a:t> </a:t>
            </a:r>
            <a:r>
              <a:rPr lang="en-US" sz="1800" baseline="0" dirty="0" err="1"/>
              <a:t>của</a:t>
            </a:r>
            <a:r>
              <a:rPr lang="en-US" sz="1800" baseline="0" dirty="0"/>
              <a:t> </a:t>
            </a:r>
            <a:r>
              <a:rPr lang="en-US" sz="1800" baseline="0" dirty="0" err="1"/>
              <a:t>chúng</a:t>
            </a:r>
            <a:r>
              <a:rPr lang="en-US" sz="1800" baseline="0" dirty="0"/>
              <a:t> </a:t>
            </a:r>
            <a:r>
              <a:rPr lang="en-US" sz="1800" baseline="0" dirty="0" err="1"/>
              <a:t>được</a:t>
            </a:r>
            <a:r>
              <a:rPr lang="en-US" sz="1800" baseline="0" dirty="0"/>
              <a:t> </a:t>
            </a:r>
            <a:r>
              <a:rPr lang="en-US" sz="1800" baseline="0" dirty="0" err="1"/>
              <a:t>tăng</a:t>
            </a:r>
            <a:r>
              <a:rPr lang="en-US" sz="1800" baseline="0" dirty="0"/>
              <a:t> </a:t>
            </a:r>
            <a:r>
              <a:rPr lang="en-US" sz="1800" baseline="0" dirty="0" err="1"/>
              <a:t>lên</a:t>
            </a:r>
            <a:endParaRPr lang="en-US" sz="1800" baseline="0" dirty="0"/>
          </a:p>
          <a:p>
            <a:r>
              <a:rPr lang="en-US" sz="1800" baseline="0" dirty="0"/>
              <a:t>-Pets.com: </a:t>
            </a:r>
            <a:r>
              <a:rPr lang="en-US" sz="1800" baseline="0" dirty="0" err="1"/>
              <a:t>thành</a:t>
            </a:r>
            <a:r>
              <a:rPr lang="en-US" sz="1800" baseline="0" dirty="0"/>
              <a:t> </a:t>
            </a:r>
            <a:r>
              <a:rPr lang="en-US" sz="1800" baseline="0" dirty="0" err="1"/>
              <a:t>lập</a:t>
            </a:r>
            <a:r>
              <a:rPr lang="en-US" sz="1800" baseline="0" dirty="0"/>
              <a:t> 8/1998 – </a:t>
            </a:r>
            <a:r>
              <a:rPr lang="en-US" sz="1800" baseline="0" dirty="0" err="1"/>
              <a:t>phá</a:t>
            </a:r>
            <a:r>
              <a:rPr lang="en-US" sz="1800" baseline="0" dirty="0"/>
              <a:t> </a:t>
            </a:r>
            <a:r>
              <a:rPr lang="en-US" sz="1800" baseline="0" dirty="0" err="1"/>
              <a:t>sản</a:t>
            </a:r>
            <a:r>
              <a:rPr lang="en-US" sz="1800" baseline="0" dirty="0"/>
              <a:t> 11/2000, </a:t>
            </a:r>
            <a:r>
              <a:rPr lang="en-US" sz="1800" baseline="0" dirty="0" err="1"/>
              <a:t>lỗ</a:t>
            </a:r>
            <a:r>
              <a:rPr lang="en-US" sz="1800" baseline="0" dirty="0"/>
              <a:t> 300 </a:t>
            </a:r>
            <a:r>
              <a:rPr lang="en-US" sz="1800" baseline="0" dirty="0" err="1"/>
              <a:t>triệu</a:t>
            </a:r>
            <a:r>
              <a:rPr lang="en-US" sz="1800" baseline="0" dirty="0"/>
              <a:t> USD =&gt; </a:t>
            </a:r>
            <a:r>
              <a:rPr lang="en-US" sz="1800" baseline="0" dirty="0" err="1"/>
              <a:t>được</a:t>
            </a:r>
            <a:r>
              <a:rPr lang="en-US" sz="1800" baseline="0" dirty="0"/>
              <a:t> </a:t>
            </a:r>
            <a:r>
              <a:rPr lang="en-US" sz="1800" baseline="0" dirty="0" err="1"/>
              <a:t>xem</a:t>
            </a:r>
            <a:r>
              <a:rPr lang="en-US" sz="1800" baseline="0" dirty="0"/>
              <a:t> </a:t>
            </a:r>
            <a:r>
              <a:rPr lang="en-US" sz="1800" baseline="0" dirty="0" err="1"/>
              <a:t>là</a:t>
            </a:r>
            <a:r>
              <a:rPr lang="en-US" sz="1800" baseline="0" dirty="0"/>
              <a:t> </a:t>
            </a:r>
            <a:r>
              <a:rPr lang="en-US" sz="1800" baseline="0" dirty="0" err="1"/>
              <a:t>một</a:t>
            </a:r>
            <a:r>
              <a:rPr lang="en-US" sz="1800" baseline="0" dirty="0"/>
              <a:t> </a:t>
            </a:r>
            <a:r>
              <a:rPr lang="en-US" sz="1800" baseline="0" dirty="0" err="1"/>
              <a:t>trong</a:t>
            </a:r>
            <a:r>
              <a:rPr lang="en-US" sz="1800" baseline="0" dirty="0"/>
              <a:t> </a:t>
            </a:r>
            <a:r>
              <a:rPr lang="en-US" sz="1800" baseline="0" dirty="0" err="1"/>
              <a:t>những</a:t>
            </a:r>
            <a:r>
              <a:rPr lang="en-US" sz="1800" baseline="0" dirty="0"/>
              <a:t> </a:t>
            </a:r>
            <a:r>
              <a:rPr lang="en-US" sz="1800" baseline="0" dirty="0" err="1"/>
              <a:t>thảm</a:t>
            </a:r>
            <a:r>
              <a:rPr lang="en-US" sz="1800" baseline="0" dirty="0"/>
              <a:t> </a:t>
            </a:r>
            <a:r>
              <a:rPr lang="en-US" sz="1800" baseline="0" dirty="0" err="1"/>
              <a:t>họa</a:t>
            </a:r>
            <a:r>
              <a:rPr lang="en-US" sz="1800" baseline="0" dirty="0"/>
              <a:t> </a:t>
            </a:r>
            <a:r>
              <a:rPr lang="en-US" sz="1800" baseline="0" dirty="0" err="1"/>
              <a:t>lớn</a:t>
            </a:r>
            <a:r>
              <a:rPr lang="en-US" sz="1800" baseline="0" dirty="0"/>
              <a:t> </a:t>
            </a:r>
            <a:r>
              <a:rPr lang="en-US" sz="1800" baseline="0" dirty="0" err="1"/>
              <a:t>nhất</a:t>
            </a:r>
            <a:r>
              <a:rPr lang="en-US" sz="1800" baseline="0" dirty="0"/>
              <a:t> dot com business</a:t>
            </a:r>
          </a:p>
          <a:p>
            <a:r>
              <a:rPr lang="en-US" sz="1800" baseline="0" dirty="0"/>
              <a:t>-Boo.com: </a:t>
            </a:r>
            <a:r>
              <a:rPr lang="en-US" sz="1800" baseline="0" dirty="0" err="1"/>
              <a:t>bán</a:t>
            </a:r>
            <a:r>
              <a:rPr lang="en-US" sz="1800" baseline="0" dirty="0"/>
              <a:t> </a:t>
            </a:r>
            <a:r>
              <a:rPr lang="en-US" sz="1800" baseline="0" dirty="0" err="1"/>
              <a:t>hàng</a:t>
            </a:r>
            <a:r>
              <a:rPr lang="en-US" sz="1800" baseline="0" dirty="0"/>
              <a:t> </a:t>
            </a:r>
            <a:r>
              <a:rPr lang="en-US" sz="1800" baseline="0" dirty="0" err="1"/>
              <a:t>thời</a:t>
            </a:r>
            <a:r>
              <a:rPr lang="en-US" sz="1800" baseline="0" dirty="0"/>
              <a:t> </a:t>
            </a:r>
            <a:r>
              <a:rPr lang="en-US" sz="1800" baseline="0" dirty="0" err="1"/>
              <a:t>trang</a:t>
            </a:r>
            <a:r>
              <a:rPr lang="en-US" sz="1800" baseline="0" dirty="0"/>
              <a:t> </a:t>
            </a:r>
            <a:r>
              <a:rPr lang="en-US" sz="1800" baseline="0" dirty="0" err="1"/>
              <a:t>và</a:t>
            </a:r>
            <a:r>
              <a:rPr lang="en-US" sz="1800" baseline="0" dirty="0"/>
              <a:t> </a:t>
            </a:r>
            <a:r>
              <a:rPr lang="en-US" sz="1800" baseline="0" dirty="0" err="1"/>
              <a:t>mỹ</a:t>
            </a:r>
            <a:r>
              <a:rPr lang="en-US" sz="1800" baseline="0" dirty="0"/>
              <a:t> </a:t>
            </a:r>
            <a:r>
              <a:rPr lang="en-US" sz="1800" baseline="0" dirty="0" err="1"/>
              <a:t>phẩm</a:t>
            </a:r>
            <a:r>
              <a:rPr lang="en-US" sz="1800" baseline="0" dirty="0"/>
              <a:t>, </a:t>
            </a:r>
            <a:r>
              <a:rPr lang="en-US" sz="1800" baseline="0" dirty="0" err="1"/>
              <a:t>tiêu</a:t>
            </a:r>
            <a:r>
              <a:rPr lang="en-US" sz="1800" baseline="0" dirty="0"/>
              <a:t> 188 </a:t>
            </a:r>
            <a:r>
              <a:rPr lang="en-US" sz="1800" baseline="0" dirty="0" err="1"/>
              <a:t>triệu</a:t>
            </a:r>
            <a:r>
              <a:rPr lang="en-US" sz="1800" baseline="0" dirty="0"/>
              <a:t> USD </a:t>
            </a:r>
            <a:r>
              <a:rPr lang="en-US" sz="1800" baseline="0" dirty="0" err="1"/>
              <a:t>trong</a:t>
            </a:r>
            <a:r>
              <a:rPr lang="en-US" sz="1800" baseline="0" dirty="0"/>
              <a:t> </a:t>
            </a:r>
            <a:r>
              <a:rPr lang="en-US" sz="1800" baseline="0" dirty="0" err="1"/>
              <a:t>vòng</a:t>
            </a:r>
            <a:r>
              <a:rPr lang="en-US" sz="1800" baseline="0" dirty="0"/>
              <a:t> 6 </a:t>
            </a:r>
            <a:r>
              <a:rPr lang="en-US" sz="1800" baseline="0" dirty="0" err="1"/>
              <a:t>tháng</a:t>
            </a:r>
            <a:r>
              <a:rPr lang="en-US" sz="1800" baseline="0" dirty="0"/>
              <a:t>, </a:t>
            </a:r>
            <a:r>
              <a:rPr lang="en-US" sz="1800" baseline="0" dirty="0" err="1"/>
              <a:t>thảm</a:t>
            </a:r>
            <a:r>
              <a:rPr lang="en-US" sz="1800" baseline="0" dirty="0"/>
              <a:t> </a:t>
            </a:r>
            <a:r>
              <a:rPr lang="en-US" sz="1800" baseline="0" dirty="0" err="1"/>
              <a:t>họa</a:t>
            </a:r>
            <a:r>
              <a:rPr lang="en-US" sz="1800" baseline="0" dirty="0"/>
              <a:t> </a:t>
            </a:r>
            <a:r>
              <a:rPr lang="en-US" sz="1800" baseline="0" dirty="0" err="1"/>
              <a:t>giống</a:t>
            </a:r>
            <a:r>
              <a:rPr lang="en-US" sz="1800" baseline="0" dirty="0"/>
              <a:t> Pets.com</a:t>
            </a:r>
          </a:p>
          <a:p>
            <a:r>
              <a:rPr lang="en-US" sz="1800" baseline="0" dirty="0"/>
              <a:t>-Cisco: </a:t>
            </a:r>
            <a:r>
              <a:rPr lang="en-US" sz="1800" baseline="0" dirty="0" err="1"/>
              <a:t>giá</a:t>
            </a:r>
            <a:r>
              <a:rPr lang="en-US" sz="1800" baseline="0" dirty="0"/>
              <a:t> </a:t>
            </a:r>
            <a:r>
              <a:rPr lang="en-US" sz="1800" baseline="0" dirty="0" err="1"/>
              <a:t>trị</a:t>
            </a:r>
            <a:r>
              <a:rPr lang="en-US" sz="1800" baseline="0" dirty="0"/>
              <a:t> </a:t>
            </a:r>
            <a:r>
              <a:rPr lang="en-US" sz="1800" baseline="0" dirty="0" err="1"/>
              <a:t>cổ</a:t>
            </a:r>
            <a:r>
              <a:rPr lang="en-US" sz="1800" baseline="0" dirty="0"/>
              <a:t> </a:t>
            </a:r>
            <a:r>
              <a:rPr lang="en-US" sz="1800" baseline="0" dirty="0" err="1"/>
              <a:t>phiếu</a:t>
            </a:r>
            <a:r>
              <a:rPr lang="en-US" sz="1800" baseline="0" dirty="0"/>
              <a:t> </a:t>
            </a:r>
            <a:r>
              <a:rPr lang="en-US" sz="1800" baseline="0" dirty="0" err="1"/>
              <a:t>giảm</a:t>
            </a:r>
            <a:r>
              <a:rPr lang="en-US" sz="1800" baseline="0" dirty="0"/>
              <a:t> 86%, Amazon </a:t>
            </a:r>
            <a:r>
              <a:rPr lang="en-US" sz="1800" baseline="0" dirty="0" err="1"/>
              <a:t>giá</a:t>
            </a:r>
            <a:r>
              <a:rPr lang="en-US" sz="1800" baseline="0" dirty="0"/>
              <a:t> </a:t>
            </a:r>
            <a:r>
              <a:rPr lang="en-US" sz="1800" baseline="0" dirty="0" err="1"/>
              <a:t>từ</a:t>
            </a:r>
            <a:r>
              <a:rPr lang="en-US" sz="1800" baseline="0" dirty="0"/>
              <a:t> 107 -&gt; 7 </a:t>
            </a:r>
            <a:r>
              <a:rPr lang="en-US" sz="1800" baseline="0" dirty="0" err="1"/>
              <a:t>trên</a:t>
            </a:r>
            <a:r>
              <a:rPr lang="en-US" sz="1800" baseline="0" dirty="0"/>
              <a:t> </a:t>
            </a:r>
            <a:r>
              <a:rPr lang="en-US" sz="1800" baseline="0" dirty="0" err="1"/>
              <a:t>mỗi</a:t>
            </a:r>
            <a:r>
              <a:rPr lang="en-US" sz="1800" baseline="0" dirty="0"/>
              <a:t> </a:t>
            </a:r>
            <a:r>
              <a:rPr lang="en-US" sz="1800" baseline="0" dirty="0" err="1"/>
              <a:t>cổ</a:t>
            </a:r>
            <a:r>
              <a:rPr lang="en-US" sz="1800" baseline="0" dirty="0"/>
              <a:t> </a:t>
            </a:r>
            <a:r>
              <a:rPr lang="en-US" sz="1800" baseline="0" dirty="0" err="1"/>
              <a:t>phần</a:t>
            </a:r>
            <a:r>
              <a:rPr lang="en-US" sz="1800" baseline="0" dirty="0"/>
              <a:t> (</a:t>
            </a:r>
            <a:r>
              <a:rPr lang="en-US" sz="1800" baseline="0" dirty="0" err="1"/>
              <a:t>nhưng</a:t>
            </a:r>
            <a:r>
              <a:rPr lang="en-US" sz="1800" baseline="0" dirty="0"/>
              <a:t> </a:t>
            </a:r>
            <a:r>
              <a:rPr lang="en-US" sz="1800" baseline="0" dirty="0" err="1"/>
              <a:t>sau</a:t>
            </a:r>
            <a:r>
              <a:rPr lang="en-US" sz="1800" baseline="0" dirty="0"/>
              <a:t> </a:t>
            </a:r>
            <a:r>
              <a:rPr lang="en-US" sz="1800" baseline="0" dirty="0" err="1"/>
              <a:t>đó</a:t>
            </a:r>
            <a:r>
              <a:rPr lang="en-US" sz="1800" baseline="0" dirty="0"/>
              <a:t> </a:t>
            </a:r>
            <a:r>
              <a:rPr lang="en-US" sz="1800" baseline="0" dirty="0" err="1"/>
              <a:t>phát</a:t>
            </a:r>
            <a:r>
              <a:rPr lang="en-US" sz="1800" baseline="0" dirty="0"/>
              <a:t> </a:t>
            </a:r>
            <a:r>
              <a:rPr lang="en-US" sz="1800" baseline="0" dirty="0" err="1"/>
              <a:t>triển</a:t>
            </a:r>
            <a:r>
              <a:rPr lang="en-US" sz="1800" baseline="0" dirty="0"/>
              <a:t> </a:t>
            </a:r>
            <a:r>
              <a:rPr lang="en-US" sz="1800" baseline="0" dirty="0" err="1"/>
              <a:t>hơn</a:t>
            </a:r>
            <a:r>
              <a:rPr lang="en-US" sz="1800" baseline="0" dirty="0"/>
              <a:t> </a:t>
            </a:r>
            <a:r>
              <a:rPr lang="en-US" sz="1800" baseline="0" dirty="0" err="1"/>
              <a:t>trước</a:t>
            </a:r>
            <a:r>
              <a:rPr lang="en-US" sz="1800" baseline="0" dirty="0"/>
              <a:t>)</a:t>
            </a:r>
          </a:p>
          <a:p>
            <a:pPr algn="l"/>
            <a:endParaRPr lang="en-US" sz="2800" b="0" i="0" dirty="0">
              <a:solidFill>
                <a:srgbClr val="111111"/>
              </a:solidFill>
              <a:effectLst/>
              <a:latin typeface="SourceSansPro"/>
            </a:endParaRPr>
          </a:p>
          <a:p>
            <a:pPr algn="l"/>
            <a:r>
              <a:rPr lang="en-US" sz="2800" b="0" i="0" dirty="0">
                <a:solidFill>
                  <a:srgbClr val="111111"/>
                </a:solidFill>
                <a:effectLst/>
                <a:latin typeface="SourceSansPro"/>
              </a:rPr>
              <a:t> During the dot-com bubble, Pets.com was one of five online pet stores that popped up during this time.</a:t>
            </a:r>
          </a:p>
          <a:p>
            <a:pPr algn="l"/>
            <a:r>
              <a:rPr lang="en-US" sz="2800" b="0" i="0" dirty="0">
                <a:solidFill>
                  <a:srgbClr val="111111"/>
                </a:solidFill>
                <a:effectLst/>
                <a:latin typeface="SourceSansPro"/>
              </a:rPr>
              <a:t>Pets.com stood out thanks to its stock puppet mascot and catchy slogan.</a:t>
            </a:r>
          </a:p>
          <a:p>
            <a:endParaRPr lang="en-US" sz="1800" baseline="0" dirty="0"/>
          </a:p>
          <a:p>
            <a:r>
              <a:rPr lang="en-US" sz="1800" b="0" i="0" dirty="0">
                <a:solidFill>
                  <a:srgbClr val="242021"/>
                </a:solidFill>
                <a:effectLst/>
                <a:latin typeface="Caslon224Std-Book"/>
              </a:rPr>
              <a:t>More than 5000 of these Internet start-up firms went out of business or were acquired</a:t>
            </a:r>
            <a:br>
              <a:rPr lang="en-US" sz="1800" b="0" i="0" dirty="0">
                <a:solidFill>
                  <a:srgbClr val="242021"/>
                </a:solidFill>
                <a:effectLst/>
                <a:latin typeface="Caslon224Std-Book"/>
              </a:rPr>
            </a:br>
            <a:r>
              <a:rPr lang="en-US" sz="1800" b="0" i="0" dirty="0">
                <a:solidFill>
                  <a:srgbClr val="242021"/>
                </a:solidFill>
                <a:effectLst/>
                <a:latin typeface="Caslon224Std-Book"/>
              </a:rPr>
              <a:t>in the downturn that began in 2000</a:t>
            </a:r>
            <a:r>
              <a:rPr lang="en-US" sz="2800" dirty="0"/>
              <a:t> </a:t>
            </a:r>
            <a:br>
              <a:rPr lang="en-US" sz="2800" dirty="0"/>
            </a:br>
            <a:endParaRPr lang="en-US" sz="1800" dirty="0"/>
          </a:p>
          <a:p>
            <a:endParaRPr lang="en-US" sz="1800" dirty="0"/>
          </a:p>
          <a:p>
            <a:endParaRPr lang="en-US" sz="1800" b="0" i="0" dirty="0">
              <a:solidFill>
                <a:srgbClr val="242021"/>
              </a:solidFill>
              <a:effectLst/>
              <a:latin typeface="Caslon224Std-Book"/>
            </a:endParaRPr>
          </a:p>
          <a:p>
            <a:endParaRPr lang="en-US" sz="1800" b="0" i="0" dirty="0">
              <a:solidFill>
                <a:srgbClr val="242021"/>
              </a:solidFill>
              <a:effectLst/>
              <a:latin typeface="Caslon224Std-Book"/>
            </a:endParaRPr>
          </a:p>
          <a:p>
            <a:r>
              <a:rPr lang="en-US" sz="1800" b="0" i="0" dirty="0">
                <a:solidFill>
                  <a:srgbClr val="242021"/>
                </a:solidFill>
                <a:effectLst/>
                <a:latin typeface="Caslon224Std-Book"/>
              </a:rPr>
              <a:t>Over the thousands of years that people have engaged in commerce with one another,</a:t>
            </a:r>
            <a:br>
              <a:rPr lang="en-US" sz="1800" b="0" i="0" dirty="0">
                <a:solidFill>
                  <a:srgbClr val="242021"/>
                </a:solidFill>
                <a:effectLst/>
                <a:latin typeface="Caslon224Std-Book"/>
              </a:rPr>
            </a:br>
            <a:r>
              <a:rPr lang="en-US" sz="1800" b="0" i="0" dirty="0">
                <a:solidFill>
                  <a:srgbClr val="242021"/>
                </a:solidFill>
                <a:effectLst/>
                <a:latin typeface="Caslon224Std-Book"/>
              </a:rPr>
              <a:t>they have adopted the tools and technologies that became available. For example, the</a:t>
            </a:r>
            <a:br>
              <a:rPr lang="en-US" sz="1800" b="0" i="0" dirty="0">
                <a:solidFill>
                  <a:srgbClr val="242021"/>
                </a:solidFill>
                <a:effectLst/>
                <a:latin typeface="Caslon224Std-Book"/>
              </a:rPr>
            </a:br>
            <a:r>
              <a:rPr lang="en-US" sz="1800" b="0" i="0" dirty="0">
                <a:solidFill>
                  <a:srgbClr val="242021"/>
                </a:solidFill>
                <a:effectLst/>
                <a:latin typeface="Caslon224Std-Book"/>
              </a:rPr>
              <a:t>advent of sailing ships in ancient times opened new avenues of trade to buyers and sellers.</a:t>
            </a:r>
            <a:br>
              <a:rPr lang="en-US" sz="1800" b="0" i="0" dirty="0">
                <a:solidFill>
                  <a:srgbClr val="242021"/>
                </a:solidFill>
                <a:effectLst/>
                <a:latin typeface="Caslon224Std-Book"/>
              </a:rPr>
            </a:br>
            <a:r>
              <a:rPr lang="en-US" sz="1800" b="0" i="0" dirty="0">
                <a:solidFill>
                  <a:srgbClr val="242021"/>
                </a:solidFill>
                <a:effectLst/>
                <a:latin typeface="Caslon224Std-Book"/>
              </a:rPr>
              <a:t>Later innovations, such as the printing press, steam engine, and telephone, have changed</a:t>
            </a:r>
            <a:br>
              <a:rPr lang="en-US" sz="1800" b="0" i="0" dirty="0">
                <a:solidFill>
                  <a:srgbClr val="242021"/>
                </a:solidFill>
                <a:effectLst/>
                <a:latin typeface="Caslon224Std-Book"/>
              </a:rPr>
            </a:br>
            <a:r>
              <a:rPr lang="en-US" sz="1800" b="0" i="0" dirty="0">
                <a:solidFill>
                  <a:srgbClr val="242021"/>
                </a:solidFill>
                <a:effectLst/>
                <a:latin typeface="Caslon224Std-Book"/>
              </a:rPr>
              <a:t>the way people conduct commerce activities. The Internet has changed the way people</a:t>
            </a:r>
            <a:br>
              <a:rPr lang="en-US" sz="1800" b="0" i="0" dirty="0">
                <a:solidFill>
                  <a:srgbClr val="242021"/>
                </a:solidFill>
                <a:effectLst/>
                <a:latin typeface="Caslon224Std-Book"/>
              </a:rPr>
            </a:br>
            <a:r>
              <a:rPr lang="en-US" sz="1800" b="0" i="0" dirty="0">
                <a:solidFill>
                  <a:srgbClr val="242021"/>
                </a:solidFill>
                <a:effectLst/>
                <a:latin typeface="Caslon224Std-Book"/>
              </a:rPr>
              <a:t>buy, sell, hire, and organize business activities in more ways and more rapidly than any</a:t>
            </a:r>
            <a:br>
              <a:rPr lang="en-US" sz="1800" b="0" i="0" dirty="0">
                <a:solidFill>
                  <a:srgbClr val="242021"/>
                </a:solidFill>
                <a:effectLst/>
                <a:latin typeface="Caslon224Std-Book"/>
              </a:rPr>
            </a:br>
            <a:r>
              <a:rPr lang="en-US" sz="1800" b="0" i="0" dirty="0">
                <a:solidFill>
                  <a:srgbClr val="242021"/>
                </a:solidFill>
                <a:effectLst/>
                <a:latin typeface="Caslon224Std-Book"/>
              </a:rPr>
              <a:t>other technology in the history of business.</a:t>
            </a:r>
            <a:r>
              <a:rPr lang="en-US" dirty="0"/>
              <a:t> </a:t>
            </a:r>
            <a:br>
              <a:rPr lang="en-US" dirty="0"/>
            </a:br>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12</a:t>
            </a:fld>
            <a:endParaRPr lang="en-US" altLang="en-US" dirty="0"/>
          </a:p>
        </p:txBody>
      </p:sp>
    </p:spTree>
    <p:extLst>
      <p:ext uri="{BB962C8B-B14F-4D97-AF65-F5344CB8AC3E}">
        <p14:creationId xmlns:p14="http://schemas.microsoft.com/office/powerpoint/2010/main" val="3072587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Giới</a:t>
            </a:r>
            <a:r>
              <a:rPr lang="en-US" baseline="0" dirty="0"/>
              <a:t> </a:t>
            </a:r>
            <a:r>
              <a:rPr lang="en-US" baseline="0" dirty="0" err="1"/>
              <a:t>thiệu</a:t>
            </a:r>
            <a:r>
              <a:rPr lang="en-US" baseline="0" dirty="0"/>
              <a:t> </a:t>
            </a:r>
            <a:r>
              <a:rPr lang="en-US" baseline="0" dirty="0" err="1"/>
              <a:t>về</a:t>
            </a:r>
            <a:r>
              <a:rPr lang="en-US" baseline="0" dirty="0"/>
              <a:t> business process</a:t>
            </a:r>
          </a:p>
          <a:p>
            <a:r>
              <a:rPr lang="en-US" b="1" dirty="0">
                <a:solidFill>
                  <a:schemeClr val="accent4"/>
                </a:solidFill>
              </a:rPr>
              <a:t>Business</a:t>
            </a:r>
            <a:r>
              <a:rPr lang="en-US" dirty="0">
                <a:solidFill>
                  <a:schemeClr val="accent4"/>
                </a:solidFill>
              </a:rPr>
              <a:t> </a:t>
            </a:r>
            <a:r>
              <a:rPr lang="en-US" b="1" dirty="0">
                <a:solidFill>
                  <a:schemeClr val="accent4"/>
                </a:solidFill>
              </a:rPr>
              <a:t>process</a:t>
            </a:r>
            <a:r>
              <a:rPr lang="en-US" dirty="0"/>
              <a:t>: collection of related activities to produce a specific service or product</a:t>
            </a:r>
          </a:p>
          <a:p>
            <a:pPr lvl="1"/>
            <a:r>
              <a:rPr lang="en-US" dirty="0"/>
              <a:t>Primary (core) processes: create value directly (purchasing, manufacturing, sales, etc.). </a:t>
            </a:r>
          </a:p>
          <a:p>
            <a:pPr lvl="1"/>
            <a:r>
              <a:rPr lang="en-US" dirty="0"/>
              <a:t>Supporting processes: support core processes (accounting, recruitment, technical support, etc.)</a:t>
            </a:r>
          </a:p>
          <a:p>
            <a:endParaRPr lang="en-US" baseline="0" dirty="0"/>
          </a:p>
          <a:p>
            <a:r>
              <a:rPr lang="en-US" baseline="0" dirty="0"/>
              <a:t>-Activity vs transaction (transaction </a:t>
            </a:r>
            <a:r>
              <a:rPr lang="en-US" baseline="0" dirty="0" err="1"/>
              <a:t>có</a:t>
            </a:r>
            <a:r>
              <a:rPr lang="en-US" baseline="0" dirty="0"/>
              <a:t> </a:t>
            </a:r>
            <a:r>
              <a:rPr lang="en-US" baseline="0" dirty="0" err="1"/>
              <a:t>trao</a:t>
            </a:r>
            <a:r>
              <a:rPr lang="en-US" baseline="0" dirty="0"/>
              <a:t> </a:t>
            </a:r>
            <a:r>
              <a:rPr lang="en-US" baseline="0" dirty="0" err="1"/>
              <a:t>đổi</a:t>
            </a:r>
            <a:r>
              <a:rPr lang="en-US" baseline="0" dirty="0"/>
              <a:t> </a:t>
            </a:r>
            <a:r>
              <a:rPr lang="en-US" baseline="0" dirty="0" err="1"/>
              <a:t>giá</a:t>
            </a:r>
            <a:r>
              <a:rPr lang="en-US" baseline="0" dirty="0"/>
              <a:t> </a:t>
            </a:r>
            <a:r>
              <a:rPr lang="en-US" baseline="0" dirty="0" err="1"/>
              <a:t>trị</a:t>
            </a:r>
            <a:r>
              <a:rPr lang="en-US" baseline="0" dirty="0"/>
              <a:t>, activity </a:t>
            </a:r>
            <a:r>
              <a:rPr lang="en-US" baseline="0" dirty="0" err="1"/>
              <a:t>có</a:t>
            </a:r>
            <a:r>
              <a:rPr lang="en-US" baseline="0" dirty="0"/>
              <a:t> </a:t>
            </a:r>
            <a:r>
              <a:rPr lang="en-US" baseline="0" dirty="0" err="1"/>
              <a:t>thể</a:t>
            </a:r>
            <a:r>
              <a:rPr lang="en-US" baseline="0" dirty="0"/>
              <a:t> </a:t>
            </a:r>
            <a:r>
              <a:rPr lang="en-US" baseline="0" dirty="0" err="1"/>
              <a:t>có</a:t>
            </a:r>
            <a:r>
              <a:rPr lang="en-US" baseline="0" dirty="0"/>
              <a:t> </a:t>
            </a:r>
            <a:r>
              <a:rPr lang="en-US" baseline="0" dirty="0" err="1"/>
              <a:t>hoặc</a:t>
            </a:r>
            <a:r>
              <a:rPr lang="en-US" baseline="0" dirty="0"/>
              <a:t> </a:t>
            </a:r>
            <a:r>
              <a:rPr lang="en-US" baseline="0" dirty="0" err="1"/>
              <a:t>không</a:t>
            </a:r>
            <a:r>
              <a:rPr lang="en-US" baseline="0" dirty="0"/>
              <a:t>)</a:t>
            </a:r>
          </a:p>
          <a:p>
            <a:r>
              <a:rPr lang="en-US" baseline="0" dirty="0"/>
              <a:t>-</a:t>
            </a:r>
            <a:r>
              <a:rPr lang="en-US" baseline="0" dirty="0" err="1"/>
              <a:t>Ví</a:t>
            </a:r>
            <a:r>
              <a:rPr lang="en-US" baseline="0" dirty="0"/>
              <a:t> </a:t>
            </a:r>
            <a:r>
              <a:rPr lang="en-US" baseline="0" dirty="0" err="1"/>
              <a:t>dụ</a:t>
            </a:r>
            <a:r>
              <a:rPr lang="en-US" baseline="0" dirty="0"/>
              <a:t> </a:t>
            </a:r>
            <a:r>
              <a:rPr lang="en-US" baseline="0" dirty="0" err="1"/>
              <a:t>về</a:t>
            </a:r>
            <a:r>
              <a:rPr lang="en-US" baseline="0" dirty="0"/>
              <a:t> </a:t>
            </a:r>
            <a:r>
              <a:rPr lang="en-US" baseline="0" dirty="0" err="1"/>
              <a:t>một</a:t>
            </a:r>
            <a:r>
              <a:rPr lang="en-US" baseline="0" dirty="0"/>
              <a:t> </a:t>
            </a:r>
            <a:r>
              <a:rPr lang="en-US" baseline="0" dirty="0" err="1"/>
              <a:t>vài</a:t>
            </a:r>
            <a:r>
              <a:rPr lang="en-US" baseline="0" dirty="0"/>
              <a:t> process: </a:t>
            </a:r>
            <a:r>
              <a:rPr lang="en-US" baseline="0" dirty="0" err="1"/>
              <a:t>bằng</a:t>
            </a:r>
            <a:r>
              <a:rPr lang="en-US" baseline="0" dirty="0"/>
              <a:t> </a:t>
            </a:r>
            <a:r>
              <a:rPr lang="en-US" baseline="0" dirty="0" err="1"/>
              <a:t>tay</a:t>
            </a:r>
            <a:r>
              <a:rPr lang="en-US" baseline="0" dirty="0"/>
              <a:t> </a:t>
            </a:r>
            <a:r>
              <a:rPr lang="en-US" baseline="0" dirty="0" err="1"/>
              <a:t>và</a:t>
            </a:r>
            <a:r>
              <a:rPr lang="en-US" baseline="0" dirty="0"/>
              <a:t> </a:t>
            </a:r>
            <a:r>
              <a:rPr lang="en-US" baseline="0" dirty="0" err="1"/>
              <a:t>tự</a:t>
            </a:r>
            <a:r>
              <a:rPr lang="en-US" baseline="0" dirty="0"/>
              <a:t> </a:t>
            </a:r>
            <a:r>
              <a:rPr lang="en-US" baseline="0" dirty="0" err="1"/>
              <a:t>động</a:t>
            </a:r>
            <a:r>
              <a:rPr lang="en-US" baseline="0" dirty="0"/>
              <a:t> (</a:t>
            </a:r>
            <a:r>
              <a:rPr lang="en-US" baseline="0" dirty="0" err="1"/>
              <a:t>ví</a:t>
            </a:r>
            <a:r>
              <a:rPr lang="en-US" baseline="0" dirty="0"/>
              <a:t> </a:t>
            </a:r>
            <a:r>
              <a:rPr lang="en-US" baseline="0" dirty="0" err="1"/>
              <a:t>dụ</a:t>
            </a:r>
            <a:r>
              <a:rPr lang="en-US" baseline="0" dirty="0"/>
              <a:t> </a:t>
            </a:r>
            <a:r>
              <a:rPr lang="en-US" baseline="0" dirty="0" err="1"/>
              <a:t>đăng</a:t>
            </a:r>
            <a:r>
              <a:rPr lang="en-US" baseline="0" dirty="0"/>
              <a:t> </a:t>
            </a:r>
            <a:r>
              <a:rPr lang="en-US" baseline="0" dirty="0" err="1"/>
              <a:t>ký</a:t>
            </a:r>
            <a:r>
              <a:rPr lang="en-US" baseline="0" dirty="0"/>
              <a:t> </a:t>
            </a:r>
            <a:r>
              <a:rPr lang="en-US" baseline="0" dirty="0" err="1"/>
              <a:t>môn</a:t>
            </a:r>
            <a:r>
              <a:rPr lang="en-US" baseline="0" dirty="0"/>
              <a:t> </a:t>
            </a:r>
            <a:r>
              <a:rPr lang="en-US" baseline="0" dirty="0" err="1"/>
              <a:t>học</a:t>
            </a:r>
            <a:r>
              <a:rPr lang="en-US" baseline="0" dirty="0"/>
              <a:t>)</a:t>
            </a:r>
          </a:p>
          <a:p>
            <a:r>
              <a:rPr lang="en-US" dirty="0"/>
              <a:t>-</a:t>
            </a:r>
            <a:r>
              <a:rPr lang="en-US" dirty="0" err="1"/>
              <a:t>Các</a:t>
            </a:r>
            <a:r>
              <a:rPr lang="en-US" baseline="0" dirty="0"/>
              <a:t> </a:t>
            </a:r>
            <a:r>
              <a:rPr lang="en-US" baseline="0" dirty="0" err="1"/>
              <a:t>công</a:t>
            </a:r>
            <a:r>
              <a:rPr lang="en-US" baseline="0" dirty="0"/>
              <a:t> ty </a:t>
            </a:r>
            <a:r>
              <a:rPr lang="en-US" baseline="0" dirty="0" err="1"/>
              <a:t>ngày</a:t>
            </a:r>
            <a:r>
              <a:rPr lang="en-US" baseline="0" dirty="0"/>
              <a:t> nay </a:t>
            </a:r>
            <a:r>
              <a:rPr lang="en-US" baseline="0" dirty="0" err="1"/>
              <a:t>tập</a:t>
            </a:r>
            <a:r>
              <a:rPr lang="en-US" baseline="0" dirty="0"/>
              <a:t> </a:t>
            </a:r>
            <a:r>
              <a:rPr lang="en-US" baseline="0" dirty="0" err="1"/>
              <a:t>trung</a:t>
            </a:r>
            <a:r>
              <a:rPr lang="en-US" baseline="0" dirty="0"/>
              <a:t> </a:t>
            </a:r>
            <a:r>
              <a:rPr lang="en-US" baseline="0" dirty="0" err="1"/>
              <a:t>vào</a:t>
            </a:r>
            <a:r>
              <a:rPr lang="en-US" baseline="0" dirty="0"/>
              <a:t> </a:t>
            </a:r>
            <a:r>
              <a:rPr lang="en-US" baseline="0" dirty="0" err="1"/>
              <a:t>việc</a:t>
            </a:r>
            <a:r>
              <a:rPr lang="en-US" baseline="0" dirty="0"/>
              <a:t> </a:t>
            </a:r>
            <a:r>
              <a:rPr lang="en-US" baseline="0" dirty="0" err="1"/>
              <a:t>phát</a:t>
            </a:r>
            <a:r>
              <a:rPr lang="en-US" baseline="0" dirty="0"/>
              <a:t> </a:t>
            </a:r>
            <a:r>
              <a:rPr lang="en-US" baseline="0" dirty="0" err="1"/>
              <a:t>triển</a:t>
            </a:r>
            <a:r>
              <a:rPr lang="en-US" baseline="0" dirty="0"/>
              <a:t>/</a:t>
            </a:r>
            <a:r>
              <a:rPr lang="en-US" baseline="0" dirty="0" err="1"/>
              <a:t>cải</a:t>
            </a:r>
            <a:r>
              <a:rPr lang="en-US" baseline="0" dirty="0"/>
              <a:t> </a:t>
            </a:r>
            <a:r>
              <a:rPr lang="en-US" baseline="0" dirty="0" err="1"/>
              <a:t>tạo</a:t>
            </a:r>
            <a:r>
              <a:rPr lang="en-US" baseline="0" dirty="0"/>
              <a:t> </a:t>
            </a:r>
            <a:r>
              <a:rPr lang="en-US" baseline="0" dirty="0" err="1"/>
              <a:t>từng</a:t>
            </a:r>
            <a:r>
              <a:rPr lang="en-US" baseline="0" dirty="0"/>
              <a:t> process </a:t>
            </a:r>
            <a:r>
              <a:rPr lang="en-US" baseline="0" dirty="0" err="1"/>
              <a:t>riêng</a:t>
            </a:r>
            <a:r>
              <a:rPr lang="en-US" baseline="0" dirty="0"/>
              <a:t> </a:t>
            </a:r>
            <a:r>
              <a:rPr lang="en-US" baseline="0" dirty="0" err="1"/>
              <a:t>lẻ</a:t>
            </a:r>
            <a:r>
              <a:rPr lang="en-US" baseline="0" dirty="0"/>
              <a:t> </a:t>
            </a:r>
            <a:r>
              <a:rPr lang="en-US" baseline="0" dirty="0" err="1"/>
              <a:t>thay</a:t>
            </a:r>
            <a:r>
              <a:rPr lang="en-US" baseline="0" dirty="0"/>
              <a:t> </a:t>
            </a:r>
            <a:r>
              <a:rPr lang="en-US" baseline="0" dirty="0" err="1"/>
              <a:t>vì</a:t>
            </a:r>
            <a:r>
              <a:rPr lang="en-US" baseline="0" dirty="0"/>
              <a:t> copy </a:t>
            </a:r>
            <a:r>
              <a:rPr lang="en-US" baseline="0" dirty="0" err="1"/>
              <a:t>các</a:t>
            </a:r>
            <a:r>
              <a:rPr lang="en-US" baseline="0" dirty="0"/>
              <a:t> </a:t>
            </a:r>
            <a:r>
              <a:rPr lang="en-US" baseline="0" dirty="0" err="1"/>
              <a:t>mô</a:t>
            </a:r>
            <a:r>
              <a:rPr lang="en-US" baseline="0" dirty="0"/>
              <a:t> </a:t>
            </a:r>
            <a:r>
              <a:rPr lang="en-US" baseline="0" dirty="0" err="1"/>
              <a:t>hình</a:t>
            </a:r>
            <a:r>
              <a:rPr lang="en-US" baseline="0" dirty="0"/>
              <a:t> </a:t>
            </a:r>
            <a:r>
              <a:rPr lang="en-US" baseline="0" dirty="0" err="1"/>
              <a:t>của</a:t>
            </a:r>
            <a:r>
              <a:rPr lang="en-US" baseline="0" dirty="0"/>
              <a:t> </a:t>
            </a:r>
            <a:r>
              <a:rPr lang="en-US" baseline="0" dirty="0" err="1"/>
              <a:t>công</a:t>
            </a:r>
            <a:r>
              <a:rPr lang="en-US" baseline="0" dirty="0"/>
              <a:t> ty </a:t>
            </a:r>
            <a:r>
              <a:rPr lang="en-US" baseline="0" dirty="0" err="1"/>
              <a:t>khác</a:t>
            </a:r>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14</a:t>
            </a:fld>
            <a:endParaRPr lang="en-US" altLang="en-US" dirty="0"/>
          </a:p>
        </p:txBody>
      </p:sp>
    </p:spTree>
    <p:extLst>
      <p:ext uri="{BB962C8B-B14F-4D97-AF65-F5344CB8AC3E}">
        <p14:creationId xmlns:p14="http://schemas.microsoft.com/office/powerpoint/2010/main" val="15631999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-So </a:t>
            </a:r>
            <a:r>
              <a:rPr lang="en-US" dirty="0" err="1"/>
              <a:t>sánh</a:t>
            </a:r>
            <a:r>
              <a:rPr lang="en-US" baseline="0" dirty="0"/>
              <a:t> </a:t>
            </a:r>
            <a:r>
              <a:rPr lang="en-US" baseline="0" dirty="0" err="1"/>
              <a:t>về</a:t>
            </a:r>
            <a:r>
              <a:rPr lang="en-US" baseline="0" dirty="0"/>
              <a:t> </a:t>
            </a:r>
            <a:r>
              <a:rPr lang="en-US" baseline="0" dirty="0" err="1"/>
              <a:t>sự</a:t>
            </a:r>
            <a:r>
              <a:rPr lang="en-US" baseline="0" dirty="0"/>
              <a:t> </a:t>
            </a:r>
            <a:r>
              <a:rPr lang="en-US" baseline="0" dirty="0" err="1"/>
              <a:t>phù</a:t>
            </a:r>
            <a:r>
              <a:rPr lang="en-US" baseline="0" dirty="0"/>
              <a:t> </a:t>
            </a:r>
            <a:r>
              <a:rPr lang="en-US" baseline="0" dirty="0" err="1"/>
              <a:t>hợp</a:t>
            </a:r>
            <a:r>
              <a:rPr lang="en-US" baseline="0" dirty="0"/>
              <a:t> </a:t>
            </a:r>
            <a:r>
              <a:rPr lang="en-US" baseline="0" dirty="0" err="1"/>
              <a:t>với</a:t>
            </a:r>
            <a:r>
              <a:rPr lang="en-US" baseline="0" dirty="0"/>
              <a:t> E-C </a:t>
            </a:r>
            <a:r>
              <a:rPr lang="en-US" baseline="0" dirty="0" err="1"/>
              <a:t>của</a:t>
            </a:r>
            <a:r>
              <a:rPr lang="en-US" baseline="0" dirty="0"/>
              <a:t> </a:t>
            </a:r>
            <a:r>
              <a:rPr lang="en-US" baseline="0" dirty="0" err="1"/>
              <a:t>một</a:t>
            </a:r>
            <a:r>
              <a:rPr lang="en-US" baseline="0" dirty="0"/>
              <a:t> </a:t>
            </a:r>
            <a:r>
              <a:rPr lang="en-US" baseline="0" dirty="0" err="1"/>
              <a:t>số</a:t>
            </a:r>
            <a:r>
              <a:rPr lang="en-US" baseline="0" dirty="0"/>
              <a:t> </a:t>
            </a:r>
            <a:r>
              <a:rPr lang="en-US" baseline="0" dirty="0" err="1"/>
              <a:t>sp</a:t>
            </a:r>
            <a:r>
              <a:rPr lang="en-US" baseline="0" dirty="0"/>
              <a:t>, </a:t>
            </a:r>
            <a:r>
              <a:rPr lang="en-US" baseline="0" dirty="0" err="1"/>
              <a:t>dịch</a:t>
            </a:r>
            <a:r>
              <a:rPr lang="en-US" baseline="0" dirty="0"/>
              <a:t> </a:t>
            </a:r>
            <a:r>
              <a:rPr lang="en-US" baseline="0" dirty="0" err="1"/>
              <a:t>vụ</a:t>
            </a:r>
            <a:endParaRPr lang="en-US" dirty="0"/>
          </a:p>
          <a:p>
            <a:r>
              <a:rPr lang="en-US" dirty="0"/>
              <a:t>- </a:t>
            </a:r>
            <a:r>
              <a:rPr lang="en-US" dirty="0" err="1"/>
              <a:t>Tài</a:t>
            </a:r>
            <a:r>
              <a:rPr lang="en-US" dirty="0"/>
              <a:t> </a:t>
            </a:r>
            <a:r>
              <a:rPr lang="en-US" dirty="0" err="1"/>
              <a:t>liệu</a:t>
            </a:r>
            <a:r>
              <a:rPr lang="en-US" dirty="0"/>
              <a:t> </a:t>
            </a:r>
            <a:r>
              <a:rPr lang="en-US" dirty="0" err="1"/>
              <a:t>cũ</a:t>
            </a:r>
            <a:r>
              <a:rPr lang="en-US" dirty="0"/>
              <a:t>: </a:t>
            </a:r>
            <a:r>
              <a:rPr lang="en-US" dirty="0" err="1"/>
              <a:t>sản</a:t>
            </a:r>
            <a:r>
              <a:rPr lang="en-US" dirty="0"/>
              <a:t> </a:t>
            </a:r>
            <a:r>
              <a:rPr lang="en-US" dirty="0" err="1"/>
              <a:t>phẩm</a:t>
            </a:r>
            <a:r>
              <a:rPr lang="en-US" dirty="0"/>
              <a:t> </a:t>
            </a:r>
            <a:r>
              <a:rPr lang="en-US" dirty="0" err="1"/>
              <a:t>giá</a:t>
            </a:r>
            <a:r>
              <a:rPr lang="en-US" dirty="0"/>
              <a:t> </a:t>
            </a:r>
            <a:r>
              <a:rPr lang="en-US" dirty="0" err="1"/>
              <a:t>trị</a:t>
            </a:r>
            <a:r>
              <a:rPr lang="en-US" dirty="0"/>
              <a:t> </a:t>
            </a:r>
            <a:r>
              <a:rPr lang="en-US" dirty="0" err="1"/>
              <a:t>thấp</a:t>
            </a:r>
            <a:r>
              <a:rPr lang="en-US" dirty="0"/>
              <a:t> ko </a:t>
            </a:r>
            <a:r>
              <a:rPr lang="en-US" dirty="0" err="1"/>
              <a:t>phù</a:t>
            </a:r>
            <a:r>
              <a:rPr lang="en-US" dirty="0"/>
              <a:t> </a:t>
            </a:r>
            <a:r>
              <a:rPr lang="en-US" dirty="0" err="1"/>
              <a:t>hợp</a:t>
            </a:r>
            <a:r>
              <a:rPr lang="en-US" dirty="0"/>
              <a:t> e-commerce. </a:t>
            </a:r>
            <a:r>
              <a:rPr lang="en-US" dirty="0" err="1"/>
              <a:t>Không</a:t>
            </a:r>
            <a:r>
              <a:rPr lang="en-US" dirty="0"/>
              <a:t> </a:t>
            </a:r>
            <a:r>
              <a:rPr lang="en-US" dirty="0" err="1"/>
              <a:t>còn</a:t>
            </a:r>
            <a:r>
              <a:rPr lang="en-US" dirty="0"/>
              <a:t> </a:t>
            </a:r>
            <a:r>
              <a:rPr lang="en-US" dirty="0" err="1"/>
              <a:t>đúng</a:t>
            </a:r>
            <a:r>
              <a:rPr lang="en-US" dirty="0"/>
              <a:t>.</a:t>
            </a:r>
          </a:p>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15</a:t>
            </a:fld>
            <a:endParaRPr lang="en-US" altLang="en-US" dirty="0"/>
          </a:p>
        </p:txBody>
      </p:sp>
    </p:spTree>
    <p:extLst>
      <p:ext uri="{BB962C8B-B14F-4D97-AF65-F5344CB8AC3E}">
        <p14:creationId xmlns:p14="http://schemas.microsoft.com/office/powerpoint/2010/main" val="3819284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Một</a:t>
            </a:r>
            <a:r>
              <a:rPr lang="en-US" baseline="0" dirty="0"/>
              <a:t> </a:t>
            </a:r>
            <a:r>
              <a:rPr lang="en-US" baseline="0" dirty="0" err="1"/>
              <a:t>cách</a:t>
            </a:r>
            <a:r>
              <a:rPr lang="en-US" baseline="0" dirty="0"/>
              <a:t> </a:t>
            </a:r>
            <a:r>
              <a:rPr lang="en-US" baseline="0" dirty="0" err="1"/>
              <a:t>thức</a:t>
            </a:r>
            <a:r>
              <a:rPr lang="en-US" baseline="0" dirty="0"/>
              <a:t> </a:t>
            </a:r>
            <a:r>
              <a:rPr lang="en-US" baseline="0" dirty="0" err="1"/>
              <a:t>để</a:t>
            </a:r>
            <a:r>
              <a:rPr lang="en-US" baseline="0" dirty="0"/>
              <a:t> </a:t>
            </a:r>
            <a:r>
              <a:rPr lang="en-US" baseline="0" dirty="0" err="1"/>
              <a:t>tăng</a:t>
            </a:r>
            <a:r>
              <a:rPr lang="en-US" baseline="0" dirty="0"/>
              <a:t> </a:t>
            </a:r>
            <a:r>
              <a:rPr lang="en-US" baseline="0" dirty="0" err="1"/>
              <a:t>hiệu</a:t>
            </a:r>
            <a:r>
              <a:rPr lang="en-US" baseline="0" dirty="0"/>
              <a:t> </a:t>
            </a:r>
            <a:r>
              <a:rPr lang="en-US" baseline="0" dirty="0" err="1"/>
              <a:t>quả</a:t>
            </a:r>
            <a:r>
              <a:rPr lang="en-US" baseline="0" dirty="0"/>
              <a:t> </a:t>
            </a:r>
            <a:r>
              <a:rPr lang="en-US" baseline="0" dirty="0" err="1"/>
              <a:t>hoạt</a:t>
            </a:r>
            <a:r>
              <a:rPr lang="en-US" baseline="0" dirty="0"/>
              <a:t> </a:t>
            </a:r>
            <a:r>
              <a:rPr lang="en-US" baseline="0" dirty="0" err="1"/>
              <a:t>động</a:t>
            </a:r>
            <a:r>
              <a:rPr lang="en-US" baseline="0" dirty="0"/>
              <a:t> </a:t>
            </a:r>
            <a:r>
              <a:rPr lang="en-US" baseline="0" dirty="0" err="1"/>
              <a:t>là</a:t>
            </a:r>
            <a:r>
              <a:rPr lang="en-US" baseline="0" dirty="0"/>
              <a:t> </a:t>
            </a:r>
            <a:r>
              <a:rPr lang="en-US" baseline="0" dirty="0" err="1"/>
              <a:t>phân</a:t>
            </a:r>
            <a:r>
              <a:rPr lang="en-US" baseline="0" dirty="0"/>
              <a:t> </a:t>
            </a:r>
            <a:r>
              <a:rPr lang="en-US" baseline="0" dirty="0" err="1"/>
              <a:t>tích</a:t>
            </a:r>
            <a:r>
              <a:rPr lang="en-US" baseline="0" dirty="0"/>
              <a:t> </a:t>
            </a:r>
            <a:r>
              <a:rPr lang="en-US" baseline="0" dirty="0" err="1"/>
              <a:t>chuỗi</a:t>
            </a:r>
            <a:r>
              <a:rPr lang="en-US" baseline="0" dirty="0"/>
              <a:t> </a:t>
            </a:r>
            <a:r>
              <a:rPr lang="en-US" baseline="0" dirty="0" err="1"/>
              <a:t>giá</a:t>
            </a:r>
            <a:r>
              <a:rPr lang="en-US" baseline="0" dirty="0"/>
              <a:t> </a:t>
            </a:r>
            <a:r>
              <a:rPr lang="en-US" baseline="0" dirty="0" err="1"/>
              <a:t>trị</a:t>
            </a:r>
            <a:endParaRPr lang="en-US" baseline="0" dirty="0"/>
          </a:p>
          <a:p>
            <a:r>
              <a:rPr lang="en-US" dirty="0"/>
              <a:t>-</a:t>
            </a:r>
            <a:r>
              <a:rPr lang="en-US" dirty="0" err="1"/>
              <a:t>Định</a:t>
            </a:r>
            <a:r>
              <a:rPr lang="en-US" baseline="0" dirty="0"/>
              <a:t> </a:t>
            </a:r>
            <a:r>
              <a:rPr lang="en-US" baseline="0" dirty="0" err="1"/>
              <a:t>nghĩa</a:t>
            </a:r>
            <a:r>
              <a:rPr lang="en-US" baseline="0" dirty="0"/>
              <a:t> </a:t>
            </a:r>
            <a:r>
              <a:rPr lang="en-US" baseline="0" dirty="0" err="1"/>
              <a:t>chuỗi</a:t>
            </a:r>
            <a:r>
              <a:rPr lang="en-US" baseline="0" dirty="0"/>
              <a:t> </a:t>
            </a:r>
            <a:r>
              <a:rPr lang="en-US" baseline="0" dirty="0" err="1"/>
              <a:t>giá</a:t>
            </a:r>
            <a:r>
              <a:rPr lang="en-US" baseline="0" dirty="0"/>
              <a:t> </a:t>
            </a:r>
            <a:r>
              <a:rPr lang="en-US" baseline="0" dirty="0" err="1"/>
              <a:t>trị</a:t>
            </a:r>
            <a:endParaRPr lang="en-US" baseline="0" dirty="0"/>
          </a:p>
          <a:p>
            <a:r>
              <a:rPr lang="en-US" dirty="0"/>
              <a:t>-</a:t>
            </a:r>
            <a:r>
              <a:rPr lang="en-US" dirty="0" err="1"/>
              <a:t>Ví</a:t>
            </a:r>
            <a:r>
              <a:rPr lang="en-US" baseline="0" dirty="0"/>
              <a:t> </a:t>
            </a:r>
            <a:r>
              <a:rPr lang="en-US" baseline="0" dirty="0" err="1"/>
              <a:t>dụ</a:t>
            </a:r>
            <a:r>
              <a:rPr lang="en-US" baseline="0" dirty="0"/>
              <a:t> </a:t>
            </a:r>
            <a:r>
              <a:rPr lang="en-US" baseline="0" dirty="0" err="1"/>
              <a:t>về</a:t>
            </a:r>
            <a:r>
              <a:rPr lang="en-US" baseline="0" dirty="0"/>
              <a:t> </a:t>
            </a:r>
            <a:r>
              <a:rPr lang="en-US" baseline="0" dirty="0" err="1"/>
              <a:t>chuỗi</a:t>
            </a:r>
            <a:r>
              <a:rPr lang="en-US" baseline="0" dirty="0"/>
              <a:t> </a:t>
            </a:r>
            <a:r>
              <a:rPr lang="en-US" baseline="0" dirty="0" err="1"/>
              <a:t>giá</a:t>
            </a:r>
            <a:r>
              <a:rPr lang="en-US" baseline="0" dirty="0"/>
              <a:t> </a:t>
            </a:r>
            <a:r>
              <a:rPr lang="en-US" baseline="0" dirty="0" err="1"/>
              <a:t>trị</a:t>
            </a:r>
            <a:r>
              <a:rPr lang="en-US" baseline="0" dirty="0"/>
              <a:t> </a:t>
            </a:r>
            <a:r>
              <a:rPr lang="en-US" baseline="0" dirty="0" err="1"/>
              <a:t>nào</a:t>
            </a:r>
            <a:r>
              <a:rPr lang="en-US" baseline="0" dirty="0"/>
              <a:t> </a:t>
            </a:r>
            <a:r>
              <a:rPr lang="en-US" baseline="0" dirty="0" err="1"/>
              <a:t>đó</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DEB7EE2-04A2-4FB2-9625-C9C73AC4D32F}" type="slidenum">
              <a:rPr lang="en-US" altLang="en-US" smtClean="0"/>
              <a:pPr/>
              <a:t>16</a:t>
            </a:fld>
            <a:endParaRPr lang="en-US" altLang="en-US" dirty="0"/>
          </a:p>
        </p:txBody>
      </p:sp>
    </p:spTree>
    <p:extLst>
      <p:ext uri="{BB962C8B-B14F-4D97-AF65-F5344CB8AC3E}">
        <p14:creationId xmlns:p14="http://schemas.microsoft.com/office/powerpoint/2010/main" val="30926850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a:t>
            </a:r>
            <a:r>
              <a:rPr lang="en-US" baseline="0" dirty="0" err="1"/>
              <a:t>Phân</a:t>
            </a:r>
            <a:r>
              <a:rPr lang="en-US" baseline="0" dirty="0"/>
              <a:t> </a:t>
            </a:r>
            <a:r>
              <a:rPr lang="en-US" baseline="0" dirty="0" err="1"/>
              <a:t>tích</a:t>
            </a:r>
            <a:r>
              <a:rPr lang="en-US" baseline="0" dirty="0"/>
              <a:t> </a:t>
            </a:r>
            <a:r>
              <a:rPr lang="en-US" baseline="0" dirty="0" err="1"/>
              <a:t>rộng</a:t>
            </a:r>
            <a:r>
              <a:rPr lang="en-US" baseline="0" dirty="0"/>
              <a:t> </a:t>
            </a:r>
            <a:r>
              <a:rPr lang="en-US" baseline="0" dirty="0" err="1"/>
              <a:t>hơn</a:t>
            </a:r>
            <a:r>
              <a:rPr lang="en-US" baseline="0" dirty="0"/>
              <a:t>: industry value chain</a:t>
            </a:r>
          </a:p>
          <a:p>
            <a:r>
              <a:rPr lang="en-US" dirty="0"/>
              <a:t>-</a:t>
            </a:r>
            <a:r>
              <a:rPr lang="en-US" dirty="0" err="1"/>
              <a:t>Có</a:t>
            </a:r>
            <a:r>
              <a:rPr lang="en-US" baseline="0" dirty="0"/>
              <a:t> </a:t>
            </a:r>
            <a:r>
              <a:rPr lang="en-US" baseline="0" dirty="0" err="1"/>
              <a:t>thể</a:t>
            </a:r>
            <a:r>
              <a:rPr lang="en-US" baseline="0" dirty="0"/>
              <a:t> </a:t>
            </a:r>
            <a:r>
              <a:rPr lang="en-US" baseline="0" dirty="0" err="1"/>
              <a:t>tham</a:t>
            </a:r>
            <a:r>
              <a:rPr lang="en-US" baseline="0" dirty="0"/>
              <a:t> </a:t>
            </a:r>
            <a:r>
              <a:rPr lang="en-US" baseline="0" dirty="0" err="1"/>
              <a:t>gia</a:t>
            </a:r>
            <a:r>
              <a:rPr lang="en-US" baseline="0" dirty="0"/>
              <a:t> </a:t>
            </a:r>
            <a:r>
              <a:rPr lang="en-US" baseline="0" dirty="0" err="1"/>
              <a:t>vào</a:t>
            </a:r>
            <a:r>
              <a:rPr lang="en-US" baseline="0" dirty="0"/>
              <a:t> </a:t>
            </a:r>
            <a:r>
              <a:rPr lang="en-US" baseline="0" dirty="0" err="1"/>
              <a:t>thị</a:t>
            </a:r>
            <a:r>
              <a:rPr lang="en-US" baseline="0" dirty="0"/>
              <a:t> </a:t>
            </a:r>
            <a:r>
              <a:rPr lang="en-US" baseline="0" dirty="0" err="1"/>
              <a:t>trường</a:t>
            </a:r>
            <a:r>
              <a:rPr lang="en-US" baseline="0" dirty="0"/>
              <a:t> </a:t>
            </a:r>
            <a:r>
              <a:rPr lang="en-US" baseline="0" dirty="0" err="1"/>
              <a:t>tại</a:t>
            </a:r>
            <a:r>
              <a:rPr lang="en-US" baseline="0" dirty="0"/>
              <a:t> </a:t>
            </a:r>
            <a:r>
              <a:rPr lang="en-US" baseline="0" dirty="0" err="1"/>
              <a:t>điểm</a:t>
            </a:r>
            <a:r>
              <a:rPr lang="en-US" baseline="0" dirty="0"/>
              <a:t> </a:t>
            </a:r>
            <a:r>
              <a:rPr lang="en-US" baseline="0" dirty="0" err="1"/>
              <a:t>nào</a:t>
            </a:r>
            <a:r>
              <a:rPr lang="en-US" baseline="0" dirty="0"/>
              <a:t>?</a:t>
            </a:r>
          </a:p>
          <a:p>
            <a:r>
              <a:rPr lang="en-US" baseline="0" dirty="0"/>
              <a:t>-</a:t>
            </a:r>
            <a:r>
              <a:rPr lang="en-US" baseline="0" dirty="0" err="1"/>
              <a:t>Giả</a:t>
            </a:r>
            <a:r>
              <a:rPr lang="en-US" baseline="0" dirty="0"/>
              <a:t> </a:t>
            </a:r>
            <a:r>
              <a:rPr lang="en-US" baseline="0" dirty="0" err="1"/>
              <a:t>sử</a:t>
            </a:r>
            <a:r>
              <a:rPr lang="en-US" baseline="0" dirty="0"/>
              <a:t> </a:t>
            </a:r>
            <a:r>
              <a:rPr lang="en-US" baseline="0" dirty="0" err="1"/>
              <a:t>sau</a:t>
            </a:r>
            <a:r>
              <a:rPr lang="en-US" baseline="0" dirty="0"/>
              <a:t> </a:t>
            </a:r>
            <a:r>
              <a:rPr lang="en-US" baseline="0" dirty="0" err="1"/>
              <a:t>khi</a:t>
            </a:r>
            <a:r>
              <a:rPr lang="en-US" baseline="0" dirty="0"/>
              <a:t> </a:t>
            </a:r>
            <a:r>
              <a:rPr lang="en-US" baseline="0" dirty="0" err="1"/>
              <a:t>tốt</a:t>
            </a:r>
            <a:r>
              <a:rPr lang="en-US" baseline="0" dirty="0"/>
              <a:t> </a:t>
            </a:r>
            <a:r>
              <a:rPr lang="en-US" baseline="0" dirty="0" err="1"/>
              <a:t>nghiệp</a:t>
            </a:r>
            <a:r>
              <a:rPr lang="en-US" baseline="0" dirty="0"/>
              <a:t> </a:t>
            </a:r>
            <a:r>
              <a:rPr lang="en-US" baseline="0" dirty="0" err="1"/>
              <a:t>tại</a:t>
            </a:r>
            <a:r>
              <a:rPr lang="en-US" baseline="0" dirty="0"/>
              <a:t> BK, </a:t>
            </a:r>
            <a:r>
              <a:rPr lang="en-US" baseline="0" dirty="0" err="1"/>
              <a:t>bạn</a:t>
            </a:r>
            <a:r>
              <a:rPr lang="en-US" baseline="0" dirty="0"/>
              <a:t> </a:t>
            </a:r>
            <a:r>
              <a:rPr lang="en-US" baseline="0" dirty="0" err="1"/>
              <a:t>muốn</a:t>
            </a:r>
            <a:r>
              <a:rPr lang="en-US" baseline="0" dirty="0"/>
              <a:t> </a:t>
            </a:r>
            <a:r>
              <a:rPr lang="en-US" baseline="0" dirty="0" err="1"/>
              <a:t>mở</a:t>
            </a:r>
            <a:r>
              <a:rPr lang="en-US" baseline="0" dirty="0"/>
              <a:t> </a:t>
            </a:r>
            <a:r>
              <a:rPr lang="en-US" baseline="0" dirty="0" err="1"/>
              <a:t>một</a:t>
            </a:r>
            <a:r>
              <a:rPr lang="en-US" baseline="0" dirty="0"/>
              <a:t> </a:t>
            </a:r>
            <a:r>
              <a:rPr lang="en-US" baseline="0" dirty="0" err="1"/>
              <a:t>công</a:t>
            </a:r>
            <a:r>
              <a:rPr lang="en-US" baseline="0" dirty="0"/>
              <a:t> </a:t>
            </a:r>
            <a:r>
              <a:rPr lang="en-US" baseline="0" dirty="0" err="1"/>
              <a:t>ty</a:t>
            </a:r>
            <a:r>
              <a:rPr lang="en-US" baseline="0" dirty="0"/>
              <a:t> </a:t>
            </a:r>
            <a:r>
              <a:rPr lang="en-US" baseline="0" dirty="0" err="1"/>
              <a:t>bán</a:t>
            </a:r>
            <a:r>
              <a:rPr lang="en-US" baseline="0" dirty="0"/>
              <a:t> </a:t>
            </a:r>
            <a:r>
              <a:rPr lang="en-US" baseline="0" dirty="0" err="1"/>
              <a:t>hàng</a:t>
            </a:r>
            <a:r>
              <a:rPr lang="en-US" baseline="0" dirty="0"/>
              <a:t> online, </a:t>
            </a:r>
            <a:r>
              <a:rPr lang="en-US" baseline="0" dirty="0" err="1"/>
              <a:t>phân</a:t>
            </a:r>
            <a:r>
              <a:rPr lang="en-US" baseline="0" dirty="0"/>
              <a:t> </a:t>
            </a:r>
            <a:r>
              <a:rPr lang="en-US" baseline="0" dirty="0" err="1"/>
              <a:t>tích</a:t>
            </a:r>
            <a:r>
              <a:rPr lang="en-US" baseline="0" dirty="0"/>
              <a:t> SWOT </a:t>
            </a:r>
            <a:r>
              <a:rPr lang="en-US" baseline="0" dirty="0" err="1"/>
              <a:t>cho</a:t>
            </a:r>
            <a:r>
              <a:rPr lang="en-US" baseline="0" dirty="0"/>
              <a:t> </a:t>
            </a:r>
            <a:r>
              <a:rPr lang="en-US" baseline="0" dirty="0" err="1"/>
              <a:t>trường</a:t>
            </a:r>
            <a:r>
              <a:rPr lang="en-US" baseline="0" dirty="0"/>
              <a:t> </a:t>
            </a:r>
            <a:r>
              <a:rPr lang="en-US" baseline="0" dirty="0" err="1"/>
              <a:t>hợp</a:t>
            </a:r>
            <a:r>
              <a:rPr lang="en-US" baseline="0" dirty="0"/>
              <a:t> </a:t>
            </a:r>
            <a:r>
              <a:rPr lang="en-US" baseline="0" dirty="0" err="1"/>
              <a:t>này</a:t>
            </a:r>
            <a:r>
              <a:rPr lang="en-US" baseline="0" dirty="0"/>
              <a:t>?</a:t>
            </a:r>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17</a:t>
            </a:fld>
            <a:endParaRPr lang="en-US"/>
          </a:p>
        </p:txBody>
      </p:sp>
    </p:spTree>
    <p:extLst>
      <p:ext uri="{BB962C8B-B14F-4D97-AF65-F5344CB8AC3E}">
        <p14:creationId xmlns:p14="http://schemas.microsoft.com/office/powerpoint/2010/main" val="7711630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Ích</a:t>
            </a:r>
            <a:r>
              <a:rPr lang="en-US" baseline="0" dirty="0"/>
              <a:t> </a:t>
            </a:r>
            <a:r>
              <a:rPr lang="en-US" baseline="0" dirty="0" err="1"/>
              <a:t>lợi</a:t>
            </a:r>
            <a:r>
              <a:rPr lang="en-US" baseline="0" dirty="0"/>
              <a:t> </a:t>
            </a:r>
            <a:r>
              <a:rPr lang="en-US" baseline="0" dirty="0" err="1"/>
              <a:t>của</a:t>
            </a:r>
            <a:r>
              <a:rPr lang="en-US" baseline="0" dirty="0"/>
              <a:t> virtual community so </a:t>
            </a:r>
            <a:r>
              <a:rPr lang="en-US" baseline="0" dirty="0" err="1"/>
              <a:t>với</a:t>
            </a:r>
            <a:r>
              <a:rPr lang="en-US" baseline="0" dirty="0"/>
              <a:t> physical community</a:t>
            </a:r>
          </a:p>
          <a:p>
            <a:r>
              <a:rPr lang="en-US" baseline="0" dirty="0"/>
              <a:t>-</a:t>
            </a:r>
            <a:r>
              <a:rPr lang="en-US" baseline="0" dirty="0" err="1"/>
              <a:t>Giải</a:t>
            </a:r>
            <a:r>
              <a:rPr lang="en-US" baseline="0" dirty="0"/>
              <a:t> </a:t>
            </a:r>
            <a:r>
              <a:rPr lang="en-US" baseline="0" dirty="0" err="1"/>
              <a:t>thích</a:t>
            </a:r>
            <a:r>
              <a:rPr lang="en-US" baseline="0" dirty="0"/>
              <a:t> </a:t>
            </a:r>
            <a:r>
              <a:rPr lang="en-US" baseline="0" dirty="0" err="1"/>
              <a:t>từng</a:t>
            </a:r>
            <a:r>
              <a:rPr lang="en-US" baseline="0" dirty="0"/>
              <a:t> </a:t>
            </a:r>
            <a:r>
              <a:rPr lang="en-US" baseline="0" dirty="0" err="1"/>
              <a:t>mục</a:t>
            </a:r>
            <a:r>
              <a:rPr lang="en-US" baseline="0" dirty="0"/>
              <a:t> </a:t>
            </a:r>
            <a:r>
              <a:rPr lang="en-US" baseline="0" dirty="0" err="1"/>
              <a:t>và</a:t>
            </a:r>
            <a:r>
              <a:rPr lang="en-US" baseline="0" dirty="0"/>
              <a:t> </a:t>
            </a:r>
            <a:r>
              <a:rPr lang="en-US" baseline="0" dirty="0" err="1"/>
              <a:t>cho</a:t>
            </a:r>
            <a:r>
              <a:rPr lang="en-US" baseline="0" dirty="0"/>
              <a:t> </a:t>
            </a:r>
            <a:r>
              <a:rPr lang="en-US" baseline="0" dirty="0" err="1"/>
              <a:t>ví</a:t>
            </a:r>
            <a:r>
              <a:rPr lang="en-US" baseline="0" dirty="0"/>
              <a:t> </a:t>
            </a:r>
            <a:r>
              <a:rPr lang="en-US" baseline="0" dirty="0" err="1"/>
              <a:t>dụ</a:t>
            </a:r>
            <a:endParaRPr lang="en-US" dirty="0"/>
          </a:p>
          <a:p>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19</a:t>
            </a:fld>
            <a:endParaRPr lang="en-US"/>
          </a:p>
        </p:txBody>
      </p:sp>
    </p:spTree>
    <p:extLst>
      <p:ext uri="{BB962C8B-B14F-4D97-AF65-F5344CB8AC3E}">
        <p14:creationId xmlns:p14="http://schemas.microsoft.com/office/powerpoint/2010/main" val="20395369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Phí</a:t>
            </a:r>
            <a:r>
              <a:rPr lang="en-US" baseline="0" dirty="0"/>
              <a:t> </a:t>
            </a:r>
            <a:r>
              <a:rPr lang="en-US" baseline="0" dirty="0" err="1"/>
              <a:t>tổn</a:t>
            </a:r>
            <a:r>
              <a:rPr lang="en-US" baseline="0" dirty="0"/>
              <a:t> </a:t>
            </a:r>
            <a:r>
              <a:rPr lang="en-US" baseline="0" dirty="0" err="1"/>
              <a:t>xã</a:t>
            </a:r>
            <a:r>
              <a:rPr lang="en-US" baseline="0" dirty="0"/>
              <a:t> </a:t>
            </a:r>
            <a:r>
              <a:rPr lang="en-US" baseline="0" dirty="0" err="1"/>
              <a:t>hội</a:t>
            </a:r>
            <a:r>
              <a:rPr lang="en-US" baseline="0" dirty="0"/>
              <a:t> </a:t>
            </a:r>
            <a:r>
              <a:rPr lang="en-US" baseline="0" dirty="0" err="1"/>
              <a:t>thấp</a:t>
            </a:r>
            <a:r>
              <a:rPr lang="en-US" baseline="0" dirty="0"/>
              <a:t>: </a:t>
            </a:r>
            <a:r>
              <a:rPr lang="en-US" baseline="0" dirty="0" err="1"/>
              <a:t>đóng</a:t>
            </a:r>
            <a:r>
              <a:rPr lang="en-US" baseline="0" dirty="0"/>
              <a:t> </a:t>
            </a:r>
            <a:r>
              <a:rPr lang="en-US" baseline="0" dirty="0" err="1"/>
              <a:t>thuế</a:t>
            </a:r>
            <a:r>
              <a:rPr lang="en-US" baseline="0" dirty="0"/>
              <a:t>, </a:t>
            </a:r>
            <a:r>
              <a:rPr lang="en-US" baseline="0" dirty="0" err="1"/>
              <a:t>bảo</a:t>
            </a:r>
            <a:r>
              <a:rPr lang="en-US" baseline="0" dirty="0"/>
              <a:t> </a:t>
            </a:r>
            <a:r>
              <a:rPr lang="en-US" baseline="0" dirty="0" err="1"/>
              <a:t>hiểm</a:t>
            </a:r>
            <a:r>
              <a:rPr lang="en-US" baseline="0" dirty="0"/>
              <a:t>, </a:t>
            </a:r>
            <a:r>
              <a:rPr lang="en-US" baseline="0" dirty="0" err="1"/>
              <a:t>trợ</a:t>
            </a:r>
            <a:r>
              <a:rPr lang="en-US" baseline="0" dirty="0"/>
              <a:t> </a:t>
            </a:r>
            <a:r>
              <a:rPr lang="en-US" baseline="0" dirty="0" err="1"/>
              <a:t>cấp</a:t>
            </a:r>
            <a:endParaRPr lang="en-US" baseline="0" dirty="0"/>
          </a:p>
          <a:p>
            <a:r>
              <a:rPr lang="en-US" baseline="0" dirty="0"/>
              <a:t>-</a:t>
            </a:r>
            <a:r>
              <a:rPr lang="en-US" baseline="0" dirty="0" err="1"/>
              <a:t>Nhanh</a:t>
            </a:r>
            <a:r>
              <a:rPr lang="en-US" baseline="0" dirty="0"/>
              <a:t> </a:t>
            </a:r>
            <a:r>
              <a:rPr lang="en-US" baseline="0" dirty="0" err="1"/>
              <a:t>chóng</a:t>
            </a:r>
            <a:endParaRPr lang="en-US" baseline="0" dirty="0"/>
          </a:p>
          <a:p>
            <a:r>
              <a:rPr lang="en-US" baseline="0" dirty="0"/>
              <a:t>-</a:t>
            </a:r>
            <a:r>
              <a:rPr lang="en-US" baseline="0" dirty="0" err="1"/>
              <a:t>Chóng</a:t>
            </a:r>
            <a:r>
              <a:rPr lang="en-US" baseline="0" dirty="0"/>
              <a:t> </a:t>
            </a:r>
            <a:r>
              <a:rPr lang="en-US" baseline="0" dirty="0" err="1"/>
              <a:t>giả</a:t>
            </a:r>
            <a:r>
              <a:rPr lang="en-US" baseline="0" dirty="0"/>
              <a:t> </a:t>
            </a:r>
            <a:r>
              <a:rPr lang="en-US" baseline="0" dirty="0" err="1"/>
              <a:t>mạo</a:t>
            </a:r>
            <a:r>
              <a:rPr lang="en-US" baseline="0" dirty="0"/>
              <a:t>, </a:t>
            </a:r>
            <a:r>
              <a:rPr lang="en-US" baseline="0" dirty="0" err="1"/>
              <a:t>lừa</a:t>
            </a:r>
            <a:r>
              <a:rPr lang="en-US" baseline="0" dirty="0"/>
              <a:t> </a:t>
            </a:r>
            <a:r>
              <a:rPr lang="en-US" baseline="0" dirty="0" err="1"/>
              <a:t>đảo</a:t>
            </a:r>
            <a:endParaRPr lang="en-US" baseline="0" dirty="0"/>
          </a:p>
          <a:p>
            <a:r>
              <a:rPr lang="en-US" baseline="0" dirty="0"/>
              <a:t>-</a:t>
            </a:r>
            <a:r>
              <a:rPr lang="en-US" baseline="0" dirty="0" err="1"/>
              <a:t>Dễ</a:t>
            </a:r>
            <a:r>
              <a:rPr lang="en-US" baseline="0" dirty="0"/>
              <a:t> </a:t>
            </a:r>
            <a:r>
              <a:rPr lang="en-US" baseline="0" dirty="0" err="1"/>
              <a:t>dàng</a:t>
            </a:r>
            <a:r>
              <a:rPr lang="en-US" baseline="0" dirty="0"/>
              <a:t> </a:t>
            </a:r>
            <a:r>
              <a:rPr lang="en-US" baseline="0" dirty="0" err="1"/>
              <a:t>kiểm</a:t>
            </a:r>
            <a:r>
              <a:rPr lang="en-US" baseline="0" dirty="0"/>
              <a:t> </a:t>
            </a:r>
            <a:r>
              <a:rPr lang="en-US" baseline="0" dirty="0" err="1"/>
              <a:t>toán</a:t>
            </a:r>
            <a:r>
              <a:rPr lang="en-US" baseline="0" dirty="0"/>
              <a:t> </a:t>
            </a:r>
            <a:r>
              <a:rPr lang="en-US" baseline="0" dirty="0" err="1"/>
              <a:t>hơn</a:t>
            </a:r>
            <a:r>
              <a:rPr lang="en-US" baseline="0" dirty="0"/>
              <a:t> </a:t>
            </a:r>
            <a:r>
              <a:rPr lang="en-US" baseline="0" dirty="0" err="1"/>
              <a:t>tiền</a:t>
            </a:r>
            <a:r>
              <a:rPr lang="en-US" baseline="0" dirty="0"/>
              <a:t> </a:t>
            </a:r>
            <a:r>
              <a:rPr lang="en-US" baseline="0" dirty="0" err="1"/>
              <a:t>mặt</a:t>
            </a:r>
            <a:r>
              <a:rPr lang="en-US" baseline="0" dirty="0"/>
              <a:t>, </a:t>
            </a:r>
            <a:r>
              <a:rPr lang="en-US" baseline="0" dirty="0" err="1"/>
              <a:t>séc</a:t>
            </a:r>
            <a:endParaRPr lang="en-US" baseline="0" dirty="0"/>
          </a:p>
          <a:p>
            <a:r>
              <a:rPr lang="en-US" baseline="0" dirty="0"/>
              <a:t>-</a:t>
            </a:r>
            <a:r>
              <a:rPr lang="en-US" baseline="0" dirty="0" err="1"/>
              <a:t>Cân</a:t>
            </a:r>
            <a:r>
              <a:rPr lang="en-US" baseline="0" dirty="0"/>
              <a:t> </a:t>
            </a:r>
            <a:r>
              <a:rPr lang="en-US" baseline="0" dirty="0" err="1"/>
              <a:t>bằng</a:t>
            </a:r>
            <a:r>
              <a:rPr lang="en-US" baseline="0" dirty="0"/>
              <a:t> </a:t>
            </a:r>
            <a:r>
              <a:rPr lang="en-US" baseline="0" dirty="0" err="1"/>
              <a:t>xã</a:t>
            </a:r>
            <a:r>
              <a:rPr lang="en-US" baseline="0" dirty="0"/>
              <a:t> </a:t>
            </a:r>
            <a:r>
              <a:rPr lang="en-US" baseline="0" dirty="0" err="1"/>
              <a:t>hội</a:t>
            </a:r>
            <a:r>
              <a:rPr lang="en-US" baseline="0" dirty="0"/>
              <a:t>: </a:t>
            </a:r>
            <a:r>
              <a:rPr lang="en-US" baseline="0" dirty="0" err="1"/>
              <a:t>vd</a:t>
            </a:r>
            <a:r>
              <a:rPr lang="en-US" baseline="0" dirty="0"/>
              <a:t> </a:t>
            </a:r>
            <a:r>
              <a:rPr lang="en-US" baseline="0" dirty="0" err="1"/>
              <a:t>như</a:t>
            </a:r>
            <a:r>
              <a:rPr lang="en-US" baseline="0" dirty="0"/>
              <a:t> </a:t>
            </a:r>
            <a:r>
              <a:rPr lang="en-US" baseline="0" dirty="0" err="1"/>
              <a:t>học</a:t>
            </a:r>
            <a:r>
              <a:rPr lang="en-US" baseline="0" dirty="0"/>
              <a:t> </a:t>
            </a:r>
            <a:r>
              <a:rPr lang="en-US" baseline="0" dirty="0" err="1"/>
              <a:t>từ</a:t>
            </a:r>
            <a:r>
              <a:rPr lang="en-US" baseline="0" dirty="0"/>
              <a:t> </a:t>
            </a:r>
            <a:r>
              <a:rPr lang="en-US" baseline="0" dirty="0" err="1"/>
              <a:t>xa</a:t>
            </a:r>
            <a:endParaRPr lang="en-US" dirty="0"/>
          </a:p>
          <a:p>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20</a:t>
            </a:fld>
            <a:endParaRPr lang="en-US"/>
          </a:p>
        </p:txBody>
      </p:sp>
    </p:spTree>
    <p:extLst>
      <p:ext uri="{BB962C8B-B14F-4D97-AF65-F5344CB8AC3E}">
        <p14:creationId xmlns:p14="http://schemas.microsoft.com/office/powerpoint/2010/main" val="33214025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Lỗi</a:t>
            </a:r>
            <a:r>
              <a:rPr lang="en-US" baseline="0" dirty="0"/>
              <a:t> </a:t>
            </a:r>
            <a:r>
              <a:rPr lang="en-US" baseline="0" dirty="0" err="1"/>
              <a:t>phần</a:t>
            </a:r>
            <a:r>
              <a:rPr lang="en-US" baseline="0" dirty="0"/>
              <a:t> </a:t>
            </a:r>
            <a:r>
              <a:rPr lang="en-US" baseline="0" dirty="0" err="1"/>
              <a:t>mềm</a:t>
            </a:r>
            <a:r>
              <a:rPr lang="en-US" baseline="0" dirty="0"/>
              <a:t> =&gt; </a:t>
            </a:r>
            <a:r>
              <a:rPr lang="en-US" baseline="0" dirty="0" err="1"/>
              <a:t>ảnh</a:t>
            </a:r>
            <a:r>
              <a:rPr lang="en-US" baseline="0" dirty="0"/>
              <a:t> </a:t>
            </a:r>
            <a:r>
              <a:rPr lang="en-US" baseline="0" dirty="0" err="1"/>
              <a:t>hưởng</a:t>
            </a:r>
            <a:r>
              <a:rPr lang="en-US" baseline="0" dirty="0"/>
              <a:t> </a:t>
            </a:r>
            <a:r>
              <a:rPr lang="en-US" baseline="0" dirty="0" err="1"/>
              <a:t>đến</a:t>
            </a:r>
            <a:r>
              <a:rPr lang="en-US" baseline="0" dirty="0"/>
              <a:t> EC, </a:t>
            </a:r>
            <a:r>
              <a:rPr lang="en-US" baseline="0" dirty="0" err="1"/>
              <a:t>sự</a:t>
            </a:r>
            <a:r>
              <a:rPr lang="en-US" baseline="0" dirty="0"/>
              <a:t> </a:t>
            </a:r>
            <a:r>
              <a:rPr lang="en-US" baseline="0" dirty="0" err="1"/>
              <a:t>phức</a:t>
            </a:r>
            <a:r>
              <a:rPr lang="en-US" baseline="0" dirty="0"/>
              <a:t> </a:t>
            </a:r>
            <a:r>
              <a:rPr lang="en-US" baseline="0" dirty="0" err="1"/>
              <a:t>tạp</a:t>
            </a:r>
            <a:r>
              <a:rPr lang="en-US" baseline="0" dirty="0"/>
              <a:t> </a:t>
            </a:r>
            <a:r>
              <a:rPr lang="en-US" baseline="0" dirty="0" err="1"/>
              <a:t>của</a:t>
            </a:r>
            <a:r>
              <a:rPr lang="en-US" baseline="0" dirty="0"/>
              <a:t> </a:t>
            </a:r>
            <a:r>
              <a:rPr lang="en-US" baseline="0" dirty="0" err="1"/>
              <a:t>nhiều</a:t>
            </a:r>
            <a:r>
              <a:rPr lang="en-US" baseline="0" dirty="0"/>
              <a:t> </a:t>
            </a:r>
            <a:r>
              <a:rPr lang="en-US" baseline="0" dirty="0" err="1"/>
              <a:t>hệ</a:t>
            </a:r>
            <a:r>
              <a:rPr lang="en-US" baseline="0" dirty="0"/>
              <a:t> </a:t>
            </a:r>
            <a:r>
              <a:rPr lang="en-US" baseline="0" dirty="0" err="1"/>
              <a:t>thống</a:t>
            </a:r>
            <a:r>
              <a:rPr lang="en-US" baseline="0" dirty="0"/>
              <a:t> </a:t>
            </a:r>
            <a:r>
              <a:rPr lang="en-US" baseline="0" dirty="0" err="1"/>
              <a:t>thông</a:t>
            </a:r>
            <a:r>
              <a:rPr lang="en-US" baseline="0" dirty="0"/>
              <a:t> tin </a:t>
            </a:r>
            <a:r>
              <a:rPr lang="en-US" baseline="0" dirty="0" err="1"/>
              <a:t>khác</a:t>
            </a:r>
            <a:r>
              <a:rPr lang="en-US" baseline="0" dirty="0"/>
              <a:t> </a:t>
            </a:r>
            <a:r>
              <a:rPr lang="en-US" baseline="0" dirty="0" err="1"/>
              <a:t>nhau</a:t>
            </a:r>
            <a:r>
              <a:rPr lang="en-US" baseline="0" dirty="0"/>
              <a:t>, </a:t>
            </a:r>
            <a:r>
              <a:rPr lang="en-US" baseline="0" dirty="0" err="1"/>
              <a:t>nhu</a:t>
            </a:r>
            <a:r>
              <a:rPr lang="en-US" baseline="0" dirty="0"/>
              <a:t> </a:t>
            </a:r>
            <a:r>
              <a:rPr lang="en-US" baseline="0" dirty="0" err="1"/>
              <a:t>cầu</a:t>
            </a:r>
            <a:r>
              <a:rPr lang="en-US" baseline="0" dirty="0"/>
              <a:t> </a:t>
            </a:r>
            <a:r>
              <a:rPr lang="en-US" baseline="0" dirty="0" err="1"/>
              <a:t>tích</a:t>
            </a:r>
            <a:r>
              <a:rPr lang="en-US" baseline="0" dirty="0"/>
              <a:t> </a:t>
            </a:r>
            <a:r>
              <a:rPr lang="en-US" baseline="0" dirty="0" err="1"/>
              <a:t>hợp</a:t>
            </a:r>
            <a:r>
              <a:rPr lang="en-US" baseline="0" dirty="0"/>
              <a:t> </a:t>
            </a:r>
            <a:r>
              <a:rPr lang="en-US" baseline="0" dirty="0" err="1"/>
              <a:t>chúng</a:t>
            </a:r>
            <a:r>
              <a:rPr lang="en-US" baseline="0" dirty="0"/>
              <a:t> </a:t>
            </a:r>
            <a:r>
              <a:rPr lang="en-US" baseline="0" dirty="0" err="1"/>
              <a:t>lại</a:t>
            </a:r>
            <a:r>
              <a:rPr lang="en-US" baseline="0" dirty="0"/>
              <a:t> </a:t>
            </a:r>
            <a:r>
              <a:rPr lang="en-US" baseline="0" dirty="0" err="1"/>
              <a:t>thành</a:t>
            </a:r>
            <a:r>
              <a:rPr lang="en-US" baseline="0" dirty="0"/>
              <a:t> </a:t>
            </a:r>
            <a:r>
              <a:rPr lang="en-US" baseline="0" dirty="0" err="1"/>
              <a:t>một</a:t>
            </a:r>
            <a:r>
              <a:rPr lang="en-US" baseline="0" dirty="0"/>
              <a:t> </a:t>
            </a:r>
            <a:r>
              <a:rPr lang="en-US" baseline="0" dirty="0" err="1"/>
              <a:t>khối</a:t>
            </a:r>
            <a:r>
              <a:rPr lang="en-US" baseline="0" dirty="0"/>
              <a:t> </a:t>
            </a:r>
            <a:r>
              <a:rPr lang="en-US" baseline="0" dirty="0" err="1"/>
              <a:t>liên</a:t>
            </a:r>
            <a:r>
              <a:rPr lang="en-US" baseline="0" dirty="0"/>
              <a:t> </a:t>
            </a:r>
            <a:r>
              <a:rPr lang="en-US" baseline="0" dirty="0" err="1"/>
              <a:t>hoàn</a:t>
            </a:r>
            <a:endParaRPr lang="en-US" baseline="0" dirty="0"/>
          </a:p>
          <a:p>
            <a:r>
              <a:rPr lang="en-US" baseline="0" dirty="0"/>
              <a:t>-</a:t>
            </a:r>
            <a:r>
              <a:rPr lang="en-US" baseline="0" dirty="0" err="1"/>
              <a:t>Tính</a:t>
            </a:r>
            <a:r>
              <a:rPr lang="en-US" baseline="0" dirty="0"/>
              <a:t> </a:t>
            </a:r>
            <a:r>
              <a:rPr lang="en-US" baseline="0" dirty="0" err="1"/>
              <a:t>quốc</a:t>
            </a:r>
            <a:r>
              <a:rPr lang="en-US" baseline="0" dirty="0"/>
              <a:t> </a:t>
            </a:r>
            <a:r>
              <a:rPr lang="en-US" baseline="0" dirty="0" err="1"/>
              <a:t>tế</a:t>
            </a:r>
            <a:r>
              <a:rPr lang="en-US" baseline="0" dirty="0"/>
              <a:t> </a:t>
            </a:r>
            <a:r>
              <a:rPr lang="en-US" baseline="0" dirty="0" err="1"/>
              <a:t>của</a:t>
            </a:r>
            <a:r>
              <a:rPr lang="en-US" baseline="0" dirty="0"/>
              <a:t> EC: </a:t>
            </a:r>
            <a:r>
              <a:rPr lang="en-US" baseline="0" dirty="0" err="1"/>
              <a:t>khác</a:t>
            </a:r>
            <a:r>
              <a:rPr lang="en-US" baseline="0" dirty="0"/>
              <a:t> </a:t>
            </a:r>
            <a:r>
              <a:rPr lang="en-US" baseline="0" dirty="0" err="1"/>
              <a:t>biệt</a:t>
            </a:r>
            <a:r>
              <a:rPr lang="en-US" baseline="0" dirty="0"/>
              <a:t> </a:t>
            </a:r>
            <a:r>
              <a:rPr lang="en-US" baseline="0" dirty="0" err="1"/>
              <a:t>về</a:t>
            </a:r>
            <a:r>
              <a:rPr lang="en-US" baseline="0" dirty="0"/>
              <a:t> </a:t>
            </a:r>
            <a:r>
              <a:rPr lang="en-US" baseline="0" dirty="0" err="1"/>
              <a:t>mặt</a:t>
            </a:r>
            <a:r>
              <a:rPr lang="en-US" baseline="0" dirty="0"/>
              <a:t> </a:t>
            </a:r>
            <a:r>
              <a:rPr lang="en-US" baseline="0" dirty="0" err="1"/>
              <a:t>văn</a:t>
            </a:r>
            <a:r>
              <a:rPr lang="en-US" baseline="0" dirty="0"/>
              <a:t> </a:t>
            </a:r>
            <a:r>
              <a:rPr lang="en-US" baseline="0" dirty="0" err="1"/>
              <a:t>hóa</a:t>
            </a:r>
            <a:r>
              <a:rPr lang="en-US" baseline="0" dirty="0"/>
              <a:t> </a:t>
            </a:r>
            <a:r>
              <a:rPr lang="en-US" baseline="0" dirty="0" err="1"/>
              <a:t>và</a:t>
            </a:r>
            <a:r>
              <a:rPr lang="en-US" baseline="0" dirty="0"/>
              <a:t> </a:t>
            </a:r>
            <a:r>
              <a:rPr lang="en-US" baseline="0" dirty="0" err="1"/>
              <a:t>pháp</a:t>
            </a:r>
            <a:r>
              <a:rPr lang="en-US" baseline="0" dirty="0"/>
              <a:t> </a:t>
            </a:r>
            <a:r>
              <a:rPr lang="en-US" baseline="0" dirty="0" err="1"/>
              <a:t>luật</a:t>
            </a:r>
            <a:endParaRPr lang="en-US" baseline="0" dirty="0"/>
          </a:p>
          <a:p>
            <a:r>
              <a:rPr lang="en-US" baseline="0" dirty="0"/>
              <a:t>-</a:t>
            </a:r>
            <a:r>
              <a:rPr lang="en-US" baseline="0" dirty="0" err="1"/>
              <a:t>Một</a:t>
            </a:r>
            <a:r>
              <a:rPr lang="en-US" baseline="0" dirty="0"/>
              <a:t> </a:t>
            </a:r>
            <a:r>
              <a:rPr lang="en-US" baseline="0" dirty="0" err="1"/>
              <a:t>số</a:t>
            </a:r>
            <a:r>
              <a:rPr lang="en-US" baseline="0" dirty="0"/>
              <a:t> </a:t>
            </a:r>
            <a:r>
              <a:rPr lang="en-US" baseline="0" dirty="0" err="1"/>
              <a:t>điểm</a:t>
            </a:r>
            <a:r>
              <a:rPr lang="en-US" baseline="0" dirty="0"/>
              <a:t> </a:t>
            </a:r>
            <a:r>
              <a:rPr lang="en-US" baseline="0" dirty="0" err="1"/>
              <a:t>giới</a:t>
            </a:r>
            <a:r>
              <a:rPr lang="en-US" baseline="0" dirty="0"/>
              <a:t> </a:t>
            </a:r>
            <a:r>
              <a:rPr lang="en-US" baseline="0" dirty="0" err="1"/>
              <a:t>hạn</a:t>
            </a:r>
            <a:r>
              <a:rPr lang="en-US" baseline="0" dirty="0"/>
              <a:t> </a:t>
            </a:r>
            <a:r>
              <a:rPr lang="en-US" baseline="0" dirty="0" err="1"/>
              <a:t>sẽ</a:t>
            </a:r>
            <a:r>
              <a:rPr lang="en-US" baseline="0" dirty="0"/>
              <a:t> </a:t>
            </a:r>
            <a:r>
              <a:rPr lang="en-US" baseline="0" dirty="0" err="1"/>
              <a:t>biến</a:t>
            </a:r>
            <a:r>
              <a:rPr lang="en-US" baseline="0" dirty="0"/>
              <a:t> </a:t>
            </a:r>
            <a:r>
              <a:rPr lang="en-US" baseline="0" dirty="0" err="1"/>
              <a:t>mất</a:t>
            </a:r>
            <a:r>
              <a:rPr lang="en-US" baseline="0" dirty="0"/>
              <a:t> </a:t>
            </a:r>
            <a:r>
              <a:rPr lang="en-US" baseline="0" dirty="0" err="1"/>
              <a:t>khi</a:t>
            </a:r>
            <a:r>
              <a:rPr lang="en-US" baseline="0" dirty="0"/>
              <a:t> </a:t>
            </a:r>
            <a:r>
              <a:rPr lang="en-US" baseline="0" dirty="0" err="1"/>
              <a:t>kỹ</a:t>
            </a:r>
            <a:r>
              <a:rPr lang="en-US" baseline="0" dirty="0"/>
              <a:t> </a:t>
            </a:r>
            <a:r>
              <a:rPr lang="en-US" baseline="0" dirty="0" err="1"/>
              <a:t>thuật</a:t>
            </a:r>
            <a:r>
              <a:rPr lang="en-US" baseline="0" dirty="0"/>
              <a:t> </a:t>
            </a:r>
            <a:r>
              <a:rPr lang="en-US" baseline="0" dirty="0" err="1"/>
              <a:t>phát</a:t>
            </a:r>
            <a:r>
              <a:rPr lang="en-US" baseline="0" dirty="0"/>
              <a:t> </a:t>
            </a:r>
            <a:r>
              <a:rPr lang="en-US" baseline="0" dirty="0" err="1"/>
              <a:t>triển</a:t>
            </a:r>
            <a:r>
              <a:rPr lang="en-US" baseline="0" dirty="0"/>
              <a:t> </a:t>
            </a:r>
            <a:r>
              <a:rPr lang="en-US" baseline="0" dirty="0" err="1"/>
              <a:t>và</a:t>
            </a:r>
            <a:r>
              <a:rPr lang="en-US" baseline="0" dirty="0"/>
              <a:t> </a:t>
            </a:r>
            <a:r>
              <a:rPr lang="en-US" baseline="0" dirty="0" err="1"/>
              <a:t>người</a:t>
            </a:r>
            <a:r>
              <a:rPr lang="en-US" baseline="0" dirty="0"/>
              <a:t> </a:t>
            </a:r>
            <a:r>
              <a:rPr lang="en-US" baseline="0" dirty="0" err="1"/>
              <a:t>sử</a:t>
            </a:r>
            <a:r>
              <a:rPr lang="en-US" baseline="0" dirty="0"/>
              <a:t> </a:t>
            </a:r>
            <a:r>
              <a:rPr lang="en-US" baseline="0" dirty="0" err="1"/>
              <a:t>dụng</a:t>
            </a:r>
            <a:r>
              <a:rPr lang="en-US" baseline="0" dirty="0"/>
              <a:t> </a:t>
            </a:r>
            <a:r>
              <a:rPr lang="en-US" baseline="0" dirty="0" err="1"/>
              <a:t>thích</a:t>
            </a:r>
            <a:r>
              <a:rPr lang="en-US" baseline="0" dirty="0"/>
              <a:t> </a:t>
            </a:r>
            <a:r>
              <a:rPr lang="en-US" baseline="0" dirty="0" err="1"/>
              <a:t>nghi</a:t>
            </a:r>
            <a:r>
              <a:rPr lang="en-US" baseline="0" dirty="0"/>
              <a:t> </a:t>
            </a:r>
            <a:r>
              <a:rPr lang="en-US" baseline="0" dirty="0" err="1"/>
              <a:t>với</a:t>
            </a:r>
            <a:r>
              <a:rPr lang="en-US" baseline="0" dirty="0"/>
              <a:t> E-C</a:t>
            </a:r>
            <a:endParaRPr lang="en-US" dirty="0"/>
          </a:p>
          <a:p>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21</a:t>
            </a:fld>
            <a:endParaRPr lang="en-US"/>
          </a:p>
        </p:txBody>
      </p:sp>
    </p:spTree>
    <p:extLst>
      <p:ext uri="{BB962C8B-B14F-4D97-AF65-F5344CB8AC3E}">
        <p14:creationId xmlns:p14="http://schemas.microsoft.com/office/powerpoint/2010/main" val="14800137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Kinh</a:t>
            </a:r>
            <a:r>
              <a:rPr lang="en-US" dirty="0"/>
              <a:t> </a:t>
            </a:r>
            <a:r>
              <a:rPr lang="en-US" dirty="0" err="1"/>
              <a:t>tế</a:t>
            </a:r>
            <a:r>
              <a:rPr lang="en-US" baseline="0" dirty="0"/>
              <a:t> </a:t>
            </a:r>
            <a:r>
              <a:rPr lang="en-US" baseline="0" dirty="0" err="1"/>
              <a:t>học</a:t>
            </a:r>
            <a:r>
              <a:rPr lang="en-US" baseline="0" dirty="0"/>
              <a:t>: </a:t>
            </a:r>
            <a:r>
              <a:rPr lang="en-US" baseline="0" dirty="0" err="1"/>
              <a:t>phân</a:t>
            </a:r>
            <a:r>
              <a:rPr lang="en-US" baseline="0" dirty="0"/>
              <a:t> </a:t>
            </a:r>
            <a:r>
              <a:rPr lang="en-US" baseline="0" dirty="0" err="1"/>
              <a:t>phối</a:t>
            </a:r>
            <a:r>
              <a:rPr lang="en-US" baseline="0" dirty="0"/>
              <a:t> </a:t>
            </a:r>
            <a:r>
              <a:rPr lang="en-US" baseline="0" dirty="0" err="1"/>
              <a:t>các</a:t>
            </a:r>
            <a:r>
              <a:rPr lang="en-US" baseline="0" dirty="0"/>
              <a:t> </a:t>
            </a:r>
            <a:r>
              <a:rPr lang="en-US" baseline="0" dirty="0" err="1"/>
              <a:t>tài</a:t>
            </a:r>
            <a:r>
              <a:rPr lang="en-US" baseline="0" dirty="0"/>
              <a:t> </a:t>
            </a:r>
            <a:r>
              <a:rPr lang="en-US" baseline="0" dirty="0" err="1"/>
              <a:t>nguyên</a:t>
            </a:r>
            <a:r>
              <a:rPr lang="en-US" baseline="0" dirty="0"/>
              <a:t> khan </a:t>
            </a:r>
            <a:r>
              <a:rPr lang="en-US" baseline="0" dirty="0" err="1"/>
              <a:t>hiếm</a:t>
            </a:r>
            <a:endParaRPr lang="en-US" baseline="0" dirty="0"/>
          </a:p>
          <a:p>
            <a:r>
              <a:rPr lang="en-US" baseline="0" dirty="0"/>
              <a:t>-</a:t>
            </a:r>
            <a:r>
              <a:rPr lang="en-US" baseline="0" dirty="0" err="1"/>
              <a:t>Tham</a:t>
            </a:r>
            <a:r>
              <a:rPr lang="en-US" baseline="0" dirty="0"/>
              <a:t> </a:t>
            </a:r>
            <a:r>
              <a:rPr lang="en-US" baseline="0" dirty="0" err="1"/>
              <a:t>gia</a:t>
            </a:r>
            <a:r>
              <a:rPr lang="en-US" baseline="0" dirty="0"/>
              <a:t> </a:t>
            </a:r>
            <a:r>
              <a:rPr lang="en-US" baseline="0" dirty="0" err="1"/>
              <a:t>vào</a:t>
            </a:r>
            <a:r>
              <a:rPr lang="en-US" baseline="0" dirty="0"/>
              <a:t> </a:t>
            </a:r>
            <a:r>
              <a:rPr lang="en-US" baseline="0" dirty="0" err="1"/>
              <a:t>thị</a:t>
            </a:r>
            <a:r>
              <a:rPr lang="en-US" baseline="0" dirty="0"/>
              <a:t> </a:t>
            </a:r>
            <a:r>
              <a:rPr lang="en-US" baseline="0" dirty="0" err="1"/>
              <a:t>trường</a:t>
            </a:r>
            <a:r>
              <a:rPr lang="en-US" baseline="0" dirty="0"/>
              <a:t> (market). 2 </a:t>
            </a:r>
            <a:r>
              <a:rPr lang="en-US" baseline="0" dirty="0" err="1"/>
              <a:t>điều</a:t>
            </a:r>
            <a:r>
              <a:rPr lang="en-US" baseline="0" dirty="0"/>
              <a:t> </a:t>
            </a:r>
            <a:r>
              <a:rPr lang="en-US" baseline="0" dirty="0" err="1"/>
              <a:t>kiện</a:t>
            </a:r>
            <a:r>
              <a:rPr lang="en-US" baseline="0" dirty="0"/>
              <a:t>: </a:t>
            </a:r>
            <a:r>
              <a:rPr lang="en-US" baseline="0" dirty="0" err="1"/>
              <a:t>có</a:t>
            </a:r>
            <a:r>
              <a:rPr lang="en-US" baseline="0" dirty="0"/>
              <a:t> </a:t>
            </a:r>
            <a:r>
              <a:rPr lang="en-US" baseline="0" dirty="0" err="1"/>
              <a:t>người</a:t>
            </a:r>
            <a:r>
              <a:rPr lang="en-US" baseline="0" dirty="0"/>
              <a:t> </a:t>
            </a:r>
            <a:r>
              <a:rPr lang="en-US" baseline="0" dirty="0" err="1"/>
              <a:t>bán</a:t>
            </a:r>
            <a:r>
              <a:rPr lang="en-US" baseline="0" dirty="0"/>
              <a:t> </a:t>
            </a:r>
            <a:r>
              <a:rPr lang="en-US" baseline="0" dirty="0" err="1"/>
              <a:t>và</a:t>
            </a:r>
            <a:r>
              <a:rPr lang="en-US" baseline="0" dirty="0"/>
              <a:t> </a:t>
            </a:r>
            <a:r>
              <a:rPr lang="en-US" baseline="0" dirty="0" err="1"/>
              <a:t>người</a:t>
            </a:r>
            <a:r>
              <a:rPr lang="en-US" baseline="0" dirty="0"/>
              <a:t> </a:t>
            </a:r>
            <a:r>
              <a:rPr lang="en-US" baseline="0" dirty="0" err="1"/>
              <a:t>mua</a:t>
            </a:r>
            <a:r>
              <a:rPr lang="en-US" baseline="0" dirty="0"/>
              <a:t>, </a:t>
            </a:r>
            <a:r>
              <a:rPr lang="en-US" baseline="0" dirty="0" err="1"/>
              <a:t>và</a:t>
            </a:r>
            <a:r>
              <a:rPr lang="en-US" baseline="0" dirty="0"/>
              <a:t> </a:t>
            </a:r>
            <a:r>
              <a:rPr lang="en-US" baseline="0" dirty="0" err="1"/>
              <a:t>có</a:t>
            </a:r>
            <a:r>
              <a:rPr lang="en-US" baseline="0" dirty="0"/>
              <a:t> </a:t>
            </a:r>
            <a:r>
              <a:rPr lang="en-US" baseline="0" dirty="0" err="1"/>
              <a:t>phương</a:t>
            </a:r>
            <a:r>
              <a:rPr lang="en-US" baseline="0" dirty="0"/>
              <a:t> </a:t>
            </a:r>
            <a:r>
              <a:rPr lang="en-US" baseline="0" dirty="0" err="1"/>
              <a:t>tiện</a:t>
            </a:r>
            <a:r>
              <a:rPr lang="en-US" baseline="0" dirty="0"/>
              <a:t> </a:t>
            </a:r>
            <a:r>
              <a:rPr lang="en-US" baseline="0" dirty="0" err="1"/>
              <a:t>trao</a:t>
            </a:r>
            <a:r>
              <a:rPr lang="en-US" baseline="0" dirty="0"/>
              <a:t> </a:t>
            </a:r>
            <a:r>
              <a:rPr lang="en-US" baseline="0" dirty="0" err="1"/>
              <a:t>đổi</a:t>
            </a:r>
            <a:r>
              <a:rPr lang="en-US" baseline="0" dirty="0"/>
              <a:t> (</a:t>
            </a:r>
            <a:r>
              <a:rPr lang="en-US" baseline="0" dirty="0" err="1"/>
              <a:t>tiền</a:t>
            </a:r>
            <a:r>
              <a:rPr lang="en-US" baseline="0" dirty="0"/>
              <a:t> </a:t>
            </a:r>
            <a:r>
              <a:rPr lang="en-US" baseline="0" dirty="0" err="1"/>
              <a:t>hoặc</a:t>
            </a:r>
            <a:r>
              <a:rPr lang="en-US" baseline="0" dirty="0"/>
              <a:t> </a:t>
            </a:r>
            <a:r>
              <a:rPr lang="en-US" baseline="0" dirty="0" err="1"/>
              <a:t>trao</a:t>
            </a:r>
            <a:r>
              <a:rPr lang="en-US" baseline="0" dirty="0"/>
              <a:t> </a:t>
            </a:r>
            <a:r>
              <a:rPr lang="en-US" baseline="0" dirty="0" err="1"/>
              <a:t>đổi</a:t>
            </a:r>
            <a:r>
              <a:rPr lang="en-US" baseline="0" dirty="0"/>
              <a:t> </a:t>
            </a:r>
            <a:r>
              <a:rPr lang="en-US" baseline="0" dirty="0" err="1"/>
              <a:t>trực</a:t>
            </a:r>
            <a:r>
              <a:rPr lang="en-US" baseline="0" dirty="0"/>
              <a:t> </a:t>
            </a:r>
            <a:r>
              <a:rPr lang="en-US" baseline="0" dirty="0" err="1"/>
              <a:t>tiếp</a:t>
            </a:r>
            <a:r>
              <a:rPr lang="en-US" baseline="0" dirty="0"/>
              <a:t>)</a:t>
            </a:r>
          </a:p>
          <a:p>
            <a:r>
              <a:rPr lang="en-US" baseline="0" dirty="0"/>
              <a:t>-</a:t>
            </a:r>
            <a:r>
              <a:rPr lang="en-US" baseline="0" dirty="0" err="1"/>
              <a:t>Thị</a:t>
            </a:r>
            <a:r>
              <a:rPr lang="en-US" baseline="0" dirty="0"/>
              <a:t> </a:t>
            </a:r>
            <a:r>
              <a:rPr lang="en-US" baseline="0" dirty="0" err="1"/>
              <a:t>trường</a:t>
            </a:r>
            <a:r>
              <a:rPr lang="en-US" baseline="0" dirty="0"/>
              <a:t> </a:t>
            </a:r>
            <a:r>
              <a:rPr lang="en-US" baseline="0" dirty="0" err="1"/>
              <a:t>là</a:t>
            </a:r>
            <a:r>
              <a:rPr lang="en-US" baseline="0" dirty="0"/>
              <a:t> </a:t>
            </a:r>
            <a:r>
              <a:rPr lang="en-US" baseline="0" dirty="0" err="1"/>
              <a:t>cơ</a:t>
            </a:r>
            <a:r>
              <a:rPr lang="en-US" baseline="0" dirty="0"/>
              <a:t> </a:t>
            </a:r>
            <a:r>
              <a:rPr lang="en-US" baseline="0" dirty="0" err="1"/>
              <a:t>chế</a:t>
            </a:r>
            <a:r>
              <a:rPr lang="en-US" baseline="0" dirty="0"/>
              <a:t> </a:t>
            </a:r>
            <a:r>
              <a:rPr lang="en-US" baseline="0" dirty="0" err="1"/>
              <a:t>hiệu</a:t>
            </a:r>
            <a:r>
              <a:rPr lang="en-US" baseline="0" dirty="0"/>
              <a:t> </a:t>
            </a:r>
            <a:r>
              <a:rPr lang="en-US" baseline="0" dirty="0" err="1"/>
              <a:t>quả</a:t>
            </a:r>
            <a:r>
              <a:rPr lang="en-US" baseline="0" dirty="0"/>
              <a:t> </a:t>
            </a:r>
            <a:r>
              <a:rPr lang="en-US" baseline="0" dirty="0" err="1"/>
              <a:t>để</a:t>
            </a:r>
            <a:r>
              <a:rPr lang="en-US" baseline="0" dirty="0"/>
              <a:t> </a:t>
            </a:r>
            <a:r>
              <a:rPr lang="en-US" baseline="0" dirty="0" err="1"/>
              <a:t>phân</a:t>
            </a:r>
            <a:r>
              <a:rPr lang="en-US" baseline="0" dirty="0"/>
              <a:t> chia </a:t>
            </a:r>
            <a:r>
              <a:rPr lang="en-US" baseline="0" dirty="0" err="1"/>
              <a:t>tài</a:t>
            </a:r>
            <a:r>
              <a:rPr lang="en-US" baseline="0" dirty="0"/>
              <a:t> </a:t>
            </a:r>
            <a:r>
              <a:rPr lang="en-US" baseline="0" dirty="0" err="1"/>
              <a:t>nguyên</a:t>
            </a:r>
            <a:endParaRPr lang="en-US" baseline="0" dirty="0"/>
          </a:p>
          <a:p>
            <a:r>
              <a:rPr lang="en-US" baseline="0" dirty="0"/>
              <a:t>-</a:t>
            </a:r>
            <a:r>
              <a:rPr lang="en-US" baseline="0" dirty="0" err="1"/>
              <a:t>Thị</a:t>
            </a:r>
            <a:r>
              <a:rPr lang="en-US" baseline="0" dirty="0"/>
              <a:t> </a:t>
            </a:r>
            <a:r>
              <a:rPr lang="en-US" baseline="0" dirty="0" err="1"/>
              <a:t>trường</a:t>
            </a:r>
            <a:r>
              <a:rPr lang="en-US" baseline="0" dirty="0"/>
              <a:t> </a:t>
            </a:r>
            <a:r>
              <a:rPr lang="en-US" baseline="0" dirty="0" err="1"/>
              <a:t>có</a:t>
            </a:r>
            <a:r>
              <a:rPr lang="en-US" baseline="0" dirty="0"/>
              <a:t> </a:t>
            </a:r>
            <a:r>
              <a:rPr lang="en-US" baseline="0" dirty="0" err="1"/>
              <a:t>phải</a:t>
            </a:r>
            <a:r>
              <a:rPr lang="en-US" baseline="0" dirty="0"/>
              <a:t> </a:t>
            </a:r>
            <a:r>
              <a:rPr lang="en-US" baseline="0" dirty="0" err="1"/>
              <a:t>là</a:t>
            </a:r>
            <a:r>
              <a:rPr lang="en-US" baseline="0" dirty="0"/>
              <a:t> </a:t>
            </a:r>
            <a:r>
              <a:rPr lang="en-US" baseline="0" dirty="0" err="1"/>
              <a:t>tốt</a:t>
            </a:r>
            <a:r>
              <a:rPr lang="en-US" baseline="0" dirty="0"/>
              <a:t> </a:t>
            </a:r>
            <a:r>
              <a:rPr lang="en-US" baseline="0" dirty="0" err="1"/>
              <a:t>nhất</a:t>
            </a:r>
            <a:r>
              <a:rPr lang="en-US" baseline="0" dirty="0"/>
              <a:t> </a:t>
            </a:r>
            <a:r>
              <a:rPr lang="en-US" baseline="0" dirty="0" err="1"/>
              <a:t>trong</a:t>
            </a:r>
            <a:r>
              <a:rPr lang="en-US" baseline="0" dirty="0"/>
              <a:t> </a:t>
            </a:r>
            <a:r>
              <a:rPr lang="en-US" baseline="0" dirty="0" err="1"/>
              <a:t>mọi</a:t>
            </a:r>
            <a:r>
              <a:rPr lang="en-US" baseline="0" dirty="0"/>
              <a:t> </a:t>
            </a:r>
            <a:r>
              <a:rPr lang="en-US" baseline="0" dirty="0" err="1"/>
              <a:t>trường</a:t>
            </a:r>
            <a:r>
              <a:rPr lang="en-US" baseline="0" dirty="0"/>
              <a:t> </a:t>
            </a:r>
            <a:r>
              <a:rPr lang="en-US" baseline="0" dirty="0" err="1"/>
              <a:t>hợp</a:t>
            </a:r>
            <a:r>
              <a:rPr lang="en-US" baseline="0" dirty="0"/>
              <a:t> </a:t>
            </a:r>
            <a:r>
              <a:rPr lang="en-US" baseline="0" dirty="0" err="1"/>
              <a:t>không</a:t>
            </a:r>
            <a:r>
              <a:rPr lang="en-US" baseline="0" dirty="0"/>
              <a:t>? (</a:t>
            </a:r>
            <a:r>
              <a:rPr lang="en-US" baseline="0" dirty="0" err="1"/>
              <a:t>Ví</a:t>
            </a:r>
            <a:r>
              <a:rPr lang="en-US" baseline="0" dirty="0"/>
              <a:t> </a:t>
            </a:r>
            <a:r>
              <a:rPr lang="en-US" baseline="0" dirty="0" err="1"/>
              <a:t>dụ</a:t>
            </a:r>
            <a:r>
              <a:rPr lang="en-US" baseline="0" dirty="0"/>
              <a:t>: </a:t>
            </a:r>
            <a:r>
              <a:rPr lang="en-US" baseline="0" dirty="0" err="1"/>
              <a:t>độc</a:t>
            </a:r>
            <a:r>
              <a:rPr lang="en-US" baseline="0" dirty="0"/>
              <a:t> </a:t>
            </a:r>
            <a:r>
              <a:rPr lang="en-US" baseline="0" dirty="0" err="1"/>
              <a:t>quyền</a:t>
            </a:r>
            <a:r>
              <a:rPr lang="en-US" baseline="0" dirty="0"/>
              <a:t>, </a:t>
            </a:r>
            <a:r>
              <a:rPr lang="en-US" baseline="0" dirty="0" err="1"/>
              <a:t>thỏa</a:t>
            </a:r>
            <a:r>
              <a:rPr lang="en-US" baseline="0" dirty="0"/>
              <a:t> </a:t>
            </a:r>
            <a:r>
              <a:rPr lang="en-US" baseline="0" dirty="0" err="1"/>
              <a:t>hiệp</a:t>
            </a:r>
            <a:r>
              <a:rPr lang="en-US" baseline="0" dirty="0"/>
              <a:t> </a:t>
            </a:r>
            <a:r>
              <a:rPr lang="en-US" baseline="0" dirty="0" err="1"/>
              <a:t>giữa</a:t>
            </a:r>
            <a:r>
              <a:rPr lang="en-US" baseline="0" dirty="0"/>
              <a:t> </a:t>
            </a:r>
            <a:r>
              <a:rPr lang="en-US" baseline="0" dirty="0" err="1"/>
              <a:t>các</a:t>
            </a:r>
            <a:r>
              <a:rPr lang="en-US" baseline="0" dirty="0"/>
              <a:t> </a:t>
            </a:r>
            <a:r>
              <a:rPr lang="en-US" baseline="0" dirty="0" err="1"/>
              <a:t>cty</a:t>
            </a:r>
            <a:r>
              <a:rPr lang="en-US" baseline="0" dirty="0"/>
              <a:t>, </a:t>
            </a:r>
            <a:r>
              <a:rPr lang="en-US" baseline="0" dirty="0" err="1"/>
              <a:t>một</a:t>
            </a:r>
            <a:r>
              <a:rPr lang="en-US" baseline="0" dirty="0"/>
              <a:t> </a:t>
            </a:r>
            <a:r>
              <a:rPr lang="en-US" baseline="0" dirty="0" err="1"/>
              <a:t>số</a:t>
            </a:r>
            <a:r>
              <a:rPr lang="en-US" baseline="0" dirty="0"/>
              <a:t> </a:t>
            </a:r>
            <a:r>
              <a:rPr lang="en-US" baseline="0" dirty="0" err="1"/>
              <a:t>loại</a:t>
            </a:r>
            <a:r>
              <a:rPr lang="en-US" baseline="0" dirty="0"/>
              <a:t> </a:t>
            </a:r>
            <a:r>
              <a:rPr lang="en-US" baseline="0" dirty="0" err="1"/>
              <a:t>hình</a:t>
            </a:r>
            <a:r>
              <a:rPr lang="en-US" baseline="0" dirty="0"/>
              <a:t> </a:t>
            </a:r>
            <a:r>
              <a:rPr lang="en-US" baseline="0" dirty="0" err="1"/>
              <a:t>kinh</a:t>
            </a:r>
            <a:r>
              <a:rPr lang="en-US" baseline="0" dirty="0"/>
              <a:t> </a:t>
            </a:r>
            <a:r>
              <a:rPr lang="en-US" baseline="0" dirty="0" err="1"/>
              <a:t>doanh</a:t>
            </a:r>
            <a:r>
              <a:rPr lang="en-US" baseline="0" dirty="0"/>
              <a:t> </a:t>
            </a:r>
            <a:r>
              <a:rPr lang="en-US" baseline="0" dirty="0" err="1"/>
              <a:t>vẫn</a:t>
            </a:r>
            <a:r>
              <a:rPr lang="en-US" baseline="0" dirty="0"/>
              <a:t> </a:t>
            </a:r>
            <a:r>
              <a:rPr lang="en-US" baseline="0" dirty="0" err="1"/>
              <a:t>cần</a:t>
            </a:r>
            <a:r>
              <a:rPr lang="en-US" baseline="0" dirty="0"/>
              <a:t> </a:t>
            </a:r>
            <a:r>
              <a:rPr lang="en-US" baseline="0" dirty="0" err="1"/>
              <a:t>sự</a:t>
            </a:r>
            <a:r>
              <a:rPr lang="en-US" baseline="0" dirty="0"/>
              <a:t> can </a:t>
            </a:r>
            <a:r>
              <a:rPr lang="en-US" baseline="0" dirty="0" err="1"/>
              <a:t>thiệp</a:t>
            </a:r>
            <a:r>
              <a:rPr lang="en-US" baseline="0" dirty="0"/>
              <a:t> </a:t>
            </a:r>
            <a:r>
              <a:rPr lang="en-US" baseline="0" dirty="0" err="1"/>
              <a:t>của</a:t>
            </a:r>
            <a:r>
              <a:rPr lang="en-US" baseline="0" dirty="0"/>
              <a:t> </a:t>
            </a:r>
            <a:r>
              <a:rPr lang="en-US" baseline="0" dirty="0" err="1"/>
              <a:t>nhà</a:t>
            </a:r>
            <a:r>
              <a:rPr lang="en-US" baseline="0" dirty="0"/>
              <a:t> </a:t>
            </a:r>
            <a:r>
              <a:rPr lang="en-US" baseline="0" dirty="0" err="1"/>
              <a:t>nước</a:t>
            </a:r>
            <a:r>
              <a:rPr lang="en-US" baseline="0" dirty="0"/>
              <a:t>: </a:t>
            </a:r>
            <a:r>
              <a:rPr lang="en-US" baseline="0" dirty="0" err="1"/>
              <a:t>điện</a:t>
            </a:r>
            <a:r>
              <a:rPr lang="en-US" baseline="0" dirty="0"/>
              <a:t>, </a:t>
            </a:r>
            <a:r>
              <a:rPr lang="en-US" baseline="0" dirty="0" err="1"/>
              <a:t>nước</a:t>
            </a:r>
            <a:r>
              <a:rPr lang="en-US" baseline="0" dirty="0"/>
              <a:t>, y </a:t>
            </a:r>
            <a:r>
              <a:rPr lang="en-US" baseline="0" dirty="0" err="1"/>
              <a:t>tế</a:t>
            </a:r>
            <a:r>
              <a:rPr lang="en-US" baseline="0" dirty="0"/>
              <a:t>, v.v...)</a:t>
            </a:r>
          </a:p>
          <a:p>
            <a:r>
              <a:rPr lang="en-US" baseline="0" dirty="0"/>
              <a:t>-Transaction cost: chi </a:t>
            </a:r>
            <a:r>
              <a:rPr lang="en-US" baseline="0" dirty="0" err="1"/>
              <a:t>phí</a:t>
            </a:r>
            <a:r>
              <a:rPr lang="en-US" baseline="0" dirty="0"/>
              <a:t> </a:t>
            </a:r>
            <a:r>
              <a:rPr lang="en-US" baseline="0" dirty="0" err="1"/>
              <a:t>tìm</a:t>
            </a:r>
            <a:r>
              <a:rPr lang="en-US" baseline="0" dirty="0"/>
              <a:t> </a:t>
            </a:r>
            <a:r>
              <a:rPr lang="en-US" baseline="0" dirty="0" err="1"/>
              <a:t>kiếm</a:t>
            </a:r>
            <a:r>
              <a:rPr lang="en-US" baseline="0" dirty="0"/>
              <a:t>, </a:t>
            </a:r>
            <a:r>
              <a:rPr lang="en-US" baseline="0" dirty="0" err="1"/>
              <a:t>thương</a:t>
            </a:r>
            <a:r>
              <a:rPr lang="en-US" baseline="0" dirty="0"/>
              <a:t> </a:t>
            </a:r>
            <a:r>
              <a:rPr lang="en-US" baseline="0" dirty="0" err="1"/>
              <a:t>lượng</a:t>
            </a:r>
            <a:r>
              <a:rPr lang="en-US" baseline="0" dirty="0"/>
              <a:t>, </a:t>
            </a:r>
            <a:r>
              <a:rPr lang="en-US" baseline="0" dirty="0" err="1"/>
              <a:t>trung</a:t>
            </a:r>
            <a:r>
              <a:rPr lang="en-US" baseline="0" dirty="0"/>
              <a:t> </a:t>
            </a:r>
            <a:r>
              <a:rPr lang="en-US" baseline="0" dirty="0" err="1"/>
              <a:t>gian</a:t>
            </a:r>
            <a:r>
              <a:rPr lang="en-US" baseline="0" dirty="0"/>
              <a:t> (</a:t>
            </a:r>
            <a:r>
              <a:rPr lang="en-US" baseline="0" dirty="0" err="1"/>
              <a:t>cò</a:t>
            </a:r>
            <a:r>
              <a:rPr lang="en-US" baseline="0" dirty="0"/>
              <a:t>), </a:t>
            </a:r>
            <a:r>
              <a:rPr lang="en-US" baseline="0" dirty="0" err="1"/>
              <a:t>v.v</a:t>
            </a:r>
            <a:r>
              <a:rPr lang="en-US" baseline="0" dirty="0"/>
              <a:t>… </a:t>
            </a:r>
            <a:r>
              <a:rPr lang="en-US" baseline="0" dirty="0" err="1"/>
              <a:t>chứ</a:t>
            </a:r>
            <a:r>
              <a:rPr lang="en-US" baseline="0" dirty="0"/>
              <a:t> </a:t>
            </a:r>
            <a:r>
              <a:rPr lang="en-US" baseline="0" dirty="0" err="1"/>
              <a:t>không</a:t>
            </a:r>
            <a:r>
              <a:rPr lang="en-US" baseline="0" dirty="0"/>
              <a:t> </a:t>
            </a:r>
            <a:r>
              <a:rPr lang="en-US" baseline="0" dirty="0" err="1"/>
              <a:t>chỉ</a:t>
            </a:r>
            <a:r>
              <a:rPr lang="en-US" baseline="0" dirty="0"/>
              <a:t> </a:t>
            </a:r>
            <a:r>
              <a:rPr lang="en-US" baseline="0" dirty="0" err="1"/>
              <a:t>giá</a:t>
            </a:r>
            <a:r>
              <a:rPr lang="en-US" baseline="0" dirty="0"/>
              <a:t> </a:t>
            </a:r>
            <a:r>
              <a:rPr lang="en-US" baseline="0" dirty="0" err="1"/>
              <a:t>mua</a:t>
            </a:r>
            <a:r>
              <a:rPr lang="en-US" baseline="0" dirty="0"/>
              <a:t> </a:t>
            </a:r>
            <a:r>
              <a:rPr lang="en-US" baseline="0" dirty="0" err="1"/>
              <a:t>và</a:t>
            </a:r>
            <a:r>
              <a:rPr lang="en-US" baseline="0" dirty="0"/>
              <a:t> </a:t>
            </a:r>
            <a:r>
              <a:rPr lang="en-US" baseline="0" dirty="0" err="1"/>
              <a:t>bán</a:t>
            </a:r>
            <a:endParaRPr lang="en-US" baseline="0" dirty="0"/>
          </a:p>
          <a:p>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22</a:t>
            </a:fld>
            <a:endParaRPr lang="en-US"/>
          </a:p>
        </p:txBody>
      </p:sp>
    </p:spTree>
    <p:extLst>
      <p:ext uri="{BB962C8B-B14F-4D97-AF65-F5344CB8AC3E}">
        <p14:creationId xmlns:p14="http://schemas.microsoft.com/office/powerpoint/2010/main" val="11646781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Khi</a:t>
            </a:r>
            <a:r>
              <a:rPr lang="en-US" dirty="0"/>
              <a:t> transaction cost</a:t>
            </a:r>
            <a:r>
              <a:rPr lang="en-US" baseline="0" dirty="0"/>
              <a:t> </a:t>
            </a:r>
            <a:r>
              <a:rPr lang="en-US" baseline="0" dirty="0" err="1"/>
              <a:t>lên</a:t>
            </a:r>
            <a:r>
              <a:rPr lang="en-US" baseline="0" dirty="0"/>
              <a:t> </a:t>
            </a:r>
            <a:r>
              <a:rPr lang="en-US" baseline="0" dirty="0" err="1"/>
              <a:t>cao</a:t>
            </a:r>
            <a:r>
              <a:rPr lang="en-US" baseline="0" dirty="0"/>
              <a:t>: </a:t>
            </a:r>
            <a:r>
              <a:rPr lang="en-US" baseline="0" dirty="0" err="1"/>
              <a:t>các</a:t>
            </a:r>
            <a:r>
              <a:rPr lang="en-US" baseline="0" dirty="0"/>
              <a:t> </a:t>
            </a:r>
            <a:r>
              <a:rPr lang="en-US" baseline="0" dirty="0" err="1"/>
              <a:t>công</a:t>
            </a:r>
            <a:r>
              <a:rPr lang="en-US" baseline="0" dirty="0"/>
              <a:t> </a:t>
            </a:r>
            <a:r>
              <a:rPr lang="en-US" baseline="0" dirty="0" err="1"/>
              <a:t>ty</a:t>
            </a:r>
            <a:r>
              <a:rPr lang="en-US" baseline="0" dirty="0"/>
              <a:t> </a:t>
            </a:r>
            <a:r>
              <a:rPr lang="en-US" baseline="0" dirty="0" err="1"/>
              <a:t>được</a:t>
            </a:r>
            <a:r>
              <a:rPr lang="en-US" baseline="0" dirty="0"/>
              <a:t> </a:t>
            </a:r>
            <a:r>
              <a:rPr lang="en-US" baseline="0" dirty="0" err="1"/>
              <a:t>thành</a:t>
            </a:r>
            <a:r>
              <a:rPr lang="en-US" baseline="0" dirty="0"/>
              <a:t> </a:t>
            </a:r>
            <a:r>
              <a:rPr lang="en-US" baseline="0" dirty="0" err="1"/>
              <a:t>lập</a:t>
            </a:r>
            <a:r>
              <a:rPr lang="en-US" baseline="0" dirty="0"/>
              <a:t> </a:t>
            </a:r>
            <a:r>
              <a:rPr lang="en-US" baseline="0" dirty="0" err="1"/>
              <a:t>để</a:t>
            </a:r>
            <a:r>
              <a:rPr lang="en-US" baseline="0" dirty="0"/>
              <a:t> </a:t>
            </a:r>
            <a:r>
              <a:rPr lang="en-US" baseline="0" dirty="0" err="1"/>
              <a:t>giảm</a:t>
            </a:r>
            <a:r>
              <a:rPr lang="en-US" baseline="0" dirty="0"/>
              <a:t> chi </a:t>
            </a:r>
            <a:r>
              <a:rPr lang="en-US" baseline="0" dirty="0" err="1"/>
              <a:t>phí</a:t>
            </a:r>
            <a:endParaRPr lang="en-US" baseline="0" dirty="0"/>
          </a:p>
          <a:p>
            <a:r>
              <a:rPr lang="en-US" baseline="0" dirty="0"/>
              <a:t>-Chi </a:t>
            </a:r>
            <a:r>
              <a:rPr lang="en-US" baseline="0" dirty="0" err="1"/>
              <a:t>phí</a:t>
            </a:r>
            <a:r>
              <a:rPr lang="en-US" baseline="0" dirty="0"/>
              <a:t> </a:t>
            </a:r>
            <a:r>
              <a:rPr lang="en-US" baseline="0" dirty="0" err="1"/>
              <a:t>giao</a:t>
            </a:r>
            <a:r>
              <a:rPr lang="en-US" baseline="0" dirty="0"/>
              <a:t> </a:t>
            </a:r>
            <a:r>
              <a:rPr lang="en-US" baseline="0" dirty="0" err="1"/>
              <a:t>dịch</a:t>
            </a:r>
            <a:r>
              <a:rPr lang="en-US" baseline="0" dirty="0"/>
              <a:t> </a:t>
            </a:r>
            <a:r>
              <a:rPr lang="en-US" baseline="0" dirty="0" err="1"/>
              <a:t>thay</a:t>
            </a:r>
            <a:r>
              <a:rPr lang="en-US" baseline="0" dirty="0"/>
              <a:t> </a:t>
            </a:r>
            <a:r>
              <a:rPr lang="en-US" baseline="0" dirty="0" err="1"/>
              <a:t>bằng</a:t>
            </a:r>
            <a:r>
              <a:rPr lang="en-US" baseline="0" dirty="0"/>
              <a:t> chi </a:t>
            </a:r>
            <a:r>
              <a:rPr lang="en-US" baseline="0" dirty="0" err="1"/>
              <a:t>phí</a:t>
            </a:r>
            <a:r>
              <a:rPr lang="en-US" baseline="0" dirty="0"/>
              <a:t> </a:t>
            </a:r>
            <a:r>
              <a:rPr lang="en-US" baseline="0" dirty="0" err="1"/>
              <a:t>thuê</a:t>
            </a:r>
            <a:r>
              <a:rPr lang="en-US" baseline="0" dirty="0"/>
              <a:t> </a:t>
            </a:r>
            <a:r>
              <a:rPr lang="en-US" baseline="0" dirty="0" err="1"/>
              <a:t>và</a:t>
            </a:r>
            <a:r>
              <a:rPr lang="en-US" baseline="0" dirty="0"/>
              <a:t> </a:t>
            </a:r>
            <a:r>
              <a:rPr lang="en-US" baseline="0" dirty="0" err="1"/>
              <a:t>quản</a:t>
            </a:r>
            <a:r>
              <a:rPr lang="en-US" baseline="0" dirty="0"/>
              <a:t> </a:t>
            </a:r>
            <a:r>
              <a:rPr lang="en-US" baseline="0" dirty="0" err="1"/>
              <a:t>lý</a:t>
            </a:r>
            <a:r>
              <a:rPr lang="en-US" baseline="0" dirty="0"/>
              <a:t> </a:t>
            </a:r>
            <a:r>
              <a:rPr lang="en-US" baseline="0" dirty="0" err="1"/>
              <a:t>nhân</a:t>
            </a:r>
            <a:r>
              <a:rPr lang="en-US" baseline="0" dirty="0"/>
              <a:t> </a:t>
            </a:r>
            <a:r>
              <a:rPr lang="en-US" baseline="0" dirty="0" err="1"/>
              <a:t>viên</a:t>
            </a:r>
            <a:endParaRPr lang="en-US" baseline="0" dirty="0"/>
          </a:p>
          <a:p>
            <a:r>
              <a:rPr lang="en-US" dirty="0"/>
              <a:t>-</a:t>
            </a:r>
            <a:r>
              <a:rPr lang="vi-VN" dirty="0"/>
              <a:t>Thông tin từ dưới lên trên, điều khiển từ trên xuống dưới</a:t>
            </a:r>
          </a:p>
        </p:txBody>
      </p:sp>
      <p:sp>
        <p:nvSpPr>
          <p:cNvPr id="4" name="Slide Number Placeholder 3"/>
          <p:cNvSpPr>
            <a:spLocks noGrp="1"/>
          </p:cNvSpPr>
          <p:nvPr>
            <p:ph type="sldNum" sz="quarter" idx="10"/>
          </p:nvPr>
        </p:nvSpPr>
        <p:spPr/>
        <p:txBody>
          <a:bodyPr/>
          <a:lstStyle/>
          <a:p>
            <a:fld id="{30AF09E1-458B-41C0-845B-4BEE7F0E5E02}" type="slidenum">
              <a:rPr lang="en-US" smtClean="0"/>
              <a:t>23</a:t>
            </a:fld>
            <a:endParaRPr lang="en-US"/>
          </a:p>
        </p:txBody>
      </p:sp>
    </p:spTree>
    <p:extLst>
      <p:ext uri="{BB962C8B-B14F-4D97-AF65-F5344CB8AC3E}">
        <p14:creationId xmlns:p14="http://schemas.microsoft.com/office/powerpoint/2010/main" val="21768039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Định</a:t>
            </a:r>
            <a:r>
              <a:rPr lang="en-US" baseline="0" dirty="0"/>
              <a:t> </a:t>
            </a:r>
            <a:r>
              <a:rPr lang="en-US" baseline="0" dirty="0" err="1"/>
              <a:t>nghĩa</a:t>
            </a:r>
            <a:r>
              <a:rPr lang="en-US" baseline="0" dirty="0"/>
              <a:t> </a:t>
            </a:r>
            <a:r>
              <a:rPr lang="en-US" dirty="0"/>
              <a:t>agency cost</a:t>
            </a:r>
          </a:p>
          <a:p>
            <a:r>
              <a:rPr lang="en-US" dirty="0"/>
              <a:t>-</a:t>
            </a:r>
            <a:r>
              <a:rPr lang="en-US" dirty="0" err="1"/>
              <a:t>Cách</a:t>
            </a:r>
            <a:r>
              <a:rPr lang="en-US" baseline="0" dirty="0"/>
              <a:t> </a:t>
            </a:r>
            <a:r>
              <a:rPr lang="en-US" baseline="0" dirty="0" err="1"/>
              <a:t>thức</a:t>
            </a:r>
            <a:r>
              <a:rPr lang="en-US" baseline="0" dirty="0"/>
              <a:t> </a:t>
            </a:r>
            <a:r>
              <a:rPr lang="en-US" baseline="0" dirty="0" err="1"/>
              <a:t>dùng</a:t>
            </a:r>
            <a:r>
              <a:rPr lang="en-US" baseline="0" dirty="0"/>
              <a:t> TMĐT </a:t>
            </a:r>
            <a:r>
              <a:rPr lang="en-US" baseline="0" dirty="0" err="1"/>
              <a:t>để</a:t>
            </a:r>
            <a:r>
              <a:rPr lang="en-US" baseline="0" dirty="0"/>
              <a:t> </a:t>
            </a:r>
            <a:r>
              <a:rPr lang="en-US" baseline="0" dirty="0" err="1"/>
              <a:t>giảm</a:t>
            </a:r>
            <a:r>
              <a:rPr lang="en-US" baseline="0" dirty="0"/>
              <a:t> 2 </a:t>
            </a:r>
            <a:r>
              <a:rPr lang="en-US" baseline="0" dirty="0" err="1"/>
              <a:t>loại</a:t>
            </a:r>
            <a:r>
              <a:rPr lang="en-US" baseline="0" dirty="0"/>
              <a:t> cost, </a:t>
            </a:r>
            <a:r>
              <a:rPr lang="en-US" baseline="0" dirty="0" err="1"/>
              <a:t>cho</a:t>
            </a:r>
            <a:r>
              <a:rPr lang="en-US" baseline="0" dirty="0"/>
              <a:t> </a:t>
            </a:r>
            <a:r>
              <a:rPr lang="en-US" baseline="0" dirty="0" err="1"/>
              <a:t>ví</a:t>
            </a:r>
            <a:r>
              <a:rPr lang="en-US" baseline="0" dirty="0"/>
              <a:t> </a:t>
            </a:r>
            <a:r>
              <a:rPr lang="en-US" baseline="0" dirty="0" err="1"/>
              <a:t>dụ</a:t>
            </a:r>
            <a:endParaRPr lang="en-US" baseline="0" dirty="0"/>
          </a:p>
        </p:txBody>
      </p:sp>
      <p:sp>
        <p:nvSpPr>
          <p:cNvPr id="4" name="Slide Number Placeholder 3"/>
          <p:cNvSpPr>
            <a:spLocks noGrp="1"/>
          </p:cNvSpPr>
          <p:nvPr>
            <p:ph type="sldNum" sz="quarter" idx="10"/>
          </p:nvPr>
        </p:nvSpPr>
        <p:spPr/>
        <p:txBody>
          <a:bodyPr/>
          <a:lstStyle/>
          <a:p>
            <a:fld id="{30AF09E1-458B-41C0-845B-4BEE7F0E5E02}" type="slidenum">
              <a:rPr lang="en-US" smtClean="0"/>
              <a:t>24</a:t>
            </a:fld>
            <a:endParaRPr lang="en-US"/>
          </a:p>
        </p:txBody>
      </p:sp>
    </p:spTree>
    <p:extLst>
      <p:ext uri="{BB962C8B-B14F-4D97-AF65-F5344CB8AC3E}">
        <p14:creationId xmlns:p14="http://schemas.microsoft.com/office/powerpoint/2010/main" val="26450171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a:t>-</a:t>
            </a:r>
            <a:r>
              <a:rPr lang="vi-VN" baseline="0" dirty="0"/>
              <a:t>Quy luật hiệu suất giảm dần phát biểu rằng mỗi đơn vị yếu tố sản xuất tăng thêm sẽ bổ sung ít hơn vào tổng sản phẩm so với các đơn vị trước. Quy luật hiệu suất giảm dần được áp dụng khi một yếu tố sản xuất thay đổi (ví dụ như lao động) còn các yếu tố khác (ví dụ như máy móc thiết bị, đất đai) được giữ cố định</a:t>
            </a:r>
            <a:r>
              <a:rPr lang="en-US" baseline="0" dirty="0"/>
              <a:t> (</a:t>
            </a:r>
            <a:r>
              <a:rPr lang="en-US" baseline="0" dirty="0" err="1"/>
              <a:t>ví</a:t>
            </a:r>
            <a:r>
              <a:rPr lang="en-US" baseline="0" dirty="0"/>
              <a:t> </a:t>
            </a:r>
            <a:r>
              <a:rPr lang="en-US" baseline="0" dirty="0" err="1"/>
              <a:t>dụ</a:t>
            </a:r>
            <a:r>
              <a:rPr lang="en-US" baseline="0" dirty="0"/>
              <a:t>: </a:t>
            </a:r>
            <a:r>
              <a:rPr lang="en-US" baseline="0" dirty="0" err="1"/>
              <a:t>tăng</a:t>
            </a:r>
            <a:r>
              <a:rPr lang="en-US" baseline="0" dirty="0"/>
              <a:t> </a:t>
            </a:r>
            <a:r>
              <a:rPr lang="en-US" baseline="0" dirty="0" err="1"/>
              <a:t>giờ</a:t>
            </a:r>
            <a:r>
              <a:rPr lang="en-US" baseline="0" dirty="0"/>
              <a:t> </a:t>
            </a:r>
            <a:r>
              <a:rPr lang="en-US" baseline="0" dirty="0" err="1"/>
              <a:t>làm</a:t>
            </a:r>
            <a:r>
              <a:rPr lang="en-US" baseline="0" dirty="0"/>
              <a:t>, </a:t>
            </a:r>
            <a:r>
              <a:rPr lang="en-US" baseline="0" dirty="0" err="1"/>
              <a:t>hiệu</a:t>
            </a:r>
            <a:r>
              <a:rPr lang="en-US" baseline="0" dirty="0"/>
              <a:t> </a:t>
            </a:r>
            <a:r>
              <a:rPr lang="en-US" baseline="0" dirty="0" err="1"/>
              <a:t>suất</a:t>
            </a:r>
            <a:r>
              <a:rPr lang="en-US" baseline="0" dirty="0"/>
              <a:t> </a:t>
            </a:r>
            <a:r>
              <a:rPr lang="en-US" baseline="0" dirty="0" err="1"/>
              <a:t>cũng</a:t>
            </a:r>
            <a:r>
              <a:rPr lang="en-US" baseline="0" dirty="0"/>
              <a:t> </a:t>
            </a:r>
            <a:r>
              <a:rPr lang="en-US" baseline="0" dirty="0" err="1"/>
              <a:t>tăng</a:t>
            </a:r>
            <a:r>
              <a:rPr lang="en-US" baseline="0" dirty="0"/>
              <a:t> </a:t>
            </a:r>
            <a:r>
              <a:rPr lang="en-US" baseline="0" dirty="0" err="1"/>
              <a:t>nhưng</a:t>
            </a:r>
            <a:r>
              <a:rPr lang="en-US" baseline="0" dirty="0"/>
              <a:t> </a:t>
            </a:r>
            <a:r>
              <a:rPr lang="en-US" baseline="0" dirty="0" err="1"/>
              <a:t>tăng</a:t>
            </a:r>
            <a:r>
              <a:rPr lang="en-US" baseline="0" dirty="0"/>
              <a:t> </a:t>
            </a:r>
            <a:r>
              <a:rPr lang="en-US" baseline="0" dirty="0" err="1"/>
              <a:t>chậm</a:t>
            </a:r>
            <a:r>
              <a:rPr lang="en-US" baseline="0" dirty="0"/>
              <a:t> </a:t>
            </a:r>
            <a:r>
              <a:rPr lang="en-US" baseline="0" dirty="0" err="1"/>
              <a:t>hơn</a:t>
            </a:r>
            <a:r>
              <a:rPr lang="en-US" baseline="0" dirty="0"/>
              <a:t>, </a:t>
            </a:r>
            <a:r>
              <a:rPr lang="en-US" baseline="0" dirty="0" err="1"/>
              <a:t>tăng</a:t>
            </a:r>
            <a:r>
              <a:rPr lang="en-US" baseline="0" dirty="0"/>
              <a:t> </a:t>
            </a:r>
            <a:r>
              <a:rPr lang="en-US" baseline="0" dirty="0" err="1"/>
              <a:t>đến</a:t>
            </a:r>
            <a:r>
              <a:rPr lang="en-US" baseline="0" dirty="0"/>
              <a:t> </a:t>
            </a:r>
            <a:r>
              <a:rPr lang="en-US" baseline="0" dirty="0" err="1"/>
              <a:t>một</a:t>
            </a:r>
            <a:r>
              <a:rPr lang="en-US" baseline="0" dirty="0"/>
              <a:t> </a:t>
            </a:r>
            <a:r>
              <a:rPr lang="en-US" baseline="0" dirty="0" err="1"/>
              <a:t>lúc</a:t>
            </a:r>
            <a:r>
              <a:rPr lang="en-US" baseline="0" dirty="0"/>
              <a:t> </a:t>
            </a:r>
            <a:r>
              <a:rPr lang="en-US" baseline="0" dirty="0" err="1"/>
              <a:t>nào</a:t>
            </a:r>
            <a:r>
              <a:rPr lang="en-US" baseline="0" dirty="0"/>
              <a:t> </a:t>
            </a:r>
            <a:r>
              <a:rPr lang="en-US" baseline="0" dirty="0" err="1"/>
              <a:t>đó</a:t>
            </a:r>
            <a:r>
              <a:rPr lang="en-US" baseline="0" dirty="0"/>
              <a:t> </a:t>
            </a:r>
            <a:r>
              <a:rPr lang="en-US" baseline="0" dirty="0" err="1"/>
              <a:t>người</a:t>
            </a:r>
            <a:r>
              <a:rPr lang="en-US" baseline="0" dirty="0"/>
              <a:t> </a:t>
            </a:r>
            <a:r>
              <a:rPr lang="en-US" baseline="0" dirty="0" err="1"/>
              <a:t>công</a:t>
            </a:r>
            <a:r>
              <a:rPr lang="en-US" baseline="0" dirty="0"/>
              <a:t> </a:t>
            </a:r>
            <a:r>
              <a:rPr lang="en-US" baseline="0" dirty="0" err="1"/>
              <a:t>nhân</a:t>
            </a:r>
            <a:r>
              <a:rPr lang="en-US" baseline="0" dirty="0"/>
              <a:t> </a:t>
            </a:r>
            <a:r>
              <a:rPr lang="en-US" baseline="0" dirty="0" err="1"/>
              <a:t>sẽ</a:t>
            </a:r>
            <a:r>
              <a:rPr lang="en-US" baseline="0" dirty="0"/>
              <a:t> </a:t>
            </a:r>
            <a:r>
              <a:rPr lang="en-US" baseline="0" dirty="0" err="1"/>
              <a:t>không</a:t>
            </a:r>
            <a:r>
              <a:rPr lang="en-US" baseline="0" dirty="0"/>
              <a:t> </a:t>
            </a:r>
            <a:r>
              <a:rPr lang="en-US" baseline="0" dirty="0" err="1"/>
              <a:t>đảm</a:t>
            </a:r>
            <a:r>
              <a:rPr lang="en-US" baseline="0" dirty="0"/>
              <a:t> </a:t>
            </a:r>
            <a:r>
              <a:rPr lang="en-US" baseline="0" dirty="0" err="1"/>
              <a:t>bảo</a:t>
            </a:r>
            <a:r>
              <a:rPr lang="en-US" baseline="0" dirty="0"/>
              <a:t> </a:t>
            </a:r>
            <a:r>
              <a:rPr lang="en-US" baseline="0" dirty="0" err="1"/>
              <a:t>sức</a:t>
            </a:r>
            <a:r>
              <a:rPr lang="en-US" baseline="0" dirty="0"/>
              <a:t> </a:t>
            </a:r>
            <a:r>
              <a:rPr lang="en-US" baseline="0" dirty="0" err="1"/>
              <a:t>khỏe</a:t>
            </a:r>
            <a:r>
              <a:rPr lang="en-US" baseline="0" dirty="0"/>
              <a:t> =&gt; </a:t>
            </a:r>
            <a:r>
              <a:rPr lang="en-US" baseline="0" dirty="0" err="1"/>
              <a:t>năng</a:t>
            </a:r>
            <a:r>
              <a:rPr lang="en-US" baseline="0" dirty="0"/>
              <a:t> </a:t>
            </a:r>
            <a:r>
              <a:rPr lang="en-US" baseline="0" dirty="0" err="1"/>
              <a:t>suất</a:t>
            </a:r>
            <a:r>
              <a:rPr lang="en-US" baseline="0" dirty="0"/>
              <a:t> </a:t>
            </a:r>
            <a:r>
              <a:rPr lang="en-US" baseline="0" dirty="0" err="1"/>
              <a:t>giảm</a:t>
            </a:r>
            <a:r>
              <a:rPr lang="en-US" baseline="0" dirty="0"/>
              <a:t>)</a:t>
            </a:r>
          </a:p>
          <a:p>
            <a:r>
              <a:rPr lang="en-US" baseline="0" dirty="0"/>
              <a:t>-</a:t>
            </a:r>
            <a:r>
              <a:rPr lang="en-US" baseline="0" dirty="0" err="1"/>
              <a:t>Hiệu</a:t>
            </a:r>
            <a:r>
              <a:rPr lang="en-US" baseline="0" dirty="0"/>
              <a:t> </a:t>
            </a:r>
            <a:r>
              <a:rPr lang="en-US" baseline="0" dirty="0" err="1"/>
              <a:t>ứng</a:t>
            </a:r>
            <a:r>
              <a:rPr lang="en-US" baseline="0" dirty="0"/>
              <a:t> </a:t>
            </a:r>
            <a:r>
              <a:rPr lang="en-US" baseline="0" dirty="0" err="1"/>
              <a:t>mạng</a:t>
            </a:r>
            <a:r>
              <a:rPr lang="en-US" baseline="0" dirty="0"/>
              <a:t>: </a:t>
            </a:r>
            <a:r>
              <a:rPr lang="en-US" baseline="0" dirty="0" err="1"/>
              <a:t>số</a:t>
            </a:r>
            <a:r>
              <a:rPr lang="en-US" baseline="0" dirty="0"/>
              <a:t> </a:t>
            </a:r>
            <a:r>
              <a:rPr lang="en-US" baseline="0" dirty="0" err="1"/>
              <a:t>người</a:t>
            </a:r>
            <a:r>
              <a:rPr lang="en-US" baseline="0" dirty="0"/>
              <a:t> </a:t>
            </a:r>
            <a:r>
              <a:rPr lang="en-US" baseline="0" dirty="0" err="1"/>
              <a:t>tham</a:t>
            </a:r>
            <a:r>
              <a:rPr lang="en-US" baseline="0" dirty="0"/>
              <a:t> </a:t>
            </a:r>
            <a:r>
              <a:rPr lang="en-US" baseline="0" dirty="0" err="1"/>
              <a:t>gia</a:t>
            </a:r>
            <a:r>
              <a:rPr lang="en-US" baseline="0" dirty="0"/>
              <a:t> </a:t>
            </a:r>
            <a:r>
              <a:rPr lang="en-US" baseline="0" dirty="0" err="1"/>
              <a:t>tăng</a:t>
            </a:r>
            <a:r>
              <a:rPr lang="en-US" baseline="0" dirty="0"/>
              <a:t>, </a:t>
            </a:r>
            <a:r>
              <a:rPr lang="en-US" baseline="0" dirty="0" err="1"/>
              <a:t>giá</a:t>
            </a:r>
            <a:r>
              <a:rPr lang="en-US" baseline="0" dirty="0"/>
              <a:t> </a:t>
            </a:r>
            <a:r>
              <a:rPr lang="en-US" baseline="0" dirty="0" err="1"/>
              <a:t>trị</a:t>
            </a:r>
            <a:r>
              <a:rPr lang="en-US" baseline="0" dirty="0"/>
              <a:t> </a:t>
            </a:r>
            <a:r>
              <a:rPr lang="en-US" baseline="0" dirty="0" err="1"/>
              <a:t>cho</a:t>
            </a:r>
            <a:r>
              <a:rPr lang="en-US" baseline="0" dirty="0"/>
              <a:t> </a:t>
            </a:r>
            <a:r>
              <a:rPr lang="en-US" baseline="0" dirty="0" err="1"/>
              <a:t>mỗi</a:t>
            </a:r>
            <a:r>
              <a:rPr lang="en-US" baseline="0" dirty="0"/>
              <a:t> </a:t>
            </a:r>
            <a:r>
              <a:rPr lang="en-US" baseline="0" dirty="0" err="1"/>
              <a:t>người</a:t>
            </a:r>
            <a:r>
              <a:rPr lang="en-US" baseline="0" dirty="0"/>
              <a:t> </a:t>
            </a:r>
            <a:r>
              <a:rPr lang="en-US" baseline="0" dirty="0" err="1"/>
              <a:t>tăng</a:t>
            </a:r>
            <a:r>
              <a:rPr lang="en-US" baseline="0" dirty="0"/>
              <a:t> (email, </a:t>
            </a:r>
            <a:r>
              <a:rPr lang="en-US" baseline="0" dirty="0" err="1"/>
              <a:t>mạng</a:t>
            </a:r>
            <a:r>
              <a:rPr lang="en-US" baseline="0" dirty="0"/>
              <a:t> </a:t>
            </a:r>
            <a:r>
              <a:rPr lang="en-US" baseline="0" dirty="0" err="1"/>
              <a:t>xã</a:t>
            </a:r>
            <a:r>
              <a:rPr lang="en-US" baseline="0" dirty="0"/>
              <a:t> </a:t>
            </a:r>
            <a:r>
              <a:rPr lang="en-US" baseline="0" dirty="0" err="1"/>
              <a:t>hội</a:t>
            </a:r>
            <a:r>
              <a:rPr lang="en-US" baseline="0" dirty="0"/>
              <a:t>, B2B)</a:t>
            </a:r>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25</a:t>
            </a:fld>
            <a:endParaRPr lang="en-US"/>
          </a:p>
        </p:txBody>
      </p:sp>
    </p:spTree>
    <p:extLst>
      <p:ext uri="{BB962C8B-B14F-4D97-AF65-F5344CB8AC3E}">
        <p14:creationId xmlns:p14="http://schemas.microsoft.com/office/powerpoint/2010/main" val="15992753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Tính</a:t>
            </a:r>
            <a:r>
              <a:rPr lang="en-US" baseline="0" dirty="0"/>
              <a:t> </a:t>
            </a:r>
            <a:r>
              <a:rPr lang="en-US" baseline="0" dirty="0" err="1"/>
              <a:t>chất</a:t>
            </a:r>
            <a:r>
              <a:rPr lang="en-US" baseline="0" dirty="0"/>
              <a:t> </a:t>
            </a:r>
            <a:r>
              <a:rPr lang="en-US" baseline="0" dirty="0" err="1"/>
              <a:t>toàn</a:t>
            </a:r>
            <a:r>
              <a:rPr lang="en-US" baseline="0" dirty="0"/>
              <a:t> </a:t>
            </a:r>
            <a:r>
              <a:rPr lang="en-US" baseline="0" dirty="0" err="1"/>
              <a:t>cầu</a:t>
            </a:r>
            <a:r>
              <a:rPr lang="en-US" baseline="0" dirty="0"/>
              <a:t> </a:t>
            </a:r>
            <a:r>
              <a:rPr lang="en-US" baseline="0" dirty="0" err="1"/>
              <a:t>của</a:t>
            </a:r>
            <a:r>
              <a:rPr lang="en-US" baseline="0" dirty="0"/>
              <a:t> TMĐT: </a:t>
            </a:r>
            <a:r>
              <a:rPr lang="en-US" baseline="0" dirty="0" err="1"/>
              <a:t>tạo</a:t>
            </a:r>
            <a:r>
              <a:rPr lang="en-US" baseline="0" dirty="0"/>
              <a:t> </a:t>
            </a:r>
            <a:r>
              <a:rPr lang="en-US" baseline="0" dirty="0" err="1"/>
              <a:t>ra</a:t>
            </a:r>
            <a:r>
              <a:rPr lang="en-US" baseline="0" dirty="0"/>
              <a:t> 1 website =&gt; </a:t>
            </a:r>
            <a:r>
              <a:rPr lang="en-US" baseline="0" dirty="0" err="1"/>
              <a:t>cả</a:t>
            </a:r>
            <a:r>
              <a:rPr lang="en-US" baseline="0" dirty="0"/>
              <a:t> </a:t>
            </a:r>
            <a:r>
              <a:rPr lang="en-US" baseline="0" dirty="0" err="1"/>
              <a:t>thế</a:t>
            </a:r>
            <a:r>
              <a:rPr lang="en-US" baseline="0" dirty="0"/>
              <a:t> </a:t>
            </a:r>
            <a:r>
              <a:rPr lang="en-US" baseline="0" dirty="0" err="1"/>
              <a:t>giới</a:t>
            </a:r>
            <a:r>
              <a:rPr lang="en-US" baseline="0" dirty="0"/>
              <a:t> </a:t>
            </a:r>
            <a:r>
              <a:rPr lang="en-US" baseline="0" dirty="0" err="1"/>
              <a:t>có</a:t>
            </a:r>
            <a:r>
              <a:rPr lang="en-US" baseline="0" dirty="0"/>
              <a:t> </a:t>
            </a:r>
            <a:r>
              <a:rPr lang="en-US" baseline="0" dirty="0" err="1"/>
              <a:t>thể</a:t>
            </a:r>
            <a:r>
              <a:rPr lang="en-US" baseline="0" dirty="0"/>
              <a:t> </a:t>
            </a:r>
            <a:r>
              <a:rPr lang="en-US" baseline="0" dirty="0" err="1"/>
              <a:t>truy</a:t>
            </a:r>
            <a:r>
              <a:rPr lang="en-US" baseline="0" dirty="0"/>
              <a:t> </a:t>
            </a:r>
            <a:r>
              <a:rPr lang="en-US" baseline="0" dirty="0" err="1"/>
              <a:t>cập</a:t>
            </a:r>
            <a:r>
              <a:rPr lang="en-US" baseline="0" dirty="0"/>
              <a:t> </a:t>
            </a:r>
            <a:r>
              <a:rPr lang="en-US" baseline="0" dirty="0" err="1"/>
              <a:t>vào</a:t>
            </a:r>
            <a:r>
              <a:rPr lang="en-US" baseline="0" dirty="0"/>
              <a:t> (</a:t>
            </a:r>
            <a:r>
              <a:rPr lang="en-US" baseline="0" dirty="0" err="1"/>
              <a:t>hết</a:t>
            </a:r>
            <a:r>
              <a:rPr lang="en-US" baseline="0" dirty="0"/>
              <a:t> </a:t>
            </a:r>
            <a:r>
              <a:rPr lang="en-US" baseline="0" dirty="0" err="1"/>
              <a:t>sức</a:t>
            </a:r>
            <a:r>
              <a:rPr lang="en-US" baseline="0" dirty="0"/>
              <a:t> </a:t>
            </a:r>
            <a:r>
              <a:rPr lang="en-US" baseline="0" dirty="0" err="1"/>
              <a:t>cẩn</a:t>
            </a:r>
            <a:r>
              <a:rPr lang="en-US" baseline="0" dirty="0"/>
              <a:t> </a:t>
            </a:r>
            <a:r>
              <a:rPr lang="en-US" baseline="0" dirty="0" err="1"/>
              <a:t>thận</a:t>
            </a:r>
            <a:r>
              <a:rPr lang="en-US" baseline="0" dirty="0"/>
              <a:t> </a:t>
            </a:r>
            <a:r>
              <a:rPr lang="en-US" baseline="0" dirty="0" err="1"/>
              <a:t>khi</a:t>
            </a:r>
            <a:r>
              <a:rPr lang="en-US" baseline="0" dirty="0"/>
              <a:t> </a:t>
            </a:r>
            <a:r>
              <a:rPr lang="en-US" baseline="0" dirty="0" err="1"/>
              <a:t>bàn</a:t>
            </a:r>
            <a:r>
              <a:rPr lang="en-US" baseline="0" dirty="0"/>
              <a:t> </a:t>
            </a:r>
            <a:r>
              <a:rPr lang="en-US" baseline="0" dirty="0" err="1"/>
              <a:t>về</a:t>
            </a:r>
            <a:r>
              <a:rPr lang="en-US" baseline="0" dirty="0"/>
              <a:t> </a:t>
            </a:r>
            <a:r>
              <a:rPr lang="en-US" baseline="0" dirty="0" err="1"/>
              <a:t>tôn</a:t>
            </a:r>
            <a:r>
              <a:rPr lang="en-US" baseline="0" dirty="0"/>
              <a:t> </a:t>
            </a:r>
            <a:r>
              <a:rPr lang="en-US" baseline="0" dirty="0" err="1"/>
              <a:t>giáo</a:t>
            </a:r>
            <a:r>
              <a:rPr lang="en-US" baseline="0" dirty="0"/>
              <a:t>, </a:t>
            </a:r>
            <a:r>
              <a:rPr lang="en-US" baseline="0" dirty="0" err="1"/>
              <a:t>chính</a:t>
            </a:r>
            <a:r>
              <a:rPr lang="en-US" baseline="0" dirty="0"/>
              <a:t> </a:t>
            </a:r>
            <a:r>
              <a:rPr lang="en-US" baseline="0" dirty="0" err="1"/>
              <a:t>trị</a:t>
            </a:r>
            <a:r>
              <a:rPr lang="en-US" baseline="0" dirty="0"/>
              <a:t>, </a:t>
            </a:r>
            <a:r>
              <a:rPr lang="en-US" baseline="0" dirty="0" err="1"/>
              <a:t>đạo</a:t>
            </a:r>
            <a:r>
              <a:rPr lang="en-US" baseline="0" dirty="0"/>
              <a:t> </a:t>
            </a:r>
            <a:r>
              <a:rPr lang="en-US" baseline="0" dirty="0" err="1"/>
              <a:t>đức</a:t>
            </a:r>
            <a:r>
              <a:rPr lang="en-US" baseline="0" dirty="0"/>
              <a:t>, v.v... </a:t>
            </a:r>
            <a:r>
              <a:rPr lang="en-US" baseline="0" dirty="0" err="1"/>
              <a:t>trên</a:t>
            </a:r>
            <a:r>
              <a:rPr lang="en-US" baseline="0" dirty="0"/>
              <a:t> website, </a:t>
            </a:r>
            <a:r>
              <a:rPr lang="en-US" baseline="0" dirty="0" err="1"/>
              <a:t>ví</a:t>
            </a:r>
            <a:r>
              <a:rPr lang="en-US" baseline="0" dirty="0"/>
              <a:t> </a:t>
            </a:r>
            <a:r>
              <a:rPr lang="en-US" baseline="0" dirty="0" err="1"/>
              <a:t>có</a:t>
            </a:r>
            <a:r>
              <a:rPr lang="en-US" baseline="0" dirty="0"/>
              <a:t> </a:t>
            </a:r>
            <a:r>
              <a:rPr lang="en-US" baseline="0" dirty="0" err="1"/>
              <a:t>thể</a:t>
            </a:r>
            <a:r>
              <a:rPr lang="en-US" baseline="0" dirty="0"/>
              <a:t> </a:t>
            </a:r>
            <a:r>
              <a:rPr lang="en-US" baseline="0" dirty="0" err="1"/>
              <a:t>nó</a:t>
            </a:r>
            <a:r>
              <a:rPr lang="en-US" baseline="0" dirty="0"/>
              <a:t> </a:t>
            </a:r>
            <a:r>
              <a:rPr lang="en-US" baseline="0" dirty="0" err="1"/>
              <a:t>là</a:t>
            </a:r>
            <a:r>
              <a:rPr lang="en-US" baseline="0" dirty="0"/>
              <a:t> </a:t>
            </a:r>
            <a:r>
              <a:rPr lang="en-US" baseline="0" dirty="0" err="1"/>
              <a:t>bình</a:t>
            </a:r>
            <a:r>
              <a:rPr lang="en-US" baseline="0" dirty="0"/>
              <a:t> </a:t>
            </a:r>
            <a:r>
              <a:rPr lang="en-US" baseline="0" dirty="0" err="1"/>
              <a:t>thường</a:t>
            </a:r>
            <a:r>
              <a:rPr lang="en-US" baseline="0" dirty="0"/>
              <a:t> </a:t>
            </a:r>
            <a:r>
              <a:rPr lang="en-US" baseline="0" dirty="0" err="1"/>
              <a:t>của</a:t>
            </a:r>
            <a:r>
              <a:rPr lang="en-US" baseline="0" dirty="0"/>
              <a:t> </a:t>
            </a:r>
            <a:r>
              <a:rPr lang="en-US" baseline="0" dirty="0" err="1"/>
              <a:t>mình</a:t>
            </a:r>
            <a:r>
              <a:rPr lang="en-US" baseline="0" dirty="0"/>
              <a:t> </a:t>
            </a:r>
            <a:r>
              <a:rPr lang="en-US" baseline="0" dirty="0" err="1"/>
              <a:t>nhưng</a:t>
            </a:r>
            <a:r>
              <a:rPr lang="en-US" baseline="0" dirty="0"/>
              <a:t> </a:t>
            </a:r>
            <a:r>
              <a:rPr lang="en-US" baseline="0" dirty="0" err="1"/>
              <a:t>là</a:t>
            </a:r>
            <a:r>
              <a:rPr lang="en-US" baseline="0" dirty="0"/>
              <a:t> </a:t>
            </a:r>
            <a:r>
              <a:rPr lang="en-US" baseline="0" dirty="0" err="1"/>
              <a:t>xúc</a:t>
            </a:r>
            <a:r>
              <a:rPr lang="en-US" baseline="0" dirty="0"/>
              <a:t> </a:t>
            </a:r>
            <a:r>
              <a:rPr lang="en-US" baseline="0" dirty="0" err="1"/>
              <a:t>phạm</a:t>
            </a:r>
            <a:r>
              <a:rPr lang="en-US" baseline="0" dirty="0"/>
              <a:t> </a:t>
            </a:r>
            <a:r>
              <a:rPr lang="en-US" baseline="0" dirty="0" err="1"/>
              <a:t>đến</a:t>
            </a:r>
            <a:r>
              <a:rPr lang="en-US" baseline="0" dirty="0"/>
              <a:t> </a:t>
            </a:r>
            <a:r>
              <a:rPr lang="en-US" baseline="0" dirty="0" err="1"/>
              <a:t>những</a:t>
            </a:r>
            <a:r>
              <a:rPr lang="en-US" baseline="0" dirty="0"/>
              <a:t> </a:t>
            </a:r>
            <a:r>
              <a:rPr lang="en-US" baseline="0" dirty="0" err="1"/>
              <a:t>nền</a:t>
            </a:r>
            <a:r>
              <a:rPr lang="en-US" baseline="0" dirty="0"/>
              <a:t> </a:t>
            </a:r>
            <a:r>
              <a:rPr lang="en-US" baseline="0" dirty="0" err="1"/>
              <a:t>văn</a:t>
            </a:r>
            <a:r>
              <a:rPr lang="en-US" baseline="0" dirty="0"/>
              <a:t> </a:t>
            </a:r>
            <a:r>
              <a:rPr lang="en-US" baseline="0" dirty="0" err="1"/>
              <a:t>hóa</a:t>
            </a:r>
            <a:r>
              <a:rPr lang="en-US" baseline="0" dirty="0"/>
              <a:t> </a:t>
            </a:r>
            <a:r>
              <a:rPr lang="en-US" baseline="0" dirty="0" err="1"/>
              <a:t>khác</a:t>
            </a:r>
            <a:r>
              <a:rPr lang="en-US" baseline="0" dirty="0"/>
              <a:t>).</a:t>
            </a:r>
          </a:p>
          <a:p>
            <a:r>
              <a:rPr lang="en-US" baseline="0" dirty="0"/>
              <a:t>-</a:t>
            </a:r>
            <a:r>
              <a:rPr lang="en-US" baseline="0" dirty="0" err="1"/>
              <a:t>Làm</a:t>
            </a:r>
            <a:r>
              <a:rPr lang="en-US" baseline="0" dirty="0"/>
              <a:t> </a:t>
            </a:r>
            <a:r>
              <a:rPr lang="en-US" baseline="0" dirty="0" err="1"/>
              <a:t>sao</a:t>
            </a:r>
            <a:r>
              <a:rPr lang="en-US" baseline="0" dirty="0"/>
              <a:t> </a:t>
            </a:r>
            <a:r>
              <a:rPr lang="en-US" baseline="0" dirty="0" err="1"/>
              <a:t>để</a:t>
            </a:r>
            <a:r>
              <a:rPr lang="en-US" baseline="0" dirty="0"/>
              <a:t> </a:t>
            </a:r>
            <a:r>
              <a:rPr lang="en-US" baseline="0" dirty="0" err="1"/>
              <a:t>tạo</a:t>
            </a:r>
            <a:r>
              <a:rPr lang="en-US" baseline="0" dirty="0"/>
              <a:t> </a:t>
            </a:r>
            <a:r>
              <a:rPr lang="en-US" baseline="0" dirty="0" err="1"/>
              <a:t>ra</a:t>
            </a:r>
            <a:r>
              <a:rPr lang="en-US" baseline="0" dirty="0"/>
              <a:t> </a:t>
            </a:r>
            <a:r>
              <a:rPr lang="en-US" baseline="0" dirty="0" err="1"/>
              <a:t>sự</a:t>
            </a:r>
            <a:r>
              <a:rPr lang="en-US" baseline="0" dirty="0"/>
              <a:t> tin </a:t>
            </a:r>
            <a:r>
              <a:rPr lang="en-US" baseline="0" dirty="0" err="1"/>
              <a:t>tưởng</a:t>
            </a:r>
            <a:r>
              <a:rPr lang="en-US" baseline="0" dirty="0"/>
              <a:t> </a:t>
            </a:r>
            <a:r>
              <a:rPr lang="en-US" baseline="0" dirty="0" err="1"/>
              <a:t>trên</a:t>
            </a:r>
            <a:r>
              <a:rPr lang="en-US" baseline="0" dirty="0"/>
              <a:t> Internet?</a:t>
            </a:r>
            <a:endParaRPr lang="en-US" dirty="0"/>
          </a:p>
          <a:p>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26</a:t>
            </a:fld>
            <a:endParaRPr lang="en-US"/>
          </a:p>
        </p:txBody>
      </p:sp>
    </p:spTree>
    <p:extLst>
      <p:ext uri="{BB962C8B-B14F-4D97-AF65-F5344CB8AC3E}">
        <p14:creationId xmlns:p14="http://schemas.microsoft.com/office/powerpoint/2010/main" val="21215330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-Languages: </a:t>
            </a:r>
            <a:r>
              <a:rPr lang="en-US" dirty="0" err="1"/>
              <a:t>nhiều</a:t>
            </a:r>
            <a:r>
              <a:rPr lang="en-US" baseline="0" dirty="0"/>
              <a:t> </a:t>
            </a:r>
            <a:r>
              <a:rPr lang="en-US" baseline="0" dirty="0" err="1"/>
              <a:t>nước</a:t>
            </a:r>
            <a:r>
              <a:rPr lang="en-US" baseline="0" dirty="0"/>
              <a:t>, </a:t>
            </a:r>
            <a:r>
              <a:rPr lang="en-US" baseline="0" dirty="0" err="1"/>
              <a:t>nhiều</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cùng</a:t>
            </a:r>
            <a:r>
              <a:rPr lang="en-US" baseline="0" dirty="0"/>
              <a:t> </a:t>
            </a:r>
            <a:r>
              <a:rPr lang="en-US" baseline="0" dirty="0" err="1"/>
              <a:t>ngôn</a:t>
            </a:r>
            <a:r>
              <a:rPr lang="en-US" baseline="0" dirty="0"/>
              <a:t> </a:t>
            </a:r>
            <a:r>
              <a:rPr lang="en-US" baseline="0" dirty="0" err="1"/>
              <a:t>ngữ</a:t>
            </a:r>
            <a:r>
              <a:rPr lang="en-US" baseline="0" dirty="0"/>
              <a:t> </a:t>
            </a:r>
            <a:r>
              <a:rPr lang="en-US" baseline="0" dirty="0" err="1"/>
              <a:t>lại</a:t>
            </a:r>
            <a:r>
              <a:rPr lang="en-US" baseline="0" dirty="0"/>
              <a:t> </a:t>
            </a:r>
            <a:r>
              <a:rPr lang="en-US" baseline="0" dirty="0" err="1"/>
              <a:t>có</a:t>
            </a:r>
            <a:r>
              <a:rPr lang="en-US" baseline="0" dirty="0"/>
              <a:t> </a:t>
            </a:r>
            <a:r>
              <a:rPr lang="en-US" baseline="0" dirty="0" err="1"/>
              <a:t>thể</a:t>
            </a:r>
            <a:r>
              <a:rPr lang="en-US" baseline="0" dirty="0"/>
              <a:t> </a:t>
            </a:r>
            <a:r>
              <a:rPr lang="en-US" baseline="0" dirty="0" err="1"/>
              <a:t>có</a:t>
            </a:r>
            <a:r>
              <a:rPr lang="en-US" baseline="0" dirty="0"/>
              <a:t> </a:t>
            </a:r>
            <a:r>
              <a:rPr lang="en-US" baseline="0" dirty="0" err="1"/>
              <a:t>những</a:t>
            </a:r>
            <a:r>
              <a:rPr lang="en-US" baseline="0" dirty="0"/>
              <a:t> </a:t>
            </a:r>
            <a:r>
              <a:rPr lang="en-US" baseline="0" dirty="0" err="1"/>
              <a:t>cách</a:t>
            </a:r>
            <a:r>
              <a:rPr lang="en-US" baseline="0" dirty="0"/>
              <a:t> </a:t>
            </a:r>
            <a:r>
              <a:rPr lang="en-US" baseline="0" dirty="0" err="1"/>
              <a:t>dùng</a:t>
            </a:r>
            <a:r>
              <a:rPr lang="en-US" baseline="0" dirty="0"/>
              <a:t> </a:t>
            </a:r>
            <a:r>
              <a:rPr lang="en-US" baseline="0" dirty="0" err="1"/>
              <a:t>khác</a:t>
            </a:r>
            <a:r>
              <a:rPr lang="en-US" baseline="0" dirty="0"/>
              <a:t> </a:t>
            </a:r>
            <a:r>
              <a:rPr lang="en-US" baseline="0" dirty="0" err="1"/>
              <a:t>nhau</a:t>
            </a:r>
            <a:endParaRPr lang="en-US" baseline="0"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“shopping cart” in Australians is confused: they call them shopping trolleys</a:t>
            </a:r>
          </a:p>
          <a:p>
            <a:r>
              <a:rPr lang="en-US" dirty="0"/>
              <a:t>-</a:t>
            </a:r>
            <a:r>
              <a:rPr lang="en-US" dirty="0" err="1"/>
              <a:t>Văn</a:t>
            </a:r>
            <a:r>
              <a:rPr lang="en-US" baseline="0" dirty="0"/>
              <a:t> </a:t>
            </a:r>
            <a:r>
              <a:rPr lang="en-US" baseline="0" dirty="0" err="1"/>
              <a:t>hóa</a:t>
            </a:r>
            <a:r>
              <a:rPr lang="en-US" baseline="0" dirty="0"/>
              <a:t>: </a:t>
            </a:r>
            <a:r>
              <a:rPr lang="en-US" baseline="0" dirty="0" err="1"/>
              <a:t>thay</a:t>
            </a:r>
            <a:r>
              <a:rPr lang="en-US" baseline="0" dirty="0"/>
              <a:t> </a:t>
            </a:r>
            <a:r>
              <a:rPr lang="en-US" baseline="0" dirty="0" err="1"/>
              <a:t>đổi</a:t>
            </a:r>
            <a:r>
              <a:rPr lang="en-US" baseline="0" dirty="0"/>
              <a:t> </a:t>
            </a:r>
            <a:r>
              <a:rPr lang="en-US" baseline="0" dirty="0" err="1"/>
              <a:t>theo</a:t>
            </a:r>
            <a:r>
              <a:rPr lang="en-US" baseline="0" dirty="0"/>
              <a:t> </a:t>
            </a:r>
            <a:r>
              <a:rPr lang="en-US" baseline="0" dirty="0" err="1"/>
              <a:t>từng</a:t>
            </a:r>
            <a:r>
              <a:rPr lang="en-US" baseline="0" dirty="0"/>
              <a:t> </a:t>
            </a:r>
            <a:r>
              <a:rPr lang="en-US" baseline="0" dirty="0" err="1"/>
              <a:t>nước</a:t>
            </a:r>
            <a:r>
              <a:rPr lang="en-US" baseline="0" dirty="0"/>
              <a:t>, </a:t>
            </a:r>
            <a:r>
              <a:rPr lang="en-US" baseline="0" dirty="0" err="1"/>
              <a:t>hoặc</a:t>
            </a:r>
            <a:r>
              <a:rPr lang="en-US" baseline="0" dirty="0"/>
              <a:t> </a:t>
            </a:r>
            <a:r>
              <a:rPr lang="en-US" baseline="0" dirty="0" err="1"/>
              <a:t>từng</a:t>
            </a:r>
            <a:r>
              <a:rPr lang="en-US" baseline="0" dirty="0"/>
              <a:t> </a:t>
            </a:r>
            <a:r>
              <a:rPr lang="en-US" baseline="0" dirty="0" err="1"/>
              <a:t>vùng</a:t>
            </a:r>
            <a:r>
              <a:rPr lang="en-US" baseline="0" dirty="0"/>
              <a:t> </a:t>
            </a:r>
            <a:r>
              <a:rPr lang="en-US" baseline="0" dirty="0" err="1"/>
              <a:t>trong</a:t>
            </a:r>
            <a:r>
              <a:rPr lang="en-US" baseline="0" dirty="0"/>
              <a:t> </a:t>
            </a:r>
            <a:r>
              <a:rPr lang="en-US" baseline="0" dirty="0" err="1"/>
              <a:t>mỗi</a:t>
            </a:r>
            <a:r>
              <a:rPr lang="en-US" baseline="0" dirty="0"/>
              <a:t> </a:t>
            </a:r>
            <a:r>
              <a:rPr lang="en-US" baseline="0" dirty="0" err="1"/>
              <a:t>nước</a:t>
            </a:r>
            <a:endParaRPr lang="en-US" baseline="0" dirty="0"/>
          </a:p>
          <a:p>
            <a:r>
              <a:rPr lang="en-US" dirty="0"/>
              <a:t>General Motors’ choice of name for its Chevrolet Nova automobile amused people in Latin America—no </a:t>
            </a:r>
            <a:r>
              <a:rPr lang="en-US" dirty="0" err="1"/>
              <a:t>va</a:t>
            </a:r>
            <a:r>
              <a:rPr lang="en-US" dirty="0"/>
              <a:t> means “it will not go” in Spanish. Pepsi’s “Come Alive” advertising campaign fizzled in China because its message came across as “Pepsi brings your ancestors back from their graves.”</a:t>
            </a:r>
          </a:p>
          <a:p>
            <a:r>
              <a:rPr lang="en-US" dirty="0" err="1"/>
              <a:t>Đồ</a:t>
            </a:r>
            <a:r>
              <a:rPr lang="en-US" baseline="0" dirty="0"/>
              <a:t> </a:t>
            </a:r>
            <a:r>
              <a:rPr lang="en-US" baseline="0" dirty="0" err="1"/>
              <a:t>hộp</a:t>
            </a:r>
            <a:r>
              <a:rPr lang="en-US" baseline="0" dirty="0"/>
              <a:t> </a:t>
            </a:r>
            <a:r>
              <a:rPr lang="en-US" baseline="0" dirty="0" err="1"/>
              <a:t>bán</a:t>
            </a:r>
            <a:r>
              <a:rPr lang="en-US" baseline="0" dirty="0"/>
              <a:t> ở </a:t>
            </a:r>
            <a:r>
              <a:rPr lang="en-US" baseline="0" dirty="0" err="1"/>
              <a:t>châu</a:t>
            </a:r>
            <a:r>
              <a:rPr lang="en-US" baseline="0" dirty="0"/>
              <a:t> Phi </a:t>
            </a:r>
            <a:r>
              <a:rPr lang="en-US" baseline="0" dirty="0" err="1"/>
              <a:t>có</a:t>
            </a:r>
            <a:r>
              <a:rPr lang="en-US" baseline="0" dirty="0"/>
              <a:t> in </a:t>
            </a:r>
            <a:r>
              <a:rPr lang="en-US" baseline="0" dirty="0" err="1"/>
              <a:t>hình</a:t>
            </a:r>
            <a:r>
              <a:rPr lang="en-US" baseline="0" dirty="0"/>
              <a:t> </a:t>
            </a:r>
            <a:r>
              <a:rPr lang="en-US" baseline="0" dirty="0" err="1"/>
              <a:t>em</a:t>
            </a:r>
            <a:r>
              <a:rPr lang="en-US" baseline="0" dirty="0"/>
              <a:t> </a:t>
            </a:r>
            <a:r>
              <a:rPr lang="en-US" baseline="0" dirty="0" err="1"/>
              <a:t>bé</a:t>
            </a:r>
            <a:r>
              <a:rPr lang="en-US" baseline="0" dirty="0"/>
              <a:t>?</a:t>
            </a:r>
          </a:p>
          <a:p>
            <a:r>
              <a:rPr lang="en-US" dirty="0"/>
              <a:t>Website: </a:t>
            </a:r>
            <a:r>
              <a:rPr lang="en-US" dirty="0" err="1"/>
              <a:t>màu</a:t>
            </a:r>
            <a:r>
              <a:rPr lang="en-US" baseline="0" dirty="0"/>
              <a:t> </a:t>
            </a:r>
            <a:r>
              <a:rPr lang="en-US" baseline="0" dirty="0" err="1"/>
              <a:t>trắng</a:t>
            </a:r>
            <a:r>
              <a:rPr lang="en-US" baseline="0" dirty="0"/>
              <a:t> </a:t>
            </a:r>
            <a:r>
              <a:rPr lang="en-US" baseline="0" dirty="0" err="1"/>
              <a:t>thể</a:t>
            </a:r>
            <a:r>
              <a:rPr lang="en-US" baseline="0" dirty="0"/>
              <a:t> </a:t>
            </a:r>
            <a:r>
              <a:rPr lang="en-US" baseline="0" dirty="0" err="1"/>
              <a:t>hiện</a:t>
            </a:r>
            <a:r>
              <a:rPr lang="en-US" baseline="0" dirty="0"/>
              <a:t> </a:t>
            </a:r>
            <a:r>
              <a:rPr lang="en-US" baseline="0" dirty="0" err="1"/>
              <a:t>sự</a:t>
            </a:r>
            <a:r>
              <a:rPr lang="en-US" baseline="0" dirty="0"/>
              <a:t> </a:t>
            </a:r>
            <a:r>
              <a:rPr lang="en-US" baseline="0" dirty="0" err="1"/>
              <a:t>tinh</a:t>
            </a:r>
            <a:r>
              <a:rPr lang="en-US" baseline="0" dirty="0"/>
              <a:t> </a:t>
            </a:r>
            <a:r>
              <a:rPr lang="en-US" baseline="0" dirty="0" err="1"/>
              <a:t>khiết</a:t>
            </a:r>
            <a:r>
              <a:rPr lang="en-US" baseline="0" dirty="0"/>
              <a:t> ở </a:t>
            </a:r>
            <a:r>
              <a:rPr lang="en-US" baseline="0" dirty="0" err="1"/>
              <a:t>Âu</a:t>
            </a:r>
            <a:r>
              <a:rPr lang="en-US" baseline="0" dirty="0"/>
              <a:t> </a:t>
            </a:r>
            <a:r>
              <a:rPr lang="en-US" baseline="0" dirty="0" err="1"/>
              <a:t>Mỹ</a:t>
            </a:r>
            <a:r>
              <a:rPr lang="en-US" baseline="0" dirty="0"/>
              <a:t> </a:t>
            </a:r>
            <a:r>
              <a:rPr lang="en-US" baseline="0" dirty="0" err="1"/>
              <a:t>nhưng</a:t>
            </a:r>
            <a:r>
              <a:rPr lang="en-US" baseline="0" dirty="0"/>
              <a:t> </a:t>
            </a:r>
            <a:r>
              <a:rPr lang="en-US" baseline="0" dirty="0" err="1"/>
              <a:t>là</a:t>
            </a:r>
            <a:r>
              <a:rPr lang="en-US" baseline="0" dirty="0"/>
              <a:t> </a:t>
            </a:r>
            <a:r>
              <a:rPr lang="en-US" baseline="0" dirty="0" err="1"/>
              <a:t>chết</a:t>
            </a:r>
            <a:r>
              <a:rPr lang="en-US" baseline="0" dirty="0"/>
              <a:t> </a:t>
            </a:r>
            <a:r>
              <a:rPr lang="en-US" baseline="0" dirty="0" err="1"/>
              <a:t>chóc</a:t>
            </a:r>
            <a:r>
              <a:rPr lang="en-US" baseline="0" dirty="0"/>
              <a:t> ở TQ </a:t>
            </a:r>
            <a:r>
              <a:rPr lang="en-US" baseline="0" dirty="0" err="1"/>
              <a:t>và</a:t>
            </a:r>
            <a:r>
              <a:rPr lang="en-US" baseline="0" dirty="0"/>
              <a:t> </a:t>
            </a:r>
            <a:r>
              <a:rPr lang="en-US" baseline="0" dirty="0" err="1"/>
              <a:t>một</a:t>
            </a:r>
            <a:r>
              <a:rPr lang="en-US" baseline="0" dirty="0"/>
              <a:t> </a:t>
            </a:r>
            <a:r>
              <a:rPr lang="en-US" baseline="0" dirty="0" err="1"/>
              <a:t>số</a:t>
            </a:r>
            <a:r>
              <a:rPr lang="en-US" baseline="0" dirty="0"/>
              <a:t> </a:t>
            </a:r>
            <a:r>
              <a:rPr lang="en-US" baseline="0" dirty="0" err="1"/>
              <a:t>nước</a:t>
            </a:r>
            <a:r>
              <a:rPr lang="en-US" baseline="0" dirty="0"/>
              <a:t> Asian. Website chia </a:t>
            </a:r>
            <a:r>
              <a:rPr lang="en-US" baseline="0" dirty="0" err="1"/>
              <a:t>thành</a:t>
            </a:r>
            <a:r>
              <a:rPr lang="en-US" baseline="0" dirty="0"/>
              <a:t> 4 </a:t>
            </a:r>
            <a:r>
              <a:rPr lang="en-US" baseline="0" dirty="0" err="1"/>
              <a:t>phần</a:t>
            </a:r>
            <a:r>
              <a:rPr lang="en-US" baseline="0" dirty="0"/>
              <a:t> </a:t>
            </a:r>
            <a:r>
              <a:rPr lang="en-US" baseline="0" dirty="0" err="1"/>
              <a:t>là</a:t>
            </a:r>
            <a:r>
              <a:rPr lang="en-US" baseline="0" dirty="0"/>
              <a:t> </a:t>
            </a:r>
            <a:r>
              <a:rPr lang="en-US" baseline="0" dirty="0" err="1"/>
              <a:t>biểu</a:t>
            </a:r>
            <a:r>
              <a:rPr lang="en-US" baseline="0" dirty="0"/>
              <a:t> </a:t>
            </a:r>
            <a:r>
              <a:rPr lang="en-US" baseline="0" dirty="0" err="1"/>
              <a:t>tượng</a:t>
            </a:r>
            <a:r>
              <a:rPr lang="en-US" baseline="0" dirty="0"/>
              <a:t> </a:t>
            </a:r>
            <a:r>
              <a:rPr lang="en-US" baseline="0" dirty="0" err="1"/>
              <a:t>cái</a:t>
            </a:r>
            <a:r>
              <a:rPr lang="en-US" baseline="0" dirty="0"/>
              <a:t> </a:t>
            </a:r>
            <a:r>
              <a:rPr lang="en-US" baseline="0" dirty="0" err="1"/>
              <a:t>chết</a:t>
            </a:r>
            <a:r>
              <a:rPr lang="en-US" baseline="0" dirty="0"/>
              <a:t> ở </a:t>
            </a:r>
            <a:r>
              <a:rPr lang="en-US" baseline="0" dirty="0" err="1"/>
              <a:t>Nhật</a:t>
            </a:r>
            <a:endParaRPr lang="en-US" baseline="0" dirty="0"/>
          </a:p>
          <a:p>
            <a:r>
              <a:rPr lang="en-US" dirty="0"/>
              <a:t>-</a:t>
            </a:r>
            <a:r>
              <a:rPr lang="en-US" dirty="0" err="1"/>
              <a:t>Sự</a:t>
            </a:r>
            <a:r>
              <a:rPr lang="en-US" baseline="0" dirty="0"/>
              <a:t> </a:t>
            </a:r>
            <a:r>
              <a:rPr lang="en-US" baseline="0" dirty="0" err="1"/>
              <a:t>quản</a:t>
            </a:r>
            <a:r>
              <a:rPr lang="en-US" baseline="0" dirty="0"/>
              <a:t> </a:t>
            </a:r>
            <a:r>
              <a:rPr lang="en-US" baseline="0" dirty="0" err="1"/>
              <a:t>lý</a:t>
            </a:r>
            <a:r>
              <a:rPr lang="en-US" baseline="0" dirty="0"/>
              <a:t> </a:t>
            </a:r>
            <a:r>
              <a:rPr lang="en-US" baseline="0" dirty="0" err="1"/>
              <a:t>của</a:t>
            </a:r>
            <a:r>
              <a:rPr lang="en-US" baseline="0" dirty="0"/>
              <a:t> </a:t>
            </a:r>
            <a:r>
              <a:rPr lang="en-US" baseline="0" dirty="0" err="1"/>
              <a:t>nhà</a:t>
            </a:r>
            <a:r>
              <a:rPr lang="en-US" baseline="0" dirty="0"/>
              <a:t> </a:t>
            </a:r>
            <a:r>
              <a:rPr lang="en-US" baseline="0" dirty="0" err="1"/>
              <a:t>nước</a:t>
            </a:r>
            <a:r>
              <a:rPr lang="en-US" baseline="0" dirty="0"/>
              <a:t>: </a:t>
            </a:r>
            <a:r>
              <a:rPr lang="en-US" baseline="0" dirty="0" err="1"/>
              <a:t>mức</a:t>
            </a:r>
            <a:r>
              <a:rPr lang="en-US" baseline="0" dirty="0"/>
              <a:t> </a:t>
            </a:r>
            <a:r>
              <a:rPr lang="en-US" baseline="0" dirty="0" err="1"/>
              <a:t>độ</a:t>
            </a:r>
            <a:r>
              <a:rPr lang="en-US" baseline="0" dirty="0"/>
              <a:t> can </a:t>
            </a:r>
            <a:r>
              <a:rPr lang="en-US" baseline="0" dirty="0" err="1"/>
              <a:t>thiệp</a:t>
            </a:r>
            <a:r>
              <a:rPr lang="en-US" baseline="0" dirty="0"/>
              <a:t> </a:t>
            </a:r>
            <a:r>
              <a:rPr lang="en-US" baseline="0" dirty="0" err="1"/>
              <a:t>của</a:t>
            </a:r>
            <a:r>
              <a:rPr lang="en-US" baseline="0" dirty="0"/>
              <a:t> </a:t>
            </a:r>
            <a:r>
              <a:rPr lang="en-US" baseline="0" dirty="0" err="1"/>
              <a:t>nhà</a:t>
            </a:r>
            <a:r>
              <a:rPr lang="en-US" baseline="0" dirty="0"/>
              <a:t> </a:t>
            </a:r>
            <a:r>
              <a:rPr lang="en-US" baseline="0" dirty="0" err="1"/>
              <a:t>nước</a:t>
            </a:r>
            <a:r>
              <a:rPr lang="en-US" baseline="0" dirty="0"/>
              <a:t> </a:t>
            </a:r>
            <a:r>
              <a:rPr lang="en-US" baseline="0" dirty="0" err="1"/>
              <a:t>khác</a:t>
            </a:r>
            <a:r>
              <a:rPr lang="en-US" baseline="0" dirty="0"/>
              <a:t> </a:t>
            </a:r>
            <a:r>
              <a:rPr lang="en-US" baseline="0" dirty="0" err="1"/>
              <a:t>nhau</a:t>
            </a:r>
            <a:r>
              <a:rPr lang="en-US" baseline="0" dirty="0"/>
              <a:t> ở </a:t>
            </a:r>
            <a:r>
              <a:rPr lang="en-US" baseline="0" dirty="0" err="1"/>
              <a:t>các</a:t>
            </a:r>
            <a:r>
              <a:rPr lang="en-US" baseline="0" dirty="0"/>
              <a:t> </a:t>
            </a:r>
            <a:r>
              <a:rPr lang="en-US" baseline="0" dirty="0" err="1"/>
              <a:t>quốc</a:t>
            </a:r>
            <a:r>
              <a:rPr lang="en-US" baseline="0" dirty="0"/>
              <a:t> </a:t>
            </a:r>
            <a:r>
              <a:rPr lang="en-US" baseline="0" dirty="0" err="1"/>
              <a:t>gia</a:t>
            </a:r>
            <a:r>
              <a:rPr lang="en-US" baseline="0" dirty="0"/>
              <a:t>, </a:t>
            </a:r>
            <a:r>
              <a:rPr lang="en-US" baseline="0" dirty="0" err="1"/>
              <a:t>sự</a:t>
            </a:r>
            <a:r>
              <a:rPr lang="en-US" baseline="0" dirty="0"/>
              <a:t> </a:t>
            </a:r>
            <a:r>
              <a:rPr lang="en-US" baseline="0" dirty="0" err="1"/>
              <a:t>lọc</a:t>
            </a:r>
            <a:r>
              <a:rPr lang="en-US" baseline="0" dirty="0"/>
              <a:t> </a:t>
            </a:r>
            <a:r>
              <a:rPr lang="en-US" baseline="0" dirty="0" err="1"/>
              <a:t>thông</a:t>
            </a:r>
            <a:r>
              <a:rPr lang="en-US" baseline="0" dirty="0"/>
              <a:t> tin, </a:t>
            </a:r>
            <a:r>
              <a:rPr lang="en-US" baseline="0" dirty="0" err="1"/>
              <a:t>cấm</a:t>
            </a:r>
            <a:r>
              <a:rPr lang="en-US" baseline="0" dirty="0"/>
              <a:t> </a:t>
            </a:r>
            <a:r>
              <a:rPr lang="en-US" baseline="0" dirty="0" err="1"/>
              <a:t>thông</a:t>
            </a:r>
            <a:r>
              <a:rPr lang="en-US" baseline="0" dirty="0"/>
              <a:t> tin, </a:t>
            </a:r>
            <a:r>
              <a:rPr lang="en-US" baseline="0" dirty="0" err="1"/>
              <a:t>cấm</a:t>
            </a:r>
            <a:r>
              <a:rPr lang="en-US" baseline="0" dirty="0"/>
              <a:t> </a:t>
            </a:r>
            <a:r>
              <a:rPr lang="en-US" baseline="0" dirty="0" err="1"/>
              <a:t>các</a:t>
            </a:r>
            <a:r>
              <a:rPr lang="en-US" baseline="0" dirty="0"/>
              <a:t> </a:t>
            </a:r>
            <a:r>
              <a:rPr lang="en-US" baseline="0" dirty="0" err="1"/>
              <a:t>sản</a:t>
            </a:r>
            <a:r>
              <a:rPr lang="en-US" baseline="0" dirty="0"/>
              <a:t> </a:t>
            </a:r>
            <a:r>
              <a:rPr lang="en-US" baseline="0" dirty="0" err="1"/>
              <a:t>phẩm</a:t>
            </a:r>
            <a:r>
              <a:rPr lang="en-US" baseline="0" dirty="0"/>
              <a:t> (</a:t>
            </a:r>
            <a:r>
              <a:rPr lang="en-US" baseline="0" dirty="0" err="1"/>
              <a:t>rượu</a:t>
            </a:r>
            <a:r>
              <a:rPr lang="en-US" baseline="0" dirty="0"/>
              <a:t>) ở </a:t>
            </a:r>
            <a:r>
              <a:rPr lang="en-US" baseline="0" dirty="0" err="1"/>
              <a:t>một</a:t>
            </a:r>
            <a:r>
              <a:rPr lang="en-US" baseline="0" dirty="0"/>
              <a:t> </a:t>
            </a:r>
            <a:r>
              <a:rPr lang="en-US" baseline="0" dirty="0" err="1"/>
              <a:t>số</a:t>
            </a:r>
            <a:r>
              <a:rPr lang="en-US" baseline="0" dirty="0"/>
              <a:t> </a:t>
            </a:r>
            <a:r>
              <a:rPr lang="en-US" baseline="0" dirty="0" err="1"/>
              <a:t>nước</a:t>
            </a:r>
            <a:r>
              <a:rPr lang="en-US" baseline="0" dirty="0"/>
              <a:t> </a:t>
            </a:r>
            <a:r>
              <a:rPr lang="en-US" baseline="0" dirty="0" err="1"/>
              <a:t>cũng</a:t>
            </a:r>
            <a:r>
              <a:rPr lang="en-US" baseline="0" dirty="0"/>
              <a:t> </a:t>
            </a:r>
            <a:r>
              <a:rPr lang="en-US" baseline="0" dirty="0" err="1"/>
              <a:t>khác</a:t>
            </a:r>
            <a:r>
              <a:rPr lang="en-US" baseline="0" dirty="0"/>
              <a:t> </a:t>
            </a:r>
            <a:r>
              <a:rPr lang="en-US" baseline="0" dirty="0" err="1"/>
              <a:t>nhau</a:t>
            </a:r>
            <a:endParaRPr lang="en-US" baseline="0" dirty="0"/>
          </a:p>
          <a:p>
            <a:r>
              <a:rPr lang="en-US" dirty="0"/>
              <a:t>In France, an advertisement for a product or service must be in French. Thus, a business in the United States that advertises its products on the Web and is willing to ship goods to France must provide a French version of its pages if it intends to comply with French law</a:t>
            </a:r>
          </a:p>
          <a:p>
            <a:r>
              <a:rPr lang="en-US" dirty="0"/>
              <a:t>-</a:t>
            </a:r>
            <a:r>
              <a:rPr lang="en-US" dirty="0" err="1"/>
              <a:t>Hạ</a:t>
            </a:r>
            <a:r>
              <a:rPr lang="en-US" baseline="0" dirty="0"/>
              <a:t> </a:t>
            </a:r>
            <a:r>
              <a:rPr lang="en-US" baseline="0" dirty="0" err="1"/>
              <a:t>tầng</a:t>
            </a:r>
            <a:r>
              <a:rPr lang="en-US" baseline="0" dirty="0"/>
              <a:t> internet (</a:t>
            </a:r>
            <a:r>
              <a:rPr lang="en-US" baseline="0" dirty="0" err="1"/>
              <a:t>tốc</a:t>
            </a:r>
            <a:r>
              <a:rPr lang="en-US" baseline="0" dirty="0"/>
              <a:t> </a:t>
            </a:r>
            <a:r>
              <a:rPr lang="en-US" baseline="0" dirty="0" err="1"/>
              <a:t>độ</a:t>
            </a:r>
            <a:r>
              <a:rPr lang="en-US" baseline="0" dirty="0"/>
              <a:t>, chi </a:t>
            </a:r>
            <a:r>
              <a:rPr lang="en-US" baseline="0" dirty="0" err="1"/>
              <a:t>phí</a:t>
            </a:r>
            <a:r>
              <a:rPr lang="en-US" baseline="0" dirty="0"/>
              <a:t>) </a:t>
            </a:r>
            <a:r>
              <a:rPr lang="en-US" baseline="0" dirty="0" err="1"/>
              <a:t>không</a:t>
            </a:r>
            <a:r>
              <a:rPr lang="en-US" baseline="0" dirty="0"/>
              <a:t> </a:t>
            </a:r>
            <a:r>
              <a:rPr lang="en-US" baseline="0" dirty="0" err="1"/>
              <a:t>giống</a:t>
            </a:r>
            <a:r>
              <a:rPr lang="en-US" baseline="0" dirty="0"/>
              <a:t> </a:t>
            </a:r>
            <a:r>
              <a:rPr lang="en-US" baseline="0" dirty="0" err="1"/>
              <a:t>nhau</a:t>
            </a:r>
            <a:r>
              <a:rPr lang="en-US" baseline="0" dirty="0"/>
              <a:t> </a:t>
            </a:r>
            <a:r>
              <a:rPr lang="en-US" baseline="0" dirty="0" err="1"/>
              <a:t>tại</a:t>
            </a:r>
            <a:r>
              <a:rPr lang="en-US" baseline="0" dirty="0"/>
              <a:t> </a:t>
            </a:r>
            <a:r>
              <a:rPr lang="en-US" baseline="0" dirty="0" err="1"/>
              <a:t>mọi</a:t>
            </a:r>
            <a:r>
              <a:rPr lang="en-US" baseline="0" dirty="0"/>
              <a:t> </a:t>
            </a:r>
            <a:r>
              <a:rPr lang="en-US" baseline="0" dirty="0" err="1"/>
              <a:t>nơi</a:t>
            </a:r>
            <a:r>
              <a:rPr lang="en-US" baseline="0" dirty="0"/>
              <a:t>, </a:t>
            </a:r>
            <a:r>
              <a:rPr lang="en-US" baseline="0" dirty="0" err="1"/>
              <a:t>vận</a:t>
            </a:r>
            <a:r>
              <a:rPr lang="en-US" baseline="0" dirty="0"/>
              <a:t> </a:t>
            </a:r>
            <a:r>
              <a:rPr lang="en-US" baseline="0" dirty="0" err="1"/>
              <a:t>tải</a:t>
            </a:r>
            <a:r>
              <a:rPr lang="en-US" baseline="0" dirty="0"/>
              <a:t> </a:t>
            </a:r>
            <a:r>
              <a:rPr lang="en-US" baseline="0" dirty="0" err="1"/>
              <a:t>khó</a:t>
            </a:r>
            <a:r>
              <a:rPr lang="en-US" baseline="0" dirty="0"/>
              <a:t> </a:t>
            </a:r>
            <a:r>
              <a:rPr lang="en-US" baseline="0" dirty="0" err="1"/>
              <a:t>khăn</a:t>
            </a:r>
            <a:r>
              <a:rPr lang="en-US" baseline="0" dirty="0"/>
              <a:t> </a:t>
            </a:r>
            <a:r>
              <a:rPr lang="en-US" baseline="0" dirty="0" err="1"/>
              <a:t>khi</a:t>
            </a:r>
            <a:r>
              <a:rPr lang="en-US" baseline="0" dirty="0"/>
              <a:t> </a:t>
            </a:r>
            <a:r>
              <a:rPr lang="en-US" baseline="0" dirty="0" err="1"/>
              <a:t>đi</a:t>
            </a:r>
            <a:r>
              <a:rPr lang="en-US" baseline="0" dirty="0"/>
              <a:t> </a:t>
            </a:r>
            <a:r>
              <a:rPr lang="en-US" baseline="0" dirty="0" err="1"/>
              <a:t>liên</a:t>
            </a:r>
            <a:r>
              <a:rPr lang="en-US" baseline="0" dirty="0"/>
              <a:t> </a:t>
            </a:r>
            <a:r>
              <a:rPr lang="en-US" baseline="0" dirty="0" err="1"/>
              <a:t>quốc</a:t>
            </a:r>
            <a:r>
              <a:rPr lang="en-US" baseline="0" dirty="0"/>
              <a:t> </a:t>
            </a:r>
            <a:r>
              <a:rPr lang="en-US" baseline="0" dirty="0" err="1"/>
              <a:t>gia</a:t>
            </a:r>
            <a:endParaRPr lang="en-US" baseline="0" dirty="0"/>
          </a:p>
          <a:p>
            <a:r>
              <a:rPr lang="en-US" dirty="0"/>
              <a:t>-</a:t>
            </a:r>
            <a:r>
              <a:rPr lang="en-US" dirty="0" err="1"/>
              <a:t>Nhiều</a:t>
            </a:r>
            <a:r>
              <a:rPr lang="en-US" baseline="0" dirty="0"/>
              <a:t> </a:t>
            </a:r>
            <a:r>
              <a:rPr lang="en-US" baseline="0" dirty="0" err="1"/>
              <a:t>công</a:t>
            </a:r>
            <a:r>
              <a:rPr lang="en-US" baseline="0" dirty="0"/>
              <a:t> </a:t>
            </a:r>
            <a:r>
              <a:rPr lang="en-US" baseline="0" dirty="0" err="1"/>
              <a:t>ty</a:t>
            </a:r>
            <a:r>
              <a:rPr lang="en-US" baseline="0" dirty="0"/>
              <a:t> </a:t>
            </a:r>
            <a:r>
              <a:rPr lang="en-US" baseline="0" dirty="0" err="1"/>
              <a:t>không</a:t>
            </a:r>
            <a:r>
              <a:rPr lang="en-US" baseline="0" dirty="0"/>
              <a:t> </a:t>
            </a:r>
            <a:r>
              <a:rPr lang="en-US" baseline="0" dirty="0" err="1"/>
              <a:t>nhận</a:t>
            </a:r>
            <a:r>
              <a:rPr lang="en-US" baseline="0" dirty="0"/>
              <a:t> order </a:t>
            </a:r>
            <a:r>
              <a:rPr lang="en-US" baseline="0" dirty="0" err="1"/>
              <a:t>đi</a:t>
            </a:r>
            <a:r>
              <a:rPr lang="en-US" baseline="0" dirty="0"/>
              <a:t> </a:t>
            </a:r>
            <a:r>
              <a:rPr lang="en-US" baseline="0" dirty="0" err="1"/>
              <a:t>nước</a:t>
            </a:r>
            <a:r>
              <a:rPr lang="en-US" baseline="0" dirty="0"/>
              <a:t> </a:t>
            </a:r>
            <a:r>
              <a:rPr lang="en-US" baseline="0" dirty="0" err="1"/>
              <a:t>ngoài</a:t>
            </a:r>
            <a:r>
              <a:rPr lang="en-US" baseline="0" dirty="0"/>
              <a:t> (</a:t>
            </a:r>
            <a:r>
              <a:rPr lang="en-US" baseline="0" dirty="0" err="1"/>
              <a:t>vd</a:t>
            </a:r>
            <a:r>
              <a:rPr lang="en-US" baseline="0" dirty="0"/>
              <a:t> </a:t>
            </a:r>
            <a:r>
              <a:rPr lang="en-US" baseline="0" dirty="0" err="1"/>
              <a:t>như</a:t>
            </a:r>
            <a:r>
              <a:rPr lang="en-US" baseline="0" dirty="0"/>
              <a:t> Amazon) </a:t>
            </a:r>
            <a:r>
              <a:rPr lang="en-US" baseline="0" dirty="0" err="1"/>
              <a:t>hoặc</a:t>
            </a:r>
            <a:r>
              <a:rPr lang="en-US" baseline="0" dirty="0"/>
              <a:t> </a:t>
            </a:r>
            <a:r>
              <a:rPr lang="en-US" baseline="0" dirty="0" err="1"/>
              <a:t>theo</a:t>
            </a:r>
            <a:r>
              <a:rPr lang="en-US" baseline="0" dirty="0"/>
              <a:t> </a:t>
            </a:r>
            <a:r>
              <a:rPr lang="en-US" baseline="0" dirty="0" err="1"/>
              <a:t>từng</a:t>
            </a:r>
            <a:r>
              <a:rPr lang="en-US" baseline="0" dirty="0"/>
              <a:t> </a:t>
            </a:r>
            <a:r>
              <a:rPr lang="en-US" baseline="0" dirty="0" err="1"/>
              <a:t>loại</a:t>
            </a:r>
            <a:r>
              <a:rPr lang="en-US" baseline="0" dirty="0"/>
              <a:t> </a:t>
            </a:r>
            <a:r>
              <a:rPr lang="en-US" baseline="0" dirty="0" err="1"/>
              <a:t>hàng</a:t>
            </a:r>
            <a:r>
              <a:rPr lang="en-US" baseline="0" dirty="0"/>
              <a:t> </a:t>
            </a:r>
            <a:r>
              <a:rPr lang="en-US" baseline="0" dirty="0" err="1"/>
              <a:t>hóa</a:t>
            </a:r>
            <a:endParaRPr lang="en-US" dirty="0"/>
          </a:p>
        </p:txBody>
      </p:sp>
      <p:sp>
        <p:nvSpPr>
          <p:cNvPr id="4" name="Slide Number Placeholder 3"/>
          <p:cNvSpPr>
            <a:spLocks noGrp="1"/>
          </p:cNvSpPr>
          <p:nvPr>
            <p:ph type="sldNum" sz="quarter" idx="10"/>
          </p:nvPr>
        </p:nvSpPr>
        <p:spPr/>
        <p:txBody>
          <a:bodyPr/>
          <a:lstStyle/>
          <a:p>
            <a:fld id="{30AF09E1-458B-41C0-845B-4BEE7F0E5E02}" type="slidenum">
              <a:rPr lang="en-US" smtClean="0"/>
              <a:t>27</a:t>
            </a:fld>
            <a:endParaRPr lang="en-US"/>
          </a:p>
        </p:txBody>
      </p:sp>
    </p:spTree>
    <p:extLst>
      <p:ext uri="{BB962C8B-B14F-4D97-AF65-F5344CB8AC3E}">
        <p14:creationId xmlns:p14="http://schemas.microsoft.com/office/powerpoint/2010/main" val="25984213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BDB60B1-BEF5-4848-BB02-98EBFE355C13}"/>
              </a:ext>
            </a:extLst>
          </p:cNvPr>
          <p:cNvPicPr>
            <a:picLocks noChangeAspect="1"/>
          </p:cNvPicPr>
          <p:nvPr userDrawn="1"/>
        </p:nvPicPr>
        <p:blipFill>
          <a:blip r:embed="rId2"/>
          <a:srcRect/>
          <a:stretch/>
        </p:blipFill>
        <p:spPr>
          <a:xfrm>
            <a:off x="0" y="1"/>
            <a:ext cx="12191998" cy="6857999"/>
          </a:xfrm>
          <a:prstGeom prst="rect">
            <a:avLst/>
          </a:prstGeom>
        </p:spPr>
      </p:pic>
      <p:sp>
        <p:nvSpPr>
          <p:cNvPr id="4" name="Title 3">
            <a:extLst>
              <a:ext uri="{FF2B5EF4-FFF2-40B4-BE49-F238E27FC236}">
                <a16:creationId xmlns:a16="http://schemas.microsoft.com/office/drawing/2014/main" id="{FE7964CB-E75A-4A03-88D3-6A48EF650A09}"/>
              </a:ext>
            </a:extLst>
          </p:cNvPr>
          <p:cNvSpPr>
            <a:spLocks noGrp="1"/>
          </p:cNvSpPr>
          <p:nvPr>
            <p:ph type="title" hasCustomPrompt="1"/>
          </p:nvPr>
        </p:nvSpPr>
        <p:spPr>
          <a:xfrm>
            <a:off x="5442012" y="2766219"/>
            <a:ext cx="6220101" cy="1325563"/>
          </a:xfrm>
          <a:prstGeom prst="rect">
            <a:avLst/>
          </a:prstGeom>
        </p:spPr>
        <p:txBody>
          <a:bodyPr/>
          <a:lstStyle>
            <a:lvl1pPr>
              <a:defRPr b="1"/>
            </a:lvl1pPr>
          </a:lstStyle>
          <a:p>
            <a:r>
              <a:rPr lang="en-US" dirty="0"/>
              <a:t>Insert title here</a:t>
            </a:r>
          </a:p>
        </p:txBody>
      </p:sp>
    </p:spTree>
    <p:extLst>
      <p:ext uri="{BB962C8B-B14F-4D97-AF65-F5344CB8AC3E}">
        <p14:creationId xmlns:p14="http://schemas.microsoft.com/office/powerpoint/2010/main" val="1440679267"/>
      </p:ext>
    </p:extLst>
  </p:cSld>
  <p:clrMapOvr>
    <a:masterClrMapping/>
  </p:clrMapOvr>
  <p:extLst>
    <p:ext uri="{DCECCB84-F9BA-43D5-87BE-67443E8EF086}">
      <p15:sldGuideLst xmlns:p15="http://schemas.microsoft.com/office/powerpoint/2012/main">
        <p15:guide id="1" pos="28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Right Patter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7E8F-5716-4A71-B64F-EC5A742B45D2}"/>
              </a:ext>
            </a:extLst>
          </p:cNvPr>
          <p:cNvSpPr>
            <a:spLocks noGrp="1"/>
          </p:cNvSpPr>
          <p:nvPr>
            <p:ph type="title" hasCustomPrompt="1"/>
          </p:nvPr>
        </p:nvSpPr>
        <p:spPr>
          <a:xfrm>
            <a:off x="762000" y="715961"/>
            <a:ext cx="6477000" cy="1189038"/>
          </a:xfrm>
          <a:prstGeom prst="rect">
            <a:avLst/>
          </a:prstGeom>
        </p:spPr>
        <p:txBody>
          <a:bodyPr anchor="t">
            <a:noAutofit/>
          </a:bodyPr>
          <a:lstStyle>
            <a:lvl1pPr>
              <a:spcBef>
                <a:spcPts val="1000"/>
              </a:spcBef>
              <a:defRPr sz="4000" b="1">
                <a:solidFill>
                  <a:schemeClr val="accent2"/>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762000" y="1905000"/>
            <a:ext cx="6340929" cy="3276600"/>
          </a:xfrm>
          <a:prstGeom prst="rect">
            <a:avLst/>
          </a:prstGeom>
        </p:spPr>
        <p:txBody>
          <a:bodyPr/>
          <a:lstStyle>
            <a:lvl1pPr marL="0" indent="0">
              <a:lnSpc>
                <a:spcPct val="100000"/>
              </a:lnSpc>
              <a:buNone/>
              <a:defRPr sz="1800" b="1">
                <a:solidFill>
                  <a:schemeClr val="bg1"/>
                </a:solidFill>
              </a:defRPr>
            </a:lvl1pPr>
            <a:lvl2pPr marL="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6" name="Picture Placeholder 5" descr="Red, blue grey white pattern background">
            <a:extLst>
              <a:ext uri="{FF2B5EF4-FFF2-40B4-BE49-F238E27FC236}">
                <a16:creationId xmlns:a16="http://schemas.microsoft.com/office/drawing/2014/main" id="{8FD53BA4-73D2-4CCA-8580-11F4221524FC}"/>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427166" y="0"/>
            <a:ext cx="4764834" cy="6858000"/>
          </a:xfrm>
          <a:prstGeom prst="rect">
            <a:avLst/>
          </a:prstGeom>
        </p:spPr>
      </p:pic>
    </p:spTree>
    <p:extLst>
      <p:ext uri="{BB962C8B-B14F-4D97-AF65-F5344CB8AC3E}">
        <p14:creationId xmlns:p14="http://schemas.microsoft.com/office/powerpoint/2010/main" val="172072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verview">
    <p:bg>
      <p:bgPr>
        <a:solidFill>
          <a:schemeClr val="accent2"/>
        </a:solidFill>
        <a:effectLst/>
      </p:bgPr>
    </p:bg>
    <p:spTree>
      <p:nvGrpSpPr>
        <p:cNvPr id="1" name=""/>
        <p:cNvGrpSpPr/>
        <p:nvPr/>
      </p:nvGrpSpPr>
      <p:grpSpPr>
        <a:xfrm>
          <a:off x="0" y="0"/>
          <a:ext cx="0" cy="0"/>
          <a:chOff x="0" y="0"/>
          <a:chExt cx="0" cy="0"/>
        </a:xfrm>
      </p:grpSpPr>
      <p:pic>
        <p:nvPicPr>
          <p:cNvPr id="8" name="Picture Placeholder 6" descr="White Striped background">
            <a:extLst>
              <a:ext uri="{FF2B5EF4-FFF2-40B4-BE49-F238E27FC236}">
                <a16:creationId xmlns:a16="http://schemas.microsoft.com/office/drawing/2014/main" id="{3917D528-010E-4303-97BF-F7F67BC66123}"/>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Insert title here</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Tree>
    <p:extLst>
      <p:ext uri="{BB962C8B-B14F-4D97-AF65-F5344CB8AC3E}">
        <p14:creationId xmlns:p14="http://schemas.microsoft.com/office/powerpoint/2010/main" val="3240882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3624-9AD4-4B61-B3D1-7B21213507C0}"/>
              </a:ext>
            </a:extLst>
          </p:cNvPr>
          <p:cNvSpPr>
            <a:spLocks noGrp="1"/>
          </p:cNvSpPr>
          <p:nvPr>
            <p:ph type="title" hasCustomPrompt="1"/>
          </p:nvPr>
        </p:nvSpPr>
        <p:spPr>
          <a:xfrm>
            <a:off x="695739" y="278642"/>
            <a:ext cx="10734262" cy="646332"/>
          </a:xfrm>
          <a:prstGeom prst="rect">
            <a:avLst/>
          </a:prstGeom>
        </p:spPr>
        <p:txBody>
          <a:bodyPr>
            <a:noAutofit/>
          </a:bodyPr>
          <a:lstStyle>
            <a:lvl1pPr>
              <a:spcBef>
                <a:spcPts val="1000"/>
              </a:spcBef>
              <a:defRPr sz="4000" b="1">
                <a:solidFill>
                  <a:schemeClr val="accent2"/>
                </a:solidFill>
              </a:defRPr>
            </a:lvl1pPr>
          </a:lstStyle>
          <a:p>
            <a:r>
              <a:rPr lang="en-US" dirty="0"/>
              <a:t>Insert title here</a:t>
            </a:r>
          </a:p>
        </p:txBody>
      </p:sp>
      <p:pic>
        <p:nvPicPr>
          <p:cNvPr id="7" name="Picture Placeholder 5" descr="Red, blue grey white pattern background">
            <a:extLst>
              <a:ext uri="{FF2B5EF4-FFF2-40B4-BE49-F238E27FC236}">
                <a16:creationId xmlns:a16="http://schemas.microsoft.com/office/drawing/2014/main" id="{CD2D4C14-919B-45F8-8FB9-55AAC8A8FCF8}"/>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6442142"/>
            <a:ext cx="12192000" cy="415857"/>
          </a:xfrm>
          <a:prstGeom prst="rect">
            <a:avLst/>
          </a:prstGeom>
        </p:spPr>
      </p:pic>
      <p:sp>
        <p:nvSpPr>
          <p:cNvPr id="4" name="Text Placeholder 3">
            <a:extLst>
              <a:ext uri="{FF2B5EF4-FFF2-40B4-BE49-F238E27FC236}">
                <a16:creationId xmlns:a16="http://schemas.microsoft.com/office/drawing/2014/main" id="{58157FBC-D353-6ACD-F837-10EAE91DC3D2}"/>
              </a:ext>
            </a:extLst>
          </p:cNvPr>
          <p:cNvSpPr>
            <a:spLocks noGrp="1"/>
          </p:cNvSpPr>
          <p:nvPr>
            <p:ph type="body" sz="quarter" idx="13"/>
          </p:nvPr>
        </p:nvSpPr>
        <p:spPr>
          <a:xfrm>
            <a:off x="695739" y="1064123"/>
            <a:ext cx="10734262" cy="4869538"/>
          </a:xfrm>
          <a:prstGeom prst="rect">
            <a:avLst/>
          </a:prstGeom>
        </p:spPr>
        <p:txBody>
          <a:bodyPr/>
          <a:lstStyle>
            <a:lvl1pPr>
              <a:lnSpc>
                <a:spcPct val="100000"/>
              </a:lnSpc>
              <a:spcBef>
                <a:spcPts val="600"/>
              </a:spcBef>
              <a:defRPr>
                <a:latin typeface="Franklin Gothic Book" panose="020B0503020102020204" pitchFamily="34" charset="0"/>
                <a:ea typeface="FangSong" panose="020B0503020204020204" pitchFamily="49" charset="-122"/>
              </a:defRPr>
            </a:lvl1pPr>
            <a:lvl2pPr>
              <a:lnSpc>
                <a:spcPct val="100000"/>
              </a:lnSpc>
              <a:spcBef>
                <a:spcPts val="600"/>
              </a:spcBef>
              <a:defRPr>
                <a:latin typeface="Franklin Gothic Book" panose="020B0503020102020204" pitchFamily="34" charset="0"/>
                <a:ea typeface="FangSong" panose="020B0503020204020204" pitchFamily="49" charset="-122"/>
              </a:defRPr>
            </a:lvl2pPr>
            <a:lvl3pPr>
              <a:lnSpc>
                <a:spcPct val="100000"/>
              </a:lnSpc>
              <a:spcBef>
                <a:spcPts val="600"/>
              </a:spcBef>
              <a:defRPr>
                <a:latin typeface="Franklin Gothic Book" panose="020B0503020102020204" pitchFamily="34" charset="0"/>
                <a:ea typeface="FangSong" panose="020B0503020204020204" pitchFamily="49" charset="-122"/>
              </a:defRPr>
            </a:lvl3pPr>
            <a:lvl4pPr>
              <a:lnSpc>
                <a:spcPct val="100000"/>
              </a:lnSpc>
              <a:spcBef>
                <a:spcPts val="600"/>
              </a:spcBef>
              <a:defRPr>
                <a:latin typeface="Franklin Gothic Book" panose="020B0503020102020204" pitchFamily="34" charset="0"/>
                <a:ea typeface="FangSong" panose="020B0503020204020204" pitchFamily="49" charset="-122"/>
              </a:defRPr>
            </a:lvl4pPr>
            <a:lvl5pPr>
              <a:lnSpc>
                <a:spcPct val="100000"/>
              </a:lnSpc>
              <a:spcBef>
                <a:spcPts val="600"/>
              </a:spcBef>
              <a:defRPr>
                <a:latin typeface="Franklin Gothic Book" panose="020B0503020102020204" pitchFamily="34" charset="0"/>
                <a:ea typeface="FangSong" panose="020B0503020204020204" pitchFamily="49" charset="-122"/>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Box 4">
            <a:extLst>
              <a:ext uri="{FF2B5EF4-FFF2-40B4-BE49-F238E27FC236}">
                <a16:creationId xmlns:a16="http://schemas.microsoft.com/office/drawing/2014/main" id="{595EC4F3-E68C-3D4F-CB37-D1F2B67A19DF}"/>
              </a:ext>
            </a:extLst>
          </p:cNvPr>
          <p:cNvSpPr txBox="1"/>
          <p:nvPr userDrawn="1"/>
        </p:nvSpPr>
        <p:spPr>
          <a:xfrm>
            <a:off x="11161988" y="6072810"/>
            <a:ext cx="466794" cy="369332"/>
          </a:xfrm>
          <a:prstGeom prst="rect">
            <a:avLst/>
          </a:prstGeom>
          <a:noFill/>
        </p:spPr>
        <p:txBody>
          <a:bodyPr wrap="none" rtlCol="0">
            <a:spAutoFit/>
          </a:bodyPr>
          <a:lstStyle/>
          <a:p>
            <a:fld id="{04D3FCA3-E1FE-42A2-827F-065558AA1726}" type="slidenum">
              <a:rPr lang="en-US" smtClean="0">
                <a:solidFill>
                  <a:schemeClr val="bg1"/>
                </a:solidFill>
              </a:rPr>
              <a:t>‹#›</a:t>
            </a:fld>
            <a:endParaRPr lang="en-US" dirty="0">
              <a:solidFill>
                <a:schemeClr val="bg1"/>
              </a:solidFill>
            </a:endParaRPr>
          </a:p>
        </p:txBody>
      </p:sp>
      <p:pic>
        <p:nvPicPr>
          <p:cNvPr id="6" name="Picture Placeholder 6" descr="Red, blue grey white pattern background">
            <a:extLst>
              <a:ext uri="{FF2B5EF4-FFF2-40B4-BE49-F238E27FC236}">
                <a16:creationId xmlns:a16="http://schemas.microsoft.com/office/drawing/2014/main" id="{D31B9BD3-A55A-2021-8080-13ED30761E73}"/>
              </a:ext>
            </a:extLst>
          </p:cNvPr>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10843592" y="0"/>
            <a:ext cx="1358348" cy="1341783"/>
          </a:xfrm>
          <a:prstGeom prst="rect">
            <a:avLst/>
          </a:prstGeom>
        </p:spPr>
      </p:pic>
    </p:spTree>
    <p:extLst>
      <p:ext uri="{BB962C8B-B14F-4D97-AF65-F5344CB8AC3E}">
        <p14:creationId xmlns:p14="http://schemas.microsoft.com/office/powerpoint/2010/main" val="1422917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3624-9AD4-4B61-B3D1-7B21213507C0}"/>
              </a:ext>
            </a:extLst>
          </p:cNvPr>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2"/>
                </a:solidFill>
              </a:defRPr>
            </a:lvl1pPr>
          </a:lstStyle>
          <a:p>
            <a:r>
              <a:rPr lang="en-US" dirty="0"/>
              <a:t>Insert title here</a:t>
            </a:r>
          </a:p>
        </p:txBody>
      </p:sp>
      <p:sp>
        <p:nvSpPr>
          <p:cNvPr id="10" name="Text Placeholder 15">
            <a:extLst>
              <a:ext uri="{FF2B5EF4-FFF2-40B4-BE49-F238E27FC236}">
                <a16:creationId xmlns:a16="http://schemas.microsoft.com/office/drawing/2014/main" id="{780F473D-F2DF-4163-AB6E-F7327F60EC4A}"/>
              </a:ext>
            </a:extLst>
          </p:cNvPr>
          <p:cNvSpPr>
            <a:spLocks noGrp="1"/>
          </p:cNvSpPr>
          <p:nvPr>
            <p:ph type="body" sz="quarter" idx="11" hasCustomPrompt="1"/>
          </p:nvPr>
        </p:nvSpPr>
        <p:spPr>
          <a:xfrm>
            <a:off x="762000" y="1432562"/>
            <a:ext cx="10667999" cy="1158237"/>
          </a:xfrm>
          <a:prstGeom prst="rect">
            <a:avLst/>
          </a:prstGeom>
        </p:spPr>
        <p:txBody>
          <a:bodyPr/>
          <a:lstStyle>
            <a:lvl1pPr marL="0" indent="0">
              <a:lnSpc>
                <a:spcPct val="100000"/>
              </a:lnSpc>
              <a:buNone/>
              <a:defRPr sz="1800" b="0">
                <a:solidFill>
                  <a:schemeClr val="bg1"/>
                </a:solidFill>
              </a:defRPr>
            </a:lvl1pPr>
            <a:lvl2pPr marL="228600">
              <a:lnSpc>
                <a:spcPct val="100000"/>
              </a:lnSpc>
              <a:spcBef>
                <a:spcPts val="1000"/>
              </a:spcBef>
              <a:defRPr sz="1800" b="0">
                <a:solidFill>
                  <a:schemeClr val="bg1"/>
                </a:solidFill>
              </a:defRPr>
            </a:lvl2pPr>
          </a:lstStyle>
          <a:p>
            <a:pPr lvl="0"/>
            <a:r>
              <a:rPr lang="en-US" dirty="0"/>
              <a:t>Insert subtitle here</a:t>
            </a:r>
          </a:p>
          <a:p>
            <a:pPr lvl="1"/>
            <a:r>
              <a:rPr lang="en-US" dirty="0"/>
              <a:t>Insert content here</a:t>
            </a:r>
          </a:p>
        </p:txBody>
      </p:sp>
      <p:sp>
        <p:nvSpPr>
          <p:cNvPr id="11" name="Table Placeholder 10">
            <a:extLst>
              <a:ext uri="{FF2B5EF4-FFF2-40B4-BE49-F238E27FC236}">
                <a16:creationId xmlns:a16="http://schemas.microsoft.com/office/drawing/2014/main" id="{7DC18506-6205-438F-AA5C-D337F9975FC3}"/>
              </a:ext>
            </a:extLst>
          </p:cNvPr>
          <p:cNvSpPr>
            <a:spLocks noGrp="1"/>
          </p:cNvSpPr>
          <p:nvPr>
            <p:ph type="tbl" sz="quarter" idx="12" hasCustomPrompt="1"/>
          </p:nvPr>
        </p:nvSpPr>
        <p:spPr>
          <a:xfrm>
            <a:off x="757381" y="2591662"/>
            <a:ext cx="10667999" cy="2833776"/>
          </a:xfrm>
          <a:prstGeom prst="rect">
            <a:avLst/>
          </a:prstGeom>
        </p:spPr>
        <p:txBody>
          <a:bodyPr/>
          <a:lstStyle>
            <a:lvl1pPr marL="0" indent="0">
              <a:buNone/>
              <a:defRPr sz="1800" b="0"/>
            </a:lvl1pPr>
          </a:lstStyle>
          <a:p>
            <a:r>
              <a:rPr lang="en-US" dirty="0"/>
              <a:t>Insert content here</a:t>
            </a:r>
          </a:p>
        </p:txBody>
      </p:sp>
      <p:pic>
        <p:nvPicPr>
          <p:cNvPr id="7" name="Picture Placeholder 5" descr="Red, blue grey white pattern background">
            <a:extLst>
              <a:ext uri="{FF2B5EF4-FFF2-40B4-BE49-F238E27FC236}">
                <a16:creationId xmlns:a16="http://schemas.microsoft.com/office/drawing/2014/main" id="{CD2D4C14-919B-45F8-8FB9-55AAC8A8FCF8}"/>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0252"/>
            <a:ext cx="12192000" cy="867748"/>
          </a:xfrm>
          <a:prstGeom prst="rect">
            <a:avLst/>
          </a:prstGeom>
        </p:spPr>
      </p:pic>
    </p:spTree>
    <p:extLst>
      <p:ext uri="{BB962C8B-B14F-4D97-AF65-F5344CB8AC3E}">
        <p14:creationId xmlns:p14="http://schemas.microsoft.com/office/powerpoint/2010/main" val="5497146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Pattern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668F4E-0433-49FD-9D92-3B60E9B0AEE6}"/>
              </a:ext>
            </a:extLst>
          </p:cNvPr>
          <p:cNvSpPr>
            <a:spLocks noGrp="1"/>
          </p:cNvSpPr>
          <p:nvPr>
            <p:ph type="title" hasCustomPrompt="1"/>
          </p:nvPr>
        </p:nvSpPr>
        <p:spPr>
          <a:xfrm>
            <a:off x="5199742" y="715961"/>
            <a:ext cx="6477000" cy="1189037"/>
          </a:xfrm>
          <a:prstGeom prst="rect">
            <a:avLst/>
          </a:prstGeom>
        </p:spPr>
        <p:txBody>
          <a:bodyPr anchor="t">
            <a:normAutofit/>
          </a:bodyPr>
          <a:lstStyle>
            <a:lvl1pPr>
              <a:spcBef>
                <a:spcPts val="1000"/>
              </a:spcBef>
              <a:defRPr sz="4000" b="1" spc="-50" baseline="0">
                <a:solidFill>
                  <a:schemeClr val="accent1"/>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5199743" y="1905000"/>
            <a:ext cx="6477000" cy="3276600"/>
          </a:xfrm>
          <a:prstGeom prst="rect">
            <a:avLst/>
          </a:prstGeom>
        </p:spPr>
        <p:txBody>
          <a:bodyPr/>
          <a:lstStyle>
            <a:lvl1pPr marL="0" indent="0">
              <a:lnSpc>
                <a:spcPct val="100000"/>
              </a:lnSpc>
              <a:buNone/>
              <a:defRPr sz="1800" b="1">
                <a:solidFill>
                  <a:schemeClr val="bg1"/>
                </a:solidFill>
              </a:defRPr>
            </a:lvl1pPr>
            <a:lvl2pPr marL="228600" indent="-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6" name="Picture Placeholder 6" descr="Red, blue grey white pattern background">
            <a:extLst>
              <a:ext uri="{FF2B5EF4-FFF2-40B4-BE49-F238E27FC236}">
                <a16:creationId xmlns:a16="http://schemas.microsoft.com/office/drawing/2014/main" id="{3A82D859-AED3-485F-A04E-40320B1043AA}"/>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4767943" cy="6858000"/>
          </a:xfrm>
          <a:prstGeom prst="rect">
            <a:avLst/>
          </a:prstGeom>
        </p:spPr>
      </p:pic>
    </p:spTree>
    <p:extLst>
      <p:ext uri="{BB962C8B-B14F-4D97-AF65-F5344CB8AC3E}">
        <p14:creationId xmlns:p14="http://schemas.microsoft.com/office/powerpoint/2010/main" val="2189876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08" userDrawn="1">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mart 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513624-9AD4-4B61-B3D1-7B21213507C0}"/>
              </a:ext>
            </a:extLst>
          </p:cNvPr>
          <p:cNvSpPr>
            <a:spLocks noGrp="1"/>
          </p:cNvSpPr>
          <p:nvPr>
            <p:ph type="title" hasCustomPrompt="1"/>
          </p:nvPr>
        </p:nvSpPr>
        <p:spPr>
          <a:xfrm>
            <a:off x="762000" y="715964"/>
            <a:ext cx="10591800" cy="646332"/>
          </a:xfrm>
          <a:prstGeom prst="rect">
            <a:avLst/>
          </a:prstGeom>
        </p:spPr>
        <p:txBody>
          <a:bodyPr>
            <a:noAutofit/>
          </a:bodyPr>
          <a:lstStyle>
            <a:lvl1pPr>
              <a:spcBef>
                <a:spcPts val="1000"/>
              </a:spcBef>
              <a:defRPr sz="4000" b="1">
                <a:solidFill>
                  <a:schemeClr val="accent3">
                    <a:lumMod val="75000"/>
                  </a:schemeClr>
                </a:solidFill>
              </a:defRPr>
            </a:lvl1pPr>
          </a:lstStyle>
          <a:p>
            <a:r>
              <a:rPr lang="en-US" dirty="0"/>
              <a:t>Insert title here</a:t>
            </a:r>
          </a:p>
        </p:txBody>
      </p:sp>
      <p:sp>
        <p:nvSpPr>
          <p:cNvPr id="7" name="Text Placeholder 15">
            <a:extLst>
              <a:ext uri="{FF2B5EF4-FFF2-40B4-BE49-F238E27FC236}">
                <a16:creationId xmlns:a16="http://schemas.microsoft.com/office/drawing/2014/main" id="{DF03C311-DDF4-44A3-9D51-D5FDC4A8E7B5}"/>
              </a:ext>
            </a:extLst>
          </p:cNvPr>
          <p:cNvSpPr>
            <a:spLocks noGrp="1"/>
          </p:cNvSpPr>
          <p:nvPr>
            <p:ph type="body" sz="quarter" idx="11" hasCustomPrompt="1"/>
          </p:nvPr>
        </p:nvSpPr>
        <p:spPr>
          <a:xfrm>
            <a:off x="762000" y="1432562"/>
            <a:ext cx="10667999" cy="927425"/>
          </a:xfrm>
          <a:prstGeom prst="rect">
            <a:avLst/>
          </a:prstGeom>
        </p:spPr>
        <p:txBody>
          <a:bodyPr/>
          <a:lstStyle>
            <a:lvl1pPr marL="0" indent="0">
              <a:lnSpc>
                <a:spcPct val="100000"/>
              </a:lnSpc>
              <a:buNone/>
              <a:defRPr sz="1800" b="0">
                <a:solidFill>
                  <a:schemeClr val="bg1"/>
                </a:solidFill>
              </a:defRPr>
            </a:lvl1pPr>
            <a:lvl2pPr marL="228600">
              <a:lnSpc>
                <a:spcPct val="100000"/>
              </a:lnSpc>
              <a:spcBef>
                <a:spcPts val="1000"/>
              </a:spcBef>
              <a:defRPr sz="1800" b="0">
                <a:solidFill>
                  <a:schemeClr val="bg1"/>
                </a:solidFill>
              </a:defRPr>
            </a:lvl2pPr>
          </a:lstStyle>
          <a:p>
            <a:pPr lvl="0"/>
            <a:r>
              <a:rPr lang="en-US" dirty="0"/>
              <a:t>Insert subtitle here</a:t>
            </a:r>
          </a:p>
          <a:p>
            <a:pPr lvl="1"/>
            <a:r>
              <a:rPr lang="en-US" dirty="0"/>
              <a:t>Insert content here</a:t>
            </a:r>
          </a:p>
        </p:txBody>
      </p:sp>
      <p:sp>
        <p:nvSpPr>
          <p:cNvPr id="8" name="SmartArt Placeholder 7">
            <a:extLst>
              <a:ext uri="{FF2B5EF4-FFF2-40B4-BE49-F238E27FC236}">
                <a16:creationId xmlns:a16="http://schemas.microsoft.com/office/drawing/2014/main" id="{9FD563C5-3DFB-47DD-8A9E-30D8084590F6}"/>
              </a:ext>
            </a:extLst>
          </p:cNvPr>
          <p:cNvSpPr>
            <a:spLocks noGrp="1"/>
          </p:cNvSpPr>
          <p:nvPr>
            <p:ph type="dgm" sz="quarter" idx="14" hasCustomPrompt="1"/>
          </p:nvPr>
        </p:nvSpPr>
        <p:spPr>
          <a:xfrm>
            <a:off x="762001" y="2369129"/>
            <a:ext cx="10667998" cy="3343657"/>
          </a:xfrm>
          <a:prstGeom prst="rect">
            <a:avLst/>
          </a:prstGeom>
        </p:spPr>
        <p:txBody>
          <a:bodyPr/>
          <a:lstStyle>
            <a:lvl1pPr marL="0" indent="0">
              <a:buNone/>
              <a:defRPr sz="1800" b="0"/>
            </a:lvl1pPr>
          </a:lstStyle>
          <a:p>
            <a:r>
              <a:rPr lang="en-US" dirty="0"/>
              <a:t>Insert Content here</a:t>
            </a:r>
          </a:p>
        </p:txBody>
      </p:sp>
      <p:pic>
        <p:nvPicPr>
          <p:cNvPr id="9" name="Picture Placeholder 8" descr="Red, blue grey white pattern background">
            <a:extLst>
              <a:ext uri="{FF2B5EF4-FFF2-40B4-BE49-F238E27FC236}">
                <a16:creationId xmlns:a16="http://schemas.microsoft.com/office/drawing/2014/main" id="{EFDBB6A3-9760-4B41-9E31-6D5DD396E16C}"/>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9582"/>
            <a:ext cx="12192000" cy="858417"/>
          </a:xfrm>
          <a:prstGeom prst="rect">
            <a:avLst/>
          </a:prstGeom>
        </p:spPr>
      </p:pic>
    </p:spTree>
    <p:extLst>
      <p:ext uri="{BB962C8B-B14F-4D97-AF65-F5344CB8AC3E}">
        <p14:creationId xmlns:p14="http://schemas.microsoft.com/office/powerpoint/2010/main" val="42946266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Photo Conten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3F45076F-4240-4B40-8CE4-637DD751A68B}"/>
              </a:ext>
            </a:extLst>
          </p:cNvPr>
          <p:cNvSpPr>
            <a:spLocks noGrp="1"/>
          </p:cNvSpPr>
          <p:nvPr>
            <p:ph type="title" hasCustomPrompt="1"/>
          </p:nvPr>
        </p:nvSpPr>
        <p:spPr>
          <a:xfrm>
            <a:off x="762000" y="715963"/>
            <a:ext cx="5334000" cy="1189038"/>
          </a:xfrm>
          <a:prstGeom prst="rect">
            <a:avLst/>
          </a:prstGeom>
        </p:spPr>
        <p:txBody>
          <a:bodyPr anchor="t">
            <a:normAutofit/>
          </a:bodyPr>
          <a:lstStyle>
            <a:lvl1pPr>
              <a:spcBef>
                <a:spcPts val="1000"/>
              </a:spcBef>
              <a:defRPr sz="4000" b="1">
                <a:solidFill>
                  <a:schemeClr val="accent2"/>
                </a:solidFill>
              </a:defRPr>
            </a:lvl1pPr>
          </a:lstStyle>
          <a:p>
            <a:r>
              <a:rPr lang="en-US" dirty="0"/>
              <a:t>Insert title here</a:t>
            </a:r>
          </a:p>
        </p:txBody>
      </p:sp>
      <p:sp>
        <p:nvSpPr>
          <p:cNvPr id="16" name="Text Placeholder 15">
            <a:extLst>
              <a:ext uri="{FF2B5EF4-FFF2-40B4-BE49-F238E27FC236}">
                <a16:creationId xmlns:a16="http://schemas.microsoft.com/office/drawing/2014/main" id="{8498B63D-F60C-4A9D-8D3E-0C7CD748FEDE}"/>
              </a:ext>
            </a:extLst>
          </p:cNvPr>
          <p:cNvSpPr>
            <a:spLocks noGrp="1"/>
          </p:cNvSpPr>
          <p:nvPr>
            <p:ph type="body" sz="quarter" idx="11" hasCustomPrompt="1"/>
          </p:nvPr>
        </p:nvSpPr>
        <p:spPr>
          <a:xfrm>
            <a:off x="762000" y="1905000"/>
            <a:ext cx="5334000" cy="3276600"/>
          </a:xfrm>
          <a:prstGeom prst="rect">
            <a:avLst/>
          </a:prstGeom>
        </p:spPr>
        <p:txBody>
          <a:bodyPr/>
          <a:lstStyle>
            <a:lvl1pPr marL="0" indent="0">
              <a:lnSpc>
                <a:spcPct val="100000"/>
              </a:lnSpc>
              <a:buNone/>
              <a:defRPr sz="1800" b="1"/>
            </a:lvl1pPr>
            <a:lvl2pPr marL="228600">
              <a:lnSpc>
                <a:spcPct val="100000"/>
              </a:lnSpc>
              <a:spcBef>
                <a:spcPts val="1000"/>
              </a:spcBef>
              <a:defRPr sz="1800"/>
            </a:lvl2pPr>
          </a:lstStyle>
          <a:p>
            <a:pPr lvl="0"/>
            <a:r>
              <a:rPr lang="en-US" dirty="0"/>
              <a:t>Insert subtitle here</a:t>
            </a:r>
          </a:p>
          <a:p>
            <a:pPr lvl="1"/>
            <a:r>
              <a:rPr lang="en-US" dirty="0"/>
              <a:t>Insert content here</a:t>
            </a:r>
          </a:p>
        </p:txBody>
      </p:sp>
      <p:sp>
        <p:nvSpPr>
          <p:cNvPr id="9" name="Picture Placeholder 13">
            <a:extLst>
              <a:ext uri="{FF2B5EF4-FFF2-40B4-BE49-F238E27FC236}">
                <a16:creationId xmlns:a16="http://schemas.microsoft.com/office/drawing/2014/main" id="{827A95C0-AE8D-46E1-9EF9-64504CBEF99E}"/>
              </a:ext>
            </a:extLst>
          </p:cNvPr>
          <p:cNvSpPr>
            <a:spLocks noGrp="1"/>
          </p:cNvSpPr>
          <p:nvPr>
            <p:ph type="pic" sz="quarter" idx="14"/>
          </p:nvPr>
        </p:nvSpPr>
        <p:spPr>
          <a:xfrm>
            <a:off x="6858000" y="715963"/>
            <a:ext cx="4572000" cy="2362200"/>
          </a:xfrm>
          <a:prstGeom prst="rect">
            <a:avLst/>
          </a:prstGeom>
          <a:solidFill>
            <a:schemeClr val="tx2"/>
          </a:solidFill>
        </p:spPr>
        <p:txBody>
          <a:bodyPr>
            <a:normAutofit/>
          </a:bodyPr>
          <a:lstStyle>
            <a:lvl1pPr algn="ctr">
              <a:buNone/>
              <a:defRPr sz="1600"/>
            </a:lvl1pPr>
          </a:lstStyle>
          <a:p>
            <a:r>
              <a:rPr lang="en-US"/>
              <a:t>Click icon to add picture</a:t>
            </a:r>
            <a:endParaRPr lang="en-US" dirty="0"/>
          </a:p>
        </p:txBody>
      </p:sp>
      <p:sp>
        <p:nvSpPr>
          <p:cNvPr id="8" name="Picture Placeholder 13">
            <a:extLst>
              <a:ext uri="{FF2B5EF4-FFF2-40B4-BE49-F238E27FC236}">
                <a16:creationId xmlns:a16="http://schemas.microsoft.com/office/drawing/2014/main" id="{89E410BA-B0FE-4F0E-8BE5-D33CC016635B}"/>
              </a:ext>
            </a:extLst>
          </p:cNvPr>
          <p:cNvSpPr>
            <a:spLocks noGrp="1"/>
          </p:cNvSpPr>
          <p:nvPr>
            <p:ph type="pic" sz="quarter" idx="13"/>
          </p:nvPr>
        </p:nvSpPr>
        <p:spPr>
          <a:xfrm>
            <a:off x="6858000" y="3305541"/>
            <a:ext cx="4572000" cy="2362200"/>
          </a:xfrm>
          <a:prstGeom prst="rect">
            <a:avLst/>
          </a:prstGeom>
          <a:solidFill>
            <a:schemeClr val="tx2"/>
          </a:solidFill>
        </p:spPr>
        <p:txBody>
          <a:bodyPr>
            <a:normAutofit/>
          </a:bodyPr>
          <a:lstStyle>
            <a:lvl1pPr algn="ctr">
              <a:buNone/>
              <a:defRPr sz="1600"/>
            </a:lvl1pPr>
          </a:lstStyle>
          <a:p>
            <a:r>
              <a:rPr lang="en-US"/>
              <a:t>Click icon to add picture</a:t>
            </a:r>
            <a:endParaRPr lang="en-US" dirty="0"/>
          </a:p>
        </p:txBody>
      </p:sp>
      <p:pic>
        <p:nvPicPr>
          <p:cNvPr id="11" name="Picture Placeholder 5" descr="Red, blue grey white pattern background">
            <a:extLst>
              <a:ext uri="{FF2B5EF4-FFF2-40B4-BE49-F238E27FC236}">
                <a16:creationId xmlns:a16="http://schemas.microsoft.com/office/drawing/2014/main" id="{1014381E-E235-4624-9267-69EEEE9826F2}"/>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80922"/>
            <a:ext cx="12192000" cy="877078"/>
          </a:xfrm>
          <a:prstGeom prst="rect">
            <a:avLst/>
          </a:prstGeom>
        </p:spPr>
      </p:pic>
    </p:spTree>
    <p:extLst>
      <p:ext uri="{BB962C8B-B14F-4D97-AF65-F5344CB8AC3E}">
        <p14:creationId xmlns:p14="http://schemas.microsoft.com/office/powerpoint/2010/main" val="1586680172"/>
      </p:ext>
    </p:extLst>
  </p:cSld>
  <p:clrMapOvr>
    <a:masterClrMapping/>
  </p:clrMapOvr>
  <p:extLst>
    <p:ext uri="{DCECCB84-F9BA-43D5-87BE-67443E8EF086}">
      <p15:sldGuideLst xmlns:p15="http://schemas.microsoft.com/office/powerpoint/2012/main">
        <p15:guide id="1" orient="horz" pos="3672"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Pattern Content Gray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F87E8F-5716-4A71-B64F-EC5A742B45D2}"/>
              </a:ext>
            </a:extLst>
          </p:cNvPr>
          <p:cNvSpPr>
            <a:spLocks noGrp="1"/>
          </p:cNvSpPr>
          <p:nvPr>
            <p:ph type="title" hasCustomPrompt="1"/>
          </p:nvPr>
        </p:nvSpPr>
        <p:spPr>
          <a:xfrm>
            <a:off x="762000" y="715961"/>
            <a:ext cx="6477000" cy="1189038"/>
          </a:xfrm>
          <a:prstGeom prst="rect">
            <a:avLst/>
          </a:prstGeom>
        </p:spPr>
        <p:txBody>
          <a:bodyPr anchor="t">
            <a:noAutofit/>
          </a:bodyPr>
          <a:lstStyle>
            <a:lvl1pPr>
              <a:spcBef>
                <a:spcPts val="1000"/>
              </a:spcBef>
              <a:defRPr sz="4000" b="1">
                <a:solidFill>
                  <a:schemeClr val="accent3">
                    <a:lumMod val="75000"/>
                  </a:schemeClr>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762000" y="1905000"/>
            <a:ext cx="6477000" cy="3276600"/>
          </a:xfrm>
          <a:prstGeom prst="rect">
            <a:avLst/>
          </a:prstGeom>
        </p:spPr>
        <p:txBody>
          <a:bodyPr/>
          <a:lstStyle>
            <a:lvl1pPr marL="0" indent="0">
              <a:lnSpc>
                <a:spcPct val="100000"/>
              </a:lnSpc>
              <a:buNone/>
              <a:defRPr sz="1800" b="1">
                <a:solidFill>
                  <a:schemeClr val="bg1"/>
                </a:solidFill>
              </a:defRPr>
            </a:lvl1pPr>
            <a:lvl2pPr marL="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5" name="Picture Placeholder 6" descr="Red, blue grey white pattern background">
            <a:extLst>
              <a:ext uri="{FF2B5EF4-FFF2-40B4-BE49-F238E27FC236}">
                <a16:creationId xmlns:a16="http://schemas.microsoft.com/office/drawing/2014/main" id="{6696C96D-182E-490E-A117-B60FF1853675}"/>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7427166" y="0"/>
            <a:ext cx="4764834" cy="6858000"/>
          </a:xfrm>
          <a:prstGeom prst="rect">
            <a:avLst/>
          </a:prstGeom>
        </p:spPr>
      </p:pic>
    </p:spTree>
    <p:extLst>
      <p:ext uri="{BB962C8B-B14F-4D97-AF65-F5344CB8AC3E}">
        <p14:creationId xmlns:p14="http://schemas.microsoft.com/office/powerpoint/2010/main" val="3951428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clusion">
    <p:bg>
      <p:bgPr>
        <a:solidFill>
          <a:schemeClr val="accent1"/>
        </a:solidFill>
        <a:effectLst/>
      </p:bgPr>
    </p:bg>
    <p:spTree>
      <p:nvGrpSpPr>
        <p:cNvPr id="1" name=""/>
        <p:cNvGrpSpPr/>
        <p:nvPr/>
      </p:nvGrpSpPr>
      <p:grpSpPr>
        <a:xfrm>
          <a:off x="0" y="0"/>
          <a:ext cx="0" cy="0"/>
          <a:chOff x="0" y="0"/>
          <a:chExt cx="0" cy="0"/>
        </a:xfrm>
      </p:grpSpPr>
      <p:pic>
        <p:nvPicPr>
          <p:cNvPr id="8" name="Picture Placeholder 6" descr="Picture placeholder ">
            <a:extLst>
              <a:ext uri="{FF2B5EF4-FFF2-40B4-BE49-F238E27FC236}">
                <a16:creationId xmlns:a16="http://schemas.microsoft.com/office/drawing/2014/main" id="{21F9B252-B7D4-4DA8-92E8-8A98BFEF41B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5" name="Title 1">
            <a:extLst>
              <a:ext uri="{FF2B5EF4-FFF2-40B4-BE49-F238E27FC236}">
                <a16:creationId xmlns:a16="http://schemas.microsoft.com/office/drawing/2014/main" id="{3D9303A2-B30A-054C-B809-053B909E125F}"/>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tx1"/>
                </a:solidFill>
                <a:effectLst/>
                <a:latin typeface="+mj-lt"/>
                <a:ea typeface="+mn-ea"/>
                <a:cs typeface="Segoe UI" pitchFamily="34" charset="0"/>
              </a:defRPr>
            </a:lvl1pPr>
          </a:lstStyle>
          <a:p>
            <a:r>
              <a:rPr lang="en-US" dirty="0"/>
              <a:t>Insert title here</a:t>
            </a:r>
          </a:p>
        </p:txBody>
      </p:sp>
      <p:sp>
        <p:nvSpPr>
          <p:cNvPr id="6" name="Text Placeholder 4">
            <a:extLst>
              <a:ext uri="{FF2B5EF4-FFF2-40B4-BE49-F238E27FC236}">
                <a16:creationId xmlns:a16="http://schemas.microsoft.com/office/drawing/2014/main" id="{10F58DD1-3970-D84D-8040-EF33B0971D59}"/>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tx1"/>
                </a:solidFill>
                <a:latin typeface="+mn-lt"/>
                <a:ea typeface="+mn-ea"/>
                <a:cs typeface="+mn-cs"/>
              </a:defRPr>
            </a:lvl1pPr>
          </a:lstStyle>
          <a:p>
            <a:pPr lvl="0"/>
            <a:r>
              <a:rPr lang="en-US" dirty="0"/>
              <a:t>Insert content here</a:t>
            </a:r>
          </a:p>
        </p:txBody>
      </p:sp>
    </p:spTree>
    <p:extLst>
      <p:ext uri="{BB962C8B-B14F-4D97-AF65-F5344CB8AC3E}">
        <p14:creationId xmlns:p14="http://schemas.microsoft.com/office/powerpoint/2010/main" val="4100711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2243" userDrawn="1">
          <p15:clr>
            <a:srgbClr val="5ACBF0"/>
          </p15:clr>
        </p15:guide>
        <p15:guide id="4" orient="horz" pos="2488"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Question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7724906-4405-47F4-B533-7291B003B0A2}"/>
              </a:ext>
            </a:extLst>
          </p:cNvPr>
          <p:cNvSpPr>
            <a:spLocks noGrp="1"/>
          </p:cNvSpPr>
          <p:nvPr>
            <p:ph type="title" hasCustomPrompt="1"/>
          </p:nvPr>
        </p:nvSpPr>
        <p:spPr>
          <a:xfrm>
            <a:off x="1525301" y="1995467"/>
            <a:ext cx="9141397" cy="615553"/>
          </a:xfrm>
          <a:prstGeom prst="rect">
            <a:avLst/>
          </a:prstGeom>
          <a:noFill/>
        </p:spPr>
        <p:txBody>
          <a:bodyPr wrap="square" lIns="0" tIns="0" rIns="0" bIns="0" anchor="b" anchorCtr="0">
            <a:spAutoFit/>
          </a:bodyPr>
          <a:lstStyle>
            <a:lvl1pPr algn="ctr" defTabSz="932742" rtl="0" eaLnBrk="1" latinLnBrk="0" hangingPunct="1">
              <a:lnSpc>
                <a:spcPct val="100000"/>
              </a:lnSpc>
              <a:spcBef>
                <a:spcPct val="0"/>
              </a:spcBef>
              <a:buNone/>
              <a:defRPr lang="en-US" sz="4000" b="1" i="0" kern="1200" cap="none" spc="-50" baseline="0" dirty="0">
                <a:ln w="3175">
                  <a:noFill/>
                </a:ln>
                <a:solidFill>
                  <a:schemeClr val="accent1"/>
                </a:solidFill>
                <a:effectLst/>
                <a:latin typeface="+mj-lt"/>
                <a:ea typeface="+mn-ea"/>
                <a:cs typeface="Segoe UI" pitchFamily="34" charset="0"/>
              </a:defRPr>
            </a:lvl1pPr>
          </a:lstStyle>
          <a:p>
            <a:r>
              <a:rPr lang="en-US" dirty="0"/>
              <a:t>Insert title here</a:t>
            </a:r>
          </a:p>
        </p:txBody>
      </p:sp>
      <p:sp>
        <p:nvSpPr>
          <p:cNvPr id="14" name="Text Placeholder 4">
            <a:extLst>
              <a:ext uri="{FF2B5EF4-FFF2-40B4-BE49-F238E27FC236}">
                <a16:creationId xmlns:a16="http://schemas.microsoft.com/office/drawing/2014/main" id="{1EEF53A4-35A6-4E43-B220-67DA381C5910}"/>
              </a:ext>
            </a:extLst>
          </p:cNvPr>
          <p:cNvSpPr>
            <a:spLocks noGrp="1"/>
          </p:cNvSpPr>
          <p:nvPr>
            <p:ph type="body" sz="quarter" idx="12" hasCustomPrompt="1"/>
          </p:nvPr>
        </p:nvSpPr>
        <p:spPr>
          <a:xfrm>
            <a:off x="2196307" y="3260705"/>
            <a:ext cx="7799387" cy="1534757"/>
          </a:xfrm>
          <a:prstGeom prst="rect">
            <a:avLst/>
          </a:prstGeom>
          <a:noFill/>
        </p:spPr>
        <p:txBody>
          <a:bodyPr wrap="square" lIns="0" tIns="0" rIns="0" bIns="0">
            <a:noAutofit/>
          </a:bodyPr>
          <a:lstStyle>
            <a:lvl1pPr marL="0" indent="0" algn="ctr">
              <a:lnSpc>
                <a:spcPct val="100000"/>
              </a:lnSpc>
              <a:spcBef>
                <a:spcPts val="0"/>
              </a:spcBef>
              <a:spcAft>
                <a:spcPts val="0"/>
              </a:spcAft>
              <a:buFont typeface="Arial" panose="020B0604020202020204" pitchFamily="34" charset="0"/>
              <a:buNone/>
              <a:defRPr lang="en-US" sz="1800" kern="1200" dirty="0">
                <a:solidFill>
                  <a:schemeClr val="bg1"/>
                </a:solidFill>
                <a:latin typeface="+mn-lt"/>
                <a:ea typeface="+mn-ea"/>
                <a:cs typeface="+mn-cs"/>
              </a:defRPr>
            </a:lvl1pPr>
          </a:lstStyle>
          <a:p>
            <a:pPr lvl="0"/>
            <a:r>
              <a:rPr lang="en-US" dirty="0"/>
              <a:t>Insert content here</a:t>
            </a:r>
          </a:p>
        </p:txBody>
      </p:sp>
      <p:pic>
        <p:nvPicPr>
          <p:cNvPr id="6" name="Picture Placeholder 5" descr="Red, blue grey white pattern background">
            <a:extLst>
              <a:ext uri="{FF2B5EF4-FFF2-40B4-BE49-F238E27FC236}">
                <a16:creationId xmlns:a16="http://schemas.microsoft.com/office/drawing/2014/main" id="{906BF34F-6945-4E11-BAEC-F66F7254C4CD}"/>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5999582"/>
            <a:ext cx="12192000" cy="858417"/>
          </a:xfrm>
          <a:prstGeom prst="rect">
            <a:avLst/>
          </a:prstGeom>
        </p:spPr>
      </p:pic>
    </p:spTree>
    <p:extLst>
      <p:ext uri="{BB962C8B-B14F-4D97-AF65-F5344CB8AC3E}">
        <p14:creationId xmlns:p14="http://schemas.microsoft.com/office/powerpoint/2010/main" val="4955231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eft Pattern Content Blue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668F4E-0433-49FD-9D92-3B60E9B0AEE6}"/>
              </a:ext>
            </a:extLst>
          </p:cNvPr>
          <p:cNvSpPr>
            <a:spLocks noGrp="1"/>
          </p:cNvSpPr>
          <p:nvPr>
            <p:ph type="title" hasCustomPrompt="1"/>
          </p:nvPr>
        </p:nvSpPr>
        <p:spPr>
          <a:xfrm>
            <a:off x="5199742" y="715961"/>
            <a:ext cx="6477000" cy="1189037"/>
          </a:xfrm>
          <a:prstGeom prst="rect">
            <a:avLst/>
          </a:prstGeom>
        </p:spPr>
        <p:txBody>
          <a:bodyPr anchor="t">
            <a:normAutofit/>
          </a:bodyPr>
          <a:lstStyle>
            <a:lvl1pPr>
              <a:spcBef>
                <a:spcPts val="1000"/>
              </a:spcBef>
              <a:defRPr sz="4000" b="1" spc="-50" baseline="0">
                <a:solidFill>
                  <a:schemeClr val="accent2"/>
                </a:solidFill>
              </a:defRPr>
            </a:lvl1pPr>
          </a:lstStyle>
          <a:p>
            <a:r>
              <a:rPr lang="en-US" dirty="0"/>
              <a:t>Insert title here</a:t>
            </a:r>
          </a:p>
        </p:txBody>
      </p:sp>
      <p:sp>
        <p:nvSpPr>
          <p:cNvPr id="12" name="Text Placeholder 15">
            <a:extLst>
              <a:ext uri="{FF2B5EF4-FFF2-40B4-BE49-F238E27FC236}">
                <a16:creationId xmlns:a16="http://schemas.microsoft.com/office/drawing/2014/main" id="{E8DBED36-2461-46D0-AF71-79E0064B3758}"/>
              </a:ext>
            </a:extLst>
          </p:cNvPr>
          <p:cNvSpPr>
            <a:spLocks noGrp="1"/>
          </p:cNvSpPr>
          <p:nvPr>
            <p:ph type="body" sz="quarter" idx="11" hasCustomPrompt="1"/>
          </p:nvPr>
        </p:nvSpPr>
        <p:spPr>
          <a:xfrm>
            <a:off x="5199743" y="1905000"/>
            <a:ext cx="6477000" cy="3276600"/>
          </a:xfrm>
          <a:prstGeom prst="rect">
            <a:avLst/>
          </a:prstGeom>
        </p:spPr>
        <p:txBody>
          <a:bodyPr/>
          <a:lstStyle>
            <a:lvl1pPr marL="0" indent="0">
              <a:lnSpc>
                <a:spcPct val="100000"/>
              </a:lnSpc>
              <a:buNone/>
              <a:defRPr sz="1800" b="1">
                <a:solidFill>
                  <a:schemeClr val="bg1"/>
                </a:solidFill>
              </a:defRPr>
            </a:lvl1pPr>
            <a:lvl2pPr marL="228600" indent="-228600">
              <a:lnSpc>
                <a:spcPct val="100000"/>
              </a:lnSpc>
              <a:spcBef>
                <a:spcPts val="1000"/>
              </a:spcBef>
              <a:defRPr sz="1800">
                <a:solidFill>
                  <a:schemeClr val="bg1"/>
                </a:solidFill>
              </a:defRPr>
            </a:lvl2pPr>
          </a:lstStyle>
          <a:p>
            <a:pPr lvl="0"/>
            <a:r>
              <a:rPr lang="en-US" dirty="0"/>
              <a:t>Insert subtitle here</a:t>
            </a:r>
          </a:p>
          <a:p>
            <a:pPr lvl="1"/>
            <a:r>
              <a:rPr lang="en-US" dirty="0"/>
              <a:t>Insert content here</a:t>
            </a:r>
          </a:p>
        </p:txBody>
      </p:sp>
      <p:pic>
        <p:nvPicPr>
          <p:cNvPr id="5" name="Picture Placeholder 6" descr="Red, blue grey white pattern background">
            <a:extLst>
              <a:ext uri="{FF2B5EF4-FFF2-40B4-BE49-F238E27FC236}">
                <a16:creationId xmlns:a16="http://schemas.microsoft.com/office/drawing/2014/main" id="{BC85C715-EF0D-4E33-AC89-C35DD2596E5D}"/>
              </a:ext>
            </a:extLst>
          </p:cNvPr>
          <p:cNvPicPr>
            <a:picLocks noChangeAspect="1"/>
          </p:cNvPicPr>
          <p:nvPr userDrawn="1"/>
        </p:nvPicPr>
        <p:blipFill rotWithShape="1">
          <a:blip r:embed="rId2" cstate="screen">
            <a:extLst>
              <a:ext uri="{28A0092B-C50C-407E-A947-70E740481C1C}">
                <a14:useLocalDpi xmlns:a14="http://schemas.microsoft.com/office/drawing/2010/main" val="0"/>
              </a:ext>
            </a:extLst>
          </a:blip>
          <a:srcRect/>
          <a:stretch/>
        </p:blipFill>
        <p:spPr>
          <a:xfrm>
            <a:off x="0" y="0"/>
            <a:ext cx="4767943" cy="6858000"/>
          </a:xfrm>
          <a:prstGeom prst="rect">
            <a:avLst/>
          </a:prstGeom>
        </p:spPr>
      </p:pic>
    </p:spTree>
    <p:extLst>
      <p:ext uri="{BB962C8B-B14F-4D97-AF65-F5344CB8AC3E}">
        <p14:creationId xmlns:p14="http://schemas.microsoft.com/office/powerpoint/2010/main" val="84037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2808" userDrawn="1">
          <p15:clr>
            <a:srgbClr val="5ACBF0"/>
          </p15:clr>
        </p15:guide>
        <p15:guide id="3" orient="horz" pos="2240" userDrawn="1">
          <p15:clr>
            <a:srgbClr val="5ACBF0"/>
          </p15:clr>
        </p15:guide>
        <p15:guide id="4" orient="horz" pos="2487"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05-Jan-23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119271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9690444"/>
      </p:ext>
    </p:extLst>
  </p:cSld>
  <p:clrMap bg1="dk1" tx1="lt1" bg2="dk2" tx2="lt2" accent1="accent1" accent2="accent2" accent3="accent3" accent4="accent4" accent5="accent5" accent6="accent6" hlink="hlink" folHlink="folHlink"/>
  <p:sldLayoutIdLst>
    <p:sldLayoutId id="2147483689" r:id="rId1"/>
    <p:sldLayoutId id="2147483699" r:id="rId2"/>
    <p:sldLayoutId id="2147483700" r:id="rId3"/>
    <p:sldLayoutId id="2147483691" r:id="rId4"/>
    <p:sldLayoutId id="2147483709" r:id="rId5"/>
    <p:sldLayoutId id="2147483701" r:id="rId6"/>
    <p:sldLayoutId id="2147483706" r:id="rId7"/>
    <p:sldLayoutId id="2147483702" r:id="rId8"/>
    <p:sldLayoutId id="2147483704" r:id="rId9"/>
    <p:sldLayoutId id="2147483703" r:id="rId10"/>
    <p:sldLayoutId id="2147483690" r:id="rId11"/>
    <p:sldLayoutId id="2147483708" r:id="rId12"/>
    <p:sldLayoutId id="2147483710" r:id="rId13"/>
  </p:sldLayoutIdLst>
  <p:hf hdr="0" dt="0"/>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12.jpe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 Id="rId5" Type="http://schemas.openxmlformats.org/officeDocument/2006/relationships/image" Target="../media/image15.jpe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D2DB031-9003-4F74-A88F-FE2A2ABABC72}"/>
              </a:ext>
            </a:extLst>
          </p:cNvPr>
          <p:cNvSpPr>
            <a:spLocks noGrp="1" noChangeArrowheads="1"/>
          </p:cNvSpPr>
          <p:nvPr>
            <p:ph type="title"/>
          </p:nvPr>
        </p:nvSpPr>
        <p:spPr>
          <a:xfrm>
            <a:off x="4785360" y="1026161"/>
            <a:ext cx="7122160" cy="1696720"/>
          </a:xfrm>
        </p:spPr>
        <p:txBody>
          <a:bodyPr anchor="ctr">
            <a:noAutofit/>
          </a:bodyPr>
          <a:lstStyle/>
          <a:p>
            <a:pPr>
              <a:lnSpc>
                <a:spcPct val="120000"/>
              </a:lnSpc>
            </a:pPr>
            <a:r>
              <a:rPr lang="en-US" sz="3000" b="0" u="sng" dirty="0"/>
              <a:t>Chapter 1: </a:t>
            </a:r>
            <a:br>
              <a:rPr lang="en-US" sz="4000" dirty="0"/>
            </a:br>
            <a:r>
              <a:rPr lang="en-US" sz="4500" spc="-150" dirty="0">
                <a:solidFill>
                  <a:schemeClr val="accent2"/>
                </a:solidFill>
                <a:latin typeface="Amasis MT Pro Black" panose="02040A04050005020304" pitchFamily="18" charset="0"/>
              </a:rPr>
              <a:t>Introduction to</a:t>
            </a:r>
            <a:br>
              <a:rPr lang="en-US" sz="5000" dirty="0">
                <a:solidFill>
                  <a:schemeClr val="accent1"/>
                </a:solidFill>
              </a:rPr>
            </a:br>
            <a:r>
              <a:rPr lang="en-US" sz="5000" dirty="0">
                <a:solidFill>
                  <a:schemeClr val="accent1"/>
                </a:solidFill>
                <a:latin typeface="Amasis MT Pro Black" panose="02040A04050005020304" pitchFamily="18" charset="0"/>
              </a:rPr>
              <a:t>Electronic Commerce</a:t>
            </a:r>
            <a:endParaRPr lang="en-US" altLang="en-US" sz="5000" dirty="0">
              <a:solidFill>
                <a:schemeClr val="accent1"/>
              </a:solidFill>
              <a:latin typeface="Amasis MT Pro Black" panose="02040A04050005020304" pitchFamily="18" charset="0"/>
            </a:endParaRPr>
          </a:p>
        </p:txBody>
      </p:sp>
      <p:pic>
        <p:nvPicPr>
          <p:cNvPr id="1026" name="Picture 2">
            <a:extLst>
              <a:ext uri="{FF2B5EF4-FFF2-40B4-BE49-F238E27FC236}">
                <a16:creationId xmlns:a16="http://schemas.microsoft.com/office/drawing/2014/main" id="{2CA37D2D-799E-DC85-E3D8-83CD2F1C9ECC}"/>
              </a:ext>
            </a:extLst>
          </p:cNvPr>
          <p:cNvPicPr>
            <a:picLocks noChangeAspect="1" noChangeArrowheads="1"/>
          </p:cNvPicPr>
          <p:nvPr/>
        </p:nvPicPr>
        <p:blipFill>
          <a:blip r:embed="rId3">
            <a:clrChange>
              <a:clrFrom>
                <a:srgbClr val="76B2BA"/>
              </a:clrFrom>
              <a:clrTo>
                <a:srgbClr val="76B2BA">
                  <a:alpha val="0"/>
                </a:srgbClr>
              </a:clrTo>
            </a:clrChange>
            <a:extLst>
              <a:ext uri="{28A0092B-C50C-407E-A947-70E740481C1C}">
                <a14:useLocalDpi xmlns:a14="http://schemas.microsoft.com/office/drawing/2010/main" val="0"/>
              </a:ext>
            </a:extLst>
          </a:blip>
          <a:srcRect/>
          <a:stretch>
            <a:fillRect/>
          </a:stretch>
        </p:blipFill>
        <p:spPr bwMode="auto">
          <a:xfrm>
            <a:off x="5491480" y="3119120"/>
            <a:ext cx="5608320" cy="3738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3265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BA0B6F-5258-479C-87B7-C806E6757035}"/>
              </a:ext>
            </a:extLst>
          </p:cNvPr>
          <p:cNvSpPr>
            <a:spLocks noGrp="1"/>
          </p:cNvSpPr>
          <p:nvPr>
            <p:ph type="title"/>
          </p:nvPr>
        </p:nvSpPr>
        <p:spPr/>
        <p:txBody>
          <a:bodyPr/>
          <a:lstStyle/>
          <a:p>
            <a:r>
              <a:rPr lang="en-US" dirty="0"/>
              <a:t>Learning Objectives</a:t>
            </a:r>
          </a:p>
        </p:txBody>
      </p:sp>
      <p:sp>
        <p:nvSpPr>
          <p:cNvPr id="2" name="Text Placeholder 1">
            <a:extLst>
              <a:ext uri="{FF2B5EF4-FFF2-40B4-BE49-F238E27FC236}">
                <a16:creationId xmlns:a16="http://schemas.microsoft.com/office/drawing/2014/main" id="{3F36812B-2065-4A2B-B59B-8957022687BC}"/>
              </a:ext>
            </a:extLst>
          </p:cNvPr>
          <p:cNvSpPr>
            <a:spLocks noGrp="1"/>
          </p:cNvSpPr>
          <p:nvPr>
            <p:ph type="body" sz="quarter" idx="13"/>
          </p:nvPr>
        </p:nvSpPr>
        <p:spPr/>
        <p:txBody>
          <a:bodyPr/>
          <a:lstStyle/>
          <a:p>
            <a:r>
              <a:rPr lang="en-US" dirty="0"/>
              <a:t>What is electronic commerce?</a:t>
            </a:r>
          </a:p>
          <a:p>
            <a:r>
              <a:rPr lang="en-US" dirty="0"/>
              <a:t>Categories of e-commerce</a:t>
            </a:r>
          </a:p>
          <a:p>
            <a:r>
              <a:rPr lang="en-US" dirty="0"/>
              <a:t>The growth of e-Commerce</a:t>
            </a:r>
          </a:p>
          <a:p>
            <a:r>
              <a:rPr lang="en-US" dirty="0"/>
              <a:t>Business Models, Revenue Models, and Business Processes</a:t>
            </a:r>
          </a:p>
          <a:p>
            <a:r>
              <a:rPr lang="en-US" dirty="0"/>
              <a:t>E-commerce: Opportunities and Barriers</a:t>
            </a:r>
          </a:p>
          <a:p>
            <a:r>
              <a:rPr lang="en-US" dirty="0"/>
              <a:t>Economics and e-commerce</a:t>
            </a:r>
          </a:p>
          <a:p>
            <a:r>
              <a:rPr lang="en-US" dirty="0"/>
              <a:t>International nature of e-commerce</a:t>
            </a:r>
          </a:p>
        </p:txBody>
      </p:sp>
    </p:spTree>
    <p:extLst>
      <p:ext uri="{BB962C8B-B14F-4D97-AF65-F5344CB8AC3E}">
        <p14:creationId xmlns:p14="http://schemas.microsoft.com/office/powerpoint/2010/main" val="461669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E55B-97EB-B1F4-F710-288A5DAF34B2}"/>
              </a:ext>
            </a:extLst>
          </p:cNvPr>
          <p:cNvSpPr>
            <a:spLocks noGrp="1"/>
          </p:cNvSpPr>
          <p:nvPr>
            <p:ph type="title"/>
          </p:nvPr>
        </p:nvSpPr>
        <p:spPr/>
        <p:txBody>
          <a:bodyPr/>
          <a:lstStyle/>
          <a:p>
            <a:r>
              <a:rPr lang="en-US" dirty="0"/>
              <a:t>What is electronic commerce?</a:t>
            </a:r>
            <a:br>
              <a:rPr lang="en-US" dirty="0"/>
            </a:br>
            <a:endParaRPr lang="en-US" dirty="0"/>
          </a:p>
        </p:txBody>
      </p:sp>
      <p:sp>
        <p:nvSpPr>
          <p:cNvPr id="3" name="Text Placeholder 2">
            <a:extLst>
              <a:ext uri="{FF2B5EF4-FFF2-40B4-BE49-F238E27FC236}">
                <a16:creationId xmlns:a16="http://schemas.microsoft.com/office/drawing/2014/main" id="{7CD03941-DACE-2D73-818F-EF76196C8B5F}"/>
              </a:ext>
            </a:extLst>
          </p:cNvPr>
          <p:cNvSpPr>
            <a:spLocks noGrp="1"/>
          </p:cNvSpPr>
          <p:nvPr>
            <p:ph type="body" sz="quarter" idx="13"/>
          </p:nvPr>
        </p:nvSpPr>
        <p:spPr/>
        <p:txBody>
          <a:bodyPr/>
          <a:lstStyle/>
          <a:p>
            <a:r>
              <a:rPr lang="en-US" b="1" dirty="0">
                <a:solidFill>
                  <a:schemeClr val="accent4"/>
                </a:solidFill>
              </a:rPr>
              <a:t>Electronic commerce </a:t>
            </a:r>
            <a:r>
              <a:rPr lang="en-US" dirty="0"/>
              <a:t>(or e-commerce, eCommerce): all business activities that use </a:t>
            </a:r>
            <a:r>
              <a:rPr lang="en-US" dirty="0">
                <a:solidFill>
                  <a:schemeClr val="accent6"/>
                </a:solidFill>
              </a:rPr>
              <a:t>Internet technologies</a:t>
            </a:r>
          </a:p>
          <a:p>
            <a:pPr lvl="1"/>
            <a:r>
              <a:rPr lang="en-US" dirty="0"/>
              <a:t>Buying and selling goods or services </a:t>
            </a:r>
          </a:p>
          <a:p>
            <a:pPr lvl="1"/>
            <a:r>
              <a:rPr lang="en-US" dirty="0"/>
              <a:t>Other activities such as businesses trading with other businesses and internal processes that companies use to support their buying, selling, hiring, planning, ...</a:t>
            </a:r>
          </a:p>
          <a:p>
            <a:r>
              <a:rPr lang="en-US" dirty="0"/>
              <a:t>Most people use the terms “</a:t>
            </a:r>
            <a:r>
              <a:rPr lang="en-US" dirty="0">
                <a:solidFill>
                  <a:schemeClr val="accent6"/>
                </a:solidFill>
              </a:rPr>
              <a:t>electronic commerce</a:t>
            </a:r>
            <a:r>
              <a:rPr lang="en-US" dirty="0"/>
              <a:t>” and “</a:t>
            </a:r>
            <a:r>
              <a:rPr lang="en-US" dirty="0">
                <a:solidFill>
                  <a:schemeClr val="accent6"/>
                </a:solidFill>
              </a:rPr>
              <a:t>electronic business</a:t>
            </a:r>
            <a:r>
              <a:rPr lang="en-US" dirty="0"/>
              <a:t>” interchangeably.</a:t>
            </a:r>
          </a:p>
          <a:p>
            <a:r>
              <a:rPr lang="en-US" dirty="0"/>
              <a:t>IBM defines electronic business as the transformation of key business processes through the use of Internet technologies</a:t>
            </a:r>
          </a:p>
        </p:txBody>
      </p:sp>
    </p:spTree>
    <p:extLst>
      <p:ext uri="{BB962C8B-B14F-4D97-AF65-F5344CB8AC3E}">
        <p14:creationId xmlns:p14="http://schemas.microsoft.com/office/powerpoint/2010/main" val="3911546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E55B-97EB-B1F4-F710-288A5DAF34B2}"/>
              </a:ext>
            </a:extLst>
          </p:cNvPr>
          <p:cNvSpPr>
            <a:spLocks noGrp="1"/>
          </p:cNvSpPr>
          <p:nvPr>
            <p:ph type="title"/>
          </p:nvPr>
        </p:nvSpPr>
        <p:spPr/>
        <p:txBody>
          <a:bodyPr/>
          <a:lstStyle/>
          <a:p>
            <a:r>
              <a:rPr lang="en-US" dirty="0"/>
              <a:t>Categories of e-commerce</a:t>
            </a:r>
          </a:p>
        </p:txBody>
      </p:sp>
      <p:sp>
        <p:nvSpPr>
          <p:cNvPr id="3" name="Text Placeholder 2">
            <a:extLst>
              <a:ext uri="{FF2B5EF4-FFF2-40B4-BE49-F238E27FC236}">
                <a16:creationId xmlns:a16="http://schemas.microsoft.com/office/drawing/2014/main" id="{7CD03941-DACE-2D73-818F-EF76196C8B5F}"/>
              </a:ext>
            </a:extLst>
          </p:cNvPr>
          <p:cNvSpPr>
            <a:spLocks noGrp="1"/>
          </p:cNvSpPr>
          <p:nvPr>
            <p:ph type="body" sz="quarter" idx="13"/>
          </p:nvPr>
        </p:nvSpPr>
        <p:spPr/>
        <p:txBody>
          <a:bodyPr/>
          <a:lstStyle/>
          <a:p>
            <a:r>
              <a:rPr lang="en-US" dirty="0"/>
              <a:t>Categorizing electronic commerce by the types of entities participating in the transactions or business processes.</a:t>
            </a:r>
          </a:p>
          <a:p>
            <a:r>
              <a:rPr lang="en-US" dirty="0"/>
              <a:t>Three common categories:</a:t>
            </a:r>
          </a:p>
          <a:p>
            <a:pPr lvl="1"/>
            <a:r>
              <a:rPr lang="en-US" b="1" dirty="0">
                <a:solidFill>
                  <a:schemeClr val="accent4"/>
                </a:solidFill>
              </a:rPr>
              <a:t>Business-to-consumer (B2C)</a:t>
            </a:r>
          </a:p>
          <a:p>
            <a:pPr lvl="1"/>
            <a:r>
              <a:rPr lang="en-US" b="1" dirty="0">
                <a:solidFill>
                  <a:schemeClr val="accent4"/>
                </a:solidFill>
              </a:rPr>
              <a:t>Business-to-business (B2B)</a:t>
            </a:r>
          </a:p>
          <a:p>
            <a:pPr lvl="1"/>
            <a:r>
              <a:rPr lang="en-US" b="1" dirty="0">
                <a:solidFill>
                  <a:schemeClr val="accent4"/>
                </a:solidFill>
              </a:rPr>
              <a:t>Consumer-to-consumer (C2C)</a:t>
            </a:r>
          </a:p>
          <a:p>
            <a:r>
              <a:rPr lang="en-US" dirty="0"/>
              <a:t>A single company might participate in activities that fall under multiple e-commerce categories.</a:t>
            </a:r>
          </a:p>
        </p:txBody>
      </p:sp>
    </p:spTree>
    <p:extLst>
      <p:ext uri="{BB962C8B-B14F-4D97-AF65-F5344CB8AC3E}">
        <p14:creationId xmlns:p14="http://schemas.microsoft.com/office/powerpoint/2010/main" val="40636198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E55B-97EB-B1F4-F710-288A5DAF34B2}"/>
              </a:ext>
            </a:extLst>
          </p:cNvPr>
          <p:cNvSpPr>
            <a:spLocks noGrp="1"/>
          </p:cNvSpPr>
          <p:nvPr>
            <p:ph type="title"/>
          </p:nvPr>
        </p:nvSpPr>
        <p:spPr/>
        <p:txBody>
          <a:bodyPr/>
          <a:lstStyle/>
          <a:p>
            <a:r>
              <a:rPr lang="en-US" dirty="0"/>
              <a:t>Categories of e-commerce</a:t>
            </a:r>
          </a:p>
        </p:txBody>
      </p:sp>
      <p:sp>
        <p:nvSpPr>
          <p:cNvPr id="3" name="Text Placeholder 2">
            <a:extLst>
              <a:ext uri="{FF2B5EF4-FFF2-40B4-BE49-F238E27FC236}">
                <a16:creationId xmlns:a16="http://schemas.microsoft.com/office/drawing/2014/main" id="{7CD03941-DACE-2D73-818F-EF76196C8B5F}"/>
              </a:ext>
            </a:extLst>
          </p:cNvPr>
          <p:cNvSpPr>
            <a:spLocks noGrp="1"/>
          </p:cNvSpPr>
          <p:nvPr>
            <p:ph type="body" sz="quarter" idx="13"/>
          </p:nvPr>
        </p:nvSpPr>
        <p:spPr/>
        <p:txBody>
          <a:bodyPr/>
          <a:lstStyle/>
          <a:p>
            <a:pPr marL="0" indent="0">
              <a:buNone/>
            </a:pPr>
            <a:r>
              <a:rPr lang="en-US" b="1" dirty="0">
                <a:solidFill>
                  <a:schemeClr val="accent4"/>
                </a:solidFill>
              </a:rPr>
              <a:t>Business-to-consumer (B2C)</a:t>
            </a:r>
          </a:p>
          <a:p>
            <a:r>
              <a:rPr lang="en-US" dirty="0"/>
              <a:t>Consumer shopping on the Web</a:t>
            </a:r>
          </a:p>
          <a:p>
            <a:r>
              <a:rPr lang="en-US" dirty="0"/>
              <a:t>Example: consumer buys books from Tiki</a:t>
            </a:r>
          </a:p>
          <a:p>
            <a:pPr lvl="1"/>
            <a:endParaRPr lang="en-US" dirty="0"/>
          </a:p>
          <a:p>
            <a:pPr lvl="1"/>
            <a:endParaRPr lang="en-US" dirty="0"/>
          </a:p>
          <a:p>
            <a:pPr lvl="1"/>
            <a:endParaRPr lang="en-US" dirty="0"/>
          </a:p>
        </p:txBody>
      </p:sp>
      <p:pic>
        <p:nvPicPr>
          <p:cNvPr id="3074" name="Picture 2" descr="Thương mại điện tử Tiki: Xây dựng nền tảng website eCommerce">
            <a:extLst>
              <a:ext uri="{FF2B5EF4-FFF2-40B4-BE49-F238E27FC236}">
                <a16:creationId xmlns:a16="http://schemas.microsoft.com/office/drawing/2014/main" id="{73C2C8DF-A8A6-9440-4997-75CFCDD1E5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52022" y="2895601"/>
            <a:ext cx="2381901" cy="158504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Facebook">
            <a:extLst>
              <a:ext uri="{FF2B5EF4-FFF2-40B4-BE49-F238E27FC236}">
                <a16:creationId xmlns:a16="http://schemas.microsoft.com/office/drawing/2014/main" id="{7A590A4C-E079-0F4C-6877-EBAB76E9793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8627" y="2703801"/>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Tìm hiểu cách đăng ký kinh doanh trên Lazada">
            <a:extLst>
              <a:ext uri="{FF2B5EF4-FFF2-40B4-BE49-F238E27FC236}">
                <a16:creationId xmlns:a16="http://schemas.microsoft.com/office/drawing/2014/main" id="{8ADFFAE3-1D02-AC49-CEAC-35A1DCD374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50930" y="2920873"/>
            <a:ext cx="2278640" cy="1559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748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E55B-97EB-B1F4-F710-288A5DAF34B2}"/>
              </a:ext>
            </a:extLst>
          </p:cNvPr>
          <p:cNvSpPr>
            <a:spLocks noGrp="1"/>
          </p:cNvSpPr>
          <p:nvPr>
            <p:ph type="title"/>
          </p:nvPr>
        </p:nvSpPr>
        <p:spPr/>
        <p:txBody>
          <a:bodyPr/>
          <a:lstStyle/>
          <a:p>
            <a:r>
              <a:rPr lang="en-US" dirty="0"/>
              <a:t>Categories of e-commerce</a:t>
            </a:r>
          </a:p>
        </p:txBody>
      </p:sp>
      <p:sp>
        <p:nvSpPr>
          <p:cNvPr id="3" name="Text Placeholder 2">
            <a:extLst>
              <a:ext uri="{FF2B5EF4-FFF2-40B4-BE49-F238E27FC236}">
                <a16:creationId xmlns:a16="http://schemas.microsoft.com/office/drawing/2014/main" id="{7CD03941-DACE-2D73-818F-EF76196C8B5F}"/>
              </a:ext>
            </a:extLst>
          </p:cNvPr>
          <p:cNvSpPr>
            <a:spLocks noGrp="1"/>
          </p:cNvSpPr>
          <p:nvPr>
            <p:ph type="body" sz="quarter" idx="13"/>
          </p:nvPr>
        </p:nvSpPr>
        <p:spPr/>
        <p:txBody>
          <a:bodyPr/>
          <a:lstStyle/>
          <a:p>
            <a:pPr marL="0" indent="0">
              <a:buNone/>
            </a:pPr>
            <a:r>
              <a:rPr lang="en-US" b="1" dirty="0">
                <a:solidFill>
                  <a:schemeClr val="accent4"/>
                </a:solidFill>
              </a:rPr>
              <a:t>Business-to-business (B2B)</a:t>
            </a:r>
          </a:p>
          <a:p>
            <a:r>
              <a:rPr lang="en-US" dirty="0"/>
              <a:t>Transactions conducted between businesses, such as between a manufacturer and a wholesaler, or between a wholesaler and a retailer</a:t>
            </a:r>
          </a:p>
          <a:p>
            <a:r>
              <a:rPr lang="en-US" dirty="0"/>
              <a:t>Example: Intel sells chips to other businesses</a:t>
            </a:r>
          </a:p>
          <a:p>
            <a:pPr lvl="1"/>
            <a:endParaRPr lang="en-US" dirty="0"/>
          </a:p>
          <a:p>
            <a:pPr lvl="1"/>
            <a:endParaRPr lang="en-US" dirty="0"/>
          </a:p>
          <a:p>
            <a:pPr lvl="1"/>
            <a:endParaRPr lang="en-US" dirty="0"/>
          </a:p>
        </p:txBody>
      </p:sp>
      <p:pic>
        <p:nvPicPr>
          <p:cNvPr id="6146" name="Picture 2">
            <a:extLst>
              <a:ext uri="{FF2B5EF4-FFF2-40B4-BE49-F238E27FC236}">
                <a16:creationId xmlns:a16="http://schemas.microsoft.com/office/drawing/2014/main" id="{E527F3C4-5EDF-7E3E-9A02-991DDD882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2507" y="3764152"/>
            <a:ext cx="2440420" cy="1610051"/>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827ABE3B-B385-1FBA-36CC-D454061F4C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57995" y="4158660"/>
            <a:ext cx="3856596" cy="821033"/>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Laptop HP có chất lượng không? Top 3 chiếc laptop HP tốt nhất hiện nay">
            <a:extLst>
              <a:ext uri="{FF2B5EF4-FFF2-40B4-BE49-F238E27FC236}">
                <a16:creationId xmlns:a16="http://schemas.microsoft.com/office/drawing/2014/main" id="{B371AB43-AB2B-44AD-696E-3597AD0BBF5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97444" y="3931688"/>
            <a:ext cx="2016657" cy="1274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28185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E55B-97EB-B1F4-F710-288A5DAF34B2}"/>
              </a:ext>
            </a:extLst>
          </p:cNvPr>
          <p:cNvSpPr>
            <a:spLocks noGrp="1"/>
          </p:cNvSpPr>
          <p:nvPr>
            <p:ph type="title"/>
          </p:nvPr>
        </p:nvSpPr>
        <p:spPr/>
        <p:txBody>
          <a:bodyPr/>
          <a:lstStyle/>
          <a:p>
            <a:r>
              <a:rPr lang="en-US" dirty="0"/>
              <a:t>Categories of e-commerce</a:t>
            </a:r>
          </a:p>
        </p:txBody>
      </p:sp>
      <p:sp>
        <p:nvSpPr>
          <p:cNvPr id="3" name="Text Placeholder 2">
            <a:extLst>
              <a:ext uri="{FF2B5EF4-FFF2-40B4-BE49-F238E27FC236}">
                <a16:creationId xmlns:a16="http://schemas.microsoft.com/office/drawing/2014/main" id="{7CD03941-DACE-2D73-818F-EF76196C8B5F}"/>
              </a:ext>
            </a:extLst>
          </p:cNvPr>
          <p:cNvSpPr>
            <a:spLocks noGrp="1"/>
          </p:cNvSpPr>
          <p:nvPr>
            <p:ph type="body" sz="quarter" idx="13"/>
          </p:nvPr>
        </p:nvSpPr>
        <p:spPr/>
        <p:txBody>
          <a:bodyPr/>
          <a:lstStyle/>
          <a:p>
            <a:pPr marL="0" indent="0">
              <a:buNone/>
            </a:pPr>
            <a:r>
              <a:rPr lang="en-US" b="1" dirty="0">
                <a:solidFill>
                  <a:schemeClr val="accent4"/>
                </a:solidFill>
              </a:rPr>
              <a:t>Consumer-to-consumer (C2C)</a:t>
            </a:r>
          </a:p>
          <a:p>
            <a:r>
              <a:rPr lang="en-US" dirty="0"/>
              <a:t>Individuals buying and selling among themselves</a:t>
            </a:r>
          </a:p>
          <a:p>
            <a:pPr lvl="1"/>
            <a:r>
              <a:rPr lang="en-US" dirty="0"/>
              <a:t>Web auction site</a:t>
            </a:r>
          </a:p>
          <a:p>
            <a:r>
              <a:rPr lang="en-US" dirty="0"/>
              <a:t>C2C included in B2C</a:t>
            </a:r>
          </a:p>
          <a:p>
            <a:pPr lvl="1"/>
            <a:r>
              <a:rPr lang="en-US" dirty="0"/>
              <a:t>Sellers act as businesses.</a:t>
            </a:r>
          </a:p>
          <a:p>
            <a:r>
              <a:rPr lang="en-US" dirty="0"/>
              <a:t>Example: Consumer selling an old phone to another consumer on </a:t>
            </a:r>
            <a:r>
              <a:rPr lang="en-US" dirty="0" err="1"/>
              <a:t>ChoTot</a:t>
            </a:r>
            <a:endParaRPr lang="en-US" dirty="0"/>
          </a:p>
          <a:p>
            <a:pPr lvl="1"/>
            <a:endParaRPr lang="en-US" dirty="0"/>
          </a:p>
          <a:p>
            <a:pPr lvl="1"/>
            <a:endParaRPr lang="en-US" dirty="0"/>
          </a:p>
          <a:p>
            <a:pPr lvl="1"/>
            <a:endParaRPr lang="en-US" dirty="0"/>
          </a:p>
          <a:p>
            <a:pPr lvl="1"/>
            <a:endParaRPr lang="en-US" dirty="0"/>
          </a:p>
        </p:txBody>
      </p:sp>
      <p:pic>
        <p:nvPicPr>
          <p:cNvPr id="7170" name="Picture 2" descr="Chợ Tốt - Website Mua Bán, Rao Vặt Trực Tuyến Hàng Đầu Của Người Việt">
            <a:extLst>
              <a:ext uri="{FF2B5EF4-FFF2-40B4-BE49-F238E27FC236}">
                <a16:creationId xmlns:a16="http://schemas.microsoft.com/office/drawing/2014/main" id="{1A5FF1CF-4D5D-7AFA-D972-24356B18665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8673" y="4292600"/>
            <a:ext cx="1335809" cy="1335809"/>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Ebay Thương Hiệu Trang Web - Miễn Phí vector hình ảnh trên Pixabay">
            <a:extLst>
              <a:ext uri="{FF2B5EF4-FFF2-40B4-BE49-F238E27FC236}">
                <a16:creationId xmlns:a16="http://schemas.microsoft.com/office/drawing/2014/main" id="{F191ECC1-32BF-7794-667E-C34770A826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5561" y="4427970"/>
            <a:ext cx="2400877" cy="12004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18218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64BF0F9-31DB-CEE1-AF07-A83774132B43}"/>
              </a:ext>
            </a:extLst>
          </p:cNvPr>
          <p:cNvPicPr>
            <a:picLocks noChangeAspect="1"/>
          </p:cNvPicPr>
          <p:nvPr/>
        </p:nvPicPr>
        <p:blipFill>
          <a:blip r:embed="rId3"/>
          <a:stretch>
            <a:fillRect/>
          </a:stretch>
        </p:blipFill>
        <p:spPr>
          <a:xfrm>
            <a:off x="96983" y="0"/>
            <a:ext cx="9587344" cy="6858000"/>
          </a:xfrm>
          <a:prstGeom prst="rect">
            <a:avLst/>
          </a:prstGeom>
        </p:spPr>
      </p:pic>
      <p:sp>
        <p:nvSpPr>
          <p:cNvPr id="7" name="Title 1">
            <a:extLst>
              <a:ext uri="{FF2B5EF4-FFF2-40B4-BE49-F238E27FC236}">
                <a16:creationId xmlns:a16="http://schemas.microsoft.com/office/drawing/2014/main" id="{100DAE23-B85C-3255-4E9C-4408FB25CDAB}"/>
              </a:ext>
            </a:extLst>
          </p:cNvPr>
          <p:cNvSpPr>
            <a:spLocks noGrp="1"/>
          </p:cNvSpPr>
          <p:nvPr>
            <p:ph type="title"/>
          </p:nvPr>
        </p:nvSpPr>
        <p:spPr>
          <a:xfrm>
            <a:off x="9534939" y="195515"/>
            <a:ext cx="2657061" cy="646332"/>
          </a:xfrm>
        </p:spPr>
        <p:txBody>
          <a:bodyPr/>
          <a:lstStyle/>
          <a:p>
            <a:pPr algn="ctr"/>
            <a:r>
              <a:rPr lang="en-US" sz="3000" dirty="0"/>
              <a:t>E-commerce </a:t>
            </a:r>
            <a:br>
              <a:rPr lang="en-US" sz="3000" dirty="0"/>
            </a:br>
            <a:r>
              <a:rPr lang="en-US" sz="3000" dirty="0"/>
              <a:t>categories</a:t>
            </a:r>
          </a:p>
        </p:txBody>
      </p:sp>
    </p:spTree>
    <p:extLst>
      <p:ext uri="{BB962C8B-B14F-4D97-AF65-F5344CB8AC3E}">
        <p14:creationId xmlns:p14="http://schemas.microsoft.com/office/powerpoint/2010/main" val="50190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E55B-97EB-B1F4-F710-288A5DAF34B2}"/>
              </a:ext>
            </a:extLst>
          </p:cNvPr>
          <p:cNvSpPr>
            <a:spLocks noGrp="1"/>
          </p:cNvSpPr>
          <p:nvPr>
            <p:ph type="title"/>
          </p:nvPr>
        </p:nvSpPr>
        <p:spPr/>
        <p:txBody>
          <a:bodyPr/>
          <a:lstStyle/>
          <a:p>
            <a:r>
              <a:rPr lang="en-US" dirty="0"/>
              <a:t>E-commerce categories</a:t>
            </a:r>
          </a:p>
        </p:txBody>
      </p:sp>
      <p:pic>
        <p:nvPicPr>
          <p:cNvPr id="4" name="Content Placeholder 6" descr="EC_percentile.bmp">
            <a:extLst>
              <a:ext uri="{FF2B5EF4-FFF2-40B4-BE49-F238E27FC236}">
                <a16:creationId xmlns:a16="http://schemas.microsoft.com/office/drawing/2014/main" id="{D8EC0370-139C-5B94-5525-EAC8A5B77FC1}"/>
              </a:ext>
            </a:extLst>
          </p:cNvPr>
          <p:cNvPicPr>
            <a:picLocks noChangeAspect="1"/>
          </p:cNvPicPr>
          <p:nvPr/>
        </p:nvPicPr>
        <p:blipFill>
          <a:blip r:embed="rId3" cstate="print"/>
          <a:stretch>
            <a:fillRect/>
          </a:stretch>
        </p:blipFill>
        <p:spPr>
          <a:xfrm>
            <a:off x="1669983" y="1200835"/>
            <a:ext cx="8316614" cy="4791363"/>
          </a:xfrm>
          <a:prstGeom prst="rect">
            <a:avLst/>
          </a:prstGeom>
        </p:spPr>
      </p:pic>
      <p:sp>
        <p:nvSpPr>
          <p:cNvPr id="5" name="TextBox 4">
            <a:extLst>
              <a:ext uri="{FF2B5EF4-FFF2-40B4-BE49-F238E27FC236}">
                <a16:creationId xmlns:a16="http://schemas.microsoft.com/office/drawing/2014/main" id="{EFAEEE52-9FDB-FA7D-42D0-0EEDA716452A}"/>
              </a:ext>
            </a:extLst>
          </p:cNvPr>
          <p:cNvSpPr txBox="1"/>
          <p:nvPr/>
        </p:nvSpPr>
        <p:spPr>
          <a:xfrm>
            <a:off x="0" y="5992198"/>
            <a:ext cx="11811000" cy="400110"/>
          </a:xfrm>
          <a:prstGeom prst="rect">
            <a:avLst/>
          </a:prstGeom>
          <a:noFill/>
        </p:spPr>
        <p:txBody>
          <a:bodyPr wrap="square" rtlCol="0">
            <a:spAutoFit/>
          </a:bodyPr>
          <a:lstStyle/>
          <a:p>
            <a:r>
              <a:rPr lang="en-US" sz="2000" i="0" dirty="0">
                <a:solidFill>
                  <a:schemeClr val="accent4"/>
                </a:solidFill>
                <a:effectLst/>
                <a:latin typeface="Franklin Gothic Book" panose="020B0503020102020204" pitchFamily="34" charset="0"/>
              </a:rPr>
              <a:t>Relative Size (in terms of dollar volume and number of transactions)</a:t>
            </a:r>
            <a:r>
              <a:rPr lang="en-US" sz="2000" dirty="0">
                <a:solidFill>
                  <a:schemeClr val="accent4"/>
                </a:solidFill>
                <a:latin typeface="Franklin Gothic Book" panose="020B0503020102020204" pitchFamily="34" charset="0"/>
              </a:rPr>
              <a:t>)</a:t>
            </a:r>
            <a:r>
              <a:rPr lang="en-US" sz="2000" i="0" dirty="0">
                <a:solidFill>
                  <a:schemeClr val="accent4"/>
                </a:solidFill>
                <a:effectLst/>
                <a:latin typeface="Franklin Gothic Book" panose="020B0503020102020204" pitchFamily="34" charset="0"/>
              </a:rPr>
              <a:t>of Electronic Commerce Elements</a:t>
            </a:r>
            <a:endParaRPr lang="en-US" sz="2000" dirty="0">
              <a:solidFill>
                <a:schemeClr val="accent4"/>
              </a:solidFill>
              <a:latin typeface="Franklin Gothic Book" panose="020B0503020102020204" pitchFamily="34" charset="0"/>
            </a:endParaRPr>
          </a:p>
        </p:txBody>
      </p:sp>
    </p:spTree>
    <p:extLst>
      <p:ext uri="{BB962C8B-B14F-4D97-AF65-F5344CB8AC3E}">
        <p14:creationId xmlns:p14="http://schemas.microsoft.com/office/powerpoint/2010/main" val="2562909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12630-95A0-C5E5-C9F3-44FD2621A2C4}"/>
              </a:ext>
            </a:extLst>
          </p:cNvPr>
          <p:cNvSpPr>
            <a:spLocks noGrp="1"/>
          </p:cNvSpPr>
          <p:nvPr>
            <p:ph type="title"/>
          </p:nvPr>
        </p:nvSpPr>
        <p:spPr/>
        <p:txBody>
          <a:bodyPr/>
          <a:lstStyle/>
          <a:p>
            <a:r>
              <a:rPr lang="en-US" dirty="0"/>
              <a:t>DISCUSSION</a:t>
            </a:r>
          </a:p>
        </p:txBody>
      </p:sp>
      <p:sp>
        <p:nvSpPr>
          <p:cNvPr id="3" name="Text Placeholder 2">
            <a:extLst>
              <a:ext uri="{FF2B5EF4-FFF2-40B4-BE49-F238E27FC236}">
                <a16:creationId xmlns:a16="http://schemas.microsoft.com/office/drawing/2014/main" id="{6B56B48F-0932-82E1-2DD5-CA0D7D91F1C0}"/>
              </a:ext>
            </a:extLst>
          </p:cNvPr>
          <p:cNvSpPr>
            <a:spLocks noGrp="1"/>
          </p:cNvSpPr>
          <p:nvPr>
            <p:ph type="body" sz="quarter" idx="11"/>
          </p:nvPr>
        </p:nvSpPr>
        <p:spPr/>
        <p:txBody>
          <a:bodyPr/>
          <a:lstStyle/>
          <a:p>
            <a:r>
              <a:rPr lang="en-US" dirty="0"/>
              <a:t>Compare B2B, B2C, C2C in term of:</a:t>
            </a:r>
          </a:p>
          <a:p>
            <a:pPr marL="285750" indent="-285750">
              <a:buFontTx/>
              <a:buChar char="-"/>
            </a:pPr>
            <a:r>
              <a:rPr lang="en-US" b="0" dirty="0"/>
              <a:t>Customer</a:t>
            </a:r>
          </a:p>
          <a:p>
            <a:pPr marL="285750" indent="-285750">
              <a:buFontTx/>
              <a:buChar char="-"/>
            </a:pPr>
            <a:r>
              <a:rPr lang="en-US" b="0" dirty="0"/>
              <a:t>Focus</a:t>
            </a:r>
          </a:p>
          <a:p>
            <a:pPr marL="285750" indent="-285750">
              <a:buFontTx/>
              <a:buChar char="-"/>
            </a:pPr>
            <a:r>
              <a:rPr lang="en-US" b="0" dirty="0"/>
              <a:t>Quantity of merchandise</a:t>
            </a:r>
          </a:p>
          <a:p>
            <a:pPr marL="285750" indent="-285750">
              <a:buFontTx/>
              <a:buChar char="-"/>
            </a:pPr>
            <a:r>
              <a:rPr lang="en-US" b="0" dirty="0"/>
              <a:t>Relationship</a:t>
            </a:r>
          </a:p>
          <a:p>
            <a:pPr marL="285750" indent="-285750">
              <a:buFontTx/>
              <a:buChar char="-"/>
            </a:pPr>
            <a:r>
              <a:rPr lang="en-US" b="0" dirty="0"/>
              <a:t>Relationship horizon</a:t>
            </a:r>
          </a:p>
          <a:p>
            <a:pPr marL="285750" indent="-285750">
              <a:buFontTx/>
              <a:buChar char="-"/>
            </a:pPr>
            <a:r>
              <a:rPr lang="en-US" b="0" dirty="0"/>
              <a:t>Buying and Selling cycle</a:t>
            </a:r>
          </a:p>
          <a:p>
            <a:pPr marL="285750" indent="-285750">
              <a:buFontTx/>
              <a:buChar char="-"/>
            </a:pPr>
            <a:r>
              <a:rPr lang="en-US" b="0" dirty="0"/>
              <a:t>Buying Decision</a:t>
            </a:r>
          </a:p>
          <a:p>
            <a:pPr marL="285750" indent="-285750">
              <a:buFontTx/>
              <a:buChar char="-"/>
            </a:pPr>
            <a:r>
              <a:rPr lang="en-US" b="0" dirty="0"/>
              <a:t>Creation of Brand Value</a:t>
            </a:r>
          </a:p>
        </p:txBody>
      </p:sp>
    </p:spTree>
    <p:extLst>
      <p:ext uri="{BB962C8B-B14F-4D97-AF65-F5344CB8AC3E}">
        <p14:creationId xmlns:p14="http://schemas.microsoft.com/office/powerpoint/2010/main" val="816909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AF43B-E3F4-19F0-8838-620DE8668025}"/>
              </a:ext>
            </a:extLst>
          </p:cNvPr>
          <p:cNvSpPr>
            <a:spLocks noGrp="1"/>
          </p:cNvSpPr>
          <p:nvPr>
            <p:ph type="title"/>
          </p:nvPr>
        </p:nvSpPr>
        <p:spPr/>
        <p:txBody>
          <a:bodyPr/>
          <a:lstStyle/>
          <a:p>
            <a:r>
              <a:rPr lang="en-US" dirty="0"/>
              <a:t>The growth of e-Commerce</a:t>
            </a:r>
          </a:p>
        </p:txBody>
      </p:sp>
      <p:sp>
        <p:nvSpPr>
          <p:cNvPr id="3" name="Text Placeholder 2">
            <a:extLst>
              <a:ext uri="{FF2B5EF4-FFF2-40B4-BE49-F238E27FC236}">
                <a16:creationId xmlns:a16="http://schemas.microsoft.com/office/drawing/2014/main" id="{06D4B973-D2C8-BA02-37EB-4BC6E733F7CC}"/>
              </a:ext>
            </a:extLst>
          </p:cNvPr>
          <p:cNvSpPr>
            <a:spLocks noGrp="1"/>
          </p:cNvSpPr>
          <p:nvPr>
            <p:ph type="body" sz="quarter" idx="13"/>
          </p:nvPr>
        </p:nvSpPr>
        <p:spPr/>
        <p:txBody>
          <a:bodyPr/>
          <a:lstStyle/>
          <a:p>
            <a:r>
              <a:rPr lang="en-US" dirty="0"/>
              <a:t>The First Wave of Electronic Commerce, 1995–2003</a:t>
            </a:r>
          </a:p>
          <a:p>
            <a:pPr lvl="1"/>
            <a:r>
              <a:rPr lang="en-US" dirty="0"/>
              <a:t>Mid 1990s-2000: e-commerce grew rapidly, more than 12,000 Internet-related businesses were started with more than $100 billion of investors’ money</a:t>
            </a:r>
          </a:p>
          <a:p>
            <a:pPr lvl="1"/>
            <a:r>
              <a:rPr lang="en-US" dirty="0"/>
              <a:t>2000-2003: dot com bust </a:t>
            </a:r>
          </a:p>
          <a:p>
            <a:pPr lvl="1"/>
            <a:r>
              <a:rPr lang="en-US" dirty="0"/>
              <a:t>News stories: death of e-commerce</a:t>
            </a:r>
          </a:p>
          <a:p>
            <a:pPr lvl="1"/>
            <a:r>
              <a:rPr lang="en-US" dirty="0"/>
              <a:t>Examples: Pets.com, Boo.com, Cisco, Amazon</a:t>
            </a:r>
          </a:p>
        </p:txBody>
      </p:sp>
    </p:spTree>
    <p:extLst>
      <p:ext uri="{BB962C8B-B14F-4D97-AF65-F5344CB8AC3E}">
        <p14:creationId xmlns:p14="http://schemas.microsoft.com/office/powerpoint/2010/main" val="2764770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AF43B-E3F4-19F0-8838-620DE8668025}"/>
              </a:ext>
            </a:extLst>
          </p:cNvPr>
          <p:cNvSpPr>
            <a:spLocks noGrp="1"/>
          </p:cNvSpPr>
          <p:nvPr>
            <p:ph type="title"/>
          </p:nvPr>
        </p:nvSpPr>
        <p:spPr/>
        <p:txBody>
          <a:bodyPr/>
          <a:lstStyle/>
          <a:p>
            <a:r>
              <a:rPr lang="en-US" dirty="0"/>
              <a:t>The growth of e-Commerce</a:t>
            </a:r>
          </a:p>
        </p:txBody>
      </p:sp>
      <p:sp>
        <p:nvSpPr>
          <p:cNvPr id="3" name="Text Placeholder 2">
            <a:extLst>
              <a:ext uri="{FF2B5EF4-FFF2-40B4-BE49-F238E27FC236}">
                <a16:creationId xmlns:a16="http://schemas.microsoft.com/office/drawing/2014/main" id="{06D4B973-D2C8-BA02-37EB-4BC6E733F7CC}"/>
              </a:ext>
            </a:extLst>
          </p:cNvPr>
          <p:cNvSpPr>
            <a:spLocks noGrp="1"/>
          </p:cNvSpPr>
          <p:nvPr>
            <p:ph type="body" sz="quarter" idx="13"/>
          </p:nvPr>
        </p:nvSpPr>
        <p:spPr/>
        <p:txBody>
          <a:bodyPr/>
          <a:lstStyle/>
          <a:p>
            <a:r>
              <a:rPr lang="en-US" dirty="0"/>
              <a:t>The Second Wave of Electronic Commerce, 2004–2009</a:t>
            </a:r>
          </a:p>
          <a:p>
            <a:pPr lvl="1"/>
            <a:r>
              <a:rPr lang="en-US" dirty="0"/>
              <a:t>From 2004, the number of U.S. homes with broadband connections began to increase rapidly. By 2009, those estimates were ranging between 70 and 80 percent. </a:t>
            </a:r>
          </a:p>
          <a:p>
            <a:pPr lvl="1"/>
            <a:r>
              <a:rPr lang="en-US" dirty="0"/>
              <a:t>The increased use of home Internet connections opens up more opportunities for businesses to make online sales.</a:t>
            </a:r>
          </a:p>
          <a:p>
            <a:r>
              <a:rPr lang="en-US" dirty="0"/>
              <a:t>The Third Wave of Electronic Commerce, 2010–Present</a:t>
            </a:r>
          </a:p>
          <a:p>
            <a:pPr lvl="1"/>
            <a:r>
              <a:rPr lang="en-US" dirty="0"/>
              <a:t>Mobile commerce: A critical mass of mobile users with powerful devices (smartphones and tablets)</a:t>
            </a:r>
          </a:p>
          <a:p>
            <a:pPr lvl="1"/>
            <a:r>
              <a:rPr lang="en-US" dirty="0"/>
              <a:t>Widespread social networking</a:t>
            </a:r>
            <a:br>
              <a:rPr lang="en-US" dirty="0"/>
            </a:br>
            <a:br>
              <a:rPr lang="en-US" dirty="0"/>
            </a:br>
            <a:endParaRPr lang="en-US" dirty="0"/>
          </a:p>
        </p:txBody>
      </p:sp>
    </p:spTree>
    <p:extLst>
      <p:ext uri="{BB962C8B-B14F-4D97-AF65-F5344CB8AC3E}">
        <p14:creationId xmlns:p14="http://schemas.microsoft.com/office/powerpoint/2010/main" val="168772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D1AD8-F598-D330-5EC7-65A17A56799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A9BC9A2-DB0E-958E-D1D9-999D4E9D1F83}"/>
              </a:ext>
            </a:extLst>
          </p:cNvPr>
          <p:cNvSpPr>
            <a:spLocks noGrp="1"/>
          </p:cNvSpPr>
          <p:nvPr>
            <p:ph type="body" sz="quarter" idx="13"/>
          </p:nvPr>
        </p:nvSpPr>
        <p:spPr/>
        <p:txBody>
          <a:bodyPr/>
          <a:lstStyle/>
          <a:p>
            <a:endParaRPr lang="en-US" dirty="0"/>
          </a:p>
        </p:txBody>
      </p:sp>
      <p:pic>
        <p:nvPicPr>
          <p:cNvPr id="5" name="Picture 4">
            <a:extLst>
              <a:ext uri="{FF2B5EF4-FFF2-40B4-BE49-F238E27FC236}">
                <a16:creationId xmlns:a16="http://schemas.microsoft.com/office/drawing/2014/main" id="{A7204ACC-D0D8-954C-EED1-89C4DE8C0ED8}"/>
              </a:ext>
            </a:extLst>
          </p:cNvPr>
          <p:cNvPicPr>
            <a:picLocks noChangeAspect="1"/>
          </p:cNvPicPr>
          <p:nvPr/>
        </p:nvPicPr>
        <p:blipFill>
          <a:blip r:embed="rId2"/>
          <a:stretch>
            <a:fillRect/>
          </a:stretch>
        </p:blipFill>
        <p:spPr>
          <a:xfrm>
            <a:off x="266247" y="0"/>
            <a:ext cx="11000509" cy="6858000"/>
          </a:xfrm>
          <a:prstGeom prst="rect">
            <a:avLst/>
          </a:prstGeom>
        </p:spPr>
      </p:pic>
    </p:spTree>
    <p:extLst>
      <p:ext uri="{BB962C8B-B14F-4D97-AF65-F5344CB8AC3E}">
        <p14:creationId xmlns:p14="http://schemas.microsoft.com/office/powerpoint/2010/main" val="2301993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0E55B-97EB-B1F4-F710-288A5DAF34B2}"/>
              </a:ext>
            </a:extLst>
          </p:cNvPr>
          <p:cNvSpPr>
            <a:spLocks noGrp="1"/>
          </p:cNvSpPr>
          <p:nvPr>
            <p:ph type="title"/>
          </p:nvPr>
        </p:nvSpPr>
        <p:spPr>
          <a:xfrm>
            <a:off x="596900" y="278642"/>
            <a:ext cx="10833101" cy="646332"/>
          </a:xfrm>
        </p:spPr>
        <p:txBody>
          <a:bodyPr/>
          <a:lstStyle/>
          <a:p>
            <a:r>
              <a:rPr lang="en-US" sz="3000" dirty="0"/>
              <a:t>Business Models, Revenue Models, &amp; Business Processes</a:t>
            </a:r>
          </a:p>
        </p:txBody>
      </p:sp>
      <p:sp>
        <p:nvSpPr>
          <p:cNvPr id="3" name="Text Placeholder 2">
            <a:extLst>
              <a:ext uri="{FF2B5EF4-FFF2-40B4-BE49-F238E27FC236}">
                <a16:creationId xmlns:a16="http://schemas.microsoft.com/office/drawing/2014/main" id="{7CD03941-DACE-2D73-818F-EF76196C8B5F}"/>
              </a:ext>
            </a:extLst>
          </p:cNvPr>
          <p:cNvSpPr>
            <a:spLocks noGrp="1"/>
          </p:cNvSpPr>
          <p:nvPr>
            <p:ph type="body" sz="quarter" idx="13"/>
          </p:nvPr>
        </p:nvSpPr>
        <p:spPr>
          <a:xfrm>
            <a:off x="596900" y="1064122"/>
            <a:ext cx="11239501" cy="5515235"/>
          </a:xfrm>
        </p:spPr>
        <p:txBody>
          <a:bodyPr/>
          <a:lstStyle/>
          <a:p>
            <a:r>
              <a:rPr lang="en-US" b="1" dirty="0">
                <a:solidFill>
                  <a:schemeClr val="accent4"/>
                </a:solidFill>
              </a:rPr>
              <a:t>Business model</a:t>
            </a:r>
            <a:r>
              <a:rPr lang="en-US" dirty="0"/>
              <a:t>: set of processes that combine to achieve a company’s primary goal</a:t>
            </a:r>
          </a:p>
          <a:p>
            <a:r>
              <a:rPr lang="en-US" b="1" dirty="0">
                <a:solidFill>
                  <a:schemeClr val="accent4"/>
                </a:solidFill>
              </a:rPr>
              <a:t>Business</a:t>
            </a:r>
            <a:r>
              <a:rPr lang="en-US" dirty="0">
                <a:solidFill>
                  <a:schemeClr val="accent4"/>
                </a:solidFill>
              </a:rPr>
              <a:t> </a:t>
            </a:r>
            <a:r>
              <a:rPr lang="en-US" b="1" dirty="0">
                <a:solidFill>
                  <a:schemeClr val="accent4"/>
                </a:solidFill>
              </a:rPr>
              <a:t>process</a:t>
            </a:r>
            <a:r>
              <a:rPr lang="en-US" dirty="0"/>
              <a:t>: collection of related activities to produce a specific service or product</a:t>
            </a:r>
          </a:p>
          <a:p>
            <a:pPr lvl="1"/>
            <a:r>
              <a:rPr lang="en-US" dirty="0"/>
              <a:t>Primary (core) processes: create value directly (purchasing, manufacturing, sales,...)</a:t>
            </a:r>
          </a:p>
          <a:p>
            <a:pPr lvl="1"/>
            <a:r>
              <a:rPr lang="en-US" dirty="0"/>
              <a:t>Supporting processes: support core processes (accounting, recruitment, technical support,...)</a:t>
            </a:r>
          </a:p>
          <a:p>
            <a:pPr lvl="1"/>
            <a:r>
              <a:rPr lang="en-US" dirty="0"/>
              <a:t>Instead of copying business models, a wiser approach is to improve/replace specific business processes</a:t>
            </a:r>
          </a:p>
          <a:p>
            <a:r>
              <a:rPr lang="en-US" b="1" dirty="0">
                <a:solidFill>
                  <a:schemeClr val="accent4"/>
                </a:solidFill>
              </a:rPr>
              <a:t>Revenue</a:t>
            </a:r>
            <a:r>
              <a:rPr lang="en-US" dirty="0"/>
              <a:t> </a:t>
            </a:r>
            <a:r>
              <a:rPr lang="en-US" b="1" dirty="0">
                <a:solidFill>
                  <a:schemeClr val="accent4"/>
                </a:solidFill>
              </a:rPr>
              <a:t>model</a:t>
            </a:r>
            <a:r>
              <a:rPr lang="en-US" dirty="0"/>
              <a:t>: a specific collection of business processes used to identify, market, and generate sales to customers.</a:t>
            </a:r>
          </a:p>
          <a:p>
            <a:endParaRPr lang="en-US" dirty="0"/>
          </a:p>
          <a:p>
            <a:endParaRPr lang="en-US" dirty="0"/>
          </a:p>
        </p:txBody>
      </p:sp>
    </p:spTree>
    <p:extLst>
      <p:ext uri="{BB962C8B-B14F-4D97-AF65-F5344CB8AC3E}">
        <p14:creationId xmlns:p14="http://schemas.microsoft.com/office/powerpoint/2010/main" val="2891040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BC4FC-EF5A-C66D-AC0A-8CF237EB623D}"/>
              </a:ext>
            </a:extLst>
          </p:cNvPr>
          <p:cNvSpPr>
            <a:spLocks noGrp="1"/>
          </p:cNvSpPr>
          <p:nvPr>
            <p:ph type="title"/>
          </p:nvPr>
        </p:nvSpPr>
        <p:spPr/>
        <p:txBody>
          <a:bodyPr/>
          <a:lstStyle/>
          <a:p>
            <a:r>
              <a:rPr lang="en-US" sz="3000" dirty="0"/>
              <a:t>Business process suitability to type of commerce</a:t>
            </a:r>
          </a:p>
        </p:txBody>
      </p:sp>
      <p:sp>
        <p:nvSpPr>
          <p:cNvPr id="3" name="Text Placeholder 2">
            <a:extLst>
              <a:ext uri="{FF2B5EF4-FFF2-40B4-BE49-F238E27FC236}">
                <a16:creationId xmlns:a16="http://schemas.microsoft.com/office/drawing/2014/main" id="{C4450664-1FD0-ED94-8EC0-145E5742940C}"/>
              </a:ext>
            </a:extLst>
          </p:cNvPr>
          <p:cNvSpPr>
            <a:spLocks noGrp="1"/>
          </p:cNvSpPr>
          <p:nvPr>
            <p:ph type="body" sz="quarter" idx="13"/>
          </p:nvPr>
        </p:nvSpPr>
        <p:spPr/>
        <p:txBody>
          <a:bodyPr/>
          <a:lstStyle/>
          <a:p>
            <a:endParaRPr lang="en-US" dirty="0"/>
          </a:p>
        </p:txBody>
      </p:sp>
      <p:pic>
        <p:nvPicPr>
          <p:cNvPr id="5" name="Picture 4">
            <a:extLst>
              <a:ext uri="{FF2B5EF4-FFF2-40B4-BE49-F238E27FC236}">
                <a16:creationId xmlns:a16="http://schemas.microsoft.com/office/drawing/2014/main" id="{EFE04951-CC06-653F-110D-3702E0708850}"/>
              </a:ext>
            </a:extLst>
          </p:cNvPr>
          <p:cNvPicPr>
            <a:picLocks noChangeAspect="1"/>
          </p:cNvPicPr>
          <p:nvPr/>
        </p:nvPicPr>
        <p:blipFill>
          <a:blip r:embed="rId3"/>
          <a:stretch>
            <a:fillRect/>
          </a:stretch>
        </p:blipFill>
        <p:spPr>
          <a:xfrm>
            <a:off x="911639" y="793719"/>
            <a:ext cx="9377362" cy="5410346"/>
          </a:xfrm>
          <a:prstGeom prst="rect">
            <a:avLst/>
          </a:prstGeom>
        </p:spPr>
      </p:pic>
    </p:spTree>
    <p:extLst>
      <p:ext uri="{BB962C8B-B14F-4D97-AF65-F5344CB8AC3E}">
        <p14:creationId xmlns:p14="http://schemas.microsoft.com/office/powerpoint/2010/main" val="21605528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7D05769-21F3-D36C-76BD-69901B37A9EE}"/>
              </a:ext>
            </a:extLst>
          </p:cNvPr>
          <p:cNvSpPr>
            <a:spLocks noGrp="1"/>
          </p:cNvSpPr>
          <p:nvPr>
            <p:ph type="body" sz="quarter" idx="13"/>
          </p:nvPr>
        </p:nvSpPr>
        <p:spPr>
          <a:xfrm>
            <a:off x="342900" y="378323"/>
            <a:ext cx="3266424" cy="4869538"/>
          </a:xfrm>
        </p:spPr>
        <p:txBody>
          <a:bodyPr/>
          <a:lstStyle/>
          <a:p>
            <a:pPr marL="0" indent="0">
              <a:buNone/>
            </a:pPr>
            <a:r>
              <a:rPr lang="en-US" dirty="0"/>
              <a:t>Value chain: a chain of activities for a firm operating in a specific industry</a:t>
            </a:r>
          </a:p>
          <a:p>
            <a:endParaRPr lang="en-US" dirty="0"/>
          </a:p>
        </p:txBody>
      </p:sp>
      <p:pic>
        <p:nvPicPr>
          <p:cNvPr id="5" name="Picture 4">
            <a:extLst>
              <a:ext uri="{FF2B5EF4-FFF2-40B4-BE49-F238E27FC236}">
                <a16:creationId xmlns:a16="http://schemas.microsoft.com/office/drawing/2014/main" id="{0443AF77-254A-5EC9-8B8E-0F71BB1D082D}"/>
              </a:ext>
            </a:extLst>
          </p:cNvPr>
          <p:cNvPicPr>
            <a:picLocks noChangeAspect="1"/>
          </p:cNvPicPr>
          <p:nvPr/>
        </p:nvPicPr>
        <p:blipFill>
          <a:blip r:embed="rId3"/>
          <a:stretch>
            <a:fillRect/>
          </a:stretch>
        </p:blipFill>
        <p:spPr>
          <a:xfrm>
            <a:off x="3749023" y="278642"/>
            <a:ext cx="8442978" cy="5817358"/>
          </a:xfrm>
          <a:prstGeom prst="rect">
            <a:avLst/>
          </a:prstGeom>
        </p:spPr>
      </p:pic>
    </p:spTree>
    <p:extLst>
      <p:ext uri="{BB962C8B-B14F-4D97-AF65-F5344CB8AC3E}">
        <p14:creationId xmlns:p14="http://schemas.microsoft.com/office/powerpoint/2010/main" val="188847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 chain</a:t>
            </a:r>
          </a:p>
        </p:txBody>
      </p:sp>
      <p:sp>
        <p:nvSpPr>
          <p:cNvPr id="3" name="Content Placeholder 2"/>
          <p:cNvSpPr>
            <a:spLocks noGrp="1"/>
          </p:cNvSpPr>
          <p:nvPr>
            <p:ph type="body" sz="quarter" idx="13"/>
          </p:nvPr>
        </p:nvSpPr>
        <p:spPr>
          <a:xfrm>
            <a:off x="695739" y="1064123"/>
            <a:ext cx="6629621" cy="4869538"/>
          </a:xfrm>
        </p:spPr>
        <p:txBody>
          <a:bodyPr/>
          <a:lstStyle/>
          <a:p>
            <a:r>
              <a:rPr lang="en-US" dirty="0"/>
              <a:t>Industry value chain: a chain of various processes that are involved in producing goods (and services), starting with raw materials and ending with the delivered product</a:t>
            </a:r>
          </a:p>
          <a:p>
            <a:r>
              <a:rPr lang="en-US" dirty="0"/>
              <a:t>SWOT (strengths, weaknesses, opportunities, threats) analysis</a:t>
            </a:r>
          </a:p>
          <a:p>
            <a:endParaRPr lang="en-US" dirty="0"/>
          </a:p>
        </p:txBody>
      </p:sp>
      <p:pic>
        <p:nvPicPr>
          <p:cNvPr id="6" name="Picture 5">
            <a:extLst>
              <a:ext uri="{FF2B5EF4-FFF2-40B4-BE49-F238E27FC236}">
                <a16:creationId xmlns:a16="http://schemas.microsoft.com/office/drawing/2014/main" id="{4FF2E3FB-92E9-B0EE-7939-EB253C709358}"/>
              </a:ext>
            </a:extLst>
          </p:cNvPr>
          <p:cNvPicPr>
            <a:picLocks noChangeAspect="1"/>
          </p:cNvPicPr>
          <p:nvPr/>
        </p:nvPicPr>
        <p:blipFill>
          <a:blip r:embed="rId3"/>
          <a:stretch>
            <a:fillRect/>
          </a:stretch>
        </p:blipFill>
        <p:spPr>
          <a:xfrm>
            <a:off x="7325360" y="0"/>
            <a:ext cx="3163993" cy="6413500"/>
          </a:xfrm>
          <a:prstGeom prst="rect">
            <a:avLst/>
          </a:prstGeom>
        </p:spPr>
      </p:pic>
    </p:spTree>
    <p:extLst>
      <p:ext uri="{BB962C8B-B14F-4D97-AF65-F5344CB8AC3E}">
        <p14:creationId xmlns:p14="http://schemas.microsoft.com/office/powerpoint/2010/main" val="706095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8800B-380B-2289-1237-7F0616DC1D50}"/>
              </a:ext>
            </a:extLst>
          </p:cNvPr>
          <p:cNvSpPr>
            <a:spLocks noGrp="1"/>
          </p:cNvSpPr>
          <p:nvPr>
            <p:ph type="title"/>
          </p:nvPr>
        </p:nvSpPr>
        <p:spPr>
          <a:xfrm>
            <a:off x="152400" y="715962"/>
            <a:ext cx="7391400" cy="2281238"/>
          </a:xfrm>
        </p:spPr>
        <p:txBody>
          <a:bodyPr/>
          <a:lstStyle/>
          <a:p>
            <a:pPr algn="ctr"/>
            <a:r>
              <a:rPr lang="en-US" u="sng" dirty="0">
                <a:solidFill>
                  <a:schemeClr val="bg1"/>
                </a:solidFill>
              </a:rPr>
              <a:t>DISCUSSION:</a:t>
            </a:r>
            <a:br>
              <a:rPr lang="en-US" dirty="0"/>
            </a:br>
            <a:br>
              <a:rPr lang="en-US" dirty="0"/>
            </a:br>
            <a:r>
              <a:rPr lang="en-US" dirty="0"/>
              <a:t>E-commerce: </a:t>
            </a:r>
            <a:br>
              <a:rPr lang="en-US" dirty="0"/>
            </a:br>
            <a:r>
              <a:rPr lang="en-US" dirty="0">
                <a:solidFill>
                  <a:srgbClr val="297C2A"/>
                </a:solidFill>
              </a:rPr>
              <a:t>Opportunities</a:t>
            </a:r>
            <a:r>
              <a:rPr lang="en-US" dirty="0"/>
              <a:t> and </a:t>
            </a:r>
            <a:r>
              <a:rPr lang="en-US" dirty="0">
                <a:solidFill>
                  <a:schemeClr val="accent4"/>
                </a:solidFill>
              </a:rPr>
              <a:t>Barriers</a:t>
            </a:r>
            <a:br>
              <a:rPr lang="en-US" dirty="0"/>
            </a:br>
            <a:br>
              <a:rPr lang="en-US" dirty="0"/>
            </a:br>
            <a:endParaRPr lang="en-US" dirty="0"/>
          </a:p>
        </p:txBody>
      </p:sp>
    </p:spTree>
    <p:extLst>
      <p:ext uri="{BB962C8B-B14F-4D97-AF65-F5344CB8AC3E}">
        <p14:creationId xmlns:p14="http://schemas.microsoft.com/office/powerpoint/2010/main" val="2282236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E-commerce: </a:t>
            </a:r>
            <a:r>
              <a:rPr lang="en-US" dirty="0">
                <a:solidFill>
                  <a:srgbClr val="297C2A"/>
                </a:solidFill>
              </a:rPr>
              <a:t>Opportunities</a:t>
            </a:r>
            <a:r>
              <a:rPr lang="en-US" dirty="0"/>
              <a:t> and </a:t>
            </a:r>
            <a:r>
              <a:rPr lang="en-US" dirty="0">
                <a:solidFill>
                  <a:schemeClr val="accent4"/>
                </a:solidFill>
              </a:rPr>
              <a:t>Barriers</a:t>
            </a:r>
            <a:endParaRPr lang="en-US" dirty="0"/>
          </a:p>
        </p:txBody>
      </p:sp>
      <p:sp>
        <p:nvSpPr>
          <p:cNvPr id="3" name="Content Placeholder 2"/>
          <p:cNvSpPr>
            <a:spLocks noGrp="1"/>
          </p:cNvSpPr>
          <p:nvPr>
            <p:ph type="body" sz="quarter" idx="13"/>
          </p:nvPr>
        </p:nvSpPr>
        <p:spPr/>
        <p:txBody>
          <a:bodyPr>
            <a:normAutofit lnSpcReduction="10000"/>
          </a:bodyPr>
          <a:lstStyle/>
          <a:p>
            <a:r>
              <a:rPr lang="en-US" b="1" dirty="0">
                <a:solidFill>
                  <a:srgbClr val="297C2A"/>
                </a:solidFill>
              </a:rPr>
              <a:t>Opportunities</a:t>
            </a:r>
          </a:p>
          <a:p>
            <a:pPr lvl="1"/>
            <a:r>
              <a:rPr lang="en-US" dirty="0"/>
              <a:t>Create virtual community</a:t>
            </a:r>
          </a:p>
          <a:p>
            <a:pPr lvl="1"/>
            <a:r>
              <a:rPr lang="en-US" dirty="0"/>
              <a:t>For sellers</a:t>
            </a:r>
          </a:p>
          <a:p>
            <a:pPr lvl="2"/>
            <a:r>
              <a:rPr lang="en-US" dirty="0"/>
              <a:t>Increase sales</a:t>
            </a:r>
          </a:p>
          <a:p>
            <a:pPr lvl="2"/>
            <a:r>
              <a:rPr lang="en-US" dirty="0"/>
              <a:t>Decrease cost</a:t>
            </a:r>
          </a:p>
          <a:p>
            <a:pPr lvl="2"/>
            <a:r>
              <a:rPr lang="en-US" dirty="0"/>
              <a:t>Increase reach and richness</a:t>
            </a:r>
          </a:p>
          <a:p>
            <a:pPr lvl="1"/>
            <a:r>
              <a:rPr lang="en-US" dirty="0"/>
              <a:t>For buyers</a:t>
            </a:r>
          </a:p>
          <a:p>
            <a:pPr lvl="2"/>
            <a:r>
              <a:rPr lang="en-US" dirty="0"/>
              <a:t>Increase purchasing opportunities</a:t>
            </a:r>
          </a:p>
          <a:p>
            <a:pPr lvl="2"/>
            <a:r>
              <a:rPr lang="en-US" dirty="0"/>
              <a:t>Identify new suppliers and business partners</a:t>
            </a:r>
          </a:p>
          <a:p>
            <a:pPr lvl="2"/>
            <a:r>
              <a:rPr lang="en-US" dirty="0"/>
              <a:t>Easier negotiating price and delivery terms</a:t>
            </a:r>
          </a:p>
          <a:p>
            <a:pPr lvl="2"/>
            <a:r>
              <a:rPr lang="en-US" dirty="0"/>
              <a:t>Increase speed, information exchange accuracy</a:t>
            </a:r>
          </a:p>
          <a:p>
            <a:pPr lvl="2"/>
            <a:r>
              <a:rPr lang="en-US" dirty="0"/>
              <a:t>Wider range of choices</a:t>
            </a:r>
          </a:p>
          <a:p>
            <a:endParaRPr lang="en-US" dirty="0"/>
          </a:p>
        </p:txBody>
      </p:sp>
    </p:spTree>
    <p:extLst>
      <p:ext uri="{BB962C8B-B14F-4D97-AF65-F5344CB8AC3E}">
        <p14:creationId xmlns:p14="http://schemas.microsoft.com/office/powerpoint/2010/main" val="4215039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E-commerce: </a:t>
            </a:r>
            <a:r>
              <a:rPr lang="en-US" dirty="0">
                <a:solidFill>
                  <a:srgbClr val="297C2A"/>
                </a:solidFill>
              </a:rPr>
              <a:t>Opportunities</a:t>
            </a:r>
            <a:r>
              <a:rPr lang="en-US" dirty="0"/>
              <a:t> and </a:t>
            </a:r>
            <a:r>
              <a:rPr lang="en-US" dirty="0">
                <a:solidFill>
                  <a:schemeClr val="accent4"/>
                </a:solidFill>
              </a:rPr>
              <a:t>Barriers</a:t>
            </a:r>
            <a:endParaRPr lang="en-US" dirty="0"/>
          </a:p>
        </p:txBody>
      </p:sp>
      <p:sp>
        <p:nvSpPr>
          <p:cNvPr id="3" name="Content Placeholder 2"/>
          <p:cNvSpPr>
            <a:spLocks noGrp="1"/>
          </p:cNvSpPr>
          <p:nvPr>
            <p:ph type="body" sz="quarter" idx="13"/>
          </p:nvPr>
        </p:nvSpPr>
        <p:spPr/>
        <p:txBody>
          <a:bodyPr/>
          <a:lstStyle/>
          <a:p>
            <a:r>
              <a:rPr lang="en-US" b="1" dirty="0">
                <a:solidFill>
                  <a:srgbClr val="297C2A"/>
                </a:solidFill>
              </a:rPr>
              <a:t>Opportunities</a:t>
            </a:r>
            <a:endParaRPr lang="en-US" dirty="0"/>
          </a:p>
          <a:p>
            <a:pPr lvl="1"/>
            <a:r>
              <a:rPr lang="en-US" dirty="0"/>
              <a:t>For society</a:t>
            </a:r>
          </a:p>
          <a:p>
            <a:pPr lvl="2"/>
            <a:r>
              <a:rPr lang="en-US" dirty="0"/>
              <a:t>Lower costs to issue:</a:t>
            </a:r>
          </a:p>
          <a:p>
            <a:pPr lvl="3"/>
            <a:r>
              <a:rPr lang="en-US" dirty="0"/>
              <a:t>Electronic payments of tax refunds</a:t>
            </a:r>
          </a:p>
          <a:p>
            <a:pPr lvl="3"/>
            <a:r>
              <a:rPr lang="en-US" dirty="0"/>
              <a:t>Public retirement</a:t>
            </a:r>
          </a:p>
          <a:p>
            <a:pPr lvl="3"/>
            <a:r>
              <a:rPr lang="en-US" dirty="0"/>
              <a:t>Welfare support</a:t>
            </a:r>
          </a:p>
          <a:p>
            <a:pPr lvl="2"/>
            <a:r>
              <a:rPr lang="en-US" dirty="0"/>
              <a:t>Secure and quick Internet transmission</a:t>
            </a:r>
          </a:p>
          <a:p>
            <a:pPr lvl="2"/>
            <a:r>
              <a:rPr lang="en-US" dirty="0"/>
              <a:t>Fraud, theft loss protection</a:t>
            </a:r>
          </a:p>
          <a:p>
            <a:pPr lvl="2"/>
            <a:r>
              <a:rPr lang="en-US" dirty="0"/>
              <a:t>Electronic payments easier to audit and monitor</a:t>
            </a:r>
          </a:p>
          <a:p>
            <a:pPr lvl="2"/>
            <a:r>
              <a:rPr lang="en-US" dirty="0"/>
              <a:t>Reduced commuter-caused traffic, pollution due to telecommuting</a:t>
            </a:r>
          </a:p>
          <a:p>
            <a:pPr lvl="2"/>
            <a:r>
              <a:rPr lang="en-US" dirty="0"/>
              <a:t>Products and services available in remote areas</a:t>
            </a:r>
          </a:p>
          <a:p>
            <a:endParaRPr lang="en-US" dirty="0"/>
          </a:p>
        </p:txBody>
      </p:sp>
    </p:spTree>
    <p:extLst>
      <p:ext uri="{BB962C8B-B14F-4D97-AF65-F5344CB8AC3E}">
        <p14:creationId xmlns:p14="http://schemas.microsoft.com/office/powerpoint/2010/main" val="1891233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E-commerce: </a:t>
            </a:r>
            <a:r>
              <a:rPr lang="en-US" dirty="0">
                <a:solidFill>
                  <a:srgbClr val="297C2A"/>
                </a:solidFill>
              </a:rPr>
              <a:t>Opportunities</a:t>
            </a:r>
            <a:r>
              <a:rPr lang="en-US" dirty="0"/>
              <a:t> and </a:t>
            </a:r>
            <a:r>
              <a:rPr lang="en-US" dirty="0">
                <a:solidFill>
                  <a:schemeClr val="accent4"/>
                </a:solidFill>
              </a:rPr>
              <a:t>Barriers</a:t>
            </a:r>
            <a:endParaRPr lang="en-US" dirty="0"/>
          </a:p>
        </p:txBody>
      </p:sp>
      <p:sp>
        <p:nvSpPr>
          <p:cNvPr id="3" name="Content Placeholder 2"/>
          <p:cNvSpPr>
            <a:spLocks noGrp="1"/>
          </p:cNvSpPr>
          <p:nvPr>
            <p:ph type="body" sz="quarter" idx="13"/>
          </p:nvPr>
        </p:nvSpPr>
        <p:spPr/>
        <p:txBody>
          <a:bodyPr/>
          <a:lstStyle/>
          <a:p>
            <a:r>
              <a:rPr lang="en-US" dirty="0">
                <a:solidFill>
                  <a:schemeClr val="accent4"/>
                </a:solidFill>
              </a:rPr>
              <a:t>Barriers </a:t>
            </a:r>
          </a:p>
          <a:p>
            <a:pPr lvl="1"/>
            <a:r>
              <a:rPr lang="en-US" dirty="0"/>
              <a:t>Not all products &amp; services suitable for e-commerce</a:t>
            </a:r>
          </a:p>
          <a:p>
            <a:pPr lvl="1"/>
            <a:r>
              <a:rPr lang="en-US" dirty="0"/>
              <a:t>Technology and software issues</a:t>
            </a:r>
          </a:p>
          <a:p>
            <a:pPr lvl="1"/>
            <a:r>
              <a:rPr lang="en-US" dirty="0"/>
              <a:t>Consumers resistant to change</a:t>
            </a:r>
          </a:p>
          <a:p>
            <a:pPr lvl="1"/>
            <a:r>
              <a:rPr lang="en-US" dirty="0"/>
              <a:t>Cultural differences</a:t>
            </a:r>
          </a:p>
          <a:p>
            <a:pPr lvl="1"/>
            <a:r>
              <a:rPr lang="en-US" dirty="0"/>
              <a:t>Conflicting laws</a:t>
            </a:r>
          </a:p>
          <a:p>
            <a:r>
              <a:rPr lang="en-US" dirty="0"/>
              <a:t>These </a:t>
            </a:r>
            <a:r>
              <a:rPr lang="en-US" dirty="0">
                <a:solidFill>
                  <a:schemeClr val="accent4"/>
                </a:solidFill>
              </a:rPr>
              <a:t>barriers</a:t>
            </a:r>
            <a:r>
              <a:rPr lang="en-US" dirty="0"/>
              <a:t> will disappear when</a:t>
            </a:r>
          </a:p>
          <a:p>
            <a:pPr lvl="1"/>
            <a:r>
              <a:rPr lang="en-US" dirty="0"/>
              <a:t>Advancing of technologies</a:t>
            </a:r>
          </a:p>
          <a:p>
            <a:pPr lvl="1"/>
            <a:r>
              <a:rPr lang="en-US" dirty="0"/>
              <a:t>Buyers willing to buy through the Internet</a:t>
            </a:r>
          </a:p>
        </p:txBody>
      </p:sp>
    </p:spTree>
    <p:extLst>
      <p:ext uri="{BB962C8B-B14F-4D97-AF65-F5344CB8AC3E}">
        <p14:creationId xmlns:p14="http://schemas.microsoft.com/office/powerpoint/2010/main" val="22455414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Economics and e-commerce</a:t>
            </a:r>
          </a:p>
        </p:txBody>
      </p:sp>
      <p:sp>
        <p:nvSpPr>
          <p:cNvPr id="3" name="Content Placeholder 2"/>
          <p:cNvSpPr>
            <a:spLocks noGrp="1"/>
          </p:cNvSpPr>
          <p:nvPr>
            <p:ph type="body" sz="quarter" idx="13"/>
          </p:nvPr>
        </p:nvSpPr>
        <p:spPr/>
        <p:txBody>
          <a:bodyPr/>
          <a:lstStyle/>
          <a:p>
            <a:r>
              <a:rPr lang="en-US" dirty="0"/>
              <a:t>Economics: study of how people allocate scarce resources</a:t>
            </a:r>
          </a:p>
          <a:p>
            <a:r>
              <a:rPr lang="en-US" dirty="0"/>
              <a:t>One way people do this is to participate in markets</a:t>
            </a:r>
          </a:p>
          <a:p>
            <a:r>
              <a:rPr lang="en-US" dirty="0"/>
              <a:t>Most economists agree that markets are strong and effective mechanisms for allocating scarce resources</a:t>
            </a:r>
          </a:p>
          <a:p>
            <a:r>
              <a:rPr lang="en-US" dirty="0"/>
              <a:t>Transaction cost: total cost of a transaction</a:t>
            </a:r>
          </a:p>
          <a:p>
            <a:endParaRPr lang="en-US" dirty="0"/>
          </a:p>
        </p:txBody>
      </p:sp>
    </p:spTree>
    <p:extLst>
      <p:ext uri="{BB962C8B-B14F-4D97-AF65-F5344CB8AC3E}">
        <p14:creationId xmlns:p14="http://schemas.microsoft.com/office/powerpoint/2010/main" val="32126663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Economics and e-commerce</a:t>
            </a:r>
          </a:p>
        </p:txBody>
      </p:sp>
      <p:sp>
        <p:nvSpPr>
          <p:cNvPr id="3" name="Content Placeholder 2"/>
          <p:cNvSpPr>
            <a:spLocks noGrp="1"/>
          </p:cNvSpPr>
          <p:nvPr>
            <p:ph idx="1"/>
          </p:nvPr>
        </p:nvSpPr>
        <p:spPr>
          <a:xfrm>
            <a:off x="5715000" y="1295400"/>
            <a:ext cx="5422900" cy="584775"/>
          </a:xfrm>
        </p:spPr>
        <p:txBody>
          <a:bodyPr/>
          <a:lstStyle/>
          <a:p>
            <a:r>
              <a:rPr lang="en-US" sz="2400" dirty="0"/>
              <a:t>How companies are formed?</a:t>
            </a:r>
          </a:p>
          <a:p>
            <a:endParaRPr lang="en-US" dirty="0"/>
          </a:p>
        </p:txBody>
      </p:sp>
      <p:pic>
        <p:nvPicPr>
          <p:cNvPr id="4" name="Content Placeholder 5" descr="transaction_cost.bmp"/>
          <p:cNvPicPr>
            <a:picLocks noChangeAspect="1"/>
          </p:cNvPicPr>
          <p:nvPr/>
        </p:nvPicPr>
        <p:blipFill>
          <a:blip r:embed="rId3" cstate="print"/>
          <a:stretch>
            <a:fillRect/>
          </a:stretch>
        </p:blipFill>
        <p:spPr>
          <a:xfrm>
            <a:off x="876301" y="978125"/>
            <a:ext cx="3678091" cy="4901750"/>
          </a:xfrm>
          <a:prstGeom prst="rect">
            <a:avLst/>
          </a:prstGeom>
        </p:spPr>
      </p:pic>
      <p:pic>
        <p:nvPicPr>
          <p:cNvPr id="5" name="Picture 4" descr="company.bmp"/>
          <p:cNvPicPr>
            <a:picLocks noChangeAspect="1"/>
          </p:cNvPicPr>
          <p:nvPr/>
        </p:nvPicPr>
        <p:blipFill>
          <a:blip r:embed="rId4" cstate="print"/>
          <a:stretch>
            <a:fillRect/>
          </a:stretch>
        </p:blipFill>
        <p:spPr>
          <a:xfrm>
            <a:off x="5851272" y="1908190"/>
            <a:ext cx="5654927" cy="3654410"/>
          </a:xfrm>
          <a:prstGeom prst="rect">
            <a:avLst/>
          </a:prstGeom>
        </p:spPr>
      </p:pic>
      <p:sp>
        <p:nvSpPr>
          <p:cNvPr id="7" name="TextBox 6">
            <a:extLst>
              <a:ext uri="{FF2B5EF4-FFF2-40B4-BE49-F238E27FC236}">
                <a16:creationId xmlns:a16="http://schemas.microsoft.com/office/drawing/2014/main" id="{E15E9A60-1E68-2C40-9094-C7F961EEC244}"/>
              </a:ext>
            </a:extLst>
          </p:cNvPr>
          <p:cNvSpPr txBox="1"/>
          <p:nvPr/>
        </p:nvSpPr>
        <p:spPr>
          <a:xfrm>
            <a:off x="7477016" y="1"/>
            <a:ext cx="2739853" cy="584775"/>
          </a:xfrm>
          <a:prstGeom prst="rect">
            <a:avLst/>
          </a:prstGeom>
          <a:noFill/>
        </p:spPr>
        <p:txBody>
          <a:bodyPr wrap="none" rtlCol="0">
            <a:spAutoFit/>
          </a:bodyPr>
          <a:lstStyle/>
          <a:p>
            <a:r>
              <a:rPr lang="en-US" sz="3200" b="1" dirty="0">
                <a:solidFill>
                  <a:srgbClr val="FF0000"/>
                </a:solidFill>
              </a:rPr>
              <a:t>DISCUSSION</a:t>
            </a:r>
          </a:p>
        </p:txBody>
      </p:sp>
    </p:spTree>
    <p:extLst>
      <p:ext uri="{BB962C8B-B14F-4D97-AF65-F5344CB8AC3E}">
        <p14:creationId xmlns:p14="http://schemas.microsoft.com/office/powerpoint/2010/main" val="29791353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Economics and e-commerce</a:t>
            </a:r>
          </a:p>
        </p:txBody>
      </p:sp>
      <p:sp>
        <p:nvSpPr>
          <p:cNvPr id="3" name="Content Placeholder 2"/>
          <p:cNvSpPr>
            <a:spLocks noGrp="1"/>
          </p:cNvSpPr>
          <p:nvPr>
            <p:ph type="body" sz="quarter" idx="13"/>
          </p:nvPr>
        </p:nvSpPr>
        <p:spPr/>
        <p:txBody>
          <a:bodyPr/>
          <a:lstStyle/>
          <a:p>
            <a:r>
              <a:rPr lang="en-US" dirty="0"/>
              <a:t>Agency cost: the cost of using an agency</a:t>
            </a:r>
          </a:p>
          <a:p>
            <a:r>
              <a:rPr lang="en-US" dirty="0"/>
              <a:t>Two components:</a:t>
            </a:r>
          </a:p>
          <a:p>
            <a:pPr lvl="1"/>
            <a:r>
              <a:rPr lang="en-US" sz="1800" dirty="0"/>
              <a:t>The costs inherently associated with using an agent</a:t>
            </a:r>
          </a:p>
          <a:p>
            <a:pPr lvl="1"/>
            <a:r>
              <a:rPr lang="en-US" sz="1800" dirty="0"/>
              <a:t>The costs of techniques used to mitigate the problems associated with using an agent</a:t>
            </a:r>
          </a:p>
          <a:p>
            <a:r>
              <a:rPr lang="en-US" dirty="0"/>
              <a:t>Using e-commerce to reduce transaction cost and agency costs</a:t>
            </a:r>
          </a:p>
        </p:txBody>
      </p:sp>
      <p:sp>
        <p:nvSpPr>
          <p:cNvPr id="4" name="TextBox 3">
            <a:extLst>
              <a:ext uri="{FF2B5EF4-FFF2-40B4-BE49-F238E27FC236}">
                <a16:creationId xmlns:a16="http://schemas.microsoft.com/office/drawing/2014/main" id="{3DB91BCC-170E-934C-A8F5-5F2AAD911E6A}"/>
              </a:ext>
            </a:extLst>
          </p:cNvPr>
          <p:cNvSpPr txBox="1"/>
          <p:nvPr/>
        </p:nvSpPr>
        <p:spPr>
          <a:xfrm>
            <a:off x="7477016" y="1"/>
            <a:ext cx="2739853" cy="584775"/>
          </a:xfrm>
          <a:prstGeom prst="rect">
            <a:avLst/>
          </a:prstGeom>
          <a:noFill/>
        </p:spPr>
        <p:txBody>
          <a:bodyPr wrap="none" rtlCol="0">
            <a:spAutoFit/>
          </a:bodyPr>
          <a:lstStyle/>
          <a:p>
            <a:r>
              <a:rPr lang="en-US" sz="3200" b="1" dirty="0">
                <a:solidFill>
                  <a:srgbClr val="FF0000"/>
                </a:solidFill>
              </a:rPr>
              <a:t>DISCUSSION</a:t>
            </a:r>
          </a:p>
        </p:txBody>
      </p:sp>
    </p:spTree>
    <p:extLst>
      <p:ext uri="{BB962C8B-B14F-4D97-AF65-F5344CB8AC3E}">
        <p14:creationId xmlns:p14="http://schemas.microsoft.com/office/powerpoint/2010/main" val="15319173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Economics and e-commerce</a:t>
            </a:r>
          </a:p>
        </p:txBody>
      </p:sp>
      <p:sp>
        <p:nvSpPr>
          <p:cNvPr id="3" name="Content Placeholder 2"/>
          <p:cNvSpPr>
            <a:spLocks noGrp="1"/>
          </p:cNvSpPr>
          <p:nvPr>
            <p:ph type="body" sz="quarter" idx="13"/>
          </p:nvPr>
        </p:nvSpPr>
        <p:spPr/>
        <p:txBody>
          <a:bodyPr/>
          <a:lstStyle/>
          <a:p>
            <a:r>
              <a:rPr lang="en-US" dirty="0"/>
              <a:t>Law of diminishing returns: in all productive processes, adding more of one factor of production, while holding all others constant, will at some point yield lower per-unit returns</a:t>
            </a:r>
          </a:p>
          <a:p>
            <a:r>
              <a:rPr lang="en-US" dirty="0"/>
              <a:t>Network effect: more people or organizations participate in a network, the value of the network to each participant increases</a:t>
            </a:r>
          </a:p>
          <a:p>
            <a:r>
              <a:rPr lang="en-US" dirty="0"/>
              <a:t>E-commerce can be used to create network effect</a:t>
            </a:r>
          </a:p>
        </p:txBody>
      </p:sp>
    </p:spTree>
    <p:extLst>
      <p:ext uri="{BB962C8B-B14F-4D97-AF65-F5344CB8AC3E}">
        <p14:creationId xmlns:p14="http://schemas.microsoft.com/office/powerpoint/2010/main" val="2775985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International nature</a:t>
            </a:r>
          </a:p>
        </p:txBody>
      </p:sp>
      <p:sp>
        <p:nvSpPr>
          <p:cNvPr id="3" name="Content Placeholder 2"/>
          <p:cNvSpPr>
            <a:spLocks noGrp="1"/>
          </p:cNvSpPr>
          <p:nvPr>
            <p:ph type="body" sz="quarter" idx="13"/>
          </p:nvPr>
        </p:nvSpPr>
        <p:spPr/>
        <p:txBody>
          <a:bodyPr/>
          <a:lstStyle/>
          <a:p>
            <a:r>
              <a:rPr lang="en-US" dirty="0"/>
              <a:t>Internet connects computers worldwide</a:t>
            </a:r>
          </a:p>
          <a:p>
            <a:r>
              <a:rPr lang="en-US" dirty="0"/>
              <a:t>When companies use Web to improve business process they automatically operate in global environment</a:t>
            </a:r>
          </a:p>
          <a:p>
            <a:r>
              <a:rPr lang="en-US" dirty="0"/>
              <a:t>Key issues</a:t>
            </a:r>
          </a:p>
          <a:p>
            <a:pPr lvl="1"/>
            <a:r>
              <a:rPr lang="en-US" dirty="0"/>
              <a:t>Trust</a:t>
            </a:r>
          </a:p>
        </p:txBody>
      </p:sp>
      <p:pic>
        <p:nvPicPr>
          <p:cNvPr id="4" name="Picture 3" descr="trust.bmp"/>
          <p:cNvPicPr>
            <a:picLocks noChangeAspect="1"/>
          </p:cNvPicPr>
          <p:nvPr/>
        </p:nvPicPr>
        <p:blipFill>
          <a:blip r:embed="rId3" cstate="print"/>
          <a:stretch>
            <a:fillRect/>
          </a:stretch>
        </p:blipFill>
        <p:spPr>
          <a:xfrm>
            <a:off x="5562600" y="3352800"/>
            <a:ext cx="3124200" cy="3260330"/>
          </a:xfrm>
          <a:prstGeom prst="rect">
            <a:avLst/>
          </a:prstGeom>
        </p:spPr>
      </p:pic>
    </p:spTree>
    <p:extLst>
      <p:ext uri="{BB962C8B-B14F-4D97-AF65-F5344CB8AC3E}">
        <p14:creationId xmlns:p14="http://schemas.microsoft.com/office/powerpoint/2010/main" val="5973997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International nature</a:t>
            </a:r>
          </a:p>
        </p:txBody>
      </p:sp>
      <p:sp>
        <p:nvSpPr>
          <p:cNvPr id="3" name="Content Placeholder 2"/>
          <p:cNvSpPr>
            <a:spLocks noGrp="1"/>
          </p:cNvSpPr>
          <p:nvPr>
            <p:ph type="body" sz="quarter" idx="13"/>
          </p:nvPr>
        </p:nvSpPr>
        <p:spPr/>
        <p:txBody>
          <a:bodyPr/>
          <a:lstStyle/>
          <a:p>
            <a:r>
              <a:rPr lang="en-US" dirty="0"/>
              <a:t>Key issues</a:t>
            </a:r>
          </a:p>
          <a:p>
            <a:pPr lvl="1"/>
            <a:r>
              <a:rPr lang="en-US" dirty="0"/>
              <a:t>Languages</a:t>
            </a:r>
          </a:p>
          <a:p>
            <a:pPr lvl="1"/>
            <a:r>
              <a:rPr lang="en-US" dirty="0"/>
              <a:t>Culture</a:t>
            </a:r>
          </a:p>
          <a:p>
            <a:pPr lvl="1"/>
            <a:r>
              <a:rPr lang="en-US" dirty="0"/>
              <a:t>Government</a:t>
            </a:r>
          </a:p>
          <a:p>
            <a:pPr lvl="1"/>
            <a:r>
              <a:rPr lang="en-US" dirty="0"/>
              <a:t>Infrastructure</a:t>
            </a:r>
          </a:p>
          <a:p>
            <a:pPr lvl="1"/>
            <a:endParaRPr lang="en-US" dirty="0"/>
          </a:p>
          <a:p>
            <a:endParaRPr lang="en-US" dirty="0"/>
          </a:p>
        </p:txBody>
      </p:sp>
      <p:pic>
        <p:nvPicPr>
          <p:cNvPr id="4" name="Picture 3" descr="international_order.bmp"/>
          <p:cNvPicPr>
            <a:picLocks noChangeAspect="1"/>
          </p:cNvPicPr>
          <p:nvPr/>
        </p:nvPicPr>
        <p:blipFill>
          <a:blip r:embed="rId3" cstate="print"/>
          <a:stretch>
            <a:fillRect/>
          </a:stretch>
        </p:blipFill>
        <p:spPr>
          <a:xfrm>
            <a:off x="5613400" y="136051"/>
            <a:ext cx="6477000" cy="6207635"/>
          </a:xfrm>
          <a:prstGeom prst="rect">
            <a:avLst/>
          </a:prstGeom>
        </p:spPr>
      </p:pic>
    </p:spTree>
    <p:extLst>
      <p:ext uri="{BB962C8B-B14F-4D97-AF65-F5344CB8AC3E}">
        <p14:creationId xmlns:p14="http://schemas.microsoft.com/office/powerpoint/2010/main" val="3764412818"/>
      </p:ext>
    </p:extLst>
  </p:cSld>
  <p:clrMapOvr>
    <a:masterClrMapping/>
  </p:clrMapOvr>
</p:sld>
</file>

<file path=ppt/theme/theme1.xml><?xml version="1.0" encoding="utf-8"?>
<a:theme xmlns:a="http://schemas.openxmlformats.org/drawingml/2006/main" name="Office Theme">
  <a:themeElements>
    <a:clrScheme name="Custom 117">
      <a:dk1>
        <a:sysClr val="windowText" lastClr="000000"/>
      </a:dk1>
      <a:lt1>
        <a:sysClr val="window" lastClr="FFFFFF"/>
      </a:lt1>
      <a:dk2>
        <a:srgbClr val="44546A"/>
      </a:dk2>
      <a:lt2>
        <a:srgbClr val="E7E6E6"/>
      </a:lt2>
      <a:accent1>
        <a:srgbClr val="E23042"/>
      </a:accent1>
      <a:accent2>
        <a:srgbClr val="3578AF"/>
      </a:accent2>
      <a:accent3>
        <a:srgbClr val="C4C4C4"/>
      </a:accent3>
      <a:accent4>
        <a:srgbClr val="A80B22"/>
      </a:accent4>
      <a:accent5>
        <a:srgbClr val="E2E2E2"/>
      </a:accent5>
      <a:accent6>
        <a:srgbClr val="2A6187"/>
      </a:accent6>
      <a:hlink>
        <a:srgbClr val="0563C1"/>
      </a:hlink>
      <a:folHlink>
        <a:srgbClr val="954F72"/>
      </a:folHlink>
    </a:clrScheme>
    <a:fontScheme name="Custom 8">
      <a:majorFont>
        <a:latin typeface="Segoe UI"/>
        <a:ea typeface=""/>
        <a:cs typeface=""/>
      </a:majorFont>
      <a:minorFont>
        <a:latin typeface="Segoe UI"/>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ewish American Heritage Month_Win32_JC_SL_v3" id="{5A91364D-DD38-4994-BB9C-41D074FD197A}" vid="{8577DF34-D72C-48EB-902A-0A54C766E053}"/>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lcf76f155ced4ddcb4097134ff3c332f xmlns="71af3243-3dd4-4a8d-8c0d-dd76da1f02a5">
      <Terms xmlns="http://schemas.microsoft.com/office/infopath/2007/PartnerControls"/>
    </lcf76f155ced4ddcb4097134ff3c332f>
    <TaxCatchAll xmlns="230e9df3-be65-4c73-a93b-d1236ebd677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8" ma:contentTypeDescription="Create a new document." ma:contentTypeScope="" ma:versionID="22a266b9fa9a230c5a512669d8b298c3">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eddc33fff6b14141ee5c74a0d29ea6a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2:lcf76f155ced4ddcb4097134ff3c332f" minOccurs="0"/>
                <xsd:element ref="ns4: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lcf76f155ced4ddcb4097134ff3c332f" ma:index="24" nillable="true" ma:taxonomy="true" ma:internalName="lcf76f155ced4ddcb4097134ff3c332f" ma:taxonomyFieldName="MediaServiceAITags" ma:displayName="Image Tags" ma:readOnly="false" ma:fieldId="{5cf76f15-5ced-4ddc-b409-7134ff3c332f}" ma:taxonomyMulti="true" ma:sspId="e385fb40-52d4-4fae-9c5b-3e8ff8a5878e" ma:termSetId="09814cd3-568e-4e90-9814-8d621ff8fb84" ma:anchorId="00000000-0000-0000-0000-000000000000"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5"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DF283A3-AA81-4663-8764-64F64C723FD1}">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2.xml><?xml version="1.0" encoding="utf-8"?>
<ds:datastoreItem xmlns:ds="http://schemas.openxmlformats.org/officeDocument/2006/customXml" ds:itemID="{915C1F8C-D27A-4CE7-9DF4-4AFDB2880FA9}">
  <ds:schemaRefs>
    <ds:schemaRef ds:uri="http://schemas.microsoft.com/sharepoint/v3/contenttype/forms"/>
  </ds:schemaRefs>
</ds:datastoreItem>
</file>

<file path=customXml/itemProps3.xml><?xml version="1.0" encoding="utf-8"?>
<ds:datastoreItem xmlns:ds="http://schemas.openxmlformats.org/officeDocument/2006/customXml" ds:itemID="{D4EE2DFF-920A-42C9-AEE0-3A0BF6AF460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emplate>Jewish American Heritage Month presentation</Template>
  <TotalTime>224</TotalTime>
  <Words>3403</Words>
  <Application>Microsoft Office PowerPoint</Application>
  <PresentationFormat>Widescreen</PresentationFormat>
  <Paragraphs>272</Paragraphs>
  <Slides>27</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27</vt:i4>
      </vt:variant>
    </vt:vector>
  </HeadingPairs>
  <TitlesOfParts>
    <vt:vector size="36" baseType="lpstr">
      <vt:lpstr>Amasis MT Pro Black</vt:lpstr>
      <vt:lpstr>-apple-system</vt:lpstr>
      <vt:lpstr>Arial</vt:lpstr>
      <vt:lpstr>Arial</vt:lpstr>
      <vt:lpstr>Caslon224Std-Book</vt:lpstr>
      <vt:lpstr>Franklin Gothic Book</vt:lpstr>
      <vt:lpstr>Segoe UI</vt:lpstr>
      <vt:lpstr>SourceSansPro</vt:lpstr>
      <vt:lpstr>Office Theme</vt:lpstr>
      <vt:lpstr>Chapter 1:  Introduction to Electronic Commerce</vt:lpstr>
      <vt:lpstr>Learning Objectives</vt:lpstr>
      <vt:lpstr>What is electronic commerce? </vt:lpstr>
      <vt:lpstr>Categories of e-commerce</vt:lpstr>
      <vt:lpstr>Categories of e-commerce</vt:lpstr>
      <vt:lpstr>Categories of e-commerce</vt:lpstr>
      <vt:lpstr>Categories of e-commerce</vt:lpstr>
      <vt:lpstr>E-commerce  categories</vt:lpstr>
      <vt:lpstr>E-commerce categories</vt:lpstr>
      <vt:lpstr>DISCUSSION</vt:lpstr>
      <vt:lpstr>The growth of e-Commerce</vt:lpstr>
      <vt:lpstr>The growth of e-Commerce</vt:lpstr>
      <vt:lpstr>PowerPoint Presentation</vt:lpstr>
      <vt:lpstr>Business Models, Revenue Models, &amp; Business Processes</vt:lpstr>
      <vt:lpstr>Business process suitability to type of commerce</vt:lpstr>
      <vt:lpstr>PowerPoint Presentation</vt:lpstr>
      <vt:lpstr>Value chain</vt:lpstr>
      <vt:lpstr>DISCUSSION:  E-commerce:  Opportunities and Barriers  </vt:lpstr>
      <vt:lpstr>E-commerce: Opportunities and Barriers</vt:lpstr>
      <vt:lpstr>E-commerce: Opportunities and Barriers</vt:lpstr>
      <vt:lpstr>E-commerce: Opportunities and Barriers</vt:lpstr>
      <vt:lpstr>Economics and e-commerce</vt:lpstr>
      <vt:lpstr>Economics and e-commerce</vt:lpstr>
      <vt:lpstr>Economics and e-commerce</vt:lpstr>
      <vt:lpstr>Economics and e-commerce</vt:lpstr>
      <vt:lpstr>International nature</vt:lpstr>
      <vt:lpstr>International nature</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 to Electronic Commerce</dc:title>
  <dc:subject/>
  <dc:creator>Quynh Chi Truong</dc:creator>
  <cp:keywords/>
  <dc:description/>
  <cp:lastModifiedBy>Quynh Chi Truong</cp:lastModifiedBy>
  <cp:revision>5</cp:revision>
  <dcterms:created xsi:type="dcterms:W3CDTF">2023-01-05T15:35:08Z</dcterms:created>
  <dcterms:modified xsi:type="dcterms:W3CDTF">2023-01-05T19:19:54Z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