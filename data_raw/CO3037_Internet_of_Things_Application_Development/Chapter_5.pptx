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19"/>
  </p:notesMasterIdLst>
  <p:handoutMasterIdLst>
    <p:handoutMasterId r:id="rId20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345" autoAdjust="0"/>
    <p:restoredTop sz="89911" autoAdjust="0"/>
  </p:normalViewPr>
  <p:slideViewPr>
    <p:cSldViewPr snapToGrid="0">
      <p:cViewPr varScale="1">
        <p:scale>
          <a:sx n="89" d="100"/>
          <a:sy n="89" d="100"/>
        </p:scale>
        <p:origin x="701" y="53"/>
      </p:cViewPr>
      <p:guideLst>
        <p:guide orient="horz" pos="2160"/>
        <p:guide pos="3840"/>
        <p:guide pos="7296"/>
        <p:guide orient="horz" pos="4128"/>
        <p:guide pos="2880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6"/>
    </p:cViewPr>
  </p:sorterViewPr>
  <p:notesViewPr>
    <p:cSldViewPr snapToGrid="0" showGuides="1">
      <p:cViewPr>
        <p:scale>
          <a:sx n="200" d="100"/>
          <a:sy n="200" d="100"/>
        </p:scale>
        <p:origin x="276" y="-19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68796EA6-6F25-4F19-87BA-7ADCC16DAEFF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C64E50CC-F33A-4EF4-9F12-93EC4A21A0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C39C172E-A8B5-46F6-B05C-DFA3E2E0F207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32674CE4-FBD8-4481-AEFB-CA53E599A7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3750" cy="3452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e.hcmut.edu.vn/~anhpham" TargetMode="External"/><Relationship Id="rId2" Type="http://schemas.openxmlformats.org/officeDocument/2006/relationships/hyperlink" Target="mailto:anhpham@cse.hcmut.edu.vn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4" y="3810004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49495" y="3889662"/>
            <a:ext cx="4953000" cy="1752600"/>
          </a:xfrm>
        </p:spPr>
        <p:txBody>
          <a:bodyPr/>
          <a:lstStyle>
            <a:lvl1pPr marL="64006" indent="0" algn="l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</a:lvl2pPr>
            <a:lvl3pPr marL="914377" indent="0" algn="ctr">
              <a:buNone/>
            </a:lvl3pPr>
            <a:lvl4pPr marL="1371566" indent="0" algn="ctr">
              <a:buNone/>
            </a:lvl4pPr>
            <a:lvl5pPr marL="1828754" indent="0" algn="ctr">
              <a:buNone/>
            </a:lvl5pPr>
            <a:lvl6pPr marL="2285943" indent="0" algn="ctr">
              <a:buNone/>
            </a:lvl6pPr>
            <a:lvl7pPr marL="2743131" indent="0" algn="ctr">
              <a:buNone/>
            </a:lvl7pPr>
            <a:lvl8pPr marL="3200320" indent="0" algn="ctr">
              <a:buNone/>
            </a:lvl8pPr>
            <a:lvl9pPr marL="3657509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6378" y="2401891"/>
            <a:ext cx="8458200" cy="1081307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529" y="1283517"/>
            <a:ext cx="9010221" cy="5436758"/>
          </a:xfrm>
        </p:spPr>
        <p:txBody>
          <a:bodyPr>
            <a:normAutofit/>
          </a:bodyPr>
          <a:lstStyle>
            <a:lvl1pPr marL="365751" indent="-256026">
              <a:buFont typeface="Wingdings" panose="05000000000000000000" pitchFamily="2" charset="2"/>
              <a:buChar char="§"/>
              <a:defRPr sz="26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just">
              <a:defRPr sz="24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 dirty="0" smtClean="0"/>
              <a:t>General Information</a:t>
            </a:r>
          </a:p>
          <a:p>
            <a:pPr lvl="1" eaLnBrk="1" latinLnBrk="0" hangingPunct="1"/>
            <a:r>
              <a:rPr lang="en-US" dirty="0" smtClean="0"/>
              <a:t>CSE 504003</a:t>
            </a:r>
          </a:p>
          <a:p>
            <a:pPr lvl="1" eaLnBrk="1" latinLnBrk="0" hangingPunct="1"/>
            <a:r>
              <a:rPr lang="en-US" dirty="0" smtClean="0"/>
              <a:t>3 credits</a:t>
            </a:r>
          </a:p>
          <a:p>
            <a:pPr lvl="1" eaLnBrk="1" latinLnBrk="0" hangingPunct="1"/>
            <a:endParaRPr lang="en-US" dirty="0" smtClean="0"/>
          </a:p>
          <a:p>
            <a:pPr lvl="0" eaLnBrk="1" latinLnBrk="0" hangingPunct="1"/>
            <a:r>
              <a:rPr lang="en-US" dirty="0" smtClean="0"/>
              <a:t>Coordinator </a:t>
            </a:r>
          </a:p>
          <a:p>
            <a:pPr lvl="1"/>
            <a:r>
              <a:rPr lang="en-US" dirty="0" smtClean="0"/>
              <a:t>Pham Hoang </a:t>
            </a:r>
            <a:r>
              <a:rPr lang="en-US" dirty="0" err="1" smtClean="0"/>
              <a:t>Anh</a:t>
            </a:r>
            <a:endParaRPr lang="en-US" dirty="0" smtClean="0"/>
          </a:p>
          <a:p>
            <a:pPr lvl="1"/>
            <a:r>
              <a:rPr lang="en-US" dirty="0" smtClean="0"/>
              <a:t>Dept. Computer Engineering, Faculty of Computer Science and Engineering, HCMC Uni. Of Technology </a:t>
            </a:r>
          </a:p>
          <a:p>
            <a:pPr lvl="1"/>
            <a:r>
              <a:rPr lang="en-US" dirty="0" smtClean="0"/>
              <a:t>Email: </a:t>
            </a:r>
            <a:r>
              <a:rPr lang="en-US" dirty="0" smtClean="0">
                <a:hlinkClick r:id="rId2"/>
              </a:rPr>
              <a:t>anhpham@cse.hcmut.edu.vn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Phone: (08)38647256 (Ext. 5843)</a:t>
            </a:r>
          </a:p>
          <a:p>
            <a:pPr lvl="1"/>
            <a:r>
              <a:rPr lang="en-US" dirty="0" smtClean="0"/>
              <a:t>Homepage: </a:t>
            </a:r>
            <a:r>
              <a:rPr lang="en-US" dirty="0" smtClean="0">
                <a:hlinkClick r:id="rId3"/>
              </a:rPr>
              <a:t>www.cse.hcmut.edu.vn/~anhpham</a:t>
            </a:r>
            <a:r>
              <a:rPr lang="en-US" dirty="0" smtClean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  <a:latin typeface="Century Gothic" pitchFamily="34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16778"/>
            <a:ext cx="5513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CO3037 – </a:t>
            </a:r>
            <a:r>
              <a:rPr lang="en-US" sz="1200" b="1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Lecture 5: Wireless</a:t>
            </a:r>
            <a:r>
              <a:rPr lang="en-US" sz="1200" b="1" i="1" baseline="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Communications in Internet of Things (</a:t>
            </a:r>
            <a:r>
              <a:rPr lang="en-US" sz="1200" b="1" i="1" baseline="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IoTs</a:t>
            </a:r>
            <a:r>
              <a:rPr lang="en-US" sz="1200" b="1" i="1" baseline="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)</a:t>
            </a:r>
            <a:endParaRPr lang="en-US" sz="1200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40262010-AD51-4252-9881-6947E88E89FD}" type="slidenum">
              <a:rPr lang="en-US" sz="1200" b="1" smtClean="0">
                <a:solidFill>
                  <a:schemeClr val="accent6">
                    <a:lumMod val="75000"/>
                  </a:schemeClr>
                </a:solidFill>
                <a:latin typeface="Century Gothic" pitchFamily="34" charset="0"/>
              </a:rPr>
              <a:pPr algn="ctr"/>
              <a:t>‹#›</a:t>
            </a:fld>
            <a:endParaRPr lang="en-US" sz="1200" b="1" dirty="0">
              <a:solidFill>
                <a:schemeClr val="accent6">
                  <a:lumMod val="75000"/>
                </a:schemeClr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E819F-B7FD-4B29-8F66-9E318144BC2A}" type="datetime1">
              <a:rPr lang="en-US" smtClean="0"/>
              <a:t>10/3/2019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19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4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A159C-B6E0-4F10-9F4A-2FA57003B139}" type="datetime1">
              <a:rPr lang="en-US" smtClean="0"/>
              <a:t>10/3/2019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8"/>
            <a:ext cx="40386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8"/>
            <a:ext cx="40386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170CBBB-D1D1-4386-A5E9-07F3477B78F3}" type="datetime1">
              <a:rPr lang="en-US" smtClean="0"/>
              <a:t>10/3/2019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6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7" y="2244970"/>
            <a:ext cx="4041775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19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19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FA4CAD8-0EA7-4615-B69B-B2F199EF3A93}" type="datetime1">
              <a:rPr lang="en-US" smtClean="0"/>
              <a:t>10/3/2019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4BD7-6953-492C-921B-E68B2D7F14C8}" type="datetime1">
              <a:rPr lang="en-US" smtClean="0"/>
              <a:t>10/3/2019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7D9B-D4D3-4E23-88DF-2E354FA43196}" type="datetime1">
              <a:rPr lang="en-US" smtClean="0"/>
              <a:t>10/3/2019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90"/>
            <a:ext cx="5102352" cy="58050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30"/>
            <a:ext cx="3383280" cy="4580573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67C5-D04E-4576-B61C-12ABA14BBD6C}" type="datetime1">
              <a:rPr lang="en-US" smtClean="0"/>
              <a:t>10/3/2019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12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6" y="1109162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A170-8299-44AD-AEEF-FC686C3D7804}" type="datetime1">
              <a:rPr lang="en-US" smtClean="0"/>
              <a:t>10/3/2019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763A-68EC-4ECD-9620-D9FE9CDDD622}" type="datetime1">
              <a:rPr lang="en-US" smtClean="0"/>
              <a:t>10/3/2019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483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483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ctangle 29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4" y="36025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C20F09E4-6EA4-4BF3-9FC8-FF40373B88E6}" type="datetime1">
              <a:rPr lang="en-US" smtClean="0"/>
              <a:t>10/3/2019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51" indent="-256026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52" indent="-246882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21" indent="-219451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47" indent="-201163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53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0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75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17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2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797" y="971550"/>
            <a:ext cx="8650783" cy="2511647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FF00"/>
                </a:solidFill>
              </a:rPr>
              <a:t>Wireless Communication in Internet of Things (</a:t>
            </a:r>
            <a:r>
              <a:rPr lang="en-US" dirty="0" err="1" smtClean="0">
                <a:solidFill>
                  <a:srgbClr val="FFFF00"/>
                </a:solidFill>
              </a:rPr>
              <a:t>IoT</a:t>
            </a:r>
            <a:r>
              <a:rPr lang="en-US" dirty="0" smtClean="0">
                <a:solidFill>
                  <a:srgbClr val="FFFF00"/>
                </a:solidFill>
              </a:rPr>
              <a:t>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844" t="16590" r="6227" b="15691"/>
          <a:stretch/>
        </p:blipFill>
        <p:spPr>
          <a:xfrm>
            <a:off x="6173441" y="6072064"/>
            <a:ext cx="2926471" cy="7587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22625" t="27111" r="21626" b="12000"/>
          <a:stretch/>
        </p:blipFill>
        <p:spPr>
          <a:xfrm>
            <a:off x="462218" y="3994266"/>
            <a:ext cx="4396801" cy="2701174"/>
          </a:xfrm>
          <a:prstGeom prst="rect">
            <a:avLst/>
          </a:prstGeom>
        </p:spPr>
      </p:pic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335" y="4333240"/>
            <a:ext cx="2821305" cy="150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IoTs</a:t>
            </a:r>
            <a:r>
              <a:rPr lang="en-US" dirty="0" smtClean="0"/>
              <a:t> based TCP/IP Architecture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8529" y="1283517"/>
            <a:ext cx="3815841" cy="543675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51" indent="-256026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kumimoji="0" sz="2600" kern="12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58352" indent="-246882" algn="just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400" kern="12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923521" indent="-219451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79547" indent="-201163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89853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9304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17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24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kumimoji="1" lang="en-US" dirty="0" smtClean="0"/>
          </a:p>
          <a:p>
            <a:pPr>
              <a:lnSpc>
                <a:spcPct val="90000"/>
              </a:lnSpc>
            </a:pPr>
            <a:endParaRPr kumimoji="1" lang="en-US" dirty="0" smtClean="0"/>
          </a:p>
          <a:p>
            <a:pPr>
              <a:lnSpc>
                <a:spcPct val="90000"/>
              </a:lnSpc>
            </a:pPr>
            <a:r>
              <a:rPr kumimoji="1" lang="en-US" dirty="0" smtClean="0"/>
              <a:t>Application layer</a:t>
            </a:r>
          </a:p>
          <a:p>
            <a:pPr>
              <a:lnSpc>
                <a:spcPct val="90000"/>
              </a:lnSpc>
            </a:pPr>
            <a:endParaRPr kumimoji="1" lang="en-US" dirty="0" smtClean="0"/>
          </a:p>
          <a:p>
            <a:pPr>
              <a:lnSpc>
                <a:spcPct val="90000"/>
              </a:lnSpc>
            </a:pPr>
            <a:endParaRPr kumimoji="1" lang="en-US" dirty="0" smtClean="0"/>
          </a:p>
          <a:p>
            <a:pPr>
              <a:lnSpc>
                <a:spcPct val="90000"/>
              </a:lnSpc>
            </a:pPr>
            <a:endParaRPr kumimoji="1" lang="en-US" dirty="0" smtClean="0"/>
          </a:p>
          <a:p>
            <a:pPr>
              <a:lnSpc>
                <a:spcPct val="90000"/>
              </a:lnSpc>
            </a:pPr>
            <a:r>
              <a:rPr kumimoji="1" lang="en-US" dirty="0" smtClean="0"/>
              <a:t>Transport layer</a:t>
            </a:r>
          </a:p>
          <a:p>
            <a:pPr>
              <a:lnSpc>
                <a:spcPct val="90000"/>
              </a:lnSpc>
            </a:pPr>
            <a:endParaRPr kumimoji="1" lang="en-US" dirty="0" smtClean="0"/>
          </a:p>
          <a:p>
            <a:pPr>
              <a:lnSpc>
                <a:spcPct val="90000"/>
              </a:lnSpc>
            </a:pPr>
            <a:r>
              <a:rPr kumimoji="1" lang="en-US" dirty="0" smtClean="0"/>
              <a:t>Internet layer</a:t>
            </a:r>
          </a:p>
          <a:p>
            <a:pPr>
              <a:lnSpc>
                <a:spcPct val="90000"/>
              </a:lnSpc>
            </a:pPr>
            <a:endParaRPr kumimoji="1" lang="en-US" dirty="0" smtClean="0"/>
          </a:p>
          <a:p>
            <a:pPr>
              <a:lnSpc>
                <a:spcPct val="90000"/>
              </a:lnSpc>
            </a:pPr>
            <a:r>
              <a:rPr kumimoji="1" lang="en-US" dirty="0" smtClean="0"/>
              <a:t>Network access layer</a:t>
            </a:r>
          </a:p>
          <a:p>
            <a:pPr>
              <a:lnSpc>
                <a:spcPct val="90000"/>
              </a:lnSpc>
            </a:pPr>
            <a:endParaRPr kumimoji="1" lang="en-US" dirty="0" smtClean="0"/>
          </a:p>
          <a:p>
            <a:pPr>
              <a:lnSpc>
                <a:spcPct val="90000"/>
              </a:lnSpc>
            </a:pPr>
            <a:r>
              <a:rPr kumimoji="1" lang="en-US" dirty="0" smtClean="0"/>
              <a:t>Physical layer</a:t>
            </a:r>
            <a:endParaRPr kumimoji="1" lang="en-US" dirty="0"/>
          </a:p>
        </p:txBody>
      </p:sp>
      <p:pic>
        <p:nvPicPr>
          <p:cNvPr id="6" name="Picture 2" descr="http://www.tcpipguide.com/free/diagrams/tcpipprotocol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027" y="1505737"/>
            <a:ext cx="5068359" cy="502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30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Protocol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is the </a:t>
            </a:r>
            <a:r>
              <a:rPr lang="en-US" dirty="0"/>
              <a:t>combination of </a:t>
            </a:r>
            <a:r>
              <a:rPr lang="en-US" b="1" dirty="0"/>
              <a:t>framing</a:t>
            </a:r>
            <a:r>
              <a:rPr lang="en-US" dirty="0"/>
              <a:t>, </a:t>
            </a:r>
            <a:r>
              <a:rPr lang="en-US" b="1" dirty="0"/>
              <a:t>flow control</a:t>
            </a:r>
            <a:r>
              <a:rPr lang="en-US" dirty="0"/>
              <a:t>, and </a:t>
            </a:r>
            <a:r>
              <a:rPr lang="en-US" b="1" dirty="0"/>
              <a:t>error control</a:t>
            </a:r>
            <a:r>
              <a:rPr lang="en-US" dirty="0"/>
              <a:t> to achieve the delivery of data from one node to </a:t>
            </a:r>
            <a:r>
              <a:rPr lang="en-US" dirty="0" smtClean="0"/>
              <a:t>another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protocols are normally </a:t>
            </a:r>
            <a:r>
              <a:rPr lang="en-US" b="1" dirty="0"/>
              <a:t>implemented in software</a:t>
            </a:r>
            <a:r>
              <a:rPr lang="en-US" dirty="0"/>
              <a:t> by using one of the common programming </a:t>
            </a:r>
            <a:r>
              <a:rPr lang="en-US" dirty="0" smtClean="0"/>
              <a:t>languages</a:t>
            </a:r>
          </a:p>
          <a:p>
            <a:endParaRPr lang="en-US" dirty="0"/>
          </a:p>
          <a:p>
            <a:r>
              <a:rPr lang="en-US" dirty="0"/>
              <a:t>Flow control: Refers to a set of procedures used to </a:t>
            </a:r>
            <a:r>
              <a:rPr lang="en-US" b="1" dirty="0"/>
              <a:t>restrict the amount of data that the sender can send </a:t>
            </a:r>
            <a:r>
              <a:rPr lang="en-US" dirty="0"/>
              <a:t>before waiting for </a:t>
            </a:r>
            <a:r>
              <a:rPr lang="en-US" dirty="0" smtClean="0"/>
              <a:t>acknowledgment</a:t>
            </a:r>
            <a:endParaRPr lang="en-US" dirty="0"/>
          </a:p>
          <a:p>
            <a:endParaRPr lang="en-US" dirty="0"/>
          </a:p>
          <a:p>
            <a:r>
              <a:rPr lang="en-US" dirty="0"/>
              <a:t>Error control: is both </a:t>
            </a:r>
            <a:r>
              <a:rPr lang="en-US" b="1" dirty="0"/>
              <a:t>error detection and error </a:t>
            </a:r>
            <a:r>
              <a:rPr lang="en-US" b="1" dirty="0" smtClean="0"/>
              <a:t>correction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Medium Access Control (MAC) Protocol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3006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Simplest Protocol Design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 l="23143" t="21841" r="26476" b="20000"/>
          <a:stretch>
            <a:fillRect/>
          </a:stretch>
        </p:blipFill>
        <p:spPr bwMode="auto">
          <a:xfrm>
            <a:off x="609597" y="1669143"/>
            <a:ext cx="7678058" cy="498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7225048" y="1159099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message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49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 l="4381" t="11344" r="56952" b="53439"/>
          <a:stretch>
            <a:fillRect/>
          </a:stretch>
        </p:blipFill>
        <p:spPr bwMode="auto">
          <a:xfrm>
            <a:off x="275772" y="1378857"/>
            <a:ext cx="5892800" cy="301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 l="4476" t="11156" r="49619" b="52751"/>
          <a:stretch>
            <a:fillRect/>
          </a:stretch>
        </p:blipFill>
        <p:spPr bwMode="auto">
          <a:xfrm>
            <a:off x="2598783" y="3963235"/>
            <a:ext cx="6545217" cy="289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2644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4724400"/>
            <a:ext cx="9010221" cy="199587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sender </a:t>
            </a:r>
            <a:r>
              <a:rPr lang="en-US" b="1" dirty="0" smtClean="0"/>
              <a:t>sends a sequence of frames</a:t>
            </a:r>
            <a:r>
              <a:rPr lang="en-US" dirty="0" smtClean="0"/>
              <a:t> without even thinking about the receiver</a:t>
            </a:r>
          </a:p>
          <a:p>
            <a:r>
              <a:rPr lang="en-US" dirty="0" smtClean="0"/>
              <a:t>There is no error handler</a:t>
            </a:r>
          </a:p>
          <a:p>
            <a:r>
              <a:rPr lang="en-US" dirty="0" smtClean="0"/>
              <a:t>There is no synchronization (the receiver processing time is slower than the transmission speed)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 l="29917" t="48296" r="35083" b="14074"/>
          <a:stretch>
            <a:fillRect/>
          </a:stretch>
        </p:blipFill>
        <p:spPr bwMode="auto">
          <a:xfrm>
            <a:off x="1905000" y="1257300"/>
            <a:ext cx="5334000" cy="322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00045" y="1468192"/>
            <a:ext cx="1874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Propagation delay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29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Synchronous protocols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stream of data to be transferred is encoded as fluctuating voltage levels in one wire (the 'DATA'), and a periodic pulse of voltage on a separate wire (called the </a:t>
            </a:r>
            <a:r>
              <a:rPr lang="en-US" b="1" dirty="0"/>
              <a:t>"CLOCK</a:t>
            </a:r>
            <a:r>
              <a:rPr lang="en-US" b="1" dirty="0" smtClean="0"/>
              <a:t>"</a:t>
            </a:r>
            <a:r>
              <a:rPr lang="en-US" dirty="0" smtClean="0"/>
              <a:t>) </a:t>
            </a:r>
            <a:r>
              <a:rPr lang="en-US" dirty="0"/>
              <a:t>which tells the receiver </a:t>
            </a:r>
            <a:r>
              <a:rPr lang="en-US" dirty="0" smtClean="0"/>
              <a:t>that the </a:t>
            </a:r>
            <a:r>
              <a:rPr lang="en-US" dirty="0"/>
              <a:t>current DATA bit is </a:t>
            </a:r>
            <a:r>
              <a:rPr lang="en-US" b="1" dirty="0" smtClean="0"/>
              <a:t>available</a:t>
            </a:r>
            <a:r>
              <a:rPr lang="en-US" dirty="0" smtClean="0"/>
              <a:t> </a:t>
            </a:r>
            <a:r>
              <a:rPr lang="en-US" dirty="0"/>
              <a:t>at this moment in </a:t>
            </a:r>
            <a:r>
              <a:rPr lang="en-US" dirty="0" smtClean="0"/>
              <a:t>time</a:t>
            </a:r>
            <a:endParaRPr lang="en-US" dirty="0"/>
          </a:p>
          <a:p>
            <a:pPr marL="109725" indent="0">
              <a:buNone/>
            </a:pPr>
            <a:endParaRPr lang="en-US" dirty="0" smtClean="0"/>
          </a:p>
          <a:p>
            <a:r>
              <a:rPr lang="en-US" dirty="0" smtClean="0"/>
              <a:t>Asynchronous protocols</a:t>
            </a:r>
          </a:p>
          <a:p>
            <a:pPr lvl="1"/>
            <a:r>
              <a:rPr lang="en-US" altLang="en-US" dirty="0"/>
              <a:t>Data </a:t>
            </a:r>
            <a:r>
              <a:rPr lang="en-US" altLang="en-US" dirty="0" smtClean="0"/>
              <a:t>is transmitted at </a:t>
            </a:r>
            <a:r>
              <a:rPr lang="en-US" altLang="en-US" dirty="0"/>
              <a:t>a </a:t>
            </a:r>
            <a:r>
              <a:rPr lang="en-US" altLang="en-US" b="1" dirty="0"/>
              <a:t>random </a:t>
            </a:r>
            <a:r>
              <a:rPr lang="en-US" altLang="en-US" b="1" dirty="0" smtClean="0"/>
              <a:t>time. </a:t>
            </a:r>
            <a:r>
              <a:rPr lang="en-US" altLang="en-US" dirty="0" smtClean="0"/>
              <a:t>Normally, a start and stop conditions are used to begin a </a:t>
            </a:r>
            <a:r>
              <a:rPr lang="en-US" altLang="en-US" b="1" dirty="0" smtClean="0"/>
              <a:t>“</a:t>
            </a:r>
            <a:r>
              <a:rPr lang="en-US" altLang="en-US" b="1" dirty="0" err="1" smtClean="0"/>
              <a:t>rendez-vous</a:t>
            </a:r>
            <a:r>
              <a:rPr lang="en-US" altLang="en-US" b="1" dirty="0" smtClean="0"/>
              <a:t>” </a:t>
            </a:r>
            <a:r>
              <a:rPr lang="en-US" altLang="en-US" dirty="0" smtClean="0"/>
              <a:t>to initiate a </a:t>
            </a:r>
            <a:r>
              <a:rPr lang="en-US" altLang="en-US" dirty="0" err="1" smtClean="0"/>
              <a:t>comunication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 Protocol in </a:t>
            </a:r>
            <a:r>
              <a:rPr lang="en-US" dirty="0" err="1" smtClean="0"/>
              <a:t>IoTs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906635"/>
              </p:ext>
            </p:extLst>
          </p:nvPr>
        </p:nvGraphicFramePr>
        <p:xfrm>
          <a:off x="548641" y="1721168"/>
          <a:ext cx="7904478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425"/>
                <a:gridCol w="3449227"/>
                <a:gridCol w="2634826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Advantage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Disadvantage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Asynchronous transmission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Simple, doesn't require synchronization of both communication sides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Cheap, asynchronous requires less hardware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Suitable</a:t>
                      </a:r>
                      <a:r>
                        <a:rPr kumimoji="0" lang="en-US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low data rate applications</a:t>
                      </a:r>
                      <a:endParaRPr kumimoji="0" lang="en-US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 relative overhead, a high proportion of the transmitted bits are uniquely for control purposes and thus carry no useful information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Synchronous transmission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overhead and thus, greater throughput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Slightly more complex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is more expensive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 and Disadvantage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6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1283517"/>
            <a:ext cx="9010221" cy="1886403"/>
          </a:xfrm>
        </p:spPr>
        <p:txBody>
          <a:bodyPr/>
          <a:lstStyle/>
          <a:p>
            <a:r>
              <a:rPr lang="en-US" dirty="0" smtClean="0"/>
              <a:t>Communication are synchronized in time with two state: </a:t>
            </a:r>
          </a:p>
          <a:p>
            <a:pPr lvl="1"/>
            <a:r>
              <a:rPr lang="en-US" dirty="0" smtClean="0"/>
              <a:t>Active: Carrier sensing, Request To Send, Clear To Send and </a:t>
            </a:r>
            <a:r>
              <a:rPr lang="en-US" b="1" dirty="0" smtClean="0"/>
              <a:t>Sync Packet</a:t>
            </a:r>
          </a:p>
          <a:p>
            <a:pPr lvl="1"/>
            <a:r>
              <a:rPr lang="en-US" dirty="0" smtClean="0"/>
              <a:t>Sleep: Low power mode for energy reservation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Synchronous </a:t>
            </a:r>
            <a:r>
              <a:rPr lang="en-US" dirty="0" smtClean="0"/>
              <a:t>Protocols: S-MAC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917" t="47481" r="29083" b="29852"/>
          <a:stretch/>
        </p:blipFill>
        <p:spPr>
          <a:xfrm>
            <a:off x="505039" y="3228643"/>
            <a:ext cx="8046720" cy="2331720"/>
          </a:xfrm>
          <a:prstGeom prst="rect">
            <a:avLst/>
          </a:prstGeom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38529" y="5428797"/>
            <a:ext cx="9010221" cy="188640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51" indent="-256026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kumimoji="0" sz="2600" kern="12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58352" indent="-246882" algn="just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400" kern="12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923521" indent="-219451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79547" indent="-201163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89853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9304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17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24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Drawback: Energy wasted for active period:</a:t>
            </a:r>
          </a:p>
          <a:p>
            <a:pPr lvl="1"/>
            <a:r>
              <a:rPr lang="en-US" dirty="0" smtClean="0"/>
              <a:t>When there is no packet to send?????</a:t>
            </a:r>
          </a:p>
        </p:txBody>
      </p:sp>
    </p:spTree>
    <p:extLst>
      <p:ext uri="{BB962C8B-B14F-4D97-AF65-F5344CB8AC3E}">
        <p14:creationId xmlns:p14="http://schemas.microsoft.com/office/powerpoint/2010/main" val="353136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1283517"/>
            <a:ext cx="9010221" cy="106344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An extended version from S-MAC:</a:t>
            </a:r>
          </a:p>
          <a:p>
            <a:pPr lvl="1"/>
            <a:r>
              <a:rPr lang="en-US" dirty="0" smtClean="0"/>
              <a:t>Active period is adapted: if there is no RTS or CTS after a period, the node go to sleep mode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Protocols: </a:t>
            </a:r>
            <a:r>
              <a:rPr lang="en-US" dirty="0" smtClean="0"/>
              <a:t>T-MAC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667" t="51630" r="28167" b="37111"/>
          <a:stretch/>
        </p:blipFill>
        <p:spPr>
          <a:xfrm>
            <a:off x="313346" y="2885345"/>
            <a:ext cx="8260080" cy="1158240"/>
          </a:xfrm>
          <a:prstGeom prst="rect">
            <a:avLst/>
          </a:prstGeom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38529" y="5428797"/>
            <a:ext cx="9010221" cy="188640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51" indent="-256026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kumimoji="0" sz="2600" kern="12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58352" indent="-246882" algn="just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400" kern="12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923521" indent="-219451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79547" indent="-201163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89853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9304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17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24" indent="-182875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Drawback: Energy wasted due to SYNC packet</a:t>
            </a:r>
          </a:p>
          <a:p>
            <a:pPr lvl="1"/>
            <a:r>
              <a:rPr lang="en-US" dirty="0" smtClean="0"/>
              <a:t>High impact on low data rate networks</a:t>
            </a:r>
          </a:p>
        </p:txBody>
      </p:sp>
    </p:spTree>
    <p:extLst>
      <p:ext uri="{BB962C8B-B14F-4D97-AF65-F5344CB8AC3E}">
        <p14:creationId xmlns:p14="http://schemas.microsoft.com/office/powerpoint/2010/main" val="754715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4734370"/>
            <a:ext cx="9010221" cy="1985905"/>
          </a:xfrm>
        </p:spPr>
        <p:txBody>
          <a:bodyPr/>
          <a:lstStyle/>
          <a:p>
            <a:r>
              <a:rPr lang="en-US" b="1" dirty="0"/>
              <a:t>RICER (Receiver Initiated Cycled </a:t>
            </a:r>
            <a:r>
              <a:rPr lang="en-US" b="1" dirty="0" smtClean="0"/>
              <a:t>Receiver):</a:t>
            </a:r>
          </a:p>
          <a:p>
            <a:pPr lvl="1"/>
            <a:r>
              <a:rPr lang="en-US" dirty="0" smtClean="0"/>
              <a:t>Receiver sends a BEACON</a:t>
            </a:r>
          </a:p>
          <a:p>
            <a:pPr lvl="1"/>
            <a:r>
              <a:rPr lang="en-US" dirty="0" smtClean="0"/>
              <a:t>Transmitter waits for a BEACON, before sending its DATA</a:t>
            </a:r>
          </a:p>
          <a:p>
            <a:pPr lvl="1"/>
            <a:r>
              <a:rPr lang="en-US" dirty="0" smtClean="0"/>
              <a:t>ACK is used to confirm a communication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Asynchronous Protocols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50" t="15926" b="11482"/>
          <a:stretch/>
        </p:blipFill>
        <p:spPr>
          <a:xfrm>
            <a:off x="822960" y="1598863"/>
            <a:ext cx="7114032" cy="291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8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Extended version of RICER:</a:t>
            </a:r>
          </a:p>
          <a:p>
            <a:pPr lvl="1"/>
            <a:r>
              <a:rPr lang="en-US" dirty="0" smtClean="0"/>
              <a:t>RICER3, RICER3b, RICE5</a:t>
            </a:r>
          </a:p>
          <a:p>
            <a:pPr lvl="1"/>
            <a:r>
              <a:rPr lang="en-US" dirty="0" smtClean="0"/>
              <a:t>ODMAC: ACK plays the role of a new BEACON</a:t>
            </a:r>
          </a:p>
          <a:p>
            <a:pPr lvl="1"/>
            <a:r>
              <a:rPr lang="en-US" dirty="0" err="1" smtClean="0"/>
              <a:t>SymMAC</a:t>
            </a:r>
            <a:r>
              <a:rPr lang="en-US" dirty="0" smtClean="0"/>
              <a:t>: RICER + TICER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Protocols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238934" y="5404502"/>
            <a:ext cx="24384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696134" y="4476608"/>
            <a:ext cx="685800" cy="76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36720" y="4334526"/>
            <a:ext cx="283366" cy="2214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900" dirty="0" smtClean="0"/>
              <a:t>DATA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 rot="16200000">
            <a:off x="2348597" y="4382945"/>
            <a:ext cx="216695" cy="12620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00" dirty="0" smtClean="0"/>
              <a:t>CCA</a:t>
            </a: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1269891" y="5221145"/>
            <a:ext cx="216695" cy="1262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00" dirty="0" smtClean="0"/>
              <a:t>BEA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1457997" y="5314021"/>
            <a:ext cx="240519" cy="76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16200000">
            <a:off x="2181910" y="5221145"/>
            <a:ext cx="216695" cy="1262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00" dirty="0" smtClean="0"/>
              <a:t>BEA</a:t>
            </a:r>
            <a:endParaRPr lang="en-US" sz="1000" dirty="0"/>
          </a:p>
        </p:txBody>
      </p:sp>
      <p:sp>
        <p:nvSpPr>
          <p:cNvPr id="11" name="Rectangle 10"/>
          <p:cNvSpPr/>
          <p:nvPr/>
        </p:nvSpPr>
        <p:spPr>
          <a:xfrm>
            <a:off x="2365255" y="5315602"/>
            <a:ext cx="550080" cy="76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16200000">
            <a:off x="2870091" y="5218764"/>
            <a:ext cx="216695" cy="1262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00" dirty="0" smtClean="0"/>
              <a:t>ACK</a:t>
            </a:r>
            <a:endParaRPr lang="en-US" sz="1000" dirty="0"/>
          </a:p>
        </p:txBody>
      </p:sp>
      <p:cxnSp>
        <p:nvCxnSpPr>
          <p:cNvPr id="13" name="Straight Arrow Connector 12"/>
          <p:cNvCxnSpPr/>
          <p:nvPr/>
        </p:nvCxnSpPr>
        <p:spPr>
          <a:xfrm rot="5400000" flipH="1" flipV="1">
            <a:off x="1299262" y="5079852"/>
            <a:ext cx="152400" cy="1588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5400000" flipH="1" flipV="1">
            <a:off x="2211280" y="5082241"/>
            <a:ext cx="152400" cy="1588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 flipH="1" flipV="1">
            <a:off x="2916923" y="5077471"/>
            <a:ext cx="152400" cy="1588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>
            <a:off x="2629593" y="4671081"/>
            <a:ext cx="152398" cy="4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54253" y="4928252"/>
            <a:ext cx="8382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900" dirty="0" smtClean="0"/>
              <a:t>Wait for a DATA</a:t>
            </a:r>
            <a:endParaRPr lang="en-US" sz="900" dirty="0"/>
          </a:p>
        </p:txBody>
      </p:sp>
      <p:cxnSp>
        <p:nvCxnSpPr>
          <p:cNvPr id="18" name="Straight Arrow Connector 17"/>
          <p:cNvCxnSpPr/>
          <p:nvPr/>
        </p:nvCxnSpPr>
        <p:spPr>
          <a:xfrm rot="10800000" flipV="1">
            <a:off x="3154253" y="5099702"/>
            <a:ext cx="219417" cy="2143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836753" y="4478197"/>
            <a:ext cx="240519" cy="76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1238934" y="4567889"/>
            <a:ext cx="24384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4664640" y="5404502"/>
            <a:ext cx="28194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740840" y="4476608"/>
            <a:ext cx="381000" cy="76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76626" y="4334526"/>
            <a:ext cx="283366" cy="2214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900" dirty="0" smtClean="0"/>
              <a:t>DATA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 rot="16200000">
            <a:off x="5088503" y="4382945"/>
            <a:ext cx="216695" cy="12620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00" dirty="0" smtClean="0"/>
              <a:t>CCA</a:t>
            </a:r>
            <a:endParaRPr lang="en-US" sz="1000" dirty="0"/>
          </a:p>
        </p:txBody>
      </p:sp>
      <p:sp>
        <p:nvSpPr>
          <p:cNvPr id="25" name="Rectangle 24"/>
          <p:cNvSpPr/>
          <p:nvPr/>
        </p:nvSpPr>
        <p:spPr>
          <a:xfrm rot="16200000">
            <a:off x="4921816" y="5221145"/>
            <a:ext cx="216695" cy="1262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00" dirty="0" smtClean="0"/>
              <a:t>BEA</a:t>
            </a: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5100398" y="5313221"/>
            <a:ext cx="550080" cy="76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16200000">
            <a:off x="5576655" y="5218764"/>
            <a:ext cx="216695" cy="1262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00" dirty="0" smtClean="0"/>
              <a:t>ACK</a:t>
            </a:r>
            <a:endParaRPr lang="en-US" sz="1000" dirty="0"/>
          </a:p>
        </p:txBody>
      </p:sp>
      <p:cxnSp>
        <p:nvCxnSpPr>
          <p:cNvPr id="28" name="Straight Arrow Connector 27"/>
          <p:cNvCxnSpPr/>
          <p:nvPr/>
        </p:nvCxnSpPr>
        <p:spPr>
          <a:xfrm rot="5400000" flipH="1" flipV="1">
            <a:off x="4951186" y="5082241"/>
            <a:ext cx="152400" cy="1588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5400000" flipH="1" flipV="1">
            <a:off x="5603644" y="5077471"/>
            <a:ext cx="152400" cy="1588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5400000">
            <a:off x="5369499" y="4671081"/>
            <a:ext cx="152398" cy="4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576659" y="4478197"/>
            <a:ext cx="240519" cy="76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4664640" y="4566302"/>
            <a:ext cx="2819400" cy="158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052653" y="5315602"/>
            <a:ext cx="240519" cy="76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16200000">
            <a:off x="6029097" y="4421045"/>
            <a:ext cx="140495" cy="1262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1000" dirty="0"/>
          </a:p>
        </p:txBody>
      </p:sp>
      <p:sp>
        <p:nvSpPr>
          <p:cNvPr id="35" name="Rectangle 34"/>
          <p:cNvSpPr/>
          <p:nvPr/>
        </p:nvSpPr>
        <p:spPr>
          <a:xfrm rot="16200000">
            <a:off x="6181497" y="4421045"/>
            <a:ext cx="140495" cy="1262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1000" dirty="0"/>
          </a:p>
        </p:txBody>
      </p:sp>
      <p:sp>
        <p:nvSpPr>
          <p:cNvPr id="36" name="Rectangle 35"/>
          <p:cNvSpPr/>
          <p:nvPr/>
        </p:nvSpPr>
        <p:spPr>
          <a:xfrm rot="16200000">
            <a:off x="6333897" y="4421045"/>
            <a:ext cx="140495" cy="1262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 rot="16200000">
            <a:off x="6486297" y="4421045"/>
            <a:ext cx="140495" cy="1262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1000" dirty="0"/>
          </a:p>
        </p:txBody>
      </p:sp>
      <p:sp>
        <p:nvSpPr>
          <p:cNvPr id="38" name="Rectangle 37"/>
          <p:cNvSpPr/>
          <p:nvPr/>
        </p:nvSpPr>
        <p:spPr>
          <a:xfrm rot="16200000">
            <a:off x="6295797" y="5221145"/>
            <a:ext cx="216695" cy="12620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00" dirty="0" smtClean="0"/>
              <a:t>CCA</a:t>
            </a:r>
            <a:endParaRPr lang="en-US" sz="1000" dirty="0"/>
          </a:p>
        </p:txBody>
      </p:sp>
      <p:sp>
        <p:nvSpPr>
          <p:cNvPr id="39" name="Rectangle 38"/>
          <p:cNvSpPr/>
          <p:nvPr/>
        </p:nvSpPr>
        <p:spPr>
          <a:xfrm>
            <a:off x="6476771" y="5314012"/>
            <a:ext cx="550069" cy="76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645840" y="4337702"/>
            <a:ext cx="283366" cy="2214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900" dirty="0" smtClean="0"/>
              <a:t>DATA</a:t>
            </a:r>
            <a:endParaRPr lang="en-US" sz="900" dirty="0"/>
          </a:p>
        </p:txBody>
      </p:sp>
      <p:cxnSp>
        <p:nvCxnSpPr>
          <p:cNvPr id="41" name="Straight Arrow Connector 40"/>
          <p:cNvCxnSpPr/>
          <p:nvPr/>
        </p:nvCxnSpPr>
        <p:spPr>
          <a:xfrm rot="5400000">
            <a:off x="6738713" y="4674257"/>
            <a:ext cx="152398" cy="4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 rot="16200000">
            <a:off x="6988740" y="5221145"/>
            <a:ext cx="216695" cy="1262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00" dirty="0" smtClean="0"/>
              <a:t>ACK</a:t>
            </a:r>
            <a:endParaRPr lang="en-US" sz="1000" dirty="0"/>
          </a:p>
        </p:txBody>
      </p:sp>
      <p:cxnSp>
        <p:nvCxnSpPr>
          <p:cNvPr id="43" name="Straight Arrow Connector 42"/>
          <p:cNvCxnSpPr/>
          <p:nvPr/>
        </p:nvCxnSpPr>
        <p:spPr>
          <a:xfrm rot="5400000" flipH="1" flipV="1">
            <a:off x="7015729" y="5079852"/>
            <a:ext cx="152400" cy="1588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941116" y="4480578"/>
            <a:ext cx="240519" cy="76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933849" y="4209112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Preambles</a:t>
            </a:r>
            <a:endParaRPr lang="en-US" sz="1100" dirty="0"/>
          </a:p>
        </p:txBody>
      </p:sp>
      <p:cxnSp>
        <p:nvCxnSpPr>
          <p:cNvPr id="46" name="Straight Arrow Connector 45"/>
          <p:cNvCxnSpPr/>
          <p:nvPr/>
        </p:nvCxnSpPr>
        <p:spPr>
          <a:xfrm rot="5400000">
            <a:off x="6026719" y="4671081"/>
            <a:ext cx="152398" cy="4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5400000">
            <a:off x="6179119" y="4671081"/>
            <a:ext cx="152398" cy="4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5400000">
            <a:off x="6331519" y="4671079"/>
            <a:ext cx="152398" cy="4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5400000">
            <a:off x="6481538" y="4668698"/>
            <a:ext cx="152398" cy="4"/>
          </a:xfrm>
          <a:prstGeom prst="straightConnector1">
            <a:avLst/>
          </a:prstGeom>
          <a:ln w="12700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rot="5400000">
            <a:off x="5354409" y="4909202"/>
            <a:ext cx="1142206" cy="79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39290" y="4750452"/>
            <a:ext cx="654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R-Mote</a:t>
            </a:r>
            <a:endParaRPr lang="en-US"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6304373" y="4750452"/>
            <a:ext cx="646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T-Mote</a:t>
            </a:r>
            <a:endParaRPr lang="en-US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3468961" y="4275791"/>
            <a:ext cx="32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Tx</a:t>
            </a:r>
            <a:endParaRPr 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7293540" y="4280552"/>
            <a:ext cx="32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Tx</a:t>
            </a:r>
            <a:endParaRPr lang="en-US" sz="1200" dirty="0"/>
          </a:p>
        </p:txBody>
      </p:sp>
      <p:sp>
        <p:nvSpPr>
          <p:cNvPr id="55" name="TextBox 54"/>
          <p:cNvSpPr txBox="1"/>
          <p:nvPr/>
        </p:nvSpPr>
        <p:spPr>
          <a:xfrm>
            <a:off x="3489533" y="5118752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Rx</a:t>
            </a:r>
            <a:endParaRPr lang="en-US" sz="1200" dirty="0"/>
          </a:p>
        </p:txBody>
      </p:sp>
      <p:sp>
        <p:nvSpPr>
          <p:cNvPr id="56" name="TextBox 55"/>
          <p:cNvSpPr txBox="1"/>
          <p:nvPr/>
        </p:nvSpPr>
        <p:spPr>
          <a:xfrm>
            <a:off x="7305449" y="5118750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Rx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7846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5822065"/>
            <a:ext cx="9010221" cy="898209"/>
          </a:xfrm>
        </p:spPr>
        <p:txBody>
          <a:bodyPr/>
          <a:lstStyle/>
          <a:p>
            <a:r>
              <a:rPr lang="en-US" b="1" dirty="0" smtClean="0"/>
              <a:t>Energy efficient routing </a:t>
            </a:r>
            <a:r>
              <a:rPr lang="en-US" dirty="0" smtClean="0"/>
              <a:t>for sending a packet???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Protocol in </a:t>
            </a:r>
            <a:r>
              <a:rPr lang="en-US" dirty="0" err="1" smtClean="0"/>
              <a:t>IoTs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96343" y="3752617"/>
            <a:ext cx="1238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Base Station</a:t>
            </a:r>
            <a:endParaRPr lang="en-US" sz="1600" b="1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2738995" y="4200307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3691491" y="3676425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3272387" y="1695225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215365" y="210953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407660" y="18047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733529" y="316112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777469" y="316874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792199" y="31636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733529" y="470798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777469" y="4205062"/>
            <a:ext cx="457200" cy="517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839506" y="4705129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" name="Straight Arrow Connector 15"/>
          <p:cNvCxnSpPr/>
          <p:nvPr/>
        </p:nvCxnSpPr>
        <p:spPr>
          <a:xfrm flipV="1">
            <a:off x="3125709" y="4205062"/>
            <a:ext cx="533400" cy="3048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085829" y="3610702"/>
            <a:ext cx="609600" cy="3810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091669" y="4662262"/>
            <a:ext cx="685800" cy="3810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0800000">
            <a:off x="6158470" y="4662262"/>
            <a:ext cx="681037" cy="38576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 flipH="1" flipV="1">
            <a:off x="5746989" y="4012022"/>
            <a:ext cx="4572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666729" y="2094322"/>
            <a:ext cx="571496" cy="30477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6200000" flipV="1">
            <a:off x="4329669" y="2863942"/>
            <a:ext cx="685800" cy="3048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4619229" y="2302294"/>
            <a:ext cx="714771" cy="21874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152629" y="3580222"/>
            <a:ext cx="6096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158469" y="3595462"/>
            <a:ext cx="6096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57720" y="4675418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Node(10)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3581400" y="41415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Node(6)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4666219" y="51956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Node(4)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6768069" y="51893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Node(3)</a:t>
            </a:r>
            <a:endParaRPr lang="en-US"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5713969" y="46622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Node(5)</a:t>
            </a:r>
            <a:endParaRPr lang="en-US" sz="1300" dirty="0"/>
          </a:p>
        </p:txBody>
      </p:sp>
      <p:sp>
        <p:nvSpPr>
          <p:cNvPr id="31" name="TextBox 30"/>
          <p:cNvSpPr txBox="1"/>
          <p:nvPr/>
        </p:nvSpPr>
        <p:spPr>
          <a:xfrm>
            <a:off x="3198338" y="21730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 smtClean="0"/>
              <a:t>Node(8)</a:t>
            </a:r>
            <a:endParaRPr lang="en-US" sz="1300" dirty="0"/>
          </a:p>
        </p:txBody>
      </p:sp>
      <p:sp>
        <p:nvSpPr>
          <p:cNvPr id="32" name="TextBox 31"/>
          <p:cNvSpPr txBox="1"/>
          <p:nvPr/>
        </p:nvSpPr>
        <p:spPr>
          <a:xfrm>
            <a:off x="4043919" y="2592618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Node(7)</a:t>
            </a:r>
            <a:endParaRPr lang="en-US" sz="1300" dirty="0"/>
          </a:p>
        </p:txBody>
      </p:sp>
      <p:sp>
        <p:nvSpPr>
          <p:cNvPr id="33" name="TextBox 32"/>
          <p:cNvSpPr txBox="1"/>
          <p:nvPr/>
        </p:nvSpPr>
        <p:spPr>
          <a:xfrm>
            <a:off x="5334000" y="22810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Node(9)</a:t>
            </a:r>
            <a:endParaRPr lang="en-US" sz="1300" dirty="0"/>
          </a:p>
        </p:txBody>
      </p:sp>
      <p:sp>
        <p:nvSpPr>
          <p:cNvPr id="34" name="TextBox 33"/>
          <p:cNvSpPr txBox="1"/>
          <p:nvPr/>
        </p:nvSpPr>
        <p:spPr>
          <a:xfrm>
            <a:off x="6729969" y="36462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Node(2)</a:t>
            </a:r>
            <a:endParaRPr lang="en-US" sz="1300" dirty="0"/>
          </a:p>
        </p:txBody>
      </p:sp>
      <p:sp>
        <p:nvSpPr>
          <p:cNvPr id="35" name="TextBox 34"/>
          <p:cNvSpPr txBox="1"/>
          <p:nvPr/>
        </p:nvSpPr>
        <p:spPr>
          <a:xfrm>
            <a:off x="4618268" y="3609000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Node(0)</a:t>
            </a:r>
            <a:endParaRPr lang="en-US" sz="1300" dirty="0"/>
          </a:p>
        </p:txBody>
      </p:sp>
      <p:sp>
        <p:nvSpPr>
          <p:cNvPr id="36" name="TextBox 35"/>
          <p:cNvSpPr txBox="1"/>
          <p:nvPr/>
        </p:nvSpPr>
        <p:spPr>
          <a:xfrm>
            <a:off x="5711769" y="36272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Node(1)</a:t>
            </a:r>
            <a:endParaRPr lang="en-US" sz="1300" dirty="0"/>
          </a:p>
        </p:txBody>
      </p:sp>
      <p:pic>
        <p:nvPicPr>
          <p:cNvPr id="37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662669" y="38240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52450" y="39002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9" name="Straight Arrow Connector 38"/>
          <p:cNvCxnSpPr/>
          <p:nvPr/>
        </p:nvCxnSpPr>
        <p:spPr>
          <a:xfrm flipV="1">
            <a:off x="933450" y="4205062"/>
            <a:ext cx="685800" cy="762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119869" y="4205062"/>
            <a:ext cx="533400" cy="3048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617661" y="43066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Node(11)</a:t>
            </a:r>
            <a:endParaRPr lang="en-US" sz="1300" dirty="0"/>
          </a:p>
        </p:txBody>
      </p:sp>
      <p:sp>
        <p:nvSpPr>
          <p:cNvPr id="42" name="TextBox 41"/>
          <p:cNvSpPr txBox="1"/>
          <p:nvPr/>
        </p:nvSpPr>
        <p:spPr>
          <a:xfrm>
            <a:off x="407670" y="441080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Node(12)</a:t>
            </a:r>
            <a:endParaRPr lang="en-US" sz="1300" dirty="0"/>
          </a:p>
        </p:txBody>
      </p:sp>
      <p:pic>
        <p:nvPicPr>
          <p:cNvPr id="43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71450" y="28334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4" name="Straight Arrow Connector 43"/>
          <p:cNvCxnSpPr>
            <a:endCxn id="38" idx="0"/>
          </p:cNvCxnSpPr>
          <p:nvPr/>
        </p:nvCxnSpPr>
        <p:spPr>
          <a:xfrm rot="16200000" flipH="1">
            <a:off x="400050" y="3519262"/>
            <a:ext cx="533400" cy="2286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0" y="330971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Node(14)</a:t>
            </a:r>
            <a:endParaRPr lang="en-US" sz="1300" dirty="0"/>
          </a:p>
        </p:txBody>
      </p:sp>
      <p:pic>
        <p:nvPicPr>
          <p:cNvPr id="4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847850" y="14618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7" name="Straight Arrow Connector 46"/>
          <p:cNvCxnSpPr/>
          <p:nvPr/>
        </p:nvCxnSpPr>
        <p:spPr>
          <a:xfrm>
            <a:off x="2305050" y="1842862"/>
            <a:ext cx="914400" cy="23018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95450" y="19952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Node(15)</a:t>
            </a:r>
            <a:endParaRPr lang="en-US" sz="1300" dirty="0"/>
          </a:p>
        </p:txBody>
      </p:sp>
      <p:pic>
        <p:nvPicPr>
          <p:cNvPr id="49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2228850" y="25286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TextBox 49"/>
          <p:cNvSpPr txBox="1"/>
          <p:nvPr/>
        </p:nvSpPr>
        <p:spPr>
          <a:xfrm>
            <a:off x="2039208" y="2995960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Node(16)</a:t>
            </a:r>
            <a:endParaRPr lang="en-US" sz="1300" dirty="0"/>
          </a:p>
        </p:txBody>
      </p:sp>
      <p:cxnSp>
        <p:nvCxnSpPr>
          <p:cNvPr id="51" name="Straight Arrow Connector 50"/>
          <p:cNvCxnSpPr>
            <a:endCxn id="31" idx="1"/>
          </p:cNvCxnSpPr>
          <p:nvPr/>
        </p:nvCxnSpPr>
        <p:spPr>
          <a:xfrm flipV="1">
            <a:off x="2609850" y="2319256"/>
            <a:ext cx="588488" cy="51420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297930" y="13094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TextBox 52"/>
          <p:cNvSpPr txBox="1"/>
          <p:nvPr/>
        </p:nvSpPr>
        <p:spPr>
          <a:xfrm>
            <a:off x="6207441" y="18428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Node(17)</a:t>
            </a:r>
            <a:endParaRPr lang="en-US" sz="1300" dirty="0"/>
          </a:p>
        </p:txBody>
      </p:sp>
      <p:pic>
        <p:nvPicPr>
          <p:cNvPr id="5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7364730" y="16142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" name="TextBox 54"/>
          <p:cNvSpPr txBox="1"/>
          <p:nvPr/>
        </p:nvSpPr>
        <p:spPr>
          <a:xfrm>
            <a:off x="7274241" y="21476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Node(18)</a:t>
            </a:r>
            <a:endParaRPr lang="en-US" sz="1300" dirty="0"/>
          </a:p>
        </p:txBody>
      </p:sp>
      <p:pic>
        <p:nvPicPr>
          <p:cNvPr id="5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8260080" y="12354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" name="TextBox 56"/>
          <p:cNvSpPr txBox="1"/>
          <p:nvPr/>
        </p:nvSpPr>
        <p:spPr>
          <a:xfrm>
            <a:off x="8169591" y="1768894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Node(19)</a:t>
            </a:r>
            <a:endParaRPr lang="en-US" sz="1300" dirty="0"/>
          </a:p>
        </p:txBody>
      </p:sp>
      <p:pic>
        <p:nvPicPr>
          <p:cNvPr id="5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7785100" y="31531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" name="TextBox 58"/>
          <p:cNvSpPr txBox="1"/>
          <p:nvPr/>
        </p:nvSpPr>
        <p:spPr>
          <a:xfrm>
            <a:off x="7683594" y="362049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Node(20)</a:t>
            </a:r>
            <a:endParaRPr lang="en-US" sz="1300" dirty="0"/>
          </a:p>
        </p:txBody>
      </p:sp>
      <p:cxnSp>
        <p:nvCxnSpPr>
          <p:cNvPr id="60" name="Straight Arrow Connector 59"/>
          <p:cNvCxnSpPr/>
          <p:nvPr/>
        </p:nvCxnSpPr>
        <p:spPr>
          <a:xfrm flipV="1">
            <a:off x="5791200" y="1768894"/>
            <a:ext cx="457200" cy="37114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6705600" y="1759042"/>
            <a:ext cx="609600" cy="23845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7772400" y="1692694"/>
            <a:ext cx="457200" cy="29494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7162800" y="3597694"/>
            <a:ext cx="6096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8162572" y="50454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" name="TextBox 64"/>
          <p:cNvSpPr txBox="1"/>
          <p:nvPr/>
        </p:nvSpPr>
        <p:spPr>
          <a:xfrm>
            <a:off x="8091135" y="5529677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Node(13)</a:t>
            </a:r>
            <a:endParaRPr lang="en-US" sz="1300" dirty="0"/>
          </a:p>
        </p:txBody>
      </p:sp>
      <p:cxnSp>
        <p:nvCxnSpPr>
          <p:cNvPr id="66" name="Straight Arrow Connector 65"/>
          <p:cNvCxnSpPr/>
          <p:nvPr/>
        </p:nvCxnSpPr>
        <p:spPr>
          <a:xfrm rot="10800000">
            <a:off x="7315202" y="5169321"/>
            <a:ext cx="761999" cy="30479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77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16365" y="5837727"/>
            <a:ext cx="9010221" cy="68670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Base station nodes send neighbor discovery packet:</a:t>
            </a:r>
          </a:p>
          <a:p>
            <a:pPr lvl="1"/>
            <a:r>
              <a:rPr lang="en-US" b="1" dirty="0" smtClean="0"/>
              <a:t>Node (1) (6) (7) </a:t>
            </a:r>
            <a:r>
              <a:rPr lang="en-US" dirty="0" smtClean="0"/>
              <a:t>are discovered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Neighbor Discovery Process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96343" y="3752617"/>
            <a:ext cx="1238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Base Station</a:t>
            </a:r>
            <a:endParaRPr lang="en-US" sz="1600" b="1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2738995" y="4200307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3691491" y="3676425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3272387" y="1695225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215365" y="210953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407660" y="18047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733529" y="316112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777469" y="316874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792199" y="31636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733529" y="470798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777469" y="4205062"/>
            <a:ext cx="457200" cy="517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839506" y="4705129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Straight Arrow Connector 16"/>
          <p:cNvCxnSpPr/>
          <p:nvPr/>
        </p:nvCxnSpPr>
        <p:spPr>
          <a:xfrm flipV="1">
            <a:off x="4085829" y="3610702"/>
            <a:ext cx="609600" cy="3810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6200000" flipV="1">
            <a:off x="4329669" y="2863942"/>
            <a:ext cx="685800" cy="3048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152629" y="3580222"/>
            <a:ext cx="6096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57720" y="4675418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Node(10)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3581400" y="41415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Node(6)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4666219" y="51956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Node(4)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6768069" y="51893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Node(3)</a:t>
            </a:r>
            <a:endParaRPr lang="en-US"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5713969" y="46622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Node(5)</a:t>
            </a:r>
            <a:endParaRPr lang="en-US" sz="1300" dirty="0"/>
          </a:p>
        </p:txBody>
      </p:sp>
      <p:sp>
        <p:nvSpPr>
          <p:cNvPr id="31" name="TextBox 30"/>
          <p:cNvSpPr txBox="1"/>
          <p:nvPr/>
        </p:nvSpPr>
        <p:spPr>
          <a:xfrm>
            <a:off x="3198338" y="21730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 smtClean="0"/>
              <a:t>Node(8)</a:t>
            </a:r>
            <a:endParaRPr lang="en-US" sz="1300" dirty="0"/>
          </a:p>
        </p:txBody>
      </p:sp>
      <p:sp>
        <p:nvSpPr>
          <p:cNvPr id="32" name="TextBox 31"/>
          <p:cNvSpPr txBox="1"/>
          <p:nvPr/>
        </p:nvSpPr>
        <p:spPr>
          <a:xfrm>
            <a:off x="4043919" y="2592618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Node(7)</a:t>
            </a:r>
            <a:endParaRPr lang="en-US" sz="1300" dirty="0"/>
          </a:p>
        </p:txBody>
      </p:sp>
      <p:sp>
        <p:nvSpPr>
          <p:cNvPr id="33" name="TextBox 32"/>
          <p:cNvSpPr txBox="1"/>
          <p:nvPr/>
        </p:nvSpPr>
        <p:spPr>
          <a:xfrm>
            <a:off x="5334000" y="22810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Node(9)</a:t>
            </a:r>
            <a:endParaRPr lang="en-US" sz="1300" dirty="0"/>
          </a:p>
        </p:txBody>
      </p:sp>
      <p:sp>
        <p:nvSpPr>
          <p:cNvPr id="34" name="TextBox 33"/>
          <p:cNvSpPr txBox="1"/>
          <p:nvPr/>
        </p:nvSpPr>
        <p:spPr>
          <a:xfrm>
            <a:off x="6729969" y="36462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Node(2)</a:t>
            </a:r>
            <a:endParaRPr lang="en-US" sz="1300" dirty="0"/>
          </a:p>
        </p:txBody>
      </p:sp>
      <p:sp>
        <p:nvSpPr>
          <p:cNvPr id="35" name="TextBox 34"/>
          <p:cNvSpPr txBox="1"/>
          <p:nvPr/>
        </p:nvSpPr>
        <p:spPr>
          <a:xfrm>
            <a:off x="4618268" y="3609000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Node(0)</a:t>
            </a:r>
            <a:endParaRPr lang="en-US" sz="1300" dirty="0"/>
          </a:p>
        </p:txBody>
      </p:sp>
      <p:sp>
        <p:nvSpPr>
          <p:cNvPr id="36" name="TextBox 35"/>
          <p:cNvSpPr txBox="1"/>
          <p:nvPr/>
        </p:nvSpPr>
        <p:spPr>
          <a:xfrm>
            <a:off x="5711769" y="36272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Node(1)</a:t>
            </a:r>
            <a:endParaRPr lang="en-US" sz="1300" dirty="0"/>
          </a:p>
        </p:txBody>
      </p:sp>
      <p:pic>
        <p:nvPicPr>
          <p:cNvPr id="37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662669" y="38240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52450" y="39002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1617661" y="43066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Node(11)</a:t>
            </a:r>
            <a:endParaRPr lang="en-US" sz="1300" dirty="0"/>
          </a:p>
        </p:txBody>
      </p:sp>
      <p:sp>
        <p:nvSpPr>
          <p:cNvPr id="42" name="TextBox 41"/>
          <p:cNvSpPr txBox="1"/>
          <p:nvPr/>
        </p:nvSpPr>
        <p:spPr>
          <a:xfrm>
            <a:off x="407670" y="441080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Node(12)</a:t>
            </a:r>
            <a:endParaRPr lang="en-US" sz="1300" dirty="0"/>
          </a:p>
        </p:txBody>
      </p:sp>
      <p:pic>
        <p:nvPicPr>
          <p:cNvPr id="43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71450" y="28334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TextBox 44"/>
          <p:cNvSpPr txBox="1"/>
          <p:nvPr/>
        </p:nvSpPr>
        <p:spPr>
          <a:xfrm>
            <a:off x="0" y="330971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Node(14)</a:t>
            </a:r>
            <a:endParaRPr lang="en-US" sz="1300" dirty="0"/>
          </a:p>
        </p:txBody>
      </p:sp>
      <p:pic>
        <p:nvPicPr>
          <p:cNvPr id="4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847850" y="14618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" name="TextBox 47"/>
          <p:cNvSpPr txBox="1"/>
          <p:nvPr/>
        </p:nvSpPr>
        <p:spPr>
          <a:xfrm>
            <a:off x="1695450" y="19952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Node(15)</a:t>
            </a:r>
            <a:endParaRPr lang="en-US" sz="1300" dirty="0"/>
          </a:p>
        </p:txBody>
      </p:sp>
      <p:pic>
        <p:nvPicPr>
          <p:cNvPr id="49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2228850" y="25286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TextBox 49"/>
          <p:cNvSpPr txBox="1"/>
          <p:nvPr/>
        </p:nvSpPr>
        <p:spPr>
          <a:xfrm>
            <a:off x="2039208" y="2995960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Node(16)</a:t>
            </a:r>
            <a:endParaRPr lang="en-US" sz="1300" dirty="0"/>
          </a:p>
        </p:txBody>
      </p:sp>
      <p:pic>
        <p:nvPicPr>
          <p:cNvPr id="52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297930" y="13094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TextBox 52"/>
          <p:cNvSpPr txBox="1"/>
          <p:nvPr/>
        </p:nvSpPr>
        <p:spPr>
          <a:xfrm>
            <a:off x="6207441" y="18428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Node(17)</a:t>
            </a:r>
            <a:endParaRPr lang="en-US" sz="1300" dirty="0"/>
          </a:p>
        </p:txBody>
      </p:sp>
      <p:pic>
        <p:nvPicPr>
          <p:cNvPr id="5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7364730" y="16142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" name="TextBox 54"/>
          <p:cNvSpPr txBox="1"/>
          <p:nvPr/>
        </p:nvSpPr>
        <p:spPr>
          <a:xfrm>
            <a:off x="7274241" y="21476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Node(18)</a:t>
            </a:r>
            <a:endParaRPr lang="en-US" sz="1300" dirty="0"/>
          </a:p>
        </p:txBody>
      </p:sp>
      <p:pic>
        <p:nvPicPr>
          <p:cNvPr id="5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8260080" y="12354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" name="TextBox 56"/>
          <p:cNvSpPr txBox="1"/>
          <p:nvPr/>
        </p:nvSpPr>
        <p:spPr>
          <a:xfrm>
            <a:off x="8169591" y="1768894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Node(19)</a:t>
            </a:r>
            <a:endParaRPr lang="en-US" sz="1300" dirty="0"/>
          </a:p>
        </p:txBody>
      </p:sp>
      <p:pic>
        <p:nvPicPr>
          <p:cNvPr id="5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7785100" y="31531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" name="TextBox 58"/>
          <p:cNvSpPr txBox="1"/>
          <p:nvPr/>
        </p:nvSpPr>
        <p:spPr>
          <a:xfrm>
            <a:off x="7683594" y="362049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Node(20)</a:t>
            </a:r>
            <a:endParaRPr lang="en-US" sz="1300" dirty="0"/>
          </a:p>
        </p:txBody>
      </p:sp>
      <p:pic>
        <p:nvPicPr>
          <p:cNvPr id="6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8162572" y="50454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4859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5752021"/>
            <a:ext cx="9010221" cy="968254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Node (7) sends neighbor discovery packet:</a:t>
            </a:r>
          </a:p>
          <a:p>
            <a:pPr lvl="1"/>
            <a:r>
              <a:rPr lang="en-US" dirty="0" smtClean="0"/>
              <a:t>Node (8) and  (9) response</a:t>
            </a:r>
          </a:p>
          <a:p>
            <a:pPr lvl="1"/>
            <a:r>
              <a:rPr lang="en-US" dirty="0" smtClean="0"/>
              <a:t>(8) and (9) are added to the forward table of node (7)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Neighbor Discovery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6343" y="3752617"/>
            <a:ext cx="1238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Base Station</a:t>
            </a:r>
            <a:endParaRPr lang="en-US" sz="1600" b="1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2738995" y="4200307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3691491" y="3676425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3272387" y="1695225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215365" y="210953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407660" y="18047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733529" y="316112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777469" y="316874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792199" y="31636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733529" y="470798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777469" y="4205062"/>
            <a:ext cx="457200" cy="517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839506" y="4705129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" name="Straight Arrow Connector 15"/>
          <p:cNvCxnSpPr/>
          <p:nvPr/>
        </p:nvCxnSpPr>
        <p:spPr>
          <a:xfrm flipV="1">
            <a:off x="4085829" y="3610702"/>
            <a:ext cx="609600" cy="3810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6200000" flipV="1">
            <a:off x="4329669" y="2863942"/>
            <a:ext cx="685800" cy="3048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152629" y="3580222"/>
            <a:ext cx="6096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57720" y="4675418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Node(10)</a:t>
            </a:r>
            <a:endParaRPr lang="en-US" sz="1300" dirty="0"/>
          </a:p>
        </p:txBody>
      </p:sp>
      <p:sp>
        <p:nvSpPr>
          <p:cNvPr id="20" name="TextBox 19"/>
          <p:cNvSpPr txBox="1"/>
          <p:nvPr/>
        </p:nvSpPr>
        <p:spPr>
          <a:xfrm>
            <a:off x="3581400" y="41415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Node(6)</a:t>
            </a:r>
            <a:endParaRPr lang="en-US" sz="1300" dirty="0"/>
          </a:p>
        </p:txBody>
      </p:sp>
      <p:sp>
        <p:nvSpPr>
          <p:cNvPr id="21" name="TextBox 20"/>
          <p:cNvSpPr txBox="1"/>
          <p:nvPr/>
        </p:nvSpPr>
        <p:spPr>
          <a:xfrm>
            <a:off x="4666219" y="51956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Node(4)</a:t>
            </a:r>
            <a:endParaRPr lang="en-US" sz="1300" dirty="0"/>
          </a:p>
        </p:txBody>
      </p:sp>
      <p:sp>
        <p:nvSpPr>
          <p:cNvPr id="22" name="TextBox 21"/>
          <p:cNvSpPr txBox="1"/>
          <p:nvPr/>
        </p:nvSpPr>
        <p:spPr>
          <a:xfrm>
            <a:off x="6768069" y="51893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Node(3)</a:t>
            </a:r>
            <a:endParaRPr lang="en-US" sz="1300" dirty="0"/>
          </a:p>
        </p:txBody>
      </p:sp>
      <p:sp>
        <p:nvSpPr>
          <p:cNvPr id="23" name="TextBox 22"/>
          <p:cNvSpPr txBox="1"/>
          <p:nvPr/>
        </p:nvSpPr>
        <p:spPr>
          <a:xfrm>
            <a:off x="5713969" y="46622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Node(5)</a:t>
            </a:r>
            <a:endParaRPr lang="en-US" sz="1300" dirty="0"/>
          </a:p>
        </p:txBody>
      </p:sp>
      <p:sp>
        <p:nvSpPr>
          <p:cNvPr id="24" name="TextBox 23"/>
          <p:cNvSpPr txBox="1"/>
          <p:nvPr/>
        </p:nvSpPr>
        <p:spPr>
          <a:xfrm>
            <a:off x="3198338" y="21730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 smtClean="0"/>
              <a:t>Node(8)</a:t>
            </a:r>
            <a:endParaRPr lang="en-US" sz="1300" dirty="0"/>
          </a:p>
        </p:txBody>
      </p:sp>
      <p:sp>
        <p:nvSpPr>
          <p:cNvPr id="25" name="TextBox 24"/>
          <p:cNvSpPr txBox="1"/>
          <p:nvPr/>
        </p:nvSpPr>
        <p:spPr>
          <a:xfrm>
            <a:off x="4043919" y="2592618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Node(7)</a:t>
            </a:r>
            <a:endParaRPr lang="en-US" sz="1300" dirty="0"/>
          </a:p>
        </p:txBody>
      </p:sp>
      <p:sp>
        <p:nvSpPr>
          <p:cNvPr id="26" name="TextBox 25"/>
          <p:cNvSpPr txBox="1"/>
          <p:nvPr/>
        </p:nvSpPr>
        <p:spPr>
          <a:xfrm>
            <a:off x="5334000" y="22810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Node(9)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6729969" y="36462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Node(2)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4618268" y="3609000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Node(0)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5711769" y="36272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Node(1)</a:t>
            </a:r>
            <a:endParaRPr lang="en-US" sz="1300" dirty="0"/>
          </a:p>
        </p:txBody>
      </p:sp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662669" y="38240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52450" y="39002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31"/>
          <p:cNvSpPr txBox="1"/>
          <p:nvPr/>
        </p:nvSpPr>
        <p:spPr>
          <a:xfrm>
            <a:off x="1617661" y="43066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Node(11)</a:t>
            </a:r>
            <a:endParaRPr lang="en-US" sz="1300" dirty="0"/>
          </a:p>
        </p:txBody>
      </p:sp>
      <p:sp>
        <p:nvSpPr>
          <p:cNvPr id="33" name="TextBox 32"/>
          <p:cNvSpPr txBox="1"/>
          <p:nvPr/>
        </p:nvSpPr>
        <p:spPr>
          <a:xfrm>
            <a:off x="407670" y="441080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Node(12)</a:t>
            </a:r>
            <a:endParaRPr lang="en-US" sz="1300" dirty="0"/>
          </a:p>
        </p:txBody>
      </p:sp>
      <p:pic>
        <p:nvPicPr>
          <p:cNvPr id="3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71450" y="28334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TextBox 34"/>
          <p:cNvSpPr txBox="1"/>
          <p:nvPr/>
        </p:nvSpPr>
        <p:spPr>
          <a:xfrm>
            <a:off x="0" y="330971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Node(14)</a:t>
            </a:r>
            <a:endParaRPr lang="en-US" sz="1300" dirty="0"/>
          </a:p>
        </p:txBody>
      </p: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847850" y="14618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TextBox 36"/>
          <p:cNvSpPr txBox="1"/>
          <p:nvPr/>
        </p:nvSpPr>
        <p:spPr>
          <a:xfrm>
            <a:off x="1695450" y="19952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Node(15)</a:t>
            </a:r>
            <a:endParaRPr lang="en-US" sz="1300" dirty="0"/>
          </a:p>
        </p:txBody>
      </p:sp>
      <p:pic>
        <p:nvPicPr>
          <p:cNvPr id="3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2228850" y="25286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TextBox 38"/>
          <p:cNvSpPr txBox="1"/>
          <p:nvPr/>
        </p:nvSpPr>
        <p:spPr>
          <a:xfrm>
            <a:off x="2039208" y="2995960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Node(16)</a:t>
            </a:r>
            <a:endParaRPr lang="en-US" sz="1300" dirty="0"/>
          </a:p>
        </p:txBody>
      </p:sp>
      <p:pic>
        <p:nvPicPr>
          <p:cNvPr id="40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297930" y="13094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6207441" y="18428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Node(17)</a:t>
            </a:r>
            <a:endParaRPr lang="en-US" sz="1300" dirty="0"/>
          </a:p>
        </p:txBody>
      </p:sp>
      <p:pic>
        <p:nvPicPr>
          <p:cNvPr id="42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7364730" y="16142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" name="TextBox 42"/>
          <p:cNvSpPr txBox="1"/>
          <p:nvPr/>
        </p:nvSpPr>
        <p:spPr>
          <a:xfrm>
            <a:off x="7274241" y="21476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Node(18)</a:t>
            </a:r>
            <a:endParaRPr lang="en-US" sz="1300" dirty="0"/>
          </a:p>
        </p:txBody>
      </p:sp>
      <p:pic>
        <p:nvPicPr>
          <p:cNvPr id="4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8260080" y="12354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TextBox 44"/>
          <p:cNvSpPr txBox="1"/>
          <p:nvPr/>
        </p:nvSpPr>
        <p:spPr>
          <a:xfrm>
            <a:off x="8169591" y="1768894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Node(19)</a:t>
            </a:r>
            <a:endParaRPr lang="en-US" sz="1300" dirty="0"/>
          </a:p>
        </p:txBody>
      </p:sp>
      <p:pic>
        <p:nvPicPr>
          <p:cNvPr id="4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7785100" y="31531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TextBox 46"/>
          <p:cNvSpPr txBox="1"/>
          <p:nvPr/>
        </p:nvSpPr>
        <p:spPr>
          <a:xfrm>
            <a:off x="7683594" y="362049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Node(20)</a:t>
            </a:r>
            <a:endParaRPr lang="en-US" sz="1300" dirty="0"/>
          </a:p>
        </p:txBody>
      </p:sp>
      <p:pic>
        <p:nvPicPr>
          <p:cNvPr id="4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8162572" y="50454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9" name="Straight Arrow Connector 48"/>
          <p:cNvCxnSpPr/>
          <p:nvPr/>
        </p:nvCxnSpPr>
        <p:spPr>
          <a:xfrm>
            <a:off x="3666729" y="2094322"/>
            <a:ext cx="571496" cy="30477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4619229" y="2302294"/>
            <a:ext cx="714771" cy="21874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076180"/>
              </p:ext>
            </p:extLst>
          </p:nvPr>
        </p:nvGraphicFramePr>
        <p:xfrm>
          <a:off x="4692853" y="1098642"/>
          <a:ext cx="662299" cy="951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299"/>
              </a:tblGrid>
              <a:tr h="44854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Forward</a:t>
                      </a:r>
                      <a:r>
                        <a:rPr lang="en-US" sz="1050" baseline="0" dirty="0" smtClean="0"/>
                        <a:t> Table</a:t>
                      </a:r>
                      <a:endParaRPr lang="en-US" sz="1050" dirty="0"/>
                    </a:p>
                  </a:txBody>
                  <a:tcPr/>
                </a:tc>
              </a:tr>
              <a:tr h="197361"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Node</a:t>
                      </a:r>
                      <a:r>
                        <a:rPr lang="en-US" sz="1050" baseline="0" dirty="0" smtClean="0"/>
                        <a:t> (8)</a:t>
                      </a:r>
                      <a:endParaRPr lang="en-US" sz="1050" dirty="0"/>
                    </a:p>
                  </a:txBody>
                  <a:tcPr/>
                </a:tc>
              </a:tr>
              <a:tr h="197361"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Node (9)</a:t>
                      </a:r>
                      <a:endParaRPr lang="en-US" sz="105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95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5700045"/>
            <a:ext cx="9010221" cy="102023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Node (0) send data request packet to Node 8.</a:t>
            </a:r>
          </a:p>
          <a:p>
            <a:r>
              <a:rPr lang="en-US" dirty="0" smtClean="0"/>
              <a:t>Node (7) forwards this packet</a:t>
            </a:r>
          </a:p>
          <a:p>
            <a:r>
              <a:rPr lang="en-US" dirty="0" smtClean="0"/>
              <a:t>Node (8) response to Node (7) and then, forward to Node (0)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Request Process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96343" y="3752617"/>
            <a:ext cx="1238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Base Station</a:t>
            </a:r>
            <a:endParaRPr lang="en-US" sz="1600" b="1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2738995" y="4200307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3691491" y="3676425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3272387" y="1695225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215365" y="210953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407660" y="18047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733529" y="316112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777469" y="316874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792199" y="31636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4733529" y="470798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777469" y="4205062"/>
            <a:ext cx="457200" cy="517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839506" y="4705129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" name="Straight Arrow Connector 15"/>
          <p:cNvCxnSpPr/>
          <p:nvPr/>
        </p:nvCxnSpPr>
        <p:spPr>
          <a:xfrm flipV="1">
            <a:off x="4085829" y="3610702"/>
            <a:ext cx="609600" cy="3810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6200000" flipV="1">
            <a:off x="4329669" y="2863942"/>
            <a:ext cx="685800" cy="3048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152629" y="3580222"/>
            <a:ext cx="6096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57720" y="4675418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Node(10)</a:t>
            </a:r>
            <a:endParaRPr lang="en-US" sz="1300" dirty="0"/>
          </a:p>
        </p:txBody>
      </p:sp>
      <p:sp>
        <p:nvSpPr>
          <p:cNvPr id="20" name="TextBox 19"/>
          <p:cNvSpPr txBox="1"/>
          <p:nvPr/>
        </p:nvSpPr>
        <p:spPr>
          <a:xfrm>
            <a:off x="3581400" y="41415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Node(6)</a:t>
            </a:r>
            <a:endParaRPr lang="en-US" sz="1300" dirty="0"/>
          </a:p>
        </p:txBody>
      </p:sp>
      <p:sp>
        <p:nvSpPr>
          <p:cNvPr id="21" name="TextBox 20"/>
          <p:cNvSpPr txBox="1"/>
          <p:nvPr/>
        </p:nvSpPr>
        <p:spPr>
          <a:xfrm>
            <a:off x="4666219" y="51956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Node(4)</a:t>
            </a:r>
            <a:endParaRPr lang="en-US" sz="1300" dirty="0"/>
          </a:p>
        </p:txBody>
      </p:sp>
      <p:sp>
        <p:nvSpPr>
          <p:cNvPr id="22" name="TextBox 21"/>
          <p:cNvSpPr txBox="1"/>
          <p:nvPr/>
        </p:nvSpPr>
        <p:spPr>
          <a:xfrm>
            <a:off x="6768069" y="51893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Node(3)</a:t>
            </a:r>
            <a:endParaRPr lang="en-US" sz="1300" dirty="0"/>
          </a:p>
        </p:txBody>
      </p:sp>
      <p:sp>
        <p:nvSpPr>
          <p:cNvPr id="23" name="TextBox 22"/>
          <p:cNvSpPr txBox="1"/>
          <p:nvPr/>
        </p:nvSpPr>
        <p:spPr>
          <a:xfrm>
            <a:off x="5713969" y="46622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Node(5)</a:t>
            </a:r>
            <a:endParaRPr lang="en-US" sz="1300" dirty="0"/>
          </a:p>
        </p:txBody>
      </p:sp>
      <p:sp>
        <p:nvSpPr>
          <p:cNvPr id="24" name="TextBox 23"/>
          <p:cNvSpPr txBox="1"/>
          <p:nvPr/>
        </p:nvSpPr>
        <p:spPr>
          <a:xfrm>
            <a:off x="3198338" y="21730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 smtClean="0"/>
              <a:t>Node(8)</a:t>
            </a:r>
            <a:endParaRPr lang="en-US" sz="1300" dirty="0"/>
          </a:p>
        </p:txBody>
      </p:sp>
      <p:sp>
        <p:nvSpPr>
          <p:cNvPr id="25" name="TextBox 24"/>
          <p:cNvSpPr txBox="1"/>
          <p:nvPr/>
        </p:nvSpPr>
        <p:spPr>
          <a:xfrm>
            <a:off x="4043919" y="2592618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Node(7)</a:t>
            </a:r>
            <a:endParaRPr lang="en-US" sz="1300" dirty="0"/>
          </a:p>
        </p:txBody>
      </p:sp>
      <p:sp>
        <p:nvSpPr>
          <p:cNvPr id="26" name="TextBox 25"/>
          <p:cNvSpPr txBox="1"/>
          <p:nvPr/>
        </p:nvSpPr>
        <p:spPr>
          <a:xfrm>
            <a:off x="5334000" y="22810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Node(9)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6729969" y="364626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Node(2)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4618268" y="3609000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Node(0)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5711769" y="3627212"/>
            <a:ext cx="7393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Node(1)</a:t>
            </a:r>
            <a:endParaRPr lang="en-US" sz="1300" dirty="0"/>
          </a:p>
        </p:txBody>
      </p:sp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662669" y="38240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552450" y="39002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31"/>
          <p:cNvSpPr txBox="1"/>
          <p:nvPr/>
        </p:nvSpPr>
        <p:spPr>
          <a:xfrm>
            <a:off x="1617661" y="43066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Node(11)</a:t>
            </a:r>
            <a:endParaRPr lang="en-US" sz="1300" dirty="0"/>
          </a:p>
        </p:txBody>
      </p:sp>
      <p:sp>
        <p:nvSpPr>
          <p:cNvPr id="33" name="TextBox 32"/>
          <p:cNvSpPr txBox="1"/>
          <p:nvPr/>
        </p:nvSpPr>
        <p:spPr>
          <a:xfrm>
            <a:off x="407670" y="441080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Node(12)</a:t>
            </a:r>
            <a:endParaRPr lang="en-US" sz="1300" dirty="0"/>
          </a:p>
        </p:txBody>
      </p:sp>
      <p:pic>
        <p:nvPicPr>
          <p:cNvPr id="3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71450" y="28334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TextBox 34"/>
          <p:cNvSpPr txBox="1"/>
          <p:nvPr/>
        </p:nvSpPr>
        <p:spPr>
          <a:xfrm>
            <a:off x="0" y="330971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Node(14)</a:t>
            </a:r>
            <a:endParaRPr lang="en-US" sz="1300" dirty="0"/>
          </a:p>
        </p:txBody>
      </p: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1847850" y="14618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TextBox 36"/>
          <p:cNvSpPr txBox="1"/>
          <p:nvPr/>
        </p:nvSpPr>
        <p:spPr>
          <a:xfrm>
            <a:off x="1695450" y="19952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Node(15)</a:t>
            </a:r>
            <a:endParaRPr lang="en-US" sz="1300" dirty="0"/>
          </a:p>
        </p:txBody>
      </p:sp>
      <p:pic>
        <p:nvPicPr>
          <p:cNvPr id="3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2228850" y="25286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TextBox 38"/>
          <p:cNvSpPr txBox="1"/>
          <p:nvPr/>
        </p:nvSpPr>
        <p:spPr>
          <a:xfrm>
            <a:off x="2039208" y="2995960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Node(16)</a:t>
            </a:r>
            <a:endParaRPr lang="en-US" sz="1300" dirty="0"/>
          </a:p>
        </p:txBody>
      </p:sp>
      <p:pic>
        <p:nvPicPr>
          <p:cNvPr id="40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6297930" y="13094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6207441" y="18428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Node(17)</a:t>
            </a:r>
            <a:endParaRPr lang="en-US" sz="1300" dirty="0"/>
          </a:p>
        </p:txBody>
      </p:sp>
      <p:pic>
        <p:nvPicPr>
          <p:cNvPr id="42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7364730" y="1614262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" name="TextBox 42"/>
          <p:cNvSpPr txBox="1"/>
          <p:nvPr/>
        </p:nvSpPr>
        <p:spPr>
          <a:xfrm>
            <a:off x="7274241" y="214766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Node(18)</a:t>
            </a:r>
            <a:endParaRPr lang="en-US" sz="1300" dirty="0"/>
          </a:p>
        </p:txBody>
      </p:sp>
      <p:pic>
        <p:nvPicPr>
          <p:cNvPr id="44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8260080" y="12354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TextBox 44"/>
          <p:cNvSpPr txBox="1"/>
          <p:nvPr/>
        </p:nvSpPr>
        <p:spPr>
          <a:xfrm>
            <a:off x="8169591" y="1768894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Node(19)</a:t>
            </a:r>
            <a:endParaRPr lang="en-US" sz="1300" dirty="0"/>
          </a:p>
        </p:txBody>
      </p:sp>
      <p:pic>
        <p:nvPicPr>
          <p:cNvPr id="46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7785100" y="31531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TextBox 46"/>
          <p:cNvSpPr txBox="1"/>
          <p:nvPr/>
        </p:nvSpPr>
        <p:spPr>
          <a:xfrm>
            <a:off x="7683594" y="3620492"/>
            <a:ext cx="8242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smtClean="0"/>
              <a:t>Node(20)</a:t>
            </a:r>
            <a:endParaRPr lang="en-US" sz="1300" dirty="0"/>
          </a:p>
        </p:txBody>
      </p:sp>
      <p:pic>
        <p:nvPicPr>
          <p:cNvPr id="48" name="Picture 6"/>
          <p:cNvPicPr>
            <a:picLocks noChangeAspect="1" noChangeArrowheads="1"/>
          </p:cNvPicPr>
          <p:nvPr/>
        </p:nvPicPr>
        <p:blipFill>
          <a:blip r:embed="rId2" cstate="print"/>
          <a:srcRect r="6383" b="3825"/>
          <a:stretch>
            <a:fillRect/>
          </a:stretch>
        </p:blipFill>
        <p:spPr bwMode="auto">
          <a:xfrm>
            <a:off x="8162572" y="5045494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9" name="Straight Arrow Connector 48"/>
          <p:cNvCxnSpPr/>
          <p:nvPr/>
        </p:nvCxnSpPr>
        <p:spPr>
          <a:xfrm>
            <a:off x="3666729" y="2094322"/>
            <a:ext cx="571496" cy="30477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4619229" y="2302294"/>
            <a:ext cx="714771" cy="21874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02591"/>
              </p:ext>
            </p:extLst>
          </p:nvPr>
        </p:nvGraphicFramePr>
        <p:xfrm>
          <a:off x="4692853" y="1098642"/>
          <a:ext cx="662299" cy="951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299"/>
              </a:tblGrid>
              <a:tr h="44854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Forward</a:t>
                      </a:r>
                      <a:r>
                        <a:rPr lang="en-US" sz="1050" baseline="0" dirty="0" smtClean="0"/>
                        <a:t> Table</a:t>
                      </a:r>
                      <a:endParaRPr lang="en-US" sz="1050" dirty="0"/>
                    </a:p>
                  </a:txBody>
                  <a:tcPr/>
                </a:tc>
              </a:tr>
              <a:tr h="197361"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Node</a:t>
                      </a:r>
                      <a:r>
                        <a:rPr lang="en-US" sz="1050" baseline="0" dirty="0" smtClean="0"/>
                        <a:t> (8)</a:t>
                      </a:r>
                      <a:endParaRPr lang="en-US" sz="1050" dirty="0"/>
                    </a:p>
                  </a:txBody>
                  <a:tcPr/>
                </a:tc>
              </a:tr>
              <a:tr h="197361"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Node (9)</a:t>
                      </a:r>
                      <a:endParaRPr lang="en-US" sz="105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99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 presentat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presentation" id="{9308F140-5CDC-477D-BC4D-9C1906451284}" vid="{11C5112C-663B-4E6D-9D3D-2361F8FA32D6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FD44557-C150-4AA7-97B1-62E8021520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0</TotalTime>
  <Words>785</Words>
  <Application>Microsoft Office PowerPoint</Application>
  <PresentationFormat>On-screen Show (4:3)</PresentationFormat>
  <Paragraphs>195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Century Gothic</vt:lpstr>
      <vt:lpstr>Georgia</vt:lpstr>
      <vt:lpstr>Impact</vt:lpstr>
      <vt:lpstr>Tahoma</vt:lpstr>
      <vt:lpstr>Wingdings</vt:lpstr>
      <vt:lpstr>Wingdings 2</vt:lpstr>
      <vt:lpstr>Training presentation</vt:lpstr>
      <vt:lpstr>Wireless Communication in Internet of Things (IoT)</vt:lpstr>
      <vt:lpstr>IoTs based TCP/IP Architecture</vt:lpstr>
      <vt:lpstr>Medium Access Control (MAC) Protocol</vt:lpstr>
      <vt:lpstr>Simplest Protocol Design</vt:lpstr>
      <vt:lpstr>Implementation</vt:lpstr>
      <vt:lpstr>Example</vt:lpstr>
      <vt:lpstr>MAC Protocol in IoTs</vt:lpstr>
      <vt:lpstr>Advantage and Disadvantage</vt:lpstr>
      <vt:lpstr>Synchronous Protocols: S-MAC</vt:lpstr>
      <vt:lpstr>Synchronous Protocols: T-MAC</vt:lpstr>
      <vt:lpstr>Asynchronous Protocols</vt:lpstr>
      <vt:lpstr>Asynchronous Protocols</vt:lpstr>
      <vt:lpstr>Routing Protocol in IoTs</vt:lpstr>
      <vt:lpstr>Neighbor Discovery Process</vt:lpstr>
      <vt:lpstr>Neighbor Discovery Process</vt:lpstr>
      <vt:lpstr>Data Request Process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2014-07-29T03:47:45Z</dcterms:created>
  <dcterms:modified xsi:type="dcterms:W3CDTF">2019-10-03T08:00:14Z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