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34"/>
  </p:notesMasterIdLst>
  <p:handoutMasterIdLst>
    <p:handoutMasterId r:id="rId35"/>
  </p:handoutMasterIdLst>
  <p:sldIdLst>
    <p:sldId id="511" r:id="rId3"/>
    <p:sldId id="560" r:id="rId4"/>
    <p:sldId id="561" r:id="rId5"/>
    <p:sldId id="562" r:id="rId6"/>
    <p:sldId id="563" r:id="rId7"/>
    <p:sldId id="564" r:id="rId8"/>
    <p:sldId id="565" r:id="rId9"/>
    <p:sldId id="566" r:id="rId10"/>
    <p:sldId id="567" r:id="rId11"/>
    <p:sldId id="568" r:id="rId12"/>
    <p:sldId id="569" r:id="rId13"/>
    <p:sldId id="570" r:id="rId14"/>
    <p:sldId id="571" r:id="rId15"/>
    <p:sldId id="572" r:id="rId16"/>
    <p:sldId id="573" r:id="rId17"/>
    <p:sldId id="574" r:id="rId18"/>
    <p:sldId id="575" r:id="rId19"/>
    <p:sldId id="577" r:id="rId20"/>
    <p:sldId id="578" r:id="rId21"/>
    <p:sldId id="579" r:id="rId22"/>
    <p:sldId id="580" r:id="rId23"/>
    <p:sldId id="581" r:id="rId24"/>
    <p:sldId id="582" r:id="rId25"/>
    <p:sldId id="583" r:id="rId26"/>
    <p:sldId id="584" r:id="rId27"/>
    <p:sldId id="585" r:id="rId28"/>
    <p:sldId id="586" r:id="rId29"/>
    <p:sldId id="587" r:id="rId30"/>
    <p:sldId id="588" r:id="rId31"/>
    <p:sldId id="589" r:id="rId32"/>
    <p:sldId id="590" r:id="rId33"/>
  </p:sldIdLst>
  <p:sldSz cx="9144000" cy="6858000" type="screen4x3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72034" autoAdjust="0"/>
  </p:normalViewPr>
  <p:slideViewPr>
    <p:cSldViewPr snapToGrid="0">
      <p:cViewPr varScale="1">
        <p:scale>
          <a:sx n="64" d="100"/>
          <a:sy n="64" d="100"/>
        </p:scale>
        <p:origin x="1781" y="38"/>
      </p:cViewPr>
      <p:guideLst>
        <p:guide orient="horz" pos="2160"/>
        <p:guide pos="3840"/>
        <p:guide pos="7296"/>
        <p:guide orient="horz" pos="4128"/>
        <p:guide pos="2880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>
        <p:scale>
          <a:sx n="200" d="100"/>
          <a:sy n="200" d="100"/>
        </p:scale>
        <p:origin x="86" y="-44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68796EA6-6F25-4F19-87BA-7ADCC16DAEFF}" type="datetimeFigureOut">
              <a:rPr lang="en-US" smtClean="0"/>
              <a:t>11/16/2022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C39C172E-A8B5-46F6-B05C-DFA3E2E0F207}" type="datetimeFigureOut">
              <a:rPr lang="en-US" smtClean="0"/>
              <a:t>11/16/2022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3750" cy="3452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5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57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73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189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862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863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54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3750" cy="3452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753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e.hcmut.edu.vn/~anhpham" TargetMode="External"/><Relationship Id="rId2" Type="http://schemas.openxmlformats.org/officeDocument/2006/relationships/hyperlink" Target="mailto:anhpham@cse.hcmut.edu.vn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4" y="3810004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49495" y="3889662"/>
            <a:ext cx="4953000" cy="1752600"/>
          </a:xfrm>
        </p:spPr>
        <p:txBody>
          <a:bodyPr/>
          <a:lstStyle>
            <a:lvl1pPr marL="64006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6378" y="2401891"/>
            <a:ext cx="8458200" cy="1081307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529" y="1283517"/>
            <a:ext cx="9010221" cy="5436758"/>
          </a:xfrm>
        </p:spPr>
        <p:txBody>
          <a:bodyPr>
            <a:normAutofit/>
          </a:bodyPr>
          <a:lstStyle>
            <a:lvl1pPr marL="365751" indent="-256026">
              <a:buFont typeface="Wingdings" panose="05000000000000000000" pitchFamily="2" charset="2"/>
              <a:buChar char="§"/>
              <a:defRPr sz="26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algn="just">
              <a:defRPr sz="2400" baseline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General Information</a:t>
            </a:r>
          </a:p>
          <a:p>
            <a:pPr lvl="1" eaLnBrk="1" latinLnBrk="0" hangingPunct="1"/>
            <a:r>
              <a:rPr lang="en-US" dirty="0"/>
              <a:t>CSE 504003</a:t>
            </a:r>
          </a:p>
          <a:p>
            <a:pPr lvl="1" eaLnBrk="1" latinLnBrk="0" hangingPunct="1"/>
            <a:r>
              <a:rPr lang="en-US" dirty="0"/>
              <a:t>3 credits</a:t>
            </a:r>
          </a:p>
          <a:p>
            <a:pPr lvl="1" eaLnBrk="1" latinLnBrk="0" hangingPunct="1"/>
            <a:endParaRPr lang="en-US" dirty="0"/>
          </a:p>
          <a:p>
            <a:pPr lvl="0" eaLnBrk="1" latinLnBrk="0" hangingPunct="1"/>
            <a:r>
              <a:rPr lang="en-US" dirty="0"/>
              <a:t>Coordinator </a:t>
            </a:r>
          </a:p>
          <a:p>
            <a:pPr lvl="1"/>
            <a:r>
              <a:rPr lang="en-US" dirty="0"/>
              <a:t>Pham Hoang </a:t>
            </a:r>
            <a:r>
              <a:rPr lang="en-US" dirty="0" err="1"/>
              <a:t>Anh</a:t>
            </a:r>
            <a:endParaRPr lang="en-US" dirty="0"/>
          </a:p>
          <a:p>
            <a:pPr lvl="1"/>
            <a:r>
              <a:rPr lang="en-US" dirty="0"/>
              <a:t>Dept. Computer Engineering, Faculty of Computer Science and Engineering, HCMC Uni. Of Technology </a:t>
            </a:r>
          </a:p>
          <a:p>
            <a:pPr lvl="1"/>
            <a:r>
              <a:rPr lang="en-US" dirty="0"/>
              <a:t>Email: </a:t>
            </a:r>
            <a:r>
              <a:rPr lang="en-US" dirty="0">
                <a:hlinkClick r:id="rId2"/>
              </a:rPr>
              <a:t>anhpham@cse.hcmut.edu.vn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Phone: (08)38647256 (Ext. 5843)</a:t>
            </a:r>
          </a:p>
          <a:p>
            <a:pPr lvl="1"/>
            <a:r>
              <a:rPr lang="en-US" dirty="0"/>
              <a:t>Homepage: </a:t>
            </a:r>
            <a:r>
              <a:rPr lang="en-US" dirty="0">
                <a:hlinkClick r:id="rId3"/>
              </a:rPr>
              <a:t>www.cse.hcmut.edu.vn/~anhpham</a:t>
            </a:r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29" y="475180"/>
            <a:ext cx="9010222" cy="749614"/>
          </a:xfrm>
        </p:spPr>
        <p:txBody>
          <a:bodyPr/>
          <a:lstStyle>
            <a:lvl1pPr>
              <a:defRPr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40262010-AD51-4252-9881-6947E88E89FD}" type="slidenum">
              <a:rPr lang="en-US" sz="1200" b="1" smtClean="0">
                <a:solidFill>
                  <a:schemeClr val="accent6">
                    <a:lumMod val="75000"/>
                  </a:schemeClr>
                </a:solidFill>
                <a:latin typeface="Century Gothic" pitchFamily="34" charset="0"/>
              </a:rPr>
              <a:pPr algn="ctr"/>
              <a:t>‹#›</a:t>
            </a:fld>
            <a:endParaRPr lang="en-US" sz="1200" b="1" dirty="0">
              <a:solidFill>
                <a:schemeClr val="accent6">
                  <a:lumMod val="75000"/>
                </a:schemeClr>
              </a:solidFill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19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4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8"/>
            <a:ext cx="40386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6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7" y="2244970"/>
            <a:ext cx="4041775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19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90"/>
            <a:ext cx="5102352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30"/>
            <a:ext cx="338328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12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6" y="1109162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483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483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4" y="36025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20F09E4-6EA4-4BF3-9FC8-FF40373B88E6}" type="datetime1">
              <a:rPr lang="en-US" smtClean="0"/>
              <a:t>11/16/2022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51" indent="-256026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52" indent="-246882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21" indent="-219451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47" indent="-201163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53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0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75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17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24" indent="-18287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797" y="971550"/>
            <a:ext cx="8650783" cy="251164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Algorithm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What is an Algorithm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934" y="4279569"/>
            <a:ext cx="3867646" cy="257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xperts on the Pros and Cons of Algorithms | Pew Research Cen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97" y="4279569"/>
            <a:ext cx="4624946" cy="231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21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3200" dirty="0"/>
              <a:t>An algorithm is “</a:t>
            </a:r>
            <a:r>
              <a:rPr lang="en-US" sz="3200" b="1" dirty="0"/>
              <a:t>a finite set of precise instructions for performing a computation or for solving a problem</a:t>
            </a:r>
            <a:r>
              <a:rPr lang="en-US" sz="3200" dirty="0"/>
              <a:t>”</a:t>
            </a:r>
          </a:p>
          <a:p>
            <a:pPr fontAlgn="base"/>
            <a:endParaRPr lang="en-US" sz="3400" dirty="0" smtClean="0"/>
          </a:p>
          <a:p>
            <a:pPr fontAlgn="base"/>
            <a:r>
              <a:rPr lang="en-US" sz="3400" dirty="0" smtClean="0"/>
              <a:t>A </a:t>
            </a:r>
            <a:r>
              <a:rPr lang="en-US" sz="3400" dirty="0"/>
              <a:t>program is one type of algorithm</a:t>
            </a:r>
          </a:p>
          <a:p>
            <a:pPr lvl="2" fontAlgn="base"/>
            <a:r>
              <a:rPr lang="en-US" sz="3200" dirty="0"/>
              <a:t>All programs are algorithms</a:t>
            </a:r>
          </a:p>
          <a:p>
            <a:pPr lvl="2" fontAlgn="base"/>
            <a:r>
              <a:rPr lang="en-US" sz="3200" dirty="0"/>
              <a:t>Not all algorithms are programs!</a:t>
            </a:r>
          </a:p>
          <a:p>
            <a:pPr fontAlgn="base"/>
            <a:endParaRPr lang="en-US" sz="3400" dirty="0" smtClean="0"/>
          </a:p>
          <a:p>
            <a:pPr fontAlgn="base"/>
            <a:r>
              <a:rPr lang="en-US" sz="3400" dirty="0" smtClean="0"/>
              <a:t>Design a scheduler for RTOS is an algorithm</a:t>
            </a:r>
            <a:endParaRPr lang="en-US" sz="34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an algorithm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73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400" dirty="0"/>
              <a:t>Some algorithms are easy</a:t>
            </a:r>
          </a:p>
          <a:p>
            <a:pPr lvl="1" fontAlgn="base"/>
            <a:r>
              <a:rPr lang="en-US" dirty="0"/>
              <a:t>Finding the largest (or smallest) value in a list</a:t>
            </a:r>
          </a:p>
          <a:p>
            <a:pPr lvl="1" fontAlgn="base"/>
            <a:r>
              <a:rPr lang="en-US" dirty="0"/>
              <a:t>Finding a specific value in a list</a:t>
            </a:r>
          </a:p>
          <a:p>
            <a:pPr fontAlgn="base"/>
            <a:r>
              <a:rPr lang="en-US" sz="2400" dirty="0"/>
              <a:t>Some algorithms are a bit harder</a:t>
            </a:r>
          </a:p>
          <a:p>
            <a:pPr lvl="1" fontAlgn="base"/>
            <a:r>
              <a:rPr lang="en-US" dirty="0"/>
              <a:t>Sorting a list</a:t>
            </a:r>
          </a:p>
          <a:p>
            <a:pPr fontAlgn="base"/>
            <a:r>
              <a:rPr lang="en-US" sz="2400" dirty="0"/>
              <a:t>Some algorithms are very hard</a:t>
            </a:r>
          </a:p>
          <a:p>
            <a:pPr lvl="1" fontAlgn="base"/>
            <a:r>
              <a:rPr lang="en-US" dirty="0"/>
              <a:t>Finding the shortest path between Miami and Seattle</a:t>
            </a:r>
          </a:p>
          <a:p>
            <a:pPr fontAlgn="base"/>
            <a:r>
              <a:rPr lang="en-US" sz="2400" dirty="0"/>
              <a:t>Some algorithms are essentially impossible</a:t>
            </a:r>
          </a:p>
          <a:p>
            <a:pPr lvl="1" fontAlgn="base"/>
            <a:r>
              <a:rPr lang="en-US" dirty="0"/>
              <a:t>Factoring large composite numbers</a:t>
            </a:r>
          </a:p>
          <a:p>
            <a:endParaRPr lang="en-US" dirty="0" smtClean="0"/>
          </a:p>
          <a:p>
            <a:pPr marL="109725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 Algorithm complexity needs to be considered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algorithms are harder than others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92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800" dirty="0"/>
              <a:t>Given a list, how do we find the maximum element in the list?</a:t>
            </a:r>
          </a:p>
          <a:p>
            <a:pPr fontAlgn="base"/>
            <a:r>
              <a:rPr lang="en-US" sz="2800" dirty="0" smtClean="0"/>
              <a:t>To express the algorithm, </a:t>
            </a:r>
            <a:r>
              <a:rPr lang="en-US" sz="2800" b="1" dirty="0" err="1" smtClean="0"/>
              <a:t>Pseudocode</a:t>
            </a:r>
            <a:r>
              <a:rPr lang="en-US" sz="2800" b="1" dirty="0" smtClean="0"/>
              <a:t> </a:t>
            </a:r>
            <a:r>
              <a:rPr lang="en-US" sz="2800" dirty="0" smtClean="0"/>
              <a:t>can be used</a:t>
            </a:r>
          </a:p>
          <a:p>
            <a:pPr marL="411470" lvl="1" indent="0" fontAlgn="base"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 1: Maximum </a:t>
            </a:r>
            <a:r>
              <a:rPr lang="en-US" dirty="0"/>
              <a:t>E</a:t>
            </a:r>
            <a:r>
              <a:rPr lang="en-US" dirty="0" smtClean="0"/>
              <a:t>lement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57639" y="3505200"/>
            <a:ext cx="4572000" cy="198515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285750" algn="just"/>
            <a:r>
              <a:rPr lang="en-US" b="1" dirty="0" smtClean="0">
                <a:latin typeface="Arial" panose="020B0604020202020204" pitchFamily="34" charset="0"/>
              </a:rPr>
              <a:t>procedure max(a1, a2, …, an: integers)</a:t>
            </a:r>
            <a:endParaRPr lang="en-US" b="1" dirty="0"/>
          </a:p>
          <a:p>
            <a:pPr marL="457200" indent="-285750" algn="just">
              <a:spcBef>
                <a:spcPts val="560"/>
              </a:spcBef>
            </a:pPr>
            <a:r>
              <a:rPr lang="en-US" b="1" i="1" dirty="0">
                <a:latin typeface="Arial" panose="020B0604020202020204" pitchFamily="34" charset="0"/>
              </a:rPr>
              <a:t>max</a:t>
            </a:r>
            <a:r>
              <a:rPr lang="en-US" b="1" dirty="0">
                <a:latin typeface="Arial" panose="020B0604020202020204" pitchFamily="34" charset="0"/>
              </a:rPr>
              <a:t> := </a:t>
            </a:r>
            <a:r>
              <a:rPr lang="en-US" b="1" i="1" dirty="0">
                <a:latin typeface="Arial" panose="020B0604020202020204" pitchFamily="34" charset="0"/>
              </a:rPr>
              <a:t>a</a:t>
            </a:r>
            <a:r>
              <a:rPr lang="en-US" b="1" baseline="-25000" dirty="0">
                <a:latin typeface="Arial" panose="020B0604020202020204" pitchFamily="34" charset="0"/>
              </a:rPr>
              <a:t>1</a:t>
            </a:r>
            <a:endParaRPr lang="en-US" b="1" dirty="0"/>
          </a:p>
          <a:p>
            <a:pPr marL="457200" indent="-285750" algn="just">
              <a:spcBef>
                <a:spcPts val="560"/>
              </a:spcBef>
            </a:pPr>
            <a:r>
              <a:rPr lang="en-US" b="1" dirty="0">
                <a:latin typeface="Arial" panose="020B0604020202020204" pitchFamily="34" charset="0"/>
              </a:rPr>
              <a:t>for </a:t>
            </a:r>
            <a:r>
              <a:rPr lang="en-US" b="1" i="1" dirty="0" err="1">
                <a:latin typeface="Arial" panose="020B0604020202020204" pitchFamily="34" charset="0"/>
              </a:rPr>
              <a:t>i</a:t>
            </a:r>
            <a:r>
              <a:rPr lang="en-US" b="1" dirty="0">
                <a:latin typeface="Arial" panose="020B0604020202020204" pitchFamily="34" charset="0"/>
              </a:rPr>
              <a:t> := 2 to n</a:t>
            </a:r>
            <a:endParaRPr lang="en-US" b="1" dirty="0"/>
          </a:p>
          <a:p>
            <a:pPr marL="457200" indent="-285750" algn="just">
              <a:spcBef>
                <a:spcPts val="56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if </a:t>
            </a:r>
            <a:r>
              <a:rPr lang="en-US" b="1" dirty="0">
                <a:latin typeface="Arial" panose="020B0604020202020204" pitchFamily="34" charset="0"/>
              </a:rPr>
              <a:t>max &lt; </a:t>
            </a:r>
            <a:r>
              <a:rPr lang="en-US" b="1" i="1" dirty="0" err="1">
                <a:latin typeface="Arial" panose="020B0604020202020204" pitchFamily="34" charset="0"/>
              </a:rPr>
              <a:t>a</a:t>
            </a:r>
            <a:r>
              <a:rPr lang="en-US" b="1" i="1" baseline="-25000" dirty="0" err="1">
                <a:latin typeface="Arial" panose="020B0604020202020204" pitchFamily="34" charset="0"/>
              </a:rPr>
              <a:t>i</a:t>
            </a:r>
            <a:r>
              <a:rPr lang="en-US" b="1" dirty="0">
                <a:latin typeface="Arial" panose="020B0604020202020204" pitchFamily="34" charset="0"/>
              </a:rPr>
              <a:t> then </a:t>
            </a:r>
            <a:r>
              <a:rPr lang="en-US" b="1" i="1" dirty="0">
                <a:latin typeface="Arial" panose="020B0604020202020204" pitchFamily="34" charset="0"/>
              </a:rPr>
              <a:t>max</a:t>
            </a:r>
            <a:r>
              <a:rPr lang="en-US" b="1" dirty="0">
                <a:latin typeface="Arial" panose="020B0604020202020204" pitchFamily="34" charset="0"/>
              </a:rPr>
              <a:t> := </a:t>
            </a:r>
            <a:r>
              <a:rPr lang="en-US" b="1" i="1" dirty="0" err="1">
                <a:latin typeface="Arial" panose="020B0604020202020204" pitchFamily="34" charset="0"/>
              </a:rPr>
              <a:t>a</a:t>
            </a:r>
            <a:r>
              <a:rPr lang="en-US" b="1" i="1" baseline="-25000" dirty="0" err="1">
                <a:latin typeface="Arial" panose="020B0604020202020204" pitchFamily="34" charset="0"/>
              </a:rPr>
              <a:t>i</a:t>
            </a:r>
            <a:endParaRPr lang="en-US" b="1" dirty="0"/>
          </a:p>
          <a:p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52490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800" dirty="0"/>
              <a:t>How long does this take?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sz="2800" dirty="0" smtClean="0"/>
              <a:t>If </a:t>
            </a:r>
            <a:r>
              <a:rPr lang="en-US" sz="2800" dirty="0"/>
              <a:t>the list has </a:t>
            </a:r>
            <a:r>
              <a:rPr lang="en-US" sz="2800" i="1" dirty="0"/>
              <a:t>n</a:t>
            </a:r>
            <a:r>
              <a:rPr lang="en-US" sz="2800" dirty="0"/>
              <a:t> elements, worst case scenario is that it takes </a:t>
            </a:r>
            <a:r>
              <a:rPr lang="en-US" sz="2800" i="1" dirty="0"/>
              <a:t>n</a:t>
            </a:r>
            <a:r>
              <a:rPr lang="en-US" sz="2800" dirty="0"/>
              <a:t> “steps”</a:t>
            </a:r>
          </a:p>
          <a:p>
            <a:pPr lvl="1" fontAlgn="base"/>
            <a:r>
              <a:rPr lang="en-US" dirty="0"/>
              <a:t>Here, a step is considered a single step through the list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element running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78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400" dirty="0"/>
              <a:t>Algorithms generally share a set of properties:</a:t>
            </a:r>
          </a:p>
          <a:p>
            <a:pPr lvl="1" fontAlgn="base"/>
            <a:r>
              <a:rPr lang="en-US" dirty="0"/>
              <a:t>Input: what the algorithm takes in as input</a:t>
            </a:r>
          </a:p>
          <a:p>
            <a:pPr lvl="1" fontAlgn="base"/>
            <a:r>
              <a:rPr lang="en-US" dirty="0"/>
              <a:t>Output: what the algorithm produces as output</a:t>
            </a:r>
          </a:p>
          <a:p>
            <a:pPr lvl="1" fontAlgn="base"/>
            <a:r>
              <a:rPr lang="en-US" dirty="0"/>
              <a:t>Definiteness: the steps are defined precisely</a:t>
            </a:r>
          </a:p>
          <a:p>
            <a:pPr lvl="1" fontAlgn="base"/>
            <a:r>
              <a:rPr lang="en-US" dirty="0"/>
              <a:t>Correctness: should produce the correct output</a:t>
            </a:r>
          </a:p>
          <a:p>
            <a:pPr lvl="1" fontAlgn="base"/>
            <a:r>
              <a:rPr lang="en-US" dirty="0"/>
              <a:t>Finiteness: the steps required should be finite</a:t>
            </a:r>
          </a:p>
          <a:p>
            <a:pPr lvl="1" fontAlgn="base"/>
            <a:r>
              <a:rPr lang="en-US" dirty="0"/>
              <a:t>Effectiveness: each step must be able to be performed in a finite amount of time</a:t>
            </a:r>
          </a:p>
          <a:p>
            <a:pPr lvl="1" fontAlgn="base"/>
            <a:r>
              <a:rPr lang="en-US" dirty="0"/>
              <a:t>Generality: the algorithm </a:t>
            </a:r>
            <a:r>
              <a:rPr lang="en-US" i="1" dirty="0"/>
              <a:t>should</a:t>
            </a:r>
            <a:r>
              <a:rPr lang="en-US" dirty="0"/>
              <a:t> be applicable to all problems of a similar </a:t>
            </a:r>
            <a:r>
              <a:rPr lang="en-US" dirty="0" smtClean="0"/>
              <a:t>form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smtClean="0"/>
              <a:t>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290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800" dirty="0"/>
              <a:t>Given a list, find a specific element in the </a:t>
            </a:r>
            <a:r>
              <a:rPr lang="en-US" sz="2800" dirty="0" smtClean="0"/>
              <a:t>list</a:t>
            </a:r>
          </a:p>
          <a:p>
            <a:pPr fontAlgn="base"/>
            <a:endParaRPr lang="en-US" sz="2800" dirty="0"/>
          </a:p>
          <a:p>
            <a:pPr fontAlgn="base"/>
            <a:endParaRPr lang="en-US" sz="2800" dirty="0" smtClean="0"/>
          </a:p>
          <a:p>
            <a:pPr fontAlgn="base"/>
            <a:r>
              <a:rPr lang="en-US" sz="2800" dirty="0" smtClean="0"/>
              <a:t>We </a:t>
            </a:r>
            <a:r>
              <a:rPr lang="en-US" sz="2800" dirty="0"/>
              <a:t>will see two types</a:t>
            </a:r>
          </a:p>
          <a:p>
            <a:pPr lvl="1" fontAlgn="base"/>
            <a:r>
              <a:rPr lang="en-US" dirty="0"/>
              <a:t>Linear search</a:t>
            </a:r>
          </a:p>
          <a:p>
            <a:pPr lvl="2" fontAlgn="base"/>
            <a:r>
              <a:rPr lang="en-US" dirty="0"/>
              <a:t>a.k.a. sequential search</a:t>
            </a:r>
          </a:p>
          <a:p>
            <a:pPr lvl="1" fontAlgn="base"/>
            <a:r>
              <a:rPr lang="en-US" dirty="0"/>
              <a:t>Binary search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Searching </a:t>
            </a:r>
            <a:r>
              <a:rPr lang="en-US" dirty="0"/>
              <a:t>A</a:t>
            </a:r>
            <a:r>
              <a:rPr lang="en-US" dirty="0" smtClean="0"/>
              <a:t>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896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/>
              <a:t>Given a list, find a specific element in the list</a:t>
            </a:r>
          </a:p>
          <a:p>
            <a:pPr lvl="1" fontAlgn="base"/>
            <a:r>
              <a:rPr lang="en-US" dirty="0"/>
              <a:t>List does NOT have to be sorted</a:t>
            </a:r>
            <a:r>
              <a:rPr lang="en-US" dirty="0" smtClean="0"/>
              <a:t>!</a:t>
            </a:r>
          </a:p>
          <a:p>
            <a:pPr marL="411470" lvl="1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 2: Linear </a:t>
            </a:r>
            <a:r>
              <a:rPr lang="en-US" dirty="0"/>
              <a:t>S</a:t>
            </a:r>
            <a:r>
              <a:rPr lang="en-US" dirty="0" smtClean="0"/>
              <a:t>earch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5637" y="2563575"/>
            <a:ext cx="7873339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procedure</a:t>
            </a:r>
            <a:r>
              <a:rPr lang="en-US" dirty="0"/>
              <a:t> </a:t>
            </a:r>
            <a:r>
              <a:rPr lang="en-US" dirty="0" err="1"/>
              <a:t>linear_search</a:t>
            </a:r>
            <a:r>
              <a:rPr lang="en-US" dirty="0"/>
              <a:t> (</a:t>
            </a:r>
            <a:r>
              <a:rPr lang="en-US" i="1" dirty="0"/>
              <a:t>x</a:t>
            </a:r>
            <a:r>
              <a:rPr lang="en-US" dirty="0"/>
              <a:t>: integer;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: integers)</a:t>
            </a:r>
            <a:endParaRPr lang="en-US" dirty="0"/>
          </a:p>
          <a:p>
            <a:endParaRPr lang="en-US" i="1" dirty="0" smtClean="0">
              <a:latin typeface="Arial" panose="020B0604020202020204" pitchFamily="34" charset="0"/>
            </a:endParaRPr>
          </a:p>
          <a:p>
            <a:pPr marL="457200" indent="-285750" algn="just">
              <a:spcBef>
                <a:spcPts val="480"/>
              </a:spcBef>
            </a:pPr>
            <a:r>
              <a:rPr lang="en-US" i="1" dirty="0" err="1" smtClean="0">
                <a:latin typeface="Arial" panose="020B0604020202020204" pitchFamily="34" charset="0"/>
              </a:rPr>
              <a:t>i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:= 1</a:t>
            </a:r>
            <a:endParaRPr lang="en-US" dirty="0"/>
          </a:p>
          <a:p>
            <a:pPr marL="457200" indent="-285750" algn="just">
              <a:spcBef>
                <a:spcPts val="480"/>
              </a:spcBef>
            </a:pPr>
            <a:r>
              <a:rPr lang="en-US" b="1" dirty="0">
                <a:latin typeface="Arial" panose="020B0604020202020204" pitchFamily="34" charset="0"/>
              </a:rPr>
              <a:t>while</a:t>
            </a:r>
            <a:r>
              <a:rPr lang="en-US" dirty="0">
                <a:latin typeface="Arial" panose="020B0604020202020204" pitchFamily="34" charset="0"/>
              </a:rPr>
              <a:t> ( 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</a:rPr>
              <a:t>≤ </a:t>
            </a:r>
            <a:r>
              <a:rPr lang="en-US" i="1" dirty="0">
                <a:latin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</a:rPr>
              <a:t> and </a:t>
            </a:r>
            <a:r>
              <a:rPr lang="en-US" i="1" dirty="0">
                <a:latin typeface="Arial" panose="020B0604020202020204" pitchFamily="34" charset="0"/>
              </a:rPr>
              <a:t>x</a:t>
            </a:r>
            <a:r>
              <a:rPr lang="en-US" dirty="0">
                <a:latin typeface="Arial" panose="020B0604020202020204" pitchFamily="34" charset="0"/>
              </a:rPr>
              <a:t> ≠ </a:t>
            </a:r>
            <a:r>
              <a:rPr lang="en-US" i="1" dirty="0" err="1">
                <a:latin typeface="Arial" panose="020B0604020202020204" pitchFamily="34" charset="0"/>
              </a:rPr>
              <a:t>a</a:t>
            </a:r>
            <a:r>
              <a:rPr lang="en-US" i="1" baseline="-25000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)</a:t>
            </a:r>
            <a:endParaRPr lang="en-US" dirty="0"/>
          </a:p>
          <a:p>
            <a:pPr marL="457200" indent="-285750" algn="just">
              <a:spcBef>
                <a:spcPts val="480"/>
              </a:spcBef>
            </a:pPr>
            <a:r>
              <a:rPr lang="en-US" i="1" dirty="0" smtClean="0">
                <a:latin typeface="Arial" panose="020B0604020202020204" pitchFamily="34" charset="0"/>
              </a:rPr>
              <a:t>	</a:t>
            </a:r>
            <a:r>
              <a:rPr lang="en-US" i="1" dirty="0" err="1" smtClean="0">
                <a:latin typeface="Arial" panose="020B0604020202020204" pitchFamily="34" charset="0"/>
              </a:rPr>
              <a:t>i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:= 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+ 1</a:t>
            </a:r>
            <a:endParaRPr lang="en-US" dirty="0"/>
          </a:p>
          <a:p>
            <a:pPr marL="457200" indent="-285750" algn="just">
              <a:spcBef>
                <a:spcPts val="48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if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</a:rPr>
              <a:t>≤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then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location</a:t>
            </a:r>
            <a:r>
              <a:rPr lang="en-US" dirty="0">
                <a:latin typeface="Arial" panose="020B0604020202020204" pitchFamily="34" charset="0"/>
              </a:rPr>
              <a:t> := </a:t>
            </a:r>
            <a:r>
              <a:rPr lang="en-US" dirty="0" err="1">
                <a:latin typeface="Arial" panose="020B0604020202020204" pitchFamily="34" charset="0"/>
              </a:rPr>
              <a:t>i</a:t>
            </a:r>
            <a:endParaRPr lang="en-US" dirty="0"/>
          </a:p>
          <a:p>
            <a:pPr marL="457200" indent="-285750" algn="just">
              <a:spcBef>
                <a:spcPts val="48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else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location</a:t>
            </a:r>
            <a:r>
              <a:rPr lang="en-US" dirty="0">
                <a:latin typeface="Arial" panose="020B0604020202020204" pitchFamily="34" charset="0"/>
              </a:rPr>
              <a:t> := 0</a:t>
            </a:r>
            <a:endParaRPr lang="en-US" dirty="0"/>
          </a:p>
          <a:p>
            <a:pPr marL="457200" indent="-285750" algn="just">
              <a:spcBef>
                <a:spcPts val="480"/>
              </a:spcBef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Arial" panose="020B0604020202020204" pitchFamily="34" charset="0"/>
              </a:rPr>
              <a:t>{</a:t>
            </a:r>
            <a:r>
              <a:rPr lang="en-US" i="1" dirty="0">
                <a:latin typeface="Arial" panose="020B0604020202020204" pitchFamily="34" charset="0"/>
              </a:rPr>
              <a:t>location</a:t>
            </a:r>
            <a:r>
              <a:rPr lang="en-US" dirty="0">
                <a:latin typeface="Arial" panose="020B0604020202020204" pitchFamily="34" charset="0"/>
              </a:rPr>
              <a:t> is the subscript of the term that equals x, or it is 0 if x is not found}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63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800" dirty="0"/>
              <a:t>How long does this take?</a:t>
            </a:r>
          </a:p>
          <a:p>
            <a:pPr fontAlgn="base"/>
            <a:endParaRPr lang="en-US" dirty="0" smtClean="0"/>
          </a:p>
          <a:p>
            <a:pPr fontAlgn="base"/>
            <a:endParaRPr lang="en-US" sz="2800" dirty="0"/>
          </a:p>
          <a:p>
            <a:pPr fontAlgn="base"/>
            <a:r>
              <a:rPr lang="en-US" sz="2800" dirty="0" smtClean="0"/>
              <a:t>If </a:t>
            </a:r>
            <a:r>
              <a:rPr lang="en-US" sz="2800" dirty="0"/>
              <a:t>the list has </a:t>
            </a:r>
            <a:r>
              <a:rPr lang="en-US" sz="2800" i="1" dirty="0"/>
              <a:t>n</a:t>
            </a:r>
            <a:r>
              <a:rPr lang="en-US" sz="2800" dirty="0"/>
              <a:t> elements, worst case scenario is that it takes </a:t>
            </a:r>
            <a:r>
              <a:rPr lang="en-US" sz="2800" i="1" dirty="0"/>
              <a:t>n</a:t>
            </a:r>
            <a:r>
              <a:rPr lang="en-US" sz="2800" dirty="0"/>
              <a:t> “steps”</a:t>
            </a:r>
          </a:p>
          <a:p>
            <a:pPr lvl="1" fontAlgn="base"/>
            <a:r>
              <a:rPr lang="en-US" dirty="0"/>
              <a:t>Here, a step is considered a single step through the </a:t>
            </a:r>
            <a:r>
              <a:rPr lang="en-US" dirty="0" smtClean="0"/>
              <a:t>list</a:t>
            </a:r>
          </a:p>
          <a:p>
            <a:pPr lvl="1" fontAlgn="base"/>
            <a:endParaRPr lang="en-US" dirty="0"/>
          </a:p>
          <a:p>
            <a:pPr fontAlgn="base"/>
            <a:r>
              <a:rPr lang="en-US" dirty="0" smtClean="0"/>
              <a:t>Complexity is O(N)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</a:t>
            </a:r>
            <a:r>
              <a:rPr lang="en-US" dirty="0" smtClean="0"/>
              <a:t>Search </a:t>
            </a:r>
            <a:r>
              <a:rPr lang="en-US" dirty="0"/>
              <a:t>R</a:t>
            </a:r>
            <a:r>
              <a:rPr lang="en-US" dirty="0" smtClean="0"/>
              <a:t>unning </a:t>
            </a:r>
            <a:r>
              <a:rPr lang="en-US" dirty="0"/>
              <a:t>T</a:t>
            </a:r>
            <a:r>
              <a:rPr lang="en-US" dirty="0" smtClean="0"/>
              <a:t>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28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800" dirty="0"/>
              <a:t>Given a list, find a specific element in the list</a:t>
            </a:r>
          </a:p>
          <a:p>
            <a:pPr lvl="1" fontAlgn="base"/>
            <a:r>
              <a:rPr lang="en-US" dirty="0"/>
              <a:t>List MUST be sorted!</a:t>
            </a:r>
          </a:p>
          <a:p>
            <a:pPr fontAlgn="base"/>
            <a:r>
              <a:rPr lang="en-US" sz="2800" dirty="0"/>
              <a:t>Each time it iterates through, it cuts the list in </a:t>
            </a:r>
            <a:r>
              <a:rPr lang="en-US" sz="2800" dirty="0" smtClean="0"/>
              <a:t>half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3: Binary </a:t>
            </a:r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0026" y="2723420"/>
            <a:ext cx="7089569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285750" algn="just">
              <a:spcBef>
                <a:spcPts val="360"/>
              </a:spcBef>
            </a:pPr>
            <a:r>
              <a:rPr lang="en-US" b="1" dirty="0">
                <a:latin typeface="Arial" panose="020B0604020202020204" pitchFamily="34" charset="0"/>
              </a:rPr>
              <a:t>procedure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binary_search</a:t>
            </a:r>
            <a:r>
              <a:rPr lang="en-US" dirty="0">
                <a:latin typeface="Arial" panose="020B0604020202020204" pitchFamily="34" charset="0"/>
              </a:rPr>
              <a:t> (</a:t>
            </a:r>
            <a:r>
              <a:rPr lang="en-US" i="1" dirty="0">
                <a:latin typeface="Arial" panose="020B0604020202020204" pitchFamily="34" charset="0"/>
              </a:rPr>
              <a:t>x</a:t>
            </a:r>
            <a:r>
              <a:rPr lang="en-US" dirty="0">
                <a:latin typeface="Arial" panose="020B0604020202020204" pitchFamily="34" charset="0"/>
              </a:rPr>
              <a:t>: integer; </a:t>
            </a:r>
            <a:r>
              <a:rPr lang="en-US" i="1" dirty="0">
                <a:latin typeface="Arial" panose="020B0604020202020204" pitchFamily="34" charset="0"/>
              </a:rPr>
              <a:t>a</a:t>
            </a:r>
            <a:r>
              <a:rPr lang="en-US" baseline="-25000" dirty="0">
                <a:latin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i="1" dirty="0">
                <a:latin typeface="Arial" panose="020B0604020202020204" pitchFamily="34" charset="0"/>
              </a:rPr>
              <a:t>a</a:t>
            </a:r>
            <a:r>
              <a:rPr lang="en-US" baseline="-25000" dirty="0">
                <a:latin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</a:rPr>
              <a:t>, …, </a:t>
            </a:r>
            <a:r>
              <a:rPr lang="en-US" i="1" dirty="0">
                <a:latin typeface="Arial" panose="020B0604020202020204" pitchFamily="34" charset="0"/>
              </a:rPr>
              <a:t>a</a:t>
            </a:r>
            <a:r>
              <a:rPr lang="en-US" i="1" baseline="-25000" dirty="0">
                <a:latin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</a:rPr>
              <a:t>: increasing integers)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:= 1 { 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is left endpoint of search interval }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i="1" dirty="0">
                <a:latin typeface="Arial" panose="020B0604020202020204" pitchFamily="34" charset="0"/>
              </a:rPr>
              <a:t>j</a:t>
            </a:r>
            <a:r>
              <a:rPr lang="en-US" dirty="0">
                <a:latin typeface="Arial" panose="020B0604020202020204" pitchFamily="34" charset="0"/>
              </a:rPr>
              <a:t> := </a:t>
            </a:r>
            <a:r>
              <a:rPr lang="en-US" i="1" dirty="0">
                <a:latin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</a:rPr>
              <a:t> { </a:t>
            </a:r>
            <a:r>
              <a:rPr lang="en-US" i="1" dirty="0">
                <a:latin typeface="Arial" panose="020B0604020202020204" pitchFamily="34" charset="0"/>
              </a:rPr>
              <a:t>j</a:t>
            </a:r>
            <a:r>
              <a:rPr lang="en-US" dirty="0">
                <a:latin typeface="Arial" panose="020B0604020202020204" pitchFamily="34" charset="0"/>
              </a:rPr>
              <a:t> is right endpoint of search interval }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b="1" dirty="0">
                <a:latin typeface="Arial" panose="020B0604020202020204" pitchFamily="34" charset="0"/>
              </a:rPr>
              <a:t>while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&lt; </a:t>
            </a:r>
            <a:r>
              <a:rPr lang="en-US" i="1" dirty="0">
                <a:latin typeface="Arial" panose="020B0604020202020204" pitchFamily="34" charset="0"/>
              </a:rPr>
              <a:t>j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begin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dirty="0" smtClean="0">
                <a:latin typeface="Arial" panose="020B0604020202020204" pitchFamily="34" charset="0"/>
              </a:rPr>
              <a:t>		m </a:t>
            </a:r>
            <a:r>
              <a:rPr lang="en-US" dirty="0">
                <a:latin typeface="Arial" panose="020B0604020202020204" pitchFamily="34" charset="0"/>
              </a:rPr>
              <a:t>:=  ⎣(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 err="1">
                <a:latin typeface="Arial" panose="020B0604020202020204" pitchFamily="34" charset="0"/>
              </a:rPr>
              <a:t>+</a:t>
            </a:r>
            <a:r>
              <a:rPr lang="en-US" i="1" dirty="0" err="1">
                <a:latin typeface="Arial" panose="020B0604020202020204" pitchFamily="34" charset="0"/>
              </a:rPr>
              <a:t>j</a:t>
            </a:r>
            <a:r>
              <a:rPr lang="en-US" dirty="0">
                <a:latin typeface="Arial" panose="020B0604020202020204" pitchFamily="34" charset="0"/>
              </a:rPr>
              <a:t>)/2⎦ { </a:t>
            </a:r>
            <a:r>
              <a:rPr lang="en-US" i="1" dirty="0">
                <a:latin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</a:rPr>
              <a:t> is the point in the middle }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	if </a:t>
            </a:r>
            <a:r>
              <a:rPr lang="en-US" dirty="0">
                <a:latin typeface="Arial" panose="020B0604020202020204" pitchFamily="34" charset="0"/>
              </a:rPr>
              <a:t>x &gt; </a:t>
            </a:r>
            <a:r>
              <a:rPr lang="en-US" i="1" dirty="0">
                <a:latin typeface="Arial" panose="020B0604020202020204" pitchFamily="34" charset="0"/>
              </a:rPr>
              <a:t>a</a:t>
            </a:r>
            <a:r>
              <a:rPr lang="en-US" i="1" baseline="-25000" dirty="0">
                <a:latin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then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:= </a:t>
            </a:r>
            <a:r>
              <a:rPr lang="en-US" i="1" dirty="0">
                <a:latin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</a:rPr>
              <a:t>+1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	else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j </a:t>
            </a:r>
            <a:r>
              <a:rPr lang="en-US" dirty="0">
                <a:latin typeface="Arial" panose="020B0604020202020204" pitchFamily="34" charset="0"/>
              </a:rPr>
              <a:t>:= </a:t>
            </a:r>
            <a:r>
              <a:rPr lang="en-US" i="1" dirty="0">
                <a:latin typeface="Arial" panose="020B0604020202020204" pitchFamily="34" charset="0"/>
              </a:rPr>
              <a:t>m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end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if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x</a:t>
            </a:r>
            <a:r>
              <a:rPr lang="en-US" dirty="0">
                <a:latin typeface="Arial" panose="020B0604020202020204" pitchFamily="34" charset="0"/>
              </a:rPr>
              <a:t> = </a:t>
            </a:r>
            <a:r>
              <a:rPr lang="en-US" i="1" dirty="0" err="1">
                <a:latin typeface="Arial" panose="020B0604020202020204" pitchFamily="34" charset="0"/>
              </a:rPr>
              <a:t>a</a:t>
            </a:r>
            <a:r>
              <a:rPr lang="en-US" i="1" baseline="-25000" dirty="0" err="1">
                <a:latin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then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location</a:t>
            </a:r>
            <a:r>
              <a:rPr lang="en-US" dirty="0">
                <a:latin typeface="Arial" panose="020B0604020202020204" pitchFamily="34" charset="0"/>
              </a:rPr>
              <a:t> := </a:t>
            </a:r>
            <a:r>
              <a:rPr lang="en-US" i="1" dirty="0" err="1">
                <a:latin typeface="Arial" panose="020B0604020202020204" pitchFamily="34" charset="0"/>
              </a:rPr>
              <a:t>i</a:t>
            </a:r>
            <a:endParaRPr lang="en-US" dirty="0"/>
          </a:p>
          <a:p>
            <a:pPr marL="457200" indent="-285750" algn="just">
              <a:spcBef>
                <a:spcPts val="360"/>
              </a:spcBef>
            </a:pPr>
            <a:r>
              <a:rPr lang="en-US" b="1" dirty="0" smtClean="0">
                <a:latin typeface="Arial" panose="020B0604020202020204" pitchFamily="34" charset="0"/>
              </a:rPr>
              <a:t>	else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</a:rPr>
              <a:t>location</a:t>
            </a:r>
            <a:r>
              <a:rPr lang="en-US" dirty="0">
                <a:latin typeface="Arial" panose="020B0604020202020204" pitchFamily="34" charset="0"/>
              </a:rPr>
              <a:t> := 0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591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400" dirty="0"/>
              <a:t>How long does this take (worst case)?</a:t>
            </a:r>
          </a:p>
          <a:p>
            <a:pPr marL="109725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If the list has 8 elements</a:t>
            </a:r>
          </a:p>
          <a:p>
            <a:pPr lvl="1" fontAlgn="base"/>
            <a:r>
              <a:rPr lang="en-US" dirty="0"/>
              <a:t>It takes 3 </a:t>
            </a:r>
            <a:r>
              <a:rPr lang="en-US" dirty="0" smtClean="0"/>
              <a:t>steps</a:t>
            </a:r>
          </a:p>
          <a:p>
            <a:pPr lvl="1" fontAlgn="base"/>
            <a:endParaRPr lang="en-US" dirty="0"/>
          </a:p>
          <a:p>
            <a:pPr fontAlgn="base"/>
            <a:r>
              <a:rPr lang="en-US" sz="2400" dirty="0"/>
              <a:t>If the list has 16 elements</a:t>
            </a:r>
          </a:p>
          <a:p>
            <a:pPr lvl="1" fontAlgn="base"/>
            <a:r>
              <a:rPr lang="en-US" dirty="0"/>
              <a:t>It takes 4 </a:t>
            </a:r>
            <a:r>
              <a:rPr lang="en-US" dirty="0" smtClean="0"/>
              <a:t>steps</a:t>
            </a:r>
          </a:p>
          <a:p>
            <a:pPr lvl="1" fontAlgn="base"/>
            <a:endParaRPr lang="en-US" dirty="0"/>
          </a:p>
          <a:p>
            <a:pPr fontAlgn="base"/>
            <a:r>
              <a:rPr lang="en-US" sz="2400" dirty="0" smtClean="0"/>
              <a:t>If </a:t>
            </a:r>
            <a:r>
              <a:rPr lang="en-US" sz="2400" dirty="0"/>
              <a:t>the list has </a:t>
            </a:r>
            <a:r>
              <a:rPr lang="en-US" sz="2400" i="1" dirty="0"/>
              <a:t>n</a:t>
            </a:r>
            <a:r>
              <a:rPr lang="en-US" sz="2400" dirty="0"/>
              <a:t> elements</a:t>
            </a:r>
          </a:p>
          <a:p>
            <a:pPr lvl="1" fontAlgn="base"/>
            <a:r>
              <a:rPr lang="en-US" dirty="0"/>
              <a:t>It takes </a:t>
            </a:r>
            <a:r>
              <a:rPr lang="en-US" b="1" dirty="0"/>
              <a:t>log</a:t>
            </a:r>
            <a:r>
              <a:rPr lang="en-US" b="1" baseline="-25000" dirty="0"/>
              <a:t>2</a:t>
            </a:r>
            <a:r>
              <a:rPr lang="en-US" b="1" dirty="0"/>
              <a:t> </a:t>
            </a:r>
            <a:r>
              <a:rPr lang="en-US" b="1" i="1" dirty="0"/>
              <a:t>n</a:t>
            </a:r>
            <a:r>
              <a:rPr lang="en-US" b="1" dirty="0"/>
              <a:t> </a:t>
            </a:r>
            <a:r>
              <a:rPr lang="en-US" dirty="0"/>
              <a:t>steps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</a:t>
            </a:r>
            <a:r>
              <a:rPr lang="en-US" dirty="0" smtClean="0"/>
              <a:t>Search </a:t>
            </a:r>
            <a:r>
              <a:rPr lang="en-US" dirty="0"/>
              <a:t>R</a:t>
            </a:r>
            <a:r>
              <a:rPr lang="en-US" dirty="0" smtClean="0"/>
              <a:t>unning </a:t>
            </a:r>
            <a:r>
              <a:rPr lang="en-US" dirty="0"/>
              <a:t>T</a:t>
            </a:r>
            <a:r>
              <a:rPr lang="en-US" dirty="0" smtClean="0"/>
              <a:t>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433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800" dirty="0"/>
              <a:t>Given a list, put it into some order</a:t>
            </a:r>
          </a:p>
          <a:p>
            <a:pPr lvl="1" fontAlgn="base"/>
            <a:r>
              <a:rPr lang="en-US" dirty="0"/>
              <a:t>Numerical, lexicographic, </a:t>
            </a:r>
            <a:r>
              <a:rPr lang="en-US" dirty="0" smtClean="0"/>
              <a:t>etc.</a:t>
            </a:r>
          </a:p>
          <a:p>
            <a:pPr lvl="1" fontAlgn="base"/>
            <a:endParaRPr lang="en-US" dirty="0"/>
          </a:p>
          <a:p>
            <a:pPr lvl="1" fontAlgn="base"/>
            <a:endParaRPr lang="en-US" dirty="0" smtClean="0"/>
          </a:p>
          <a:p>
            <a:pPr fontAlgn="base"/>
            <a:r>
              <a:rPr lang="en-US" sz="3000" dirty="0" smtClean="0"/>
              <a:t>We </a:t>
            </a:r>
            <a:r>
              <a:rPr lang="en-US" sz="3000" dirty="0"/>
              <a:t>will see two types</a:t>
            </a:r>
          </a:p>
          <a:p>
            <a:pPr lvl="1" fontAlgn="base"/>
            <a:r>
              <a:rPr lang="en-US" dirty="0"/>
              <a:t>Bubble sort</a:t>
            </a:r>
          </a:p>
          <a:p>
            <a:pPr lvl="1" fontAlgn="base"/>
            <a:r>
              <a:rPr lang="en-US" dirty="0"/>
              <a:t>Insertion sort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Sorting </a:t>
            </a:r>
            <a:r>
              <a:rPr lang="en-US" dirty="0"/>
              <a:t>A</a:t>
            </a:r>
            <a:r>
              <a:rPr lang="en-US" dirty="0" smtClean="0"/>
              <a:t>lgorithms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53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54580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400" dirty="0"/>
              <a:t>One of the most simple sorting algorithms</a:t>
            </a:r>
          </a:p>
          <a:p>
            <a:pPr lvl="1" fontAlgn="base"/>
            <a:r>
              <a:rPr lang="en-US" dirty="0"/>
              <a:t>Also one of the least </a:t>
            </a:r>
            <a:r>
              <a:rPr lang="en-US" dirty="0" smtClean="0"/>
              <a:t>efficient</a:t>
            </a:r>
          </a:p>
          <a:p>
            <a:pPr marL="411470" lvl="1" indent="0" fontAlgn="base">
              <a:buNone/>
            </a:pPr>
            <a:endParaRPr lang="en-US" dirty="0"/>
          </a:p>
          <a:p>
            <a:pPr fontAlgn="base"/>
            <a:r>
              <a:rPr lang="en-US" sz="2400" dirty="0"/>
              <a:t>It takes successive elements and “bubbles” them up the list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 4: Bubble </a:t>
            </a:r>
            <a:r>
              <a:rPr lang="en-US" dirty="0"/>
              <a:t>S</a:t>
            </a:r>
            <a:r>
              <a:rPr lang="en-US" dirty="0" smtClean="0"/>
              <a:t>ort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43497" y="3527702"/>
            <a:ext cx="4572000" cy="31829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285750" algn="just">
              <a:spcBef>
                <a:spcPts val="480"/>
              </a:spcBef>
            </a:pPr>
            <a:r>
              <a:rPr lang="en-US" sz="2000" b="1" dirty="0">
                <a:latin typeface="Arial" panose="020B0604020202020204" pitchFamily="34" charset="0"/>
              </a:rPr>
              <a:t>procedure</a:t>
            </a:r>
            <a:r>
              <a:rPr lang="en-US" sz="2000" dirty="0">
                <a:latin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</a:rPr>
              <a:t>bubble_sort</a:t>
            </a:r>
            <a:r>
              <a:rPr lang="en-US" sz="2000" dirty="0">
                <a:latin typeface="Arial" panose="020B0604020202020204" pitchFamily="34" charset="0"/>
              </a:rPr>
              <a:t> (</a:t>
            </a:r>
            <a:r>
              <a:rPr lang="en-US" sz="2000" i="1" dirty="0">
                <a:latin typeface="Arial" panose="020B0604020202020204" pitchFamily="34" charset="0"/>
              </a:rPr>
              <a:t>a</a:t>
            </a:r>
            <a:r>
              <a:rPr lang="en-US" sz="2000" baseline="-25000" dirty="0">
                <a:latin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</a:rPr>
              <a:t>, </a:t>
            </a:r>
            <a:r>
              <a:rPr lang="en-US" sz="2000" i="1" dirty="0">
                <a:latin typeface="Arial" panose="020B0604020202020204" pitchFamily="34" charset="0"/>
              </a:rPr>
              <a:t>a</a:t>
            </a:r>
            <a:r>
              <a:rPr lang="en-US" sz="2000" baseline="-25000" dirty="0">
                <a:latin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</a:rPr>
              <a:t>, …, </a:t>
            </a:r>
            <a:r>
              <a:rPr lang="en-US" sz="2000" i="1" dirty="0">
                <a:latin typeface="Arial" panose="020B0604020202020204" pitchFamily="34" charset="0"/>
              </a:rPr>
              <a:t>a</a:t>
            </a:r>
            <a:r>
              <a:rPr lang="en-US" sz="2000" i="1" baseline="-25000" dirty="0">
                <a:latin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</a:rPr>
              <a:t>)</a:t>
            </a:r>
            <a:endParaRPr lang="en-US" sz="2000" dirty="0"/>
          </a:p>
          <a:p>
            <a:pPr marL="457200" indent="-285750" algn="just">
              <a:spcBef>
                <a:spcPts val="480"/>
              </a:spcBef>
            </a:pPr>
            <a:r>
              <a:rPr lang="en-US" sz="2000" b="1" dirty="0">
                <a:latin typeface="Arial" panose="020B0604020202020204" pitchFamily="34" charset="0"/>
              </a:rPr>
              <a:t>for </a:t>
            </a:r>
            <a:r>
              <a:rPr lang="en-US" sz="2000" i="1" dirty="0" err="1">
                <a:latin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</a:rPr>
              <a:t> := 1 </a:t>
            </a:r>
            <a:r>
              <a:rPr lang="en-US" sz="2000" b="1" dirty="0">
                <a:latin typeface="Arial" panose="020B0604020202020204" pitchFamily="34" charset="0"/>
              </a:rPr>
              <a:t>to </a:t>
            </a:r>
            <a:r>
              <a:rPr lang="en-US" sz="2000" i="1" dirty="0">
                <a:latin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</a:rPr>
              <a:t>-1</a:t>
            </a:r>
            <a:endParaRPr lang="en-US" sz="2000" dirty="0"/>
          </a:p>
          <a:p>
            <a:pPr marL="914400" lvl="1" indent="-285750" algn="just">
              <a:spcBef>
                <a:spcPts val="480"/>
              </a:spcBef>
            </a:pPr>
            <a:r>
              <a:rPr lang="en-US" sz="2000" b="1" dirty="0">
                <a:latin typeface="Arial" panose="020B0604020202020204" pitchFamily="34" charset="0"/>
              </a:rPr>
              <a:t>for</a:t>
            </a:r>
            <a:r>
              <a:rPr lang="en-US" sz="2000" dirty="0">
                <a:latin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</a:rPr>
              <a:t>j</a:t>
            </a:r>
            <a:r>
              <a:rPr lang="en-US" sz="2000" dirty="0">
                <a:latin typeface="Arial" panose="020B0604020202020204" pitchFamily="34" charset="0"/>
              </a:rPr>
              <a:t> := 1 </a:t>
            </a:r>
            <a:r>
              <a:rPr lang="en-US" sz="2000" b="1" dirty="0">
                <a:latin typeface="Arial" panose="020B0604020202020204" pitchFamily="34" charset="0"/>
              </a:rPr>
              <a:t>to</a:t>
            </a:r>
            <a:r>
              <a:rPr lang="en-US" sz="2000" dirty="0">
                <a:latin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</a:rPr>
              <a:t>-</a:t>
            </a:r>
            <a:r>
              <a:rPr lang="en-US" sz="2000" i="1" dirty="0" err="1">
                <a:latin typeface="Arial" panose="020B0604020202020204" pitchFamily="34" charset="0"/>
              </a:rPr>
              <a:t>i</a:t>
            </a:r>
            <a:endParaRPr lang="en-US" sz="2000" dirty="0"/>
          </a:p>
          <a:p>
            <a:pPr marL="914400" lvl="1" indent="-285750" algn="just">
              <a:spcBef>
                <a:spcPts val="480"/>
              </a:spcBef>
            </a:pPr>
            <a:r>
              <a:rPr lang="en-US" sz="2000" b="1" dirty="0">
                <a:latin typeface="Arial" panose="020B0604020202020204" pitchFamily="34" charset="0"/>
              </a:rPr>
              <a:t>if</a:t>
            </a:r>
            <a:r>
              <a:rPr lang="en-US" sz="2000" dirty="0">
                <a:latin typeface="Arial" panose="020B0604020202020204" pitchFamily="34" charset="0"/>
              </a:rPr>
              <a:t> </a:t>
            </a:r>
            <a:r>
              <a:rPr lang="en-US" sz="2000" i="1" dirty="0" err="1">
                <a:latin typeface="Arial" panose="020B0604020202020204" pitchFamily="34" charset="0"/>
              </a:rPr>
              <a:t>a</a:t>
            </a:r>
            <a:r>
              <a:rPr lang="en-US" sz="2000" i="1" baseline="-25000" dirty="0" err="1">
                <a:latin typeface="Arial" panose="020B0604020202020204" pitchFamily="34" charset="0"/>
              </a:rPr>
              <a:t>j</a:t>
            </a:r>
            <a:r>
              <a:rPr lang="en-US" sz="2000" dirty="0">
                <a:latin typeface="Arial" panose="020B0604020202020204" pitchFamily="34" charset="0"/>
              </a:rPr>
              <a:t> &gt; </a:t>
            </a:r>
            <a:r>
              <a:rPr lang="en-US" sz="2000" i="1" dirty="0">
                <a:latin typeface="Arial" panose="020B0604020202020204" pitchFamily="34" charset="0"/>
              </a:rPr>
              <a:t>a</a:t>
            </a:r>
            <a:r>
              <a:rPr lang="en-US" sz="2000" i="1" baseline="-25000" dirty="0">
                <a:latin typeface="Arial" panose="020B0604020202020204" pitchFamily="34" charset="0"/>
              </a:rPr>
              <a:t>j</a:t>
            </a:r>
            <a:r>
              <a:rPr lang="en-US" sz="2000" dirty="0">
                <a:latin typeface="Arial" panose="020B0604020202020204" pitchFamily="34" charset="0"/>
              </a:rPr>
              <a:t>+1</a:t>
            </a:r>
            <a:endParaRPr lang="en-US" sz="2000" dirty="0"/>
          </a:p>
          <a:p>
            <a:pPr marL="914400" lvl="1" indent="-285750" algn="just">
              <a:spcBef>
                <a:spcPts val="480"/>
              </a:spcBef>
            </a:pPr>
            <a:r>
              <a:rPr lang="en-US" sz="2000" b="1" dirty="0">
                <a:latin typeface="Arial" panose="020B0604020202020204" pitchFamily="34" charset="0"/>
              </a:rPr>
              <a:t>then </a:t>
            </a:r>
            <a:r>
              <a:rPr lang="en-US" sz="2000" dirty="0">
                <a:latin typeface="Arial" panose="020B0604020202020204" pitchFamily="34" charset="0"/>
              </a:rPr>
              <a:t>interchange </a:t>
            </a:r>
            <a:r>
              <a:rPr lang="en-US" sz="2000" i="1" dirty="0" err="1">
                <a:latin typeface="Arial" panose="020B0604020202020204" pitchFamily="34" charset="0"/>
              </a:rPr>
              <a:t>a</a:t>
            </a:r>
            <a:r>
              <a:rPr lang="en-US" sz="2000" i="1" baseline="-25000" dirty="0" err="1">
                <a:latin typeface="Arial" panose="020B0604020202020204" pitchFamily="34" charset="0"/>
              </a:rPr>
              <a:t>j</a:t>
            </a:r>
            <a:r>
              <a:rPr lang="en-US" sz="2000" dirty="0">
                <a:latin typeface="Arial" panose="020B0604020202020204" pitchFamily="34" charset="0"/>
              </a:rPr>
              <a:t> and </a:t>
            </a:r>
            <a:r>
              <a:rPr lang="en-US" sz="2000" i="1" dirty="0">
                <a:latin typeface="Arial" panose="020B0604020202020204" pitchFamily="34" charset="0"/>
              </a:rPr>
              <a:t>a</a:t>
            </a:r>
            <a:r>
              <a:rPr lang="en-US" sz="2000" i="1" baseline="-25000" dirty="0">
                <a:latin typeface="Arial" panose="020B0604020202020204" pitchFamily="34" charset="0"/>
              </a:rPr>
              <a:t>j</a:t>
            </a:r>
            <a:r>
              <a:rPr lang="en-US" sz="2000" dirty="0">
                <a:latin typeface="Arial" panose="020B0604020202020204" pitchFamily="34" charset="0"/>
              </a:rPr>
              <a:t>+1</a:t>
            </a:r>
            <a:endParaRPr lang="en-US" sz="2000" dirty="0"/>
          </a:p>
          <a:p>
            <a:pPr marL="457200" indent="-285750" algn="just">
              <a:spcBef>
                <a:spcPts val="480"/>
              </a:spcBef>
            </a:pPr>
            <a:r>
              <a:rPr lang="en-US" sz="2000" dirty="0">
                <a:latin typeface="Arial" panose="020B0604020202020204" pitchFamily="34" charset="0"/>
              </a:rPr>
              <a:t>{ </a:t>
            </a:r>
            <a:r>
              <a:rPr lang="en-US" sz="2000" i="1" dirty="0">
                <a:latin typeface="Arial" panose="020B0604020202020204" pitchFamily="34" charset="0"/>
              </a:rPr>
              <a:t>a</a:t>
            </a:r>
            <a:r>
              <a:rPr lang="en-US" sz="2000" baseline="-25000" dirty="0">
                <a:latin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</a:rPr>
              <a:t>, …, </a:t>
            </a:r>
            <a:r>
              <a:rPr lang="en-US" sz="2000" i="1" dirty="0">
                <a:latin typeface="Arial" panose="020B0604020202020204" pitchFamily="34" charset="0"/>
              </a:rPr>
              <a:t>a</a:t>
            </a:r>
            <a:r>
              <a:rPr lang="en-US" sz="2000" i="1" baseline="-25000" dirty="0">
                <a:latin typeface="Arial" panose="020B0604020202020204" pitchFamily="34" charset="0"/>
              </a:rPr>
              <a:t>n</a:t>
            </a:r>
            <a:r>
              <a:rPr lang="en-US" sz="2000" dirty="0">
                <a:latin typeface="Arial" panose="020B0604020202020204" pitchFamily="34" charset="0"/>
              </a:rPr>
              <a:t> are in increasing order }</a:t>
            </a:r>
            <a:endParaRPr lang="en-US" sz="2000" dirty="0"/>
          </a:p>
          <a:p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6812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800" dirty="0" smtClean="0"/>
              <a:t>Outer </a:t>
            </a:r>
            <a:r>
              <a:rPr lang="en-US" sz="2800" dirty="0"/>
              <a:t>for loop does n-1 iterations</a:t>
            </a:r>
          </a:p>
          <a:p>
            <a:pPr fontAlgn="base"/>
            <a:r>
              <a:rPr lang="en-US" sz="2800" dirty="0"/>
              <a:t>Inner for loop does </a:t>
            </a:r>
          </a:p>
          <a:p>
            <a:pPr lvl="1" fontAlgn="base"/>
            <a:r>
              <a:rPr lang="en-US" i="1" dirty="0"/>
              <a:t>n</a:t>
            </a:r>
            <a:r>
              <a:rPr lang="en-US" dirty="0"/>
              <a:t>-1 iterations the first time</a:t>
            </a:r>
            <a:endParaRPr lang="en-US" i="1" dirty="0"/>
          </a:p>
          <a:p>
            <a:pPr lvl="1" fontAlgn="base"/>
            <a:r>
              <a:rPr lang="en-US" i="1" dirty="0"/>
              <a:t>n</a:t>
            </a:r>
            <a:r>
              <a:rPr lang="en-US" dirty="0"/>
              <a:t>-2 iterations the second time</a:t>
            </a:r>
            <a:endParaRPr lang="en-US" i="1" dirty="0"/>
          </a:p>
          <a:p>
            <a:pPr lvl="1" fontAlgn="base"/>
            <a:r>
              <a:rPr lang="en-US" dirty="0"/>
              <a:t>…</a:t>
            </a:r>
          </a:p>
          <a:p>
            <a:pPr lvl="1" fontAlgn="base"/>
            <a:r>
              <a:rPr lang="en-US" dirty="0"/>
              <a:t>1 iteration the last time</a:t>
            </a:r>
          </a:p>
          <a:p>
            <a:pPr fontAlgn="base"/>
            <a:r>
              <a:rPr lang="en-US" sz="2800" dirty="0"/>
              <a:t>Total: (</a:t>
            </a:r>
            <a:r>
              <a:rPr lang="en-US" sz="2800" i="1" dirty="0"/>
              <a:t>n</a:t>
            </a:r>
            <a:r>
              <a:rPr lang="en-US" sz="2800" dirty="0"/>
              <a:t>-1) + (</a:t>
            </a:r>
            <a:r>
              <a:rPr lang="en-US" sz="2800" i="1" dirty="0"/>
              <a:t>n</a:t>
            </a:r>
            <a:r>
              <a:rPr lang="en-US" sz="2800" dirty="0"/>
              <a:t>-2) + (</a:t>
            </a:r>
            <a:r>
              <a:rPr lang="en-US" sz="2800" i="1" dirty="0"/>
              <a:t>n</a:t>
            </a:r>
            <a:r>
              <a:rPr lang="en-US" sz="2800" dirty="0"/>
              <a:t>-3) + … + 2 + 1 = (</a:t>
            </a:r>
            <a:r>
              <a:rPr lang="en-US" sz="2800" i="1" dirty="0"/>
              <a:t>n</a:t>
            </a:r>
            <a:r>
              <a:rPr lang="en-US" sz="2800" baseline="30000" dirty="0"/>
              <a:t>2</a:t>
            </a:r>
            <a:r>
              <a:rPr lang="en-US" sz="2800" dirty="0"/>
              <a:t>-</a:t>
            </a:r>
            <a:r>
              <a:rPr lang="en-US" sz="2800" i="1" dirty="0"/>
              <a:t>n</a:t>
            </a:r>
            <a:r>
              <a:rPr lang="en-US" sz="2800" dirty="0"/>
              <a:t>)/2</a:t>
            </a:r>
          </a:p>
          <a:p>
            <a:pPr lvl="1" fontAlgn="base"/>
            <a:r>
              <a:rPr lang="en-US" dirty="0"/>
              <a:t>We can say that’s “about” </a:t>
            </a:r>
            <a:r>
              <a:rPr lang="en-US" b="1" i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 time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Bubble </a:t>
            </a:r>
            <a:r>
              <a:rPr lang="en-US" b="0" dirty="0" smtClean="0"/>
              <a:t>Sort </a:t>
            </a:r>
            <a:r>
              <a:rPr lang="en-US" b="0" dirty="0"/>
              <a:t>R</a:t>
            </a:r>
            <a:r>
              <a:rPr lang="en-US" b="0" dirty="0" smtClean="0"/>
              <a:t>unning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244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33779" y="1200699"/>
            <a:ext cx="9010221" cy="1447631"/>
          </a:xfrm>
        </p:spPr>
        <p:txBody>
          <a:bodyPr>
            <a:normAutofit fontScale="92500"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Another simple (and inefficient) algorithm</a:t>
            </a:r>
          </a:p>
          <a:p>
            <a:pPr algn="just" fontAlgn="base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It starts with a list with one element, and inserts new elements into their proper place in the sorted part of the list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5: Insertion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535382" y="2374721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procedure</a:t>
            </a:r>
            <a:r>
              <a:rPr lang="en-US" dirty="0"/>
              <a:t> </a:t>
            </a:r>
            <a:r>
              <a:rPr lang="en-US" dirty="0" err="1"/>
              <a:t>insertion_sort</a:t>
            </a:r>
            <a:r>
              <a:rPr lang="en-US" dirty="0"/>
              <a:t> (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i="1" dirty="0"/>
              <a:t>j</a:t>
            </a:r>
            <a:r>
              <a:rPr lang="en-US" dirty="0"/>
              <a:t> := 2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i="1" dirty="0"/>
              <a:t>n</a:t>
            </a:r>
            <a:endParaRPr lang="en-US" dirty="0"/>
          </a:p>
          <a:p>
            <a:pPr lvl="1"/>
            <a:r>
              <a:rPr lang="en-US" b="1" dirty="0"/>
              <a:t>begin</a:t>
            </a:r>
            <a:endParaRPr lang="en-US" dirty="0"/>
          </a:p>
          <a:p>
            <a:pPr lvl="1"/>
            <a:r>
              <a:rPr lang="en-US" i="1" dirty="0" smtClean="0"/>
              <a:t>	</a:t>
            </a:r>
            <a:r>
              <a:rPr lang="en-US" i="1" dirty="0" err="1" smtClean="0"/>
              <a:t>i</a:t>
            </a:r>
            <a:r>
              <a:rPr lang="en-US" dirty="0" smtClean="0"/>
              <a:t> </a:t>
            </a:r>
            <a:r>
              <a:rPr lang="en-US" dirty="0"/>
              <a:t>:= 1</a:t>
            </a:r>
            <a:endParaRPr lang="en-US" dirty="0"/>
          </a:p>
          <a:p>
            <a:pPr lvl="1"/>
            <a:r>
              <a:rPr lang="en-US" b="1" dirty="0" smtClean="0"/>
              <a:t>	while</a:t>
            </a:r>
            <a:r>
              <a:rPr lang="en-US" dirty="0" smtClean="0"/>
              <a:t> </a:t>
            </a:r>
            <a:r>
              <a:rPr lang="en-US" i="1" dirty="0" err="1"/>
              <a:t>a</a:t>
            </a:r>
            <a:r>
              <a:rPr lang="en-US" i="1" baseline="-25000" dirty="0" err="1"/>
              <a:t>j</a:t>
            </a:r>
            <a:r>
              <a:rPr lang="en-US" dirty="0"/>
              <a:t> &gt; </a:t>
            </a:r>
            <a:r>
              <a:rPr lang="en-US" i="1" dirty="0" err="1"/>
              <a:t>a</a:t>
            </a:r>
            <a:r>
              <a:rPr lang="en-US" i="1" baseline="-25000" dirty="0" err="1"/>
              <a:t>i</a:t>
            </a:r>
            <a:endParaRPr lang="en-US" dirty="0"/>
          </a:p>
          <a:p>
            <a:pPr lvl="1"/>
            <a:r>
              <a:rPr lang="en-US" i="1" dirty="0" smtClean="0"/>
              <a:t>		</a:t>
            </a:r>
            <a:r>
              <a:rPr lang="en-US" i="1" dirty="0" err="1" smtClean="0"/>
              <a:t>i</a:t>
            </a:r>
            <a:r>
              <a:rPr lang="en-US" dirty="0" smtClean="0"/>
              <a:t> </a:t>
            </a:r>
            <a:r>
              <a:rPr lang="en-US" dirty="0"/>
              <a:t>:= </a:t>
            </a:r>
            <a:r>
              <a:rPr lang="en-US" i="1" dirty="0" err="1"/>
              <a:t>i</a:t>
            </a:r>
            <a:r>
              <a:rPr lang="en-US" dirty="0"/>
              <a:t> +1</a:t>
            </a:r>
            <a:endParaRPr lang="en-US" dirty="0"/>
          </a:p>
          <a:p>
            <a:pPr lvl="1"/>
            <a:r>
              <a:rPr lang="en-US" i="1" dirty="0" smtClean="0"/>
              <a:t>	m</a:t>
            </a:r>
            <a:r>
              <a:rPr lang="en-US" dirty="0" smtClean="0"/>
              <a:t> </a:t>
            </a:r>
            <a:r>
              <a:rPr lang="en-US" dirty="0"/>
              <a:t>:= </a:t>
            </a:r>
            <a:r>
              <a:rPr lang="en-US" i="1" dirty="0" err="1"/>
              <a:t>a</a:t>
            </a:r>
            <a:r>
              <a:rPr lang="en-US" i="1" baseline="-25000" dirty="0" err="1"/>
              <a:t>j</a:t>
            </a:r>
            <a:endParaRPr lang="en-US" dirty="0"/>
          </a:p>
          <a:p>
            <a:pPr lvl="1"/>
            <a:r>
              <a:rPr lang="en-US" b="1" dirty="0" smtClean="0"/>
              <a:t>	for</a:t>
            </a:r>
            <a:r>
              <a:rPr lang="en-US" dirty="0" smtClean="0"/>
              <a:t> </a:t>
            </a:r>
            <a:r>
              <a:rPr lang="en-US" i="1" dirty="0"/>
              <a:t>k</a:t>
            </a:r>
            <a:r>
              <a:rPr lang="en-US" dirty="0"/>
              <a:t> := 0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i="1" dirty="0"/>
              <a:t>j</a:t>
            </a:r>
            <a:r>
              <a:rPr lang="en-US" dirty="0"/>
              <a:t>-</a:t>
            </a:r>
            <a:r>
              <a:rPr lang="en-US" i="1" dirty="0"/>
              <a:t>i</a:t>
            </a:r>
            <a:r>
              <a:rPr lang="en-US" dirty="0"/>
              <a:t>-1</a:t>
            </a:r>
            <a:endParaRPr lang="en-US" dirty="0"/>
          </a:p>
          <a:p>
            <a:pPr lvl="1"/>
            <a:r>
              <a:rPr lang="en-US" i="1" dirty="0" smtClean="0"/>
              <a:t>		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j</a:t>
            </a:r>
            <a:r>
              <a:rPr lang="en-US" baseline="-25000" dirty="0" smtClean="0"/>
              <a:t>-</a:t>
            </a:r>
            <a:r>
              <a:rPr lang="en-US" i="1" baseline="-25000" dirty="0" smtClean="0"/>
              <a:t>k</a:t>
            </a:r>
            <a:r>
              <a:rPr lang="en-US" dirty="0" smtClean="0"/>
              <a:t> </a:t>
            </a:r>
            <a:r>
              <a:rPr lang="en-US" dirty="0"/>
              <a:t>:= </a:t>
            </a:r>
            <a:r>
              <a:rPr lang="en-US" i="1" dirty="0"/>
              <a:t>a</a:t>
            </a:r>
            <a:r>
              <a:rPr lang="en-US" i="1" baseline="-25000" dirty="0"/>
              <a:t>j</a:t>
            </a:r>
            <a:r>
              <a:rPr lang="en-US" baseline="-25000" dirty="0"/>
              <a:t>-</a:t>
            </a:r>
            <a:r>
              <a:rPr lang="en-US" i="1" baseline="-25000" dirty="0"/>
              <a:t>k</a:t>
            </a:r>
            <a:r>
              <a:rPr lang="en-US" baseline="-25000" dirty="0"/>
              <a:t>-1</a:t>
            </a:r>
            <a:endParaRPr lang="en-US" dirty="0"/>
          </a:p>
          <a:p>
            <a:pPr lvl="1"/>
            <a:r>
              <a:rPr lang="en-US" i="1" dirty="0" smtClean="0"/>
              <a:t>	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i</a:t>
            </a:r>
            <a:r>
              <a:rPr lang="en-US" dirty="0" smtClean="0"/>
              <a:t> </a:t>
            </a:r>
            <a:r>
              <a:rPr lang="en-US" dirty="0"/>
              <a:t>:= </a:t>
            </a:r>
            <a:r>
              <a:rPr lang="en-US" i="1" dirty="0"/>
              <a:t>m</a:t>
            </a:r>
            <a:endParaRPr lang="en-US" dirty="0"/>
          </a:p>
          <a:p>
            <a:r>
              <a:rPr lang="en-US" b="1" dirty="0"/>
              <a:t>end</a:t>
            </a:r>
            <a:r>
              <a:rPr lang="en-US" dirty="0"/>
              <a:t> {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 are sorted 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549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sz="2800" dirty="0"/>
              <a:t>Outer for loop runs </a:t>
            </a:r>
            <a:r>
              <a:rPr lang="en-US" sz="2800" i="1" dirty="0"/>
              <a:t>n</a:t>
            </a:r>
            <a:r>
              <a:rPr lang="en-US" sz="2800" dirty="0"/>
              <a:t>-1 times</a:t>
            </a:r>
          </a:p>
          <a:p>
            <a:pPr fontAlgn="base"/>
            <a:r>
              <a:rPr lang="en-US" sz="2800" dirty="0"/>
              <a:t>In the inner for loop:</a:t>
            </a:r>
          </a:p>
          <a:p>
            <a:pPr lvl="1" fontAlgn="base"/>
            <a:r>
              <a:rPr lang="en-US" dirty="0"/>
              <a:t>Worst case is when the while keeps </a:t>
            </a:r>
            <a:r>
              <a:rPr lang="en-US" i="1" dirty="0" err="1"/>
              <a:t>i</a:t>
            </a:r>
            <a:r>
              <a:rPr lang="en-US" dirty="0"/>
              <a:t> at 1, and the for loop runs lots of times</a:t>
            </a:r>
          </a:p>
          <a:p>
            <a:pPr lvl="1" fontAlgn="base"/>
            <a:r>
              <a:rPr lang="en-US" dirty="0"/>
              <a:t>If </a:t>
            </a:r>
            <a:r>
              <a:rPr lang="en-US" i="1" dirty="0" err="1"/>
              <a:t>i</a:t>
            </a:r>
            <a:r>
              <a:rPr lang="en-US" dirty="0"/>
              <a:t> is 1, the inner for loop runs 1 time (</a:t>
            </a:r>
            <a:r>
              <a:rPr lang="en-US" i="1" dirty="0"/>
              <a:t>k</a:t>
            </a:r>
            <a:r>
              <a:rPr lang="en-US" dirty="0"/>
              <a:t> goes from 0 to 0) on the first iteration, 1 time on the second, up to </a:t>
            </a:r>
            <a:r>
              <a:rPr lang="en-US" i="1" dirty="0"/>
              <a:t>n</a:t>
            </a:r>
            <a:r>
              <a:rPr lang="en-US" dirty="0"/>
              <a:t>-2 times on the last iteration</a:t>
            </a:r>
          </a:p>
          <a:p>
            <a:pPr fontAlgn="base"/>
            <a:r>
              <a:rPr lang="en-US" sz="2800" dirty="0"/>
              <a:t>Total is 1 + 2 + … + </a:t>
            </a:r>
            <a:r>
              <a:rPr lang="en-US" sz="2800" i="1" dirty="0"/>
              <a:t>n</a:t>
            </a:r>
            <a:r>
              <a:rPr lang="en-US" sz="2800" dirty="0"/>
              <a:t>-2 = (</a:t>
            </a:r>
            <a:r>
              <a:rPr lang="en-US" sz="2800" i="1" dirty="0"/>
              <a:t>n</a:t>
            </a:r>
            <a:r>
              <a:rPr lang="en-US" sz="2800" dirty="0"/>
              <a:t>-1)(</a:t>
            </a:r>
            <a:r>
              <a:rPr lang="en-US" sz="2800" i="1" dirty="0"/>
              <a:t>n</a:t>
            </a:r>
            <a:r>
              <a:rPr lang="en-US" sz="2800" dirty="0"/>
              <a:t>-2)/2</a:t>
            </a:r>
          </a:p>
          <a:p>
            <a:pPr lvl="1" fontAlgn="base"/>
            <a:r>
              <a:rPr lang="en-US" dirty="0"/>
              <a:t>We can say that’s “about</a:t>
            </a:r>
            <a:r>
              <a:rPr lang="en-US" b="1" dirty="0"/>
              <a:t>” </a:t>
            </a:r>
            <a:r>
              <a:rPr lang="en-US" b="1" i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 time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</a:t>
            </a:r>
            <a:r>
              <a:rPr lang="en-US" dirty="0" smtClean="0"/>
              <a:t>Sort </a:t>
            </a:r>
            <a:r>
              <a:rPr lang="en-US" dirty="0"/>
              <a:t>R</a:t>
            </a:r>
            <a:r>
              <a:rPr lang="en-US" dirty="0" smtClean="0"/>
              <a:t>unning </a:t>
            </a:r>
            <a:r>
              <a:rPr lang="en-US" dirty="0"/>
              <a:t>T</a:t>
            </a:r>
            <a:r>
              <a:rPr lang="en-US" dirty="0" smtClean="0"/>
              <a:t>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865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sz="2400" dirty="0"/>
              <a:t>Searches</a:t>
            </a:r>
          </a:p>
          <a:p>
            <a:pPr lvl="1" fontAlgn="base"/>
            <a:r>
              <a:rPr lang="en-US" dirty="0"/>
              <a:t>Linear: </a:t>
            </a:r>
            <a:r>
              <a:rPr lang="en-US" i="1" dirty="0"/>
              <a:t>n</a:t>
            </a:r>
            <a:r>
              <a:rPr lang="en-US" dirty="0"/>
              <a:t> steps</a:t>
            </a:r>
          </a:p>
          <a:p>
            <a:pPr lvl="1" fontAlgn="base"/>
            <a:r>
              <a:rPr lang="en-US" dirty="0"/>
              <a:t>Binary: log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steps</a:t>
            </a:r>
          </a:p>
          <a:p>
            <a:pPr lvl="1" fontAlgn="base"/>
            <a:r>
              <a:rPr lang="en-US" dirty="0"/>
              <a:t>Binary search is about as fast as you can get</a:t>
            </a:r>
          </a:p>
          <a:p>
            <a:pPr fontAlgn="base"/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Sorts</a:t>
            </a:r>
          </a:p>
          <a:p>
            <a:pPr lvl="1" fontAlgn="base"/>
            <a:r>
              <a:rPr lang="en-US" dirty="0"/>
              <a:t>Bubble: 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 steps</a:t>
            </a:r>
          </a:p>
          <a:p>
            <a:pPr lvl="1" fontAlgn="base"/>
            <a:r>
              <a:rPr lang="en-US" dirty="0"/>
              <a:t>Insertion: 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 steps</a:t>
            </a:r>
          </a:p>
          <a:p>
            <a:pPr lvl="1" fontAlgn="base"/>
            <a:r>
              <a:rPr lang="en-US" dirty="0"/>
              <a:t>There are other, more efficient, sorting techniques</a:t>
            </a:r>
          </a:p>
          <a:p>
            <a:pPr lvl="2" fontAlgn="base"/>
            <a:r>
              <a:rPr lang="en-US" dirty="0"/>
              <a:t>In principle, the fastest are heap sort, quick sort, and merge sort</a:t>
            </a:r>
          </a:p>
          <a:p>
            <a:pPr lvl="2" fontAlgn="base"/>
            <a:r>
              <a:rPr lang="en-US" dirty="0"/>
              <a:t>These each take </a:t>
            </a:r>
            <a:r>
              <a:rPr lang="en-US" dirty="0" err="1"/>
              <a:t>take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* log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steps</a:t>
            </a:r>
          </a:p>
          <a:p>
            <a:pPr lvl="2" fontAlgn="base"/>
            <a:r>
              <a:rPr lang="en-US" dirty="0"/>
              <a:t>In practice, quick sort is the fastest, followed by merge sort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</a:t>
            </a:r>
            <a:r>
              <a:rPr lang="en-US" dirty="0" smtClean="0"/>
              <a:t>Running </a:t>
            </a:r>
            <a:r>
              <a:rPr lang="en-US" dirty="0"/>
              <a:t>T</a:t>
            </a:r>
            <a:r>
              <a:rPr lang="en-US" dirty="0" smtClean="0"/>
              <a:t>imes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453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44660"/>
            <a:ext cx="8686800" cy="65833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void</a:t>
            </a:r>
            <a:r>
              <a:rPr lang="en-US" dirty="0"/>
              <a:t> </a:t>
            </a:r>
            <a:r>
              <a:rPr lang="en-US" dirty="0" err="1"/>
              <a:t>SCH_Update</a:t>
            </a:r>
            <a:r>
              <a:rPr lang="en-US" dirty="0"/>
              <a:t>(</a:t>
            </a:r>
            <a:r>
              <a:rPr lang="en-US" b="1" dirty="0">
                <a:solidFill>
                  <a:srgbClr val="0070C0"/>
                </a:solidFill>
              </a:rPr>
              <a:t>void</a:t>
            </a:r>
            <a:r>
              <a:rPr lang="en-US" dirty="0"/>
              <a:t>) </a:t>
            </a:r>
            <a:r>
              <a:rPr lang="vi-VN" dirty="0"/>
              <a:t> {</a:t>
            </a:r>
          </a:p>
          <a:p>
            <a:pPr marL="0" indent="0">
              <a:buNone/>
            </a:pPr>
            <a:r>
              <a:rPr lang="vi-VN" dirty="0"/>
              <a:t>    </a:t>
            </a:r>
            <a:r>
              <a:rPr lang="vi-VN" b="1" dirty="0">
                <a:solidFill>
                  <a:srgbClr val="0070C0"/>
                </a:solidFill>
              </a:rPr>
              <a:t>tByte</a:t>
            </a:r>
            <a:r>
              <a:rPr lang="vi-VN" dirty="0"/>
              <a:t> Index;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92D050"/>
                </a:solidFill>
              </a:rPr>
              <a:t>// NOTE: calculations are in *TICKS* (not milliseconds)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for </a:t>
            </a:r>
            <a:r>
              <a:rPr lang="en-US" dirty="0"/>
              <a:t>(Index = 0; Index &lt; SCH_MAX_TASKS; Index++)</a:t>
            </a:r>
            <a:r>
              <a:rPr lang="vi-VN" dirty="0"/>
              <a:t>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    // Check if there is a task at this location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SCH_tasks_G</a:t>
            </a:r>
            <a:r>
              <a:rPr lang="en-US" dirty="0"/>
              <a:t>[Index].</a:t>
            </a:r>
            <a:r>
              <a:rPr lang="en-US" dirty="0" err="1"/>
              <a:t>pTask</a:t>
            </a:r>
            <a:r>
              <a:rPr lang="en-US" dirty="0"/>
              <a:t>)</a:t>
            </a:r>
            <a:r>
              <a:rPr lang="vi-VN" dirty="0"/>
              <a:t> {</a:t>
            </a:r>
          </a:p>
          <a:p>
            <a:pPr marL="0" indent="0">
              <a:buNone/>
            </a:pPr>
            <a:r>
              <a:rPr lang="en-US" dirty="0"/>
              <a:t>	if (</a:t>
            </a:r>
            <a:r>
              <a:rPr lang="en-US" dirty="0" err="1"/>
              <a:t>SCH_tasks_G</a:t>
            </a:r>
            <a:r>
              <a:rPr lang="en-US" dirty="0"/>
              <a:t>[Index].Delay == 0)</a:t>
            </a:r>
            <a:r>
              <a:rPr lang="vi-VN" dirty="0"/>
              <a:t>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// The task is due to run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SCH_tasks_G</a:t>
            </a:r>
            <a:r>
              <a:rPr lang="en-US" dirty="0"/>
              <a:t>[Index].</a:t>
            </a:r>
            <a:r>
              <a:rPr lang="en-US" dirty="0" err="1"/>
              <a:t>RunMe</a:t>
            </a:r>
            <a:r>
              <a:rPr lang="en-US" dirty="0"/>
              <a:t> += 1; </a:t>
            </a:r>
            <a:r>
              <a:rPr lang="en-US" dirty="0">
                <a:solidFill>
                  <a:srgbClr val="92D050"/>
                </a:solidFill>
              </a:rPr>
              <a:t>// Inc. the '</a:t>
            </a:r>
            <a:r>
              <a:rPr lang="en-US" dirty="0" err="1">
                <a:solidFill>
                  <a:srgbClr val="92D050"/>
                </a:solidFill>
              </a:rPr>
              <a:t>RunMe</a:t>
            </a:r>
            <a:r>
              <a:rPr lang="en-US" dirty="0">
                <a:solidFill>
                  <a:srgbClr val="92D050"/>
                </a:solidFill>
              </a:rPr>
              <a:t>' flag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SCH_tasks_G</a:t>
            </a:r>
            <a:r>
              <a:rPr lang="en-US" dirty="0"/>
              <a:t>[Index].Period)</a:t>
            </a:r>
            <a:r>
              <a:rPr lang="vi-VN" dirty="0"/>
              <a:t> 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92D050"/>
                </a:solidFill>
              </a:rPr>
              <a:t>// Schedule periodic tasks to run again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SCH_tasks_G</a:t>
            </a:r>
            <a:r>
              <a:rPr lang="en-US" dirty="0"/>
              <a:t>[Index].Delay = </a:t>
            </a:r>
            <a:r>
              <a:rPr lang="en-US" dirty="0" err="1"/>
              <a:t>SCH_tasks_G</a:t>
            </a:r>
            <a:r>
              <a:rPr lang="en-US" dirty="0"/>
              <a:t>[Index].Period;</a:t>
            </a:r>
          </a:p>
          <a:p>
            <a:pPr marL="0" indent="0">
              <a:buNone/>
            </a:pPr>
            <a:r>
              <a:rPr lang="vi-VN" dirty="0"/>
              <a:t>		}</a:t>
            </a:r>
          </a:p>
          <a:p>
            <a:pPr marL="0" indent="0">
              <a:buNone/>
            </a:pPr>
            <a:r>
              <a:rPr lang="vi-VN" dirty="0"/>
              <a:t>	} else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92D050"/>
                </a:solidFill>
              </a:rPr>
              <a:t>// Not yet ready to run: just decrement the delay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SCH_tasks_G</a:t>
            </a:r>
            <a:r>
              <a:rPr lang="en-US" dirty="0"/>
              <a:t>[Index].Delay -= 1;</a:t>
            </a:r>
          </a:p>
          <a:p>
            <a:pPr marL="0" indent="0">
              <a:buNone/>
            </a:pPr>
            <a:r>
              <a:rPr lang="vi-VN" dirty="0"/>
              <a:t>	}</a:t>
            </a:r>
          </a:p>
          <a:p>
            <a:pPr marL="0" indent="0">
              <a:buNone/>
            </a:pPr>
            <a:r>
              <a:rPr lang="vi-VN" dirty="0"/>
              <a:t>        }</a:t>
            </a:r>
          </a:p>
          <a:p>
            <a:pPr marL="0" indent="0">
              <a:buNone/>
            </a:pPr>
            <a:r>
              <a:rPr lang="vi-VN" dirty="0"/>
              <a:t>    }</a:t>
            </a:r>
          </a:p>
          <a:p>
            <a:pPr marL="0" indent="0">
              <a:buNone/>
            </a:pPr>
            <a:r>
              <a:rPr lang="vi-VN" dirty="0"/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24671"/>
            <a:ext cx="47055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RTOS </a:t>
            </a:r>
            <a:r>
              <a:rPr lang="vi-VN" sz="32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‘update</a:t>
            </a:r>
            <a:r>
              <a:rPr lang="vi-VN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function</a:t>
            </a:r>
          </a:p>
        </p:txBody>
      </p:sp>
    </p:spTree>
    <p:extLst>
      <p:ext uri="{BB962C8B-B14F-4D97-AF65-F5344CB8AC3E}">
        <p14:creationId xmlns:p14="http://schemas.microsoft.com/office/powerpoint/2010/main" val="368339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5" indent="0">
              <a:buNone/>
            </a:pPr>
            <a:r>
              <a:rPr lang="en-US" dirty="0" smtClean="0"/>
              <a:t>The </a:t>
            </a:r>
            <a:r>
              <a:rPr lang="en-US" dirty="0"/>
              <a:t>word ____________comes from the name of a Persian </a:t>
            </a:r>
            <a:r>
              <a:rPr lang="en-US" dirty="0" smtClean="0"/>
              <a:t>mathematician</a:t>
            </a:r>
          </a:p>
          <a:p>
            <a:pPr marL="109725" indent="0">
              <a:buNone/>
            </a:pPr>
            <a:endParaRPr lang="en-US" dirty="0"/>
          </a:p>
          <a:p>
            <a:pPr marL="109725" indent="0">
              <a:buNone/>
            </a:pPr>
            <a:r>
              <a:rPr lang="en-US" dirty="0"/>
              <a:t>a) Flowchart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b) Flow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c) Algorithm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d) Syntax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55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5" indent="0">
              <a:buNone/>
            </a:pPr>
            <a:r>
              <a:rPr lang="en-US" dirty="0"/>
              <a:t>The time that depends on the input: an already sorted sequence that is </a:t>
            </a:r>
            <a:r>
              <a:rPr lang="en-US" dirty="0" smtClean="0"/>
              <a:t>easier </a:t>
            </a:r>
            <a:r>
              <a:rPr lang="en-US" dirty="0"/>
              <a:t>to sort</a:t>
            </a:r>
            <a:r>
              <a:rPr lang="en-US" dirty="0" smtClean="0"/>
              <a:t>.</a:t>
            </a:r>
          </a:p>
          <a:p>
            <a:pPr marL="109725" indent="0">
              <a:buNone/>
            </a:pPr>
            <a:endParaRPr lang="en-US" dirty="0"/>
          </a:p>
          <a:p>
            <a:pPr marL="109725" indent="0">
              <a:buNone/>
            </a:pPr>
            <a:r>
              <a:rPr lang="en-US" dirty="0"/>
              <a:t>a) Process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b) Evaluation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c) Running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d) Input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128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Algorithms </a:t>
            </a:r>
            <a:r>
              <a:rPr lang="en-US" dirty="0"/>
              <a:t>can be </a:t>
            </a:r>
            <a:r>
              <a:rPr lang="en-US" dirty="0" smtClean="0"/>
              <a:t>represented (select incorrect):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a) as pseudo codes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b) as syntax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c) as programs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d) as flowcharts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21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an algorithm is written in the form of a </a:t>
            </a:r>
            <a:r>
              <a:rPr lang="en-US" dirty="0" smtClean="0"/>
              <a:t>programming </a:t>
            </a:r>
            <a:r>
              <a:rPr lang="en-US" dirty="0"/>
              <a:t>language, it becomes a </a:t>
            </a:r>
            <a:r>
              <a:rPr lang="en-US" dirty="0" smtClean="0"/>
              <a:t>_________</a:t>
            </a:r>
          </a:p>
          <a:p>
            <a:pPr marL="109725" indent="0">
              <a:buNone/>
            </a:pPr>
            <a:r>
              <a:rPr lang="pt-BR" dirty="0" smtClean="0"/>
              <a:t>a</a:t>
            </a:r>
            <a:r>
              <a:rPr lang="pt-BR" dirty="0"/>
              <a:t>) Flowchart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b) Program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c) Pseudo code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d) Syntax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766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algorithm is a program</a:t>
            </a:r>
            <a:r>
              <a:rPr lang="en-US" dirty="0" smtClean="0"/>
              <a:t>.</a:t>
            </a:r>
          </a:p>
          <a:p>
            <a:pPr marL="109725" indent="0">
              <a:buNone/>
            </a:pPr>
            <a:r>
              <a:rPr lang="en-US" dirty="0"/>
              <a:t>a) True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b) </a:t>
            </a:r>
            <a:r>
              <a:rPr lang="en-US" dirty="0" smtClean="0"/>
              <a:t>False</a:t>
            </a:r>
          </a:p>
          <a:p>
            <a:pPr marL="109725" indent="0">
              <a:buNone/>
            </a:pPr>
            <a:endParaRPr lang="en-US" dirty="0" smtClean="0"/>
          </a:p>
          <a:p>
            <a:pPr marL="109725" indent="0">
              <a:buNone/>
            </a:pPr>
            <a:endParaRPr lang="en-US" dirty="0"/>
          </a:p>
          <a:p>
            <a:pPr marL="109725" indent="0">
              <a:buNone/>
            </a:pPr>
            <a:r>
              <a:rPr lang="en-US" dirty="0" smtClean="0"/>
              <a:t>Any program is an algorithm</a:t>
            </a:r>
          </a:p>
          <a:p>
            <a:r>
              <a:rPr lang="en-US" dirty="0"/>
              <a:t>a) True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b) False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020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5" indent="0">
              <a:buNone/>
            </a:pPr>
            <a:r>
              <a:rPr lang="en-US" dirty="0"/>
              <a:t>A system wherein items are added from one and removed from the other </a:t>
            </a:r>
            <a:r>
              <a:rPr lang="en-US" dirty="0" smtClean="0"/>
              <a:t>end</a:t>
            </a:r>
          </a:p>
          <a:p>
            <a:pPr marL="109725" indent="0">
              <a:buNone/>
            </a:pPr>
            <a:endParaRPr lang="en-US" dirty="0"/>
          </a:p>
          <a:p>
            <a:pPr marL="109725" indent="0">
              <a:buNone/>
            </a:pPr>
            <a:r>
              <a:rPr lang="en-US" dirty="0"/>
              <a:t>a) Stack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b) Queue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c) Linked List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d) Array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958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5" indent="0">
              <a:buNone/>
            </a:pPr>
            <a:r>
              <a:rPr lang="en-US" dirty="0"/>
              <a:t> Another name for 1-D arrays</a:t>
            </a:r>
            <a:r>
              <a:rPr lang="en-US" dirty="0" smtClean="0"/>
              <a:t>.</a:t>
            </a:r>
          </a:p>
          <a:p>
            <a:pPr marL="109725" indent="0">
              <a:buNone/>
            </a:pPr>
            <a:r>
              <a:rPr lang="en-US" dirty="0"/>
              <a:t>a) Linear arrays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b) Lists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c) Horizontal array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d) Vertical array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8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https://www.youtube.com/watch?v=01sAkU_NvOY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0628" y="1448354"/>
            <a:ext cx="8751178" cy="5078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cv2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mediapipe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cap = cv2.VideoCapture(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mpHands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mp.solutions.hands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hands 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mpHands.Hands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mpDraw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mp.solutions.drawing_utils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True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success,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img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cap.read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imgRGB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cv2.cvtColor(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img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cv2.COLOR_BGR2RGB)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results =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hands.process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imgRGB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results.multi_hand_landmarks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handlms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results.multi_hand_landmarks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#21 points in </a:t>
            </a:r>
            <a:r>
              <a:rPr kumimoji="0" lang="en-US" b="0" i="1" u="none" strike="noStrike" cap="none" normalizeH="0" baseline="0" dirty="0" err="1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handlms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/>
            </a:r>
            <a:b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mpDraw.draw_landmarks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img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handlms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mpHands.HAND_CONNECTIONS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cv2.imshow(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"Image"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img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cv2.waitKey(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700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797" y="971550"/>
            <a:ext cx="8650783" cy="251164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Project</a:t>
            </a:r>
            <a:br>
              <a:rPr lang="en-US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(20% and +2 maximum)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2" name="Picture 8" descr="The Considerations And Perks Of Choosing A DBMS | IT Consultants TX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2" t="13028" r="21029" b="8067"/>
          <a:stretch/>
        </p:blipFill>
        <p:spPr bwMode="auto">
          <a:xfrm>
            <a:off x="0" y="3855576"/>
            <a:ext cx="3480960" cy="300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DBMS (Database Management System) - Types, Features, Factors for  select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844" y="4298537"/>
            <a:ext cx="4550156" cy="255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23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Pick one of the following topics:</a:t>
            </a:r>
          </a:p>
          <a:p>
            <a:pPr lvl="1"/>
            <a:r>
              <a:rPr lang="en-US" dirty="0" smtClean="0"/>
              <a:t>AI, DA, </a:t>
            </a:r>
            <a:r>
              <a:rPr lang="en-US" dirty="0" err="1" smtClean="0"/>
              <a:t>Blockchain</a:t>
            </a:r>
            <a:r>
              <a:rPr lang="en-US" dirty="0" smtClean="0"/>
              <a:t> or Software Engineering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</a:t>
            </a:r>
            <a:endParaRPr lang="en-US" dirty="0"/>
          </a:p>
        </p:txBody>
      </p:sp>
      <p:pic>
        <p:nvPicPr>
          <p:cNvPr id="4098" name="Picture 2" descr="33,582 Assignment Stock Photos - Free &amp; Royalty-Free Stock Photos from  Dreamsti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340" y="3607460"/>
            <a:ext cx="3156074" cy="210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and Keypoint Detection using Deep Learning and OpenCV | LearnOpenC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95" y="2906744"/>
            <a:ext cx="2498109" cy="333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89413" y="6350943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AI (</a:t>
            </a:r>
            <a:r>
              <a:rPr lang="en-US" dirty="0" err="1" smtClean="0"/>
              <a:t>MediaPipe</a:t>
            </a:r>
            <a:r>
              <a:rPr lang="en-US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0047" y="5874162"/>
            <a:ext cx="181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 (World Cloud)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97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1: Gesture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49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Example 2: World Cloud Generation Software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11339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the project</a:t>
            </a:r>
          </a:p>
          <a:p>
            <a:endParaRPr lang="en-US" dirty="0"/>
          </a:p>
          <a:p>
            <a:r>
              <a:rPr lang="en-US" dirty="0" smtClean="0"/>
              <a:t>Use-Case diagram</a:t>
            </a:r>
          </a:p>
          <a:p>
            <a:endParaRPr lang="en-US" dirty="0"/>
          </a:p>
          <a:p>
            <a:r>
              <a:rPr lang="en-US" dirty="0" smtClean="0"/>
              <a:t>Sequence Diagram, Flowchart or Algorithm of one or two typical use-cases</a:t>
            </a:r>
          </a:p>
          <a:p>
            <a:endParaRPr lang="en-US" dirty="0"/>
          </a:p>
          <a:p>
            <a:r>
              <a:rPr lang="en-US" dirty="0" smtClean="0"/>
              <a:t>Implementation</a:t>
            </a:r>
          </a:p>
          <a:p>
            <a:r>
              <a:rPr lang="en-US" dirty="0" smtClean="0"/>
              <a:t>Results and Demo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92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" id="{9308F140-5CDC-477D-BC4D-9C1906451284}" vid="{11C5112C-663B-4E6D-9D3D-2361F8FA32D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D44557-C150-4AA7-97B1-62E8021520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0</TotalTime>
  <Words>1028</Words>
  <Application>Microsoft Office PowerPoint</Application>
  <PresentationFormat>On-screen Show (4:3)</PresentationFormat>
  <Paragraphs>243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Century Gothic</vt:lpstr>
      <vt:lpstr>Georgia</vt:lpstr>
      <vt:lpstr>Impact</vt:lpstr>
      <vt:lpstr>JetBrains Mono</vt:lpstr>
      <vt:lpstr>Tahoma</vt:lpstr>
      <vt:lpstr>Verdana</vt:lpstr>
      <vt:lpstr>Wingdings</vt:lpstr>
      <vt:lpstr>Wingdings 2</vt:lpstr>
      <vt:lpstr>Training presentation</vt:lpstr>
      <vt:lpstr>Introduction to Algorithm</vt:lpstr>
      <vt:lpstr>What is an algorithm?</vt:lpstr>
      <vt:lpstr>Some algorithms are harder than others</vt:lpstr>
      <vt:lpstr>Algorithm 1: Maximum Element</vt:lpstr>
      <vt:lpstr>Maximum element running time</vt:lpstr>
      <vt:lpstr>Properties of Algorithms</vt:lpstr>
      <vt:lpstr>Searching Algorithms</vt:lpstr>
      <vt:lpstr>Algorithm 2: Linear Search</vt:lpstr>
      <vt:lpstr>Linear Search Running Time</vt:lpstr>
      <vt:lpstr>Algorithm 3: Binary Search</vt:lpstr>
      <vt:lpstr>Binary Search Running Time</vt:lpstr>
      <vt:lpstr>Sorting Algorithms</vt:lpstr>
      <vt:lpstr>Algorithm 4: Bubble Sort</vt:lpstr>
      <vt:lpstr>Bubble Sort Running Time</vt:lpstr>
      <vt:lpstr>Algorithm 5: Insertion Sort</vt:lpstr>
      <vt:lpstr>Insertion Sort Running Time</vt:lpstr>
      <vt:lpstr>Comparison of Running Times</vt:lpstr>
      <vt:lpstr>PowerPoint Presentation</vt:lpstr>
      <vt:lpstr>MCQ</vt:lpstr>
      <vt:lpstr>MCQ</vt:lpstr>
      <vt:lpstr>MCQ</vt:lpstr>
      <vt:lpstr>MCQ</vt:lpstr>
      <vt:lpstr>MCQ</vt:lpstr>
      <vt:lpstr>MCQ</vt:lpstr>
      <vt:lpstr>MCQ</vt:lpstr>
      <vt:lpstr>https://www.youtube.com/watch?v=01sAkU_NvOY</vt:lpstr>
      <vt:lpstr>Assignment Project (20% and +2 maximum)</vt:lpstr>
      <vt:lpstr>General Information</vt:lpstr>
      <vt:lpstr>Example 1: Gesture Detection</vt:lpstr>
      <vt:lpstr>Example 2: World Cloud Generation Software</vt:lpstr>
      <vt:lpstr>Project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2014-07-29T03:47:45Z</dcterms:created>
  <dcterms:modified xsi:type="dcterms:W3CDTF">2022-11-16T22:51:14Z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